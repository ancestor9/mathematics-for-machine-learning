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4"/>
  </p:sldMasterIdLst>
  <p:notesMasterIdLst>
    <p:notesMasterId r:id="rId70"/>
  </p:notesMasterIdLst>
  <p:handoutMasterIdLst>
    <p:handoutMasterId r:id="rId71"/>
  </p:handoutMasterIdLst>
  <p:sldIdLst>
    <p:sldId id="256" r:id="rId5"/>
    <p:sldId id="314" r:id="rId6"/>
    <p:sldId id="361" r:id="rId7"/>
    <p:sldId id="369" r:id="rId8"/>
    <p:sldId id="370" r:id="rId9"/>
    <p:sldId id="270" r:id="rId10"/>
    <p:sldId id="379" r:id="rId11"/>
    <p:sldId id="371" r:id="rId12"/>
    <p:sldId id="380" r:id="rId13"/>
    <p:sldId id="362" r:id="rId14"/>
    <p:sldId id="272" r:id="rId15"/>
    <p:sldId id="387" r:id="rId16"/>
    <p:sldId id="276" r:id="rId17"/>
    <p:sldId id="307" r:id="rId18"/>
    <p:sldId id="308" r:id="rId19"/>
    <p:sldId id="340" r:id="rId20"/>
    <p:sldId id="363" r:id="rId21"/>
    <p:sldId id="277" r:id="rId22"/>
    <p:sldId id="278" r:id="rId23"/>
    <p:sldId id="364" r:id="rId24"/>
    <p:sldId id="279" r:id="rId25"/>
    <p:sldId id="284" r:id="rId26"/>
    <p:sldId id="377" r:id="rId27"/>
    <p:sldId id="280" r:id="rId28"/>
    <p:sldId id="281" r:id="rId29"/>
    <p:sldId id="382" r:id="rId30"/>
    <p:sldId id="283" r:id="rId31"/>
    <p:sldId id="383" r:id="rId32"/>
    <p:sldId id="288" r:id="rId33"/>
    <p:sldId id="290" r:id="rId34"/>
    <p:sldId id="289" r:id="rId35"/>
    <p:sldId id="286" r:id="rId36"/>
    <p:sldId id="287" r:id="rId37"/>
    <p:sldId id="393" r:id="rId38"/>
    <p:sldId id="395" r:id="rId39"/>
    <p:sldId id="396" r:id="rId40"/>
    <p:sldId id="291" r:id="rId41"/>
    <p:sldId id="375" r:id="rId42"/>
    <p:sldId id="374" r:id="rId43"/>
    <p:sldId id="365" r:id="rId44"/>
    <p:sldId id="293" r:id="rId45"/>
    <p:sldId id="324" r:id="rId46"/>
    <p:sldId id="338" r:id="rId47"/>
    <p:sldId id="302" r:id="rId48"/>
    <p:sldId id="330" r:id="rId49"/>
    <p:sldId id="327" r:id="rId50"/>
    <p:sldId id="335" r:id="rId51"/>
    <p:sldId id="336" r:id="rId52"/>
    <p:sldId id="392" r:id="rId53"/>
    <p:sldId id="389" r:id="rId54"/>
    <p:sldId id="401" r:id="rId55"/>
    <p:sldId id="372" r:id="rId56"/>
    <p:sldId id="390" r:id="rId57"/>
    <p:sldId id="391" r:id="rId58"/>
    <p:sldId id="400" r:id="rId59"/>
    <p:sldId id="388" r:id="rId60"/>
    <p:sldId id="398" r:id="rId61"/>
    <p:sldId id="397" r:id="rId62"/>
    <p:sldId id="399" r:id="rId63"/>
    <p:sldId id="301" r:id="rId64"/>
    <p:sldId id="367" r:id="rId65"/>
    <p:sldId id="402" r:id="rId66"/>
    <p:sldId id="305" r:id="rId67"/>
    <p:sldId id="394" r:id="rId68"/>
    <p:sldId id="304" r:id="rId69"/>
  </p:sldIdLst>
  <p:sldSz cx="12188825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39" userDrawn="1">
          <p15:clr>
            <a:srgbClr val="A4A3A4"/>
          </p15:clr>
        </p15:guide>
        <p15:guide id="2" orient="horz" pos="21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Sanggoo Cho" initials="SC" lastIdx="1" clrIdx="0">
    <p:extLst>
      <p:ext uri="{19B8F6BF-5375-455C-9EA6-DF929625EA0E}">
        <p15:presenceInfo xmlns:p15="http://schemas.microsoft.com/office/powerpoint/2012/main" userId="17a7d6351fc7ea18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7E3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보통 스타일 2 - 강조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284E427A-3D55-4303-BF80-6455036E1DE7}" styleName="테마 스타일 1 - 강조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C4B1156A-380E-4F78-BDF5-A606A8083BF9}" styleName="보통 스타일 4 - 강조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 horzBarState="maximized">
    <p:restoredLeft sz="8673" autoAdjust="0"/>
    <p:restoredTop sz="94660"/>
  </p:normalViewPr>
  <p:slideViewPr>
    <p:cSldViewPr>
      <p:cViewPr varScale="1">
        <p:scale>
          <a:sx n="85" d="100"/>
          <a:sy n="85" d="100"/>
        </p:scale>
        <p:origin x="883" y="67"/>
      </p:cViewPr>
      <p:guideLst>
        <p:guide pos="3839"/>
        <p:guide orient="horz" pos="216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25" d="100"/>
        <a:sy n="125" d="100"/>
      </p:scale>
      <p:origin x="0" y="-31234"/>
    </p:cViewPr>
  </p:sorterViewPr>
  <p:notesViewPr>
    <p:cSldViewPr showGuides="1">
      <p:cViewPr varScale="1">
        <p:scale>
          <a:sx n="90" d="100"/>
          <a:sy n="90" d="100"/>
        </p:scale>
        <p:origin x="2814" y="84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63" Type="http://schemas.openxmlformats.org/officeDocument/2006/relationships/slide" Target="slides/slide59.xml"/><Relationship Id="rId68" Type="http://schemas.openxmlformats.org/officeDocument/2006/relationships/slide" Target="slides/slide64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slide" Target="slides/slide49.xml"/><Relationship Id="rId58" Type="http://schemas.openxmlformats.org/officeDocument/2006/relationships/slide" Target="slides/slide54.xml"/><Relationship Id="rId66" Type="http://schemas.openxmlformats.org/officeDocument/2006/relationships/slide" Target="slides/slide62.xml"/><Relationship Id="rId74" Type="http://schemas.openxmlformats.org/officeDocument/2006/relationships/viewProps" Target="viewProps.xml"/><Relationship Id="rId5" Type="http://schemas.openxmlformats.org/officeDocument/2006/relationships/slide" Target="slides/slide1.xml"/><Relationship Id="rId61" Type="http://schemas.openxmlformats.org/officeDocument/2006/relationships/slide" Target="slides/slide57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slide" Target="slides/slide52.xml"/><Relationship Id="rId64" Type="http://schemas.openxmlformats.org/officeDocument/2006/relationships/slide" Target="slides/slide60.xml"/><Relationship Id="rId69" Type="http://schemas.openxmlformats.org/officeDocument/2006/relationships/slide" Target="slides/slide65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72" Type="http://schemas.openxmlformats.org/officeDocument/2006/relationships/commentAuthors" Target="commentAuthors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slide" Target="slides/slide55.xml"/><Relationship Id="rId67" Type="http://schemas.openxmlformats.org/officeDocument/2006/relationships/slide" Target="slides/slide63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62" Type="http://schemas.openxmlformats.org/officeDocument/2006/relationships/slide" Target="slides/slide58.xml"/><Relationship Id="rId70" Type="http://schemas.openxmlformats.org/officeDocument/2006/relationships/notesMaster" Target="notesMasters/notesMaster1.xml"/><Relationship Id="rId75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slide" Target="slides/slide53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slide" Target="slides/slide56.xml"/><Relationship Id="rId65" Type="http://schemas.openxmlformats.org/officeDocument/2006/relationships/slide" Target="slides/slide61.xml"/><Relationship Id="rId7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9" Type="http://schemas.openxmlformats.org/officeDocument/2006/relationships/slide" Target="slides/slide35.xml"/><Relationship Id="rId34" Type="http://schemas.openxmlformats.org/officeDocument/2006/relationships/slide" Target="slides/slide30.xml"/><Relationship Id="rId50" Type="http://schemas.openxmlformats.org/officeDocument/2006/relationships/slide" Target="slides/slide46.xml"/><Relationship Id="rId55" Type="http://schemas.openxmlformats.org/officeDocument/2006/relationships/slide" Target="slides/slide51.xml"/><Relationship Id="rId76" Type="http://schemas.openxmlformats.org/officeDocument/2006/relationships/tableStyles" Target="tableStyles.xml"/><Relationship Id="rId7" Type="http://schemas.openxmlformats.org/officeDocument/2006/relationships/slide" Target="slides/slide3.xml"/><Relationship Id="rId71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50A85425-0F1F-4C65-805F-C7280B9ECE9F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2026-04-01</a:t>
            </a:fld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A98ED8CD-4E4C-49AC-BDC6-2963BA49E54F}" type="slidenum">
              <a:rPr lang="en-US" altLang="ko-KR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3417954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39DBE7D5-AA2D-4B26-8C69-8B60D39FD5EE}" type="datetime1">
              <a:rPr lang="ko-KR" altLang="en-US" smtClean="0"/>
              <a:pPr/>
              <a:t>2026-04-01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2588" y="685800"/>
            <a:ext cx="6092825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dirty="0"/>
              <a:t>마스터 텍스트 스타일 편집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5FB91549-43BF-425A-AF25-75262019208C}" type="slidenum">
              <a:rPr lang="en-US" altLang="ko-KR" smtClean="0"/>
              <a:pPr/>
              <a:t>‹#›</a:t>
            </a:fld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423928641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6114531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D3B65B-4D46-A4B6-4A55-CF7F725D89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2EC8E50-C409-8198-1011-7B049358C5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EBC7159-0CFA-4FF6-3C88-1A3B88DBE0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8F161A9-E2C3-ED47-AF62-F9F22701767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6727501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864F9D-56F3-951B-50D6-A387C6DB1F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0C41E97-65AE-AFF8-F9CE-0EBF599074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C491CBB-2C0A-B61E-F741-0D34DDCD8E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A277E39-D60D-B26E-335C-19610E54272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970159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BD64F1-E5C4-6358-593C-A9CA28483F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0C1DBD8-0BBF-5360-FF60-6547827679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FD4DA56-C4FA-DEDD-AC32-D35ACFC991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051D40D-3E45-9FEE-32E1-052BF2B765D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8347850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4538BF-5238-8DEC-113F-F8CF98C9DE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5D7386D-E89C-B77A-3543-D4E6998EB3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ECD18C3-1948-D230-233A-234193B99A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1C1789C-50D5-F748-0E68-73492ACABC5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4088373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1141828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BB0AAC-DC71-22FD-567E-F9417987ED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C170311-34B3-38EB-1F92-F1F6209549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34AC722-197F-E460-53F8-8EAA601A9C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C738FAA-B235-47FF-C58A-EBB0424113A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6294875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1D8B2E-CE9B-332C-ECAC-6E96C9B66D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9FEE594-EB81-B9B3-43E1-8B5400E277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B93C604-D67D-E9F0-3B80-8B31937C52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A168C89-F771-0225-D12F-1F032598BBF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0002876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B49C03-7ED9-E18F-2704-FAAEAED141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BA04D1D-D6EF-0A87-11EC-F8B7A52CC4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764788F-B000-9A16-1526-CBDD7B483B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25B442F-FF04-49E8-21D8-AED1C028C16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3613512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7117205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68AD08-7835-CADF-5460-8361621FC3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2694997-EB59-9254-FAEE-BA6F8DAE4F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B677949-6F43-2A0A-9390-AEF193365E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D734CF9-D16D-0DDF-82DE-C615D3E5649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8279304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9899219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8E8D5A-D51F-1C5A-6E1C-7E7CFFD989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2FDDC52-2D6D-9F68-47BD-A3A6FA72FA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13978E6-2168-14AF-C3F5-302A5E4CF1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64A7C7C-47A3-65B7-64BF-164C1F10F52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7007335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9E121C-7738-75D6-0814-6A4E7CB08D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37A3E81-B9FA-E91D-7C38-C8ED94736AA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901535F-59A7-36A0-5D62-31F70F0358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F52A0D9-A0EE-C08B-64CD-FA00E4A03FC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6396937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66209C-0183-4045-FDF0-C7DCBDA4FF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63F8734-82DB-BF23-C798-DD3B47DB476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BE339CF-C307-706C-BF73-EAE540CE5B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C850BCB-255F-06D5-FC44-87040ECD55C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0793079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772669-78C2-F717-9704-0E894CBD3C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6B16FEF-5E87-D8CE-BD8E-41E60A9866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62FBE45-66DE-47AF-1B30-E4AD747451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68ED67A-0522-075F-7C24-93992D1BF6C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9289700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7028032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4299110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000713-FD03-D49C-FBF0-0EF02047A6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A6B0937-21B6-B13F-3650-F4F6DF3C25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8BD0767-8F2A-2DCC-2223-4167581932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FFE6568-4A54-77FA-F9F1-1AE7B4089E8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4500467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5985474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5736988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A47D4D-C235-703F-B078-1CFBCF5531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A4D27E7-9F66-FECF-2412-630CACD27A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2D08BD3-9AE2-4B4F-7258-FA9C83A861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4CFB8F5-6BC3-3E55-9486-A39D975BF84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02134289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7532403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2115929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C68D17-F7C6-2CCC-3C7C-0EF7F37A65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3F20E2F-FA8D-1384-A711-C71590008C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B509E81-4322-1CFB-1958-7F93091835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F8190D1-BF97-284F-1EA8-FBB8232754E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7813044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2856652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F5C747-327C-CFAB-069C-0CF056E19C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C538D64-15DC-C38D-8311-7A4D713599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AB74F02-157E-2E5D-678A-B6AFF21AD7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0898E22-6367-5850-D245-DDC5F8EFAC0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12853733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49910473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6908075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803527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37175133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17580753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E82C91-3751-60A0-7751-02C40BD534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A1F6EF3-B7B0-8EB0-549D-564D5133D5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B865E48-FF3F-5BAC-0369-BCBB35E36D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AD8851B-3E85-2CA0-6DE5-E31B992ED1A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86014786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DBFF25-1E93-FF84-634E-FCAAECF23E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8915EBB-FC1A-8DD1-F03A-966F2653F6E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20EFC97-64A0-15A9-D3AD-2D038123E7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6EAA46F-E152-7545-1C04-95F2B086AD6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59218778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789664-9175-453F-A8FB-350FC92494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210E0C1-E432-9544-1736-2D90EA83E8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4B53BA2-3159-A983-5C44-ACF3F752DB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C65EB5D-6317-53B9-4CE0-3B33B6DC7D7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51132590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57798542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C25533-850A-7869-CA12-753FB705FE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F1ED54A-5032-D0F7-63F4-AB62407343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BA5B978-9327-65B4-CE69-6245BA6097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57B1688-95B3-3BA5-7585-18FE836ED64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27837625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34D2C4-EE41-28EE-C5C1-A243913D43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A7966DF-079E-F20B-596D-7A0B51C66F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82DA50D-E5B3-5033-2DBD-3561111B70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B4BC94A-BCEB-D884-4437-5D9E2C1DA09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61273895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515D09-9630-A0FD-FC35-81F7718CF8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CDB0427-9D47-D5BB-6BC3-909D99355BE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E112FA0-4D0B-3533-41B3-61991C3974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B8D6190-EF8A-6106-9D3E-ABF957FE32C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34735137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36535934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D3B65B-4D46-A4B6-4A55-CF7F725D89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2EC8E50-C409-8198-1011-7B049358C5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EBC7159-0CFA-4FF6-3C88-1A3B88DBE0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8F161A9-E2C3-ED47-AF62-F9F22701767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67275013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B5FEA8-EC05-73F5-A0EE-A91BF9812C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A6C3209-2357-5ACF-2202-D54B7D71A8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C8642F0-A7DB-6287-60F9-78806E4AE3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8B3EDCE-8D13-18A3-1D4E-CF7160507FD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79510517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B0A826-7FE2-3F7D-9283-FAF6D13053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D448CFC-448A-2634-6548-6E7CE2607C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A6286E9-0EA3-AB3D-2263-D8DD3F4832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9A550C5-9CCC-0B92-3694-E327587CBB3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70387345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30EC47-9CD8-DDD5-55D5-6A5F0347CE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F401884-EDA3-A271-1C7E-4E8285FDA7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7D7E2C4-3994-5C5F-CABE-D9AF20D5B4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93B9912-1704-9F51-F3D8-B86D2186DEF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09287400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AF1E90-FAFD-AE47-A6A5-531D881A98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8993C63-FB60-385C-14CA-73D0BB0171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BE839F2-E212-8AC2-F32C-6F9172D329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5134C51-FD7A-5D59-88E9-AF826AE9319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38710193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0E1F09-E2C8-8475-47B1-046C6489AB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1838990-C365-4179-E346-19C666824F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5D8B74B-485A-5956-8457-269AA62911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C1334D6-1008-7EC8-0C59-18777F82AD5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1838857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1278CA-85C2-18FE-41A1-D8560AD735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56BD485-86AD-19FF-DDF5-2F7852062C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5368EA6-9964-3275-3D30-7C589B055F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68F715A-8D61-45C8-FCE5-090EAE16F0E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77838402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AF1E90-FAFD-AE47-A6A5-531D881A98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8993C63-FB60-385C-14CA-73D0BB0171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BE839F2-E212-8AC2-F32C-6F9172D329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5134C51-FD7A-5D59-88E9-AF826AE9319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38710193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180B01-8EC8-F584-5279-E03AB6225F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0D84F56-4920-0661-8748-35A97FE2AC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D1EF42C-656C-972E-0B7F-366005FD1F3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B5456FC-9C6E-3376-2B21-810E64B7101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11464874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1134A2-01A0-60F0-1ACE-F8FCB03CA2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04B6B2D-08FA-53E5-41F4-EABF226FA1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03693F2-B540-BB63-EC81-A71DF08421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9D4E956-4F78-9147-CE7B-2A6F133A830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27274433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6A6513-788E-9B6B-E3D0-925981512B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FA7103B-96E7-F3D6-F7EC-5888471056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DD3D7AF-CB32-CC58-4B77-591465AF11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B081571-C7DA-CBDE-F06D-01C763EFA86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154784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EDFD5E-B918-724F-4B0C-A5446FDD83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BF02D7B-4112-3EE2-9406-62AE900279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98F48DC-E289-34B8-67E9-35A0E49166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CA91D9F-BEE8-AA1A-E6EC-2CBB6F42C2B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44245463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1BED6B-EE44-064E-7F3B-3902F05673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DF773CD-566A-6A40-8E93-F5C8460D6B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95CEF1C-27B1-1039-2CE9-2C322F39E4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1589616-3879-3773-5F54-A52D426EE75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20387486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22D940-D9C7-60C4-EB5F-52831DD9AD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A76873B-009E-2D63-0475-FB90D74BB84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12523D3-D7F8-1DA9-56E2-01BBB04E8A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DF54688-4066-BC66-8D8F-EE29C6555A8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68624709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91D6E8-9885-77D2-367D-EC83135E79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0C9D32B-005C-BA70-41E3-BD7103EDEC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670BE54-9A0E-F02E-3A7E-570BC437C0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2FB9D0D-1C9A-D3CF-1ABB-5B1557A96A9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30200699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05AEB6-C4B0-467B-A68D-CD9C14628D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121369E-2F19-BE1D-267E-1ADDB7D0B9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8BB514F-924E-BD08-1E87-9EB049435F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324CD82-D291-FDCF-B425-6E05032D479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551193200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771C50-A8E1-DD36-52DB-8CC4FDA4FC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33B7B2A-2CD2-5B8F-1B65-4D6B160CD16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01183C9-2696-4D2D-9002-EE88865172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A4E82FC-BC08-B835-0348-4C2DA500015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84562506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42D46F-2A9E-75F5-A7EB-33B6DE9E86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78F9475-55EB-87E3-62AD-5EF464216F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817FCEA-C875-5FDA-15D4-F0F44593CF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02429F9-012C-795F-8AC7-4F9F7F18E7F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502439054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9EBA54-3E23-8531-EFF8-D79211082C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C50DF9E-AD58-C646-0B5D-B623B9AF20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E7059EA-816D-B7E8-820C-C5FE0264B6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E8E07F8-E011-1C30-D9D5-B76C650BBA1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60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76913427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80C352-D5B7-6775-5989-ACEF0EEFAB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8FD1DF0-4C8F-0BAE-18E6-3DCD086460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AB2904B-32C4-1767-279B-6CA68D62E5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1FFAC79-AB10-F320-DF1E-C29C6C2BD64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61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45257967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68B73F-CC8A-57AE-A258-29D083B15B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D7B8A4C-77FC-5715-5B9C-4873792816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C8368C0-8FB8-4E21-5CB8-7DDD7D2F29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4FD7BF6-CA60-8C78-2200-7F0A85ABFE5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62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74720795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B6F7BB-F0AD-4DAF-9FC7-AB22B81954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CF8231D-BFAF-ED2F-4D76-6AAA07BFAE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55D4824-F3C3-47FE-8282-3E9B086023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1669B45-2404-4D36-0865-E80A334FD4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63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71264065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40D913-3C15-0BDB-7362-6BB56DB55D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AEB8880-A7F4-AAA0-DCA2-9703FE343A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570D2AA-0236-C8AF-16B7-E1B26D6C5B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EC4C9BD-5FD6-0000-7395-09E6C0DDD9F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64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7978174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유리 벽으로 된 건물로 둘러싸인 파란 하늘과 구름을 아래에서 올려다본 사진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873625" y="0"/>
            <a:ext cx="7315200" cy="6858001"/>
          </a:xfrm>
          <a:prstGeom prst="rect">
            <a:avLst/>
          </a:prstGeom>
        </p:spPr>
      </p:pic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08013" y="685801"/>
            <a:ext cx="3962400" cy="4724399"/>
          </a:xfrm>
        </p:spPr>
        <p:txBody>
          <a:bodyPr rtlCol="0">
            <a:normAutofit/>
          </a:bodyPr>
          <a:lstStyle>
            <a:lvl1pPr>
              <a:defRPr sz="48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608013" y="5410200"/>
            <a:ext cx="3962400" cy="762000"/>
          </a:xfrm>
        </p:spPr>
        <p:txBody>
          <a:bodyPr rtlCol="0">
            <a:normAutofit/>
          </a:bodyPr>
          <a:lstStyle>
            <a:lvl1pPr marL="0" indent="0" algn="l">
              <a:spcBef>
                <a:spcPts val="0"/>
              </a:spcBef>
              <a:buNone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rtl="0"/>
            <a:r>
              <a:rPr lang="ko-KR" altLang="en-US" noProof="0"/>
              <a:t>클릭하여 마스터 부제목 스타일 편집</a:t>
            </a:r>
            <a:endParaRPr lang="ko-KR" altLang="en-US" noProof="0" dirty="0"/>
          </a:p>
        </p:txBody>
      </p:sp>
      <p:sp>
        <p:nvSpPr>
          <p:cNvPr id="8" name="날짜 개체 틀 7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B229CEB-779D-4AB3-81CB-8FCEEAE03F61}" type="datetime1">
              <a:rPr lang="ko-KR" altLang="en-US" smtClean="0"/>
              <a:t>2026-04-01</a:t>
            </a:fld>
            <a:endParaRPr lang="ko-KR" altLang="en-US" dirty="0"/>
          </a:p>
        </p:txBody>
      </p:sp>
      <p:sp>
        <p:nvSpPr>
          <p:cNvPr id="9" name="바닥글 개체 틀 8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/>
              <a:t>바닥글 추가</a:t>
            </a:r>
            <a:endParaRPr lang="ko-KR" altLang="en-US" dirty="0"/>
          </a:p>
        </p:txBody>
      </p:sp>
      <p:sp>
        <p:nvSpPr>
          <p:cNvPr id="10" name="슬라이드 번호 개체 틀 9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A3F31473-23EB-4724-8B59-FE6D21D89FA4}" type="slidenum">
              <a:rPr lang="en-US" altLang="ko-KR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3483955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 rtl="0">
              <a:defRPr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 rtlCol="0"/>
          <a:lstStyle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76306AB-75A0-421C-B431-0E4E30A5C28E}" type="datetime1">
              <a:rPr lang="ko-KR" altLang="en-US" noProof="0" smtClean="0"/>
              <a:t>2026-04-01</a:t>
            </a:fld>
            <a:endParaRPr lang="ko-KR" altLang="en-US" noProof="0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1378625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8013" y="2590800"/>
            <a:ext cx="8229599" cy="2819400"/>
          </a:xfrm>
        </p:spPr>
        <p:txBody>
          <a:bodyPr rtlCol="0" anchor="b">
            <a:normAutofit/>
          </a:bodyPr>
          <a:lstStyle>
            <a:lvl1pPr algn="l">
              <a:defRPr sz="4800" b="0" cap="none" baseline="0"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06425" y="5410200"/>
            <a:ext cx="8231187" cy="762000"/>
          </a:xfrm>
        </p:spPr>
        <p:txBody>
          <a:bodyPr rtlCol="0" anchor="t">
            <a:normAutofit/>
          </a:bodyPr>
          <a:lstStyle>
            <a:lvl1pPr marL="0" indent="0" rtl="0">
              <a:spcBef>
                <a:spcPts val="0"/>
              </a:spcBef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1D969EE-F1EB-462E-B70D-5B36B3806A4E}" type="datetime1">
              <a:rPr lang="ko-KR" altLang="en-US" noProof="0" smtClean="0"/>
              <a:t>2026-04-01</a:t>
            </a:fld>
            <a:endParaRPr lang="ko-KR" altLang="en-US" noProof="0" dirty="0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pPr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225113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내용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1293813" y="685800"/>
            <a:ext cx="5029200" cy="4191000"/>
          </a:xfrm>
        </p:spPr>
        <p:txBody>
          <a:bodyPr rtlCol="0"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551614" y="685800"/>
            <a:ext cx="5029199" cy="4191000"/>
          </a:xfrm>
        </p:spPr>
        <p:txBody>
          <a:bodyPr rtlCol="0"/>
          <a:lstStyle>
            <a:lvl1pPr rtl="0"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8CBB1B7-E0A1-46A3-B5B5-C69931095FF6}" type="datetime1">
              <a:rPr lang="ko-KR" altLang="en-US" noProof="0" smtClean="0"/>
              <a:t>2026-04-01</a:t>
            </a:fld>
            <a:endParaRPr lang="ko-KR" altLang="en-US" noProof="0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8970135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1293664" y="685800"/>
            <a:ext cx="5029200" cy="990600"/>
          </a:xfrm>
        </p:spPr>
        <p:txBody>
          <a:bodyPr rtlCol="0" anchor="ctr">
            <a:normAutofit/>
          </a:bodyPr>
          <a:lstStyle>
            <a:lvl1pPr marL="0" indent="0" rtl="0">
              <a:spcBef>
                <a:spcPts val="0"/>
              </a:spcBef>
              <a:buNone/>
              <a:defRPr sz="32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1293664" y="1676400"/>
            <a:ext cx="5029200" cy="3200400"/>
          </a:xfrm>
        </p:spPr>
        <p:txBody>
          <a:bodyPr rtlCol="0"/>
          <a:lstStyle>
            <a:lvl1pPr rtl="0"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551613" y="685800"/>
            <a:ext cx="5029200" cy="990600"/>
          </a:xfrm>
        </p:spPr>
        <p:txBody>
          <a:bodyPr rtlCol="0" anchor="ctr">
            <a:normAutofit/>
          </a:bodyPr>
          <a:lstStyle>
            <a:lvl1pPr marL="0" indent="0" rtl="0">
              <a:spcBef>
                <a:spcPts val="0"/>
              </a:spcBef>
              <a:buNone/>
              <a:defRPr sz="32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550025" y="1676400"/>
            <a:ext cx="5029200" cy="3200400"/>
          </a:xfrm>
        </p:spPr>
        <p:txBody>
          <a:bodyPr rtlCol="0"/>
          <a:lstStyle>
            <a:lvl1pPr rtl="0"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AFC0E65-06AB-44D7-AAEE-8F4C7ED84A0C}" type="datetime1">
              <a:rPr lang="ko-KR" altLang="en-US" noProof="0" smtClean="0"/>
              <a:t>2026-04-01</a:t>
            </a:fld>
            <a:endParaRPr lang="ko-KR" altLang="en-US" noProof="0" dirty="0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5130968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0189E66-D439-4767-B911-EB49CB20E313}" type="datetime1">
              <a:rPr lang="ko-KR" altLang="en-US" noProof="0" smtClean="0"/>
              <a:t>2026-04-01</a:t>
            </a:fld>
            <a:endParaRPr lang="ko-KR" altLang="en-US" noProof="0" dirty="0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1344281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비어 있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4E4FFC0-DB28-4291-80A0-63DBF8428320}" type="datetime1">
              <a:rPr lang="ko-KR" altLang="en-US" noProof="0" smtClean="0"/>
              <a:t>2026-04-01</a:t>
            </a:fld>
            <a:endParaRPr lang="ko-KR" altLang="en-US" noProof="0" dirty="0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19103118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8014" y="685800"/>
            <a:ext cx="3962400" cy="4724400"/>
          </a:xfrm>
        </p:spPr>
        <p:txBody>
          <a:bodyPr rtlCol="0" anchor="b">
            <a:noAutofit/>
          </a:bodyPr>
          <a:lstStyle>
            <a:lvl1pPr algn="l">
              <a:defRPr sz="3600" b="0"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875212" y="685800"/>
            <a:ext cx="6704171" cy="5486400"/>
          </a:xfrm>
        </p:spPr>
        <p:txBody>
          <a:bodyPr rtlCol="0">
            <a:normAutofit/>
          </a:bodyPr>
          <a:lstStyle>
            <a:lvl1pPr rtl="0"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 baseline="0"/>
            </a:lvl6pPr>
            <a:lvl7pPr>
              <a:defRPr sz="1800" baseline="0"/>
            </a:lvl7pPr>
            <a:lvl8pPr>
              <a:defRPr sz="1800" baseline="0"/>
            </a:lvl8pPr>
            <a:lvl9pPr>
              <a:defRPr sz="1800" baseline="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08013" y="5410200"/>
            <a:ext cx="3962400" cy="762000"/>
          </a:xfrm>
        </p:spPr>
        <p:txBody>
          <a:bodyPr rtlCol="0">
            <a:normAutofit/>
          </a:bodyPr>
          <a:lstStyle>
            <a:lvl1pPr marL="0" indent="0" rtl="0">
              <a:spcBef>
                <a:spcPts val="0"/>
              </a:spcBef>
              <a:buNone/>
              <a:defRPr sz="20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AB5804B-C38E-4214-93DF-3E6DA00134E8}" type="datetime1">
              <a:rPr lang="ko-KR" altLang="en-US" noProof="0" smtClean="0"/>
              <a:t>2026-04-01</a:t>
            </a:fld>
            <a:endParaRPr lang="ko-KR" altLang="en-US" noProof="0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22347262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8014" y="685800"/>
            <a:ext cx="3962400" cy="4724400"/>
          </a:xfrm>
        </p:spPr>
        <p:txBody>
          <a:bodyPr rtlCol="0" anchor="b">
            <a:normAutofit/>
          </a:bodyPr>
          <a:lstStyle>
            <a:lvl1pPr algn="l">
              <a:defRPr sz="3600" b="0"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그림 개체 틀 2" descr="이미지를 추가할 수 있는 빈 개체 틀입니다. 개체 틀을 클릭하고 추가할 이미지를 선택하세요."/>
          <p:cNvSpPr>
            <a:spLocks noGrp="1"/>
          </p:cNvSpPr>
          <p:nvPr>
            <p:ph type="pic" idx="1"/>
          </p:nvPr>
        </p:nvSpPr>
        <p:spPr>
          <a:xfrm>
            <a:off x="4875213" y="685800"/>
            <a:ext cx="6705600" cy="5486400"/>
          </a:xfrm>
          <a:ln w="63500">
            <a:solidFill>
              <a:schemeClr val="bg1"/>
            </a:solidFill>
            <a:miter lim="800000"/>
          </a:ln>
        </p:spPr>
        <p:txBody>
          <a:bodyPr rtlCol="0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rtl="0"/>
            <a:r>
              <a:rPr lang="ko-KR" altLang="en-US" noProof="0"/>
              <a:t>그림을 추가하려면 아이콘을 클릭하십시오</a:t>
            </a:r>
            <a:endParaRPr lang="en-US" altLang="ko-KR" noProof="0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08013" y="5410200"/>
            <a:ext cx="3962400" cy="762000"/>
          </a:xfrm>
        </p:spPr>
        <p:txBody>
          <a:bodyPr rtlCol="0">
            <a:normAutofit/>
          </a:bodyPr>
          <a:lstStyle>
            <a:lvl1pPr marL="0" indent="0" rtl="0">
              <a:spcBef>
                <a:spcPts val="0"/>
              </a:spcBef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CABEE384-F18F-4153-AC21-608599869F84}" type="datetime1">
              <a:rPr lang="ko-KR" altLang="en-US" noProof="0" smtClean="0"/>
              <a:t>2026-04-01</a:t>
            </a:fld>
            <a:endParaRPr lang="ko-KR" altLang="en-US" noProof="0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3520414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 rtlCol="0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>
                <a:schemeClr val="tx1"/>
              </a:buClr>
              <a:buSzPct val="80000"/>
              <a:buFont typeface="Arial" pitchFamily="34" charset="0"/>
              <a:buNone/>
              <a:tabLst/>
              <a:defRPr/>
            </a:lvl1pPr>
            <a:lvl5pPr>
              <a:defRPr/>
            </a:lvl5pPr>
            <a:lvl6pPr>
              <a:defRPr/>
            </a:lvl6pPr>
            <a:lvl7pPr>
              <a:defRPr/>
            </a:lvl7pPr>
            <a:lvl8pPr>
              <a:defRPr baseline="0"/>
            </a:lvl8pPr>
            <a:lvl9pPr>
              <a:defRPr baseline="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C3B7A883-0BF0-4B4B-84D5-D747A0111A56}" type="datetime1">
              <a:rPr lang="ko-KR" altLang="en-US" noProof="0" smtClean="0"/>
              <a:t>2026-04-01</a:t>
            </a:fld>
            <a:endParaRPr lang="ko-KR" altLang="en-US" noProof="0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21762946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10285412" y="685800"/>
            <a:ext cx="1295401" cy="5486400"/>
          </a:xfrm>
        </p:spPr>
        <p:txBody>
          <a:bodyPr vert="eaVert"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608012" y="685800"/>
            <a:ext cx="9474253" cy="5486400"/>
          </a:xfrm>
        </p:spPr>
        <p:txBody>
          <a:bodyPr vert="eaVert" rtlCol="0"/>
          <a:lstStyle>
            <a:lvl1pPr rtl="0">
              <a:defRPr/>
            </a:lvl1pPr>
            <a:lvl5pPr>
              <a:defRPr/>
            </a:lvl5pPr>
            <a:lvl6pPr>
              <a:defRPr/>
            </a:lvl6pPr>
            <a:lvl7pPr>
              <a:defRPr/>
            </a:lvl7pPr>
            <a:lvl8pPr>
              <a:defRPr baseline="0"/>
            </a:lvl8pPr>
            <a:lvl9pPr>
              <a:defRPr baseline="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DA7EA29-F2BB-4FB1-BB4B-C55A7FA3FC5C}" type="datetime1">
              <a:rPr lang="ko-KR" altLang="en-US" noProof="0" smtClean="0"/>
              <a:t>2026-04-01</a:t>
            </a:fld>
            <a:endParaRPr lang="ko-KR" altLang="en-US" noProof="0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8500524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609441" y="5105400"/>
            <a:ext cx="10971372" cy="10668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rtl="0"/>
            <a:r>
              <a:rPr lang="ko-KR" altLang="en-US" noProof="0" dirty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1293813" y="685800"/>
            <a:ext cx="10287000" cy="41909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 편집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609441" y="6356351"/>
            <a:ext cx="284405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2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667A4C69-65FB-481C-AC2A-84D254D33675}" type="datetime1">
              <a:rPr lang="ko-KR" altLang="en-US" smtClean="0"/>
              <a:t>2026-04-01</a:t>
            </a:fld>
            <a:endParaRPr lang="ko-KR" altLang="en-US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164515" y="6356351"/>
            <a:ext cx="385979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2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/>
              <a:t>바닥글 추가</a:t>
            </a:r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735325" y="6356351"/>
            <a:ext cx="284405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2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A3F31473-23EB-4724-8B59-FE6D21D89FA4}" type="slidenum">
              <a:rPr lang="en-US" altLang="ko-KR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49289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 dt="0"/>
  <p:txStyles>
    <p:titleStyle>
      <a:lvl1pPr algn="l" defTabSz="914400" rtl="0" eaLnBrk="1" latinLnBrk="1" hangingPunct="1">
        <a:lnSpc>
          <a:spcPct val="80000"/>
        </a:lnSpc>
        <a:spcBef>
          <a:spcPct val="0"/>
        </a:spcBef>
        <a:buNone/>
        <a:defRPr sz="3600" kern="1200">
          <a:solidFill>
            <a:schemeClr val="accent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800"/>
        </a:spcBef>
        <a:buClr>
          <a:schemeClr val="tx1"/>
        </a:buClr>
        <a:buSzPct val="80000"/>
        <a:buFont typeface="Arial" pitchFamily="34" charset="0"/>
        <a:buChar char="•"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615950" indent="-285750" algn="l" defTabSz="914400" rtl="0" eaLnBrk="1" latinLnBrk="1" hangingPunct="1">
        <a:lnSpc>
          <a:spcPct val="90000"/>
        </a:lnSpc>
        <a:spcBef>
          <a:spcPts val="600"/>
        </a:spcBef>
        <a:buSzPct val="80000"/>
        <a:buFont typeface="Corbel" pitchFamily="34" charset="0"/>
        <a:buChar char="–"/>
        <a:defRPr sz="24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996696" indent="-228600" algn="l" defTabSz="914400" rtl="0" eaLnBrk="1" latinLnBrk="1" hangingPunct="1">
        <a:lnSpc>
          <a:spcPct val="90000"/>
        </a:lnSpc>
        <a:spcBef>
          <a:spcPts val="600"/>
        </a:spcBef>
        <a:buClr>
          <a:schemeClr val="tx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380744" indent="-283464" algn="l" defTabSz="914400" rtl="0" eaLnBrk="1" latinLnBrk="1" hangingPunct="1">
        <a:lnSpc>
          <a:spcPct val="90000"/>
        </a:lnSpc>
        <a:spcBef>
          <a:spcPts val="600"/>
        </a:spcBef>
        <a:buFont typeface="Corbel" pitchFamily="34" charset="0"/>
        <a:buChar char="–"/>
        <a:defRPr sz="1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764792" indent="-228600" algn="l" defTabSz="914400" rtl="0" eaLnBrk="1" latinLnBrk="1" hangingPunct="1">
        <a:lnSpc>
          <a:spcPct val="90000"/>
        </a:lnSpc>
        <a:spcBef>
          <a:spcPts val="600"/>
        </a:spcBef>
        <a:buClr>
          <a:schemeClr val="tx1"/>
        </a:buClr>
        <a:buSzPct val="80000"/>
        <a:buFont typeface="Arial" pitchFamily="34" charset="0"/>
        <a:buChar char="•"/>
        <a:defRPr sz="1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148840" indent="-283464" algn="l" defTabSz="914400" rtl="0" eaLnBrk="1" latinLnBrk="1" hangingPunct="1">
        <a:lnSpc>
          <a:spcPct val="90000"/>
        </a:lnSpc>
        <a:spcBef>
          <a:spcPts val="600"/>
        </a:spcBef>
        <a:buFont typeface="Corbel" pitchFamily="34" charset="0"/>
        <a:buChar char="–"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2532888" indent="-228600" algn="l" defTabSz="914400" rtl="0" eaLnBrk="1" latinLnBrk="1" hangingPunct="1">
        <a:lnSpc>
          <a:spcPct val="90000"/>
        </a:lnSpc>
        <a:spcBef>
          <a:spcPts val="600"/>
        </a:spcBef>
        <a:buSzPct val="80000"/>
        <a:buFont typeface="Arial" pitchFamily="34" charset="0"/>
        <a:buChar char="•"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7pPr>
      <a:lvl8pPr marL="2916936" indent="-283464" algn="l" defTabSz="914400" rtl="0" eaLnBrk="1" latinLnBrk="1" hangingPunct="1">
        <a:lnSpc>
          <a:spcPct val="90000"/>
        </a:lnSpc>
        <a:spcBef>
          <a:spcPts val="600"/>
        </a:spcBef>
        <a:buFont typeface="Corbel" pitchFamily="34" charset="0"/>
        <a:buChar char="–"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3300984" indent="-228600" algn="l" defTabSz="914400" rtl="0" eaLnBrk="1" latinLnBrk="1" hangingPunct="1">
        <a:lnSpc>
          <a:spcPct val="90000"/>
        </a:lnSpc>
        <a:spcBef>
          <a:spcPts val="600"/>
        </a:spcBef>
        <a:buSzPct val="80000"/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39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jpeg"/><Relationship Id="rId4" Type="http://schemas.openxmlformats.org/officeDocument/2006/relationships/image" Target="../media/image5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jpeg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jpeg"/><Relationship Id="rId4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19.sv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3.png"/><Relationship Id="rId4" Type="http://schemas.openxmlformats.org/officeDocument/2006/relationships/image" Target="../media/image220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28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shorts/6qxA9JDLSpw?feature=share" TargetMode="Externa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jpeg"/><Relationship Id="rId4" Type="http://schemas.openxmlformats.org/officeDocument/2006/relationships/image" Target="../media/image29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eogebra.org/m/dgu3MNjB" TargetMode="Externa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jpeg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4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7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jpeg"/><Relationship Id="rId4" Type="http://schemas.openxmlformats.org/officeDocument/2006/relationships/image" Target="../media/image40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jpe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5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jpe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0.png"/><Relationship Id="rId4" Type="http://schemas.openxmlformats.org/officeDocument/2006/relationships/image" Target="../media/image49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3.png"/><Relationship Id="rId4" Type="http://schemas.openxmlformats.org/officeDocument/2006/relationships/image" Target="../media/image52.jpe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5.jpe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jpe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5.jpeg"/><Relationship Id="rId4" Type="http://schemas.openxmlformats.org/officeDocument/2006/relationships/hyperlink" Target="https://en.wikipedia.org/wiki/Sunrise_problem" TargetMode="External"/></Relationships>
</file>

<file path=ppt/slides/_rels/slide4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0.png"/><Relationship Id="rId3" Type="http://schemas.openxmlformats.org/officeDocument/2006/relationships/image" Target="../media/image530.png"/><Relationship Id="rId7" Type="http://schemas.openxmlformats.org/officeDocument/2006/relationships/image" Target="../media/image59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8.png"/><Relationship Id="rId5" Type="http://schemas.openxmlformats.org/officeDocument/2006/relationships/hyperlink" Target="https://seaborn.pydata.org/examples/hexbin_marginals.html" TargetMode="External"/><Relationship Id="rId4" Type="http://schemas.openxmlformats.org/officeDocument/2006/relationships/image" Target="../media/image57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4.png"/><Relationship Id="rId5" Type="http://schemas.openxmlformats.org/officeDocument/2006/relationships/image" Target="../media/image63.png"/><Relationship Id="rId4" Type="http://schemas.openxmlformats.org/officeDocument/2006/relationships/image" Target="../media/image62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6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9.png"/><Relationship Id="rId4" Type="http://schemas.openxmlformats.org/officeDocument/2006/relationships/image" Target="../media/image68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1.png"/><Relationship Id="rId4" Type="http://schemas.openxmlformats.org/officeDocument/2006/relationships/image" Target="../media/image70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3.jpeg"/><Relationship Id="rId4" Type="http://schemas.openxmlformats.org/officeDocument/2006/relationships/hyperlink" Target="https://kosis.kr/statHtml/statHtml.do?sso=ok&amp;returnurl=https%3A%2F%2Fkosis.kr%3A443%2FstatHtml%2FstatHtml.do%3FmarkType%3DC%26tblId%3DDT_1K52D03%26orgId%3D101%26" TargetMode="Externa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3.jpe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6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1.png"/><Relationship Id="rId5" Type="http://schemas.openxmlformats.org/officeDocument/2006/relationships/image" Target="../media/image80.png"/><Relationship Id="rId4" Type="http://schemas.openxmlformats.org/officeDocument/2006/relationships/image" Target="../media/image79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ww.youtube.com/watch?v=GEFxFVESQXc" TargetMode="External"/><Relationship Id="rId4" Type="http://schemas.openxmlformats.org/officeDocument/2006/relationships/image" Target="../media/image83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Naive_Bayes_classifier" TargetMode="External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3.jpeg"/><Relationship Id="rId5" Type="http://schemas.openxmlformats.org/officeDocument/2006/relationships/image" Target="../media/image85.png"/><Relationship Id="rId4" Type="http://schemas.openxmlformats.org/officeDocument/2006/relationships/image" Target="../media/image84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6.png"/><Relationship Id="rId7" Type="http://schemas.openxmlformats.org/officeDocument/2006/relationships/image" Target="../media/image55.jpe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9.png"/><Relationship Id="rId5" Type="http://schemas.openxmlformats.org/officeDocument/2006/relationships/image" Target="../media/image88.png"/><Relationship Id="rId4" Type="http://schemas.openxmlformats.org/officeDocument/2006/relationships/image" Target="../media/image87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jpe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jpeg"/><Relationship Id="rId7" Type="http://schemas.openxmlformats.org/officeDocument/2006/relationships/image" Target="../media/image93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2.png"/><Relationship Id="rId5" Type="http://schemas.openxmlformats.org/officeDocument/2006/relationships/image" Target="../media/image91.png"/><Relationship Id="rId4" Type="http://schemas.openxmlformats.org/officeDocument/2006/relationships/image" Target="../media/image90.png"/></Relationships>
</file>

<file path=ppt/slides/_rels/slide60.xml.rels><?xml version="1.0" encoding="UTF-8" standalone="yes"?>
<Relationships xmlns="http://schemas.openxmlformats.org/package/2006/relationships"><Relationship Id="rId8" Type="http://schemas.openxmlformats.org/officeDocument/2006/relationships/image" Target="../media/image97.png"/><Relationship Id="rId3" Type="http://schemas.openxmlformats.org/officeDocument/2006/relationships/hyperlink" Target="https://en.wikipedia.org/wiki/Survivorship_bias" TargetMode="External"/><Relationship Id="rId7" Type="http://schemas.openxmlformats.org/officeDocument/2006/relationships/image" Target="../media/image55.jpe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6.png"/><Relationship Id="rId5" Type="http://schemas.openxmlformats.org/officeDocument/2006/relationships/image" Target="../media/image95.png"/><Relationship Id="rId4" Type="http://schemas.openxmlformats.org/officeDocument/2006/relationships/image" Target="../media/image94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jpe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jpe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8.png"/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5.jpeg"/><Relationship Id="rId4" Type="http://schemas.openxmlformats.org/officeDocument/2006/relationships/hyperlink" Target="https://seaborn.pydata.org/examples/layered_bivariate_plot.html" TargetMode="Externa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9.jpeg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5.jpe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1.png"/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5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08013" y="685801"/>
            <a:ext cx="3962400" cy="2959223"/>
          </a:xfrm>
        </p:spPr>
        <p:txBody>
          <a:bodyPr rtlCol="0">
            <a:normAutofit/>
          </a:bodyPr>
          <a:lstStyle/>
          <a:p>
            <a:pPr rtl="0"/>
            <a:r>
              <a:rPr lang="ko-KR" altLang="en-US" b="1" dirty="0"/>
              <a:t>확률론</a:t>
            </a:r>
            <a:br>
              <a:rPr lang="en-US" altLang="ko-KR" b="1" dirty="0"/>
            </a:br>
            <a:br>
              <a:rPr lang="en-US" altLang="ko-KR" dirty="0"/>
            </a:br>
            <a:r>
              <a:rPr lang="en-US" altLang="ko-KR" sz="2400" b="1" dirty="0"/>
              <a:t>- </a:t>
            </a:r>
            <a:r>
              <a:rPr lang="ko-KR" altLang="en-US" sz="2400" b="1" dirty="0" err="1"/>
              <a:t>머신러닝을</a:t>
            </a:r>
            <a:r>
              <a:rPr lang="ko-KR" altLang="en-US" sz="2400" b="1" dirty="0"/>
              <a:t> 위한 </a:t>
            </a:r>
            <a:r>
              <a:rPr lang="en-US" altLang="ko-KR" sz="2400" b="1" dirty="0"/>
              <a:t>-</a:t>
            </a:r>
            <a:r>
              <a:rPr lang="en-US" altLang="ko-KR" sz="3200" b="1" dirty="0"/>
              <a:t> </a:t>
            </a:r>
            <a:br>
              <a:rPr lang="en-US" altLang="ko-KR" dirty="0"/>
            </a:br>
            <a:endParaRPr lang="ko-KR" altLang="en-US" sz="2400" dirty="0"/>
          </a:p>
        </p:txBody>
      </p:sp>
      <p:sp>
        <p:nvSpPr>
          <p:cNvPr id="3" name="부제 2"/>
          <p:cNvSpPr>
            <a:spLocks noGrp="1"/>
          </p:cNvSpPr>
          <p:nvPr>
            <p:ph type="subTitle" idx="1"/>
          </p:nvPr>
        </p:nvSpPr>
        <p:spPr>
          <a:xfrm>
            <a:off x="589537" y="4293096"/>
            <a:ext cx="3962400" cy="2016224"/>
          </a:xfrm>
        </p:spPr>
        <p:txBody>
          <a:bodyPr rtlCol="0">
            <a:normAutofit/>
          </a:bodyPr>
          <a:lstStyle/>
          <a:p>
            <a:pPr>
              <a:lnSpc>
                <a:spcPct val="120000"/>
              </a:lnSpc>
            </a:pPr>
            <a:br>
              <a:rPr lang="en-US" altLang="ko-KR" dirty="0"/>
            </a:br>
            <a:r>
              <a:rPr lang="en-US" altLang="ko-KR" dirty="0"/>
              <a:t>2026_Spring</a:t>
            </a:r>
          </a:p>
          <a:p>
            <a:pPr>
              <a:lnSpc>
                <a:spcPct val="120000"/>
              </a:lnSpc>
            </a:pPr>
            <a:endParaRPr lang="en-US" altLang="ko-KR" dirty="0"/>
          </a:p>
          <a:p>
            <a:pPr rtl="0">
              <a:lnSpc>
                <a:spcPct val="120000"/>
              </a:lnSpc>
            </a:pPr>
            <a:r>
              <a:rPr lang="ko-KR" altLang="en-US" dirty="0" err="1"/>
              <a:t>조상구</a:t>
            </a:r>
            <a:endParaRPr lang="ko-KR" altLang="en-US" dirty="0"/>
          </a:p>
        </p:txBody>
      </p:sp>
      <p:pic>
        <p:nvPicPr>
          <p:cNvPr id="4" name="Picture 4" descr="깊은 생각에 잠긴 남자의 청동 조각상">
            <a:extLst>
              <a:ext uri="{FF2B5EF4-FFF2-40B4-BE49-F238E27FC236}">
                <a16:creationId xmlns:a16="http://schemas.microsoft.com/office/drawing/2014/main" id="{A0238B7E-7B42-DB8C-B129-8BF4F93752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70276" y="3014307"/>
            <a:ext cx="2566021" cy="38436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40801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90E2C1-BB1A-4FCC-4EBC-8B540F598F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EF241B0-03F6-4174-6351-DEA7C30228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</a:t>
            </a:fld>
            <a:endParaRPr lang="en-US" altLang="ko-KR" noProof="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969E69D-4C2D-C812-DDC5-4721F324AC9B}"/>
              </a:ext>
            </a:extLst>
          </p:cNvPr>
          <p:cNvSpPr txBox="1"/>
          <p:nvPr/>
        </p:nvSpPr>
        <p:spPr>
          <a:xfrm>
            <a:off x="5014292" y="1772816"/>
            <a:ext cx="6840760" cy="11110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50000"/>
              </a:lnSpc>
            </a:pPr>
            <a:r>
              <a:rPr lang="ko-KR" altLang="en-US" sz="32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신은 주사위를 던진다</a:t>
            </a:r>
            <a:r>
              <a:rPr lang="en-US" altLang="ko-KR" sz="32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.</a:t>
            </a:r>
          </a:p>
        </p:txBody>
      </p:sp>
      <p:pic>
        <p:nvPicPr>
          <p:cNvPr id="13314" name="Picture 2">
            <a:extLst>
              <a:ext uri="{FF2B5EF4-FFF2-40B4-BE49-F238E27FC236}">
                <a16:creationId xmlns:a16="http://schemas.microsoft.com/office/drawing/2014/main" id="{890AE170-3683-EFA7-B712-EC521F9405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7788" y="586522"/>
            <a:ext cx="3960440" cy="59406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109077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226249-DF82-F305-751E-127F3A71C2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65A9C867-CB37-476A-DE58-40E42281C49F}"/>
              </a:ext>
            </a:extLst>
          </p:cNvPr>
          <p:cNvSpPr/>
          <p:nvPr/>
        </p:nvSpPr>
        <p:spPr>
          <a:xfrm>
            <a:off x="598421" y="1484784"/>
            <a:ext cx="8136904" cy="6748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78B211BD-7338-379D-8BC3-3149D048B4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</a:t>
            </a:fld>
            <a:endParaRPr lang="en-US" altLang="ko-KR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6786082-2314-C632-A520-B7C165520AFC}"/>
              </a:ext>
            </a:extLst>
          </p:cNvPr>
          <p:cNvSpPr txBox="1"/>
          <p:nvPr/>
        </p:nvSpPr>
        <p:spPr>
          <a:xfrm>
            <a:off x="1629916" y="147612"/>
            <a:ext cx="8928992" cy="5891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  <a:spcBef>
                <a:spcPts val="600"/>
              </a:spcBef>
            </a:pPr>
            <a:r>
              <a:rPr lang="ko-KR" altLang="en-US" sz="4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 변수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Variable)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이산형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(Discrete)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연속형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(Continuous)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확률변수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분산과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편향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 &amp; Bias)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 err="1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기대값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(Expectation)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분산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분포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Distribution)</a:t>
            </a: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베르누이분포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이항분포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정규분포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조건부 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(Conditional Probability)</a:t>
            </a:r>
          </a:p>
        </p:txBody>
      </p:sp>
    </p:spTree>
    <p:extLst>
      <p:ext uri="{BB962C8B-B14F-4D97-AF65-F5344CB8AC3E}">
        <p14:creationId xmlns:p14="http://schemas.microsoft.com/office/powerpoint/2010/main" val="21946917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40B18E-31A8-3601-E7A2-1949493AFB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4014C26-A6A8-6228-9BB1-92D3E7081A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6504074-B23E-0A42-B4B0-593C8F030385}"/>
              </a:ext>
            </a:extLst>
          </p:cNvPr>
          <p:cNvSpPr txBox="1"/>
          <p:nvPr/>
        </p:nvSpPr>
        <p:spPr>
          <a:xfrm>
            <a:off x="333772" y="1124744"/>
            <a:ext cx="10081120" cy="3432030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억의 상금이 걸린 게임이 있다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A, B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두 사람이 라운드마다 각각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50%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확률로 승패 결과가 있는 경우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누구나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6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번을 이기면 게임이 끝나게 된다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현재까지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8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번의 라운드에서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A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는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5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번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B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는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3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번 이겼다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억 상금을 각각 공평하게 나누려면 얼마씩 배분하여야 하는가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A,B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가 각각 이길 확률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A35FE29-FE08-A648-1595-0410244C467F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5CE4739-A87B-0562-0D6E-42C8155E0247}"/>
              </a:ext>
            </a:extLst>
          </p:cNvPr>
          <p:cNvSpPr txBox="1"/>
          <p:nvPr/>
        </p:nvSpPr>
        <p:spPr>
          <a:xfrm>
            <a:off x="464586" y="5615034"/>
            <a:ext cx="61139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solidFill>
                  <a:srgbClr val="002060"/>
                </a:solidFill>
                <a:latin typeface="+mj-ea"/>
                <a:ea typeface="+mj-ea"/>
              </a:rPr>
              <a:t>결합확률</a:t>
            </a:r>
            <a:r>
              <a:rPr lang="en-US" altLang="ko-KR" dirty="0">
                <a:solidFill>
                  <a:srgbClr val="002060"/>
                </a:solidFill>
                <a:latin typeface="+mj-ea"/>
                <a:ea typeface="+mj-ea"/>
              </a:rPr>
              <a:t>, </a:t>
            </a:r>
            <a:r>
              <a:rPr lang="ko-KR" altLang="en-US" dirty="0">
                <a:solidFill>
                  <a:srgbClr val="002060"/>
                </a:solidFill>
                <a:latin typeface="+mj-ea"/>
                <a:ea typeface="+mj-ea"/>
              </a:rPr>
              <a:t>동시확률을 이해하기 위한 문제</a:t>
            </a:r>
            <a:endParaRPr lang="ko-KR" altLang="en-US" dirty="0">
              <a:solidFill>
                <a:srgbClr val="002060"/>
              </a:solidFill>
            </a:endParaRPr>
          </a:p>
        </p:txBody>
      </p:sp>
      <p:pic>
        <p:nvPicPr>
          <p:cNvPr id="11" name="그래픽 10" descr="연필">
            <a:extLst>
              <a:ext uri="{FF2B5EF4-FFF2-40B4-BE49-F238E27FC236}">
                <a16:creationId xmlns:a16="http://schemas.microsoft.com/office/drawing/2014/main" id="{8550D6BA-66AF-CB61-0B13-5C584A2A1E8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99492" y="4818856"/>
            <a:ext cx="707668" cy="707668"/>
          </a:xfrm>
          <a:prstGeom prst="rect">
            <a:avLst/>
          </a:prstGeom>
        </p:spPr>
      </p:pic>
      <p:pic>
        <p:nvPicPr>
          <p:cNvPr id="3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EF655AF7-7D7C-7E65-E8E7-2DE0BF41ED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456220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EBF62E-E81B-9926-EE39-212E26B1D6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C6C83D71-A537-5230-595B-3FB17D2090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</a:t>
            </a:fld>
            <a:endParaRPr lang="en-US" altLang="ko-KR" noProof="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7CC3755-3917-B5AD-AC51-02A04E516082}"/>
                  </a:ext>
                </a:extLst>
              </p:cNvPr>
              <p:cNvSpPr txBox="1"/>
              <p:nvPr/>
            </p:nvSpPr>
            <p:spPr>
              <a:xfrm>
                <a:off x="333772" y="1124744"/>
                <a:ext cx="5544616" cy="4274568"/>
              </a:xfrm>
              <a:prstGeom prst="rect">
                <a:avLst/>
              </a:prstGeom>
              <a:solidFill>
                <a:schemeClr val="tx1">
                  <a:lumMod val="20000"/>
                  <a:lumOff val="80000"/>
                </a:schemeClr>
              </a:solidFill>
            </p:spPr>
            <p:txBody>
              <a:bodyPr wrap="square" rtlCol="0">
                <a:spAutoFit/>
              </a:bodyPr>
              <a:lstStyle/>
              <a:p>
                <a:pPr marL="285750" indent="-285750">
                  <a:lnSpc>
                    <a:spcPct val="300000"/>
                  </a:lnSpc>
                  <a:buFont typeface="Wingdings" panose="05000000000000000000" pitchFamily="2" charset="2"/>
                  <a:buChar char="v"/>
                </a:pP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Pascal(1623~1662) 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해법 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: 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경우의 수 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tree</a:t>
                </a:r>
              </a:p>
              <a:p>
                <a:pPr marL="742950" lvl="1" indent="-285750">
                  <a:lnSpc>
                    <a:spcPct val="300000"/>
                  </a:lnSpc>
                  <a:buFont typeface="Wingdings" panose="05000000000000000000" pitchFamily="2" charset="2"/>
                  <a:buChar char="v"/>
                </a:pPr>
                <a14:m>
                  <m:oMath xmlns:m="http://schemas.openxmlformats.org/officeDocument/2006/math">
                    <m:r>
                      <a:rPr lang="en-US" altLang="ko-KR" sz="20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맑은 고딕" panose="020B0503020000020004" pitchFamily="50" charset="-127"/>
                      </a:rPr>
                      <m:t>𝑃</m:t>
                    </m:r>
                    <m:d>
                      <m:dPr>
                        <m:ctrlPr>
                          <a:rPr lang="en-US" altLang="ko-KR" sz="20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맑은 고딕" panose="020B0503020000020004" pitchFamily="50" charset="-127"/>
                          </a:rPr>
                        </m:ctrlPr>
                      </m:dPr>
                      <m:e>
                        <m:r>
                          <a:rPr lang="en-US" altLang="ko-KR" sz="20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맑은 고딕" panose="020B0503020000020004" pitchFamily="50" charset="-127"/>
                          </a:rPr>
                          <m:t>𝐵</m:t>
                        </m:r>
                        <m:r>
                          <a:rPr lang="en-US" altLang="ko-KR" sz="20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맑은 고딕" panose="020B0503020000020004" pitchFamily="50" charset="-127"/>
                          </a:rPr>
                          <m:t> </m:t>
                        </m:r>
                        <m:r>
                          <a:rPr lang="en-US" altLang="ko-KR" sz="20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맑은 고딕" panose="020B0503020000020004" pitchFamily="50" charset="-127"/>
                          </a:rPr>
                          <m:t>𝑤𝑖𝑛</m:t>
                        </m:r>
                      </m:e>
                    </m:d>
                    <m:r>
                      <a:rPr lang="en-US" altLang="ko-KR" sz="20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맑은 고딕" panose="020B0503020000020004" pitchFamily="50" charset="-127"/>
                      </a:rPr>
                      <m:t>= </m:t>
                    </m:r>
                  </m:oMath>
                </a14:m>
                <a:r>
                  <a:rPr lang="en-US" altLang="ko-KR" sz="2000" dirty="0">
                    <a:solidFill>
                      <a:srgbClr val="FF0000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½*½*½</a:t>
                </a:r>
                <a:endParaRPr lang="en-US" altLang="ko-KR" sz="1600" dirty="0">
                  <a:solidFill>
                    <a:srgbClr val="FF0000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  <a:p>
                <a:pPr marL="742950" lvl="1" indent="-285750">
                  <a:lnSpc>
                    <a:spcPct val="300000"/>
                  </a:lnSpc>
                  <a:buFont typeface="Wingdings" panose="05000000000000000000" pitchFamily="2" charset="2"/>
                  <a:buChar char="v"/>
                </a:pPr>
                <a14:m>
                  <m:oMath xmlns:m="http://schemas.openxmlformats.org/officeDocument/2006/math">
                    <m:r>
                      <a:rPr lang="en-US" altLang="ko-KR" sz="20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  <a:ea typeface="맑은 고딕" panose="020B0503020000020004" pitchFamily="50" charset="-127"/>
                      </a:rPr>
                      <m:t>𝑃</m:t>
                    </m:r>
                    <m:d>
                      <m:dPr>
                        <m:ctrlPr>
                          <a:rPr lang="en-US" altLang="ko-KR" sz="20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맑은 고딕" panose="020B0503020000020004" pitchFamily="50" charset="-127"/>
                          </a:rPr>
                        </m:ctrlPr>
                      </m:dPr>
                      <m:e>
                        <m:r>
                          <a:rPr lang="en-US" altLang="ko-KR" sz="20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맑은 고딕" panose="020B0503020000020004" pitchFamily="50" charset="-127"/>
                          </a:rPr>
                          <m:t>𝐴</m:t>
                        </m:r>
                        <m:r>
                          <a:rPr lang="en-US" altLang="ko-KR" sz="20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맑은 고딕" panose="020B0503020000020004" pitchFamily="50" charset="-127"/>
                          </a:rPr>
                          <m:t> </m:t>
                        </m:r>
                        <m:r>
                          <a:rPr lang="en-US" altLang="ko-KR" sz="20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맑은 고딕" panose="020B0503020000020004" pitchFamily="50" charset="-127"/>
                          </a:rPr>
                          <m:t>𝑤𝑖𝑛</m:t>
                        </m:r>
                      </m:e>
                    </m:d>
                    <m:r>
                      <a:rPr lang="en-US" altLang="ko-KR" sz="20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  <a:ea typeface="맑은 고딕" panose="020B0503020000020004" pitchFamily="50" charset="-127"/>
                      </a:rPr>
                      <m:t>= </m:t>
                    </m:r>
                  </m:oMath>
                </a14:m>
                <a:r>
                  <a:rPr lang="en-US" altLang="ko-KR" sz="2000" dirty="0">
                    <a:solidFill>
                      <a:srgbClr val="0070C0"/>
                    </a:solidFill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½ + ½*½ + ½*½*½</a:t>
                </a:r>
                <a:r>
                  <a:rPr lang="en-US" altLang="ko-KR" sz="20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 </a:t>
                </a:r>
              </a:p>
              <a:p>
                <a:pPr marL="285750" indent="-285750">
                  <a:lnSpc>
                    <a:spcPct val="300000"/>
                  </a:lnSpc>
                  <a:buFont typeface="Wingdings" panose="05000000000000000000" pitchFamily="2" charset="2"/>
                  <a:buChar char="v"/>
                </a:pP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Ferma(1607~1665) 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해법 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: 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모든 경우의 수 나열</a:t>
                </a:r>
                <a:endParaRPr lang="en-US" altLang="ko-KR" dirty="0"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  <a:p>
                <a:pPr marL="742950" lvl="1" indent="-285750">
                  <a:lnSpc>
                    <a:spcPct val="300000"/>
                  </a:lnSpc>
                  <a:buFont typeface="Wingdings" panose="05000000000000000000" pitchFamily="2" charset="2"/>
                  <a:buChar char="v"/>
                </a:pP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AAA,</a:t>
                </a:r>
                <a:r>
                  <a:rPr lang="ko-KR" altLang="en-US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 </a:t>
                </a:r>
                <a:r>
                  <a:rPr lang="en-US" altLang="ko-KR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AAB, ABA, ABB, BAA, BAB, BBA, BBB  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7CC3755-3917-B5AD-AC51-02A04E5160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3772" y="1124744"/>
                <a:ext cx="5544616" cy="4274568"/>
              </a:xfrm>
              <a:prstGeom prst="rect">
                <a:avLst/>
              </a:prstGeom>
              <a:blipFill>
                <a:blip r:embed="rId3"/>
                <a:stretch>
                  <a:fillRect l="-770" b="-128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BC06BB00-60F3-FF70-19B2-65D76BA29A36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F0F23058-6F96-959E-2647-25B48863515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4413" y="1132709"/>
            <a:ext cx="5907564" cy="5118933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8BE35038-E87C-73A9-D28B-6C2AF2FC9D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13028" y="1155103"/>
            <a:ext cx="966550" cy="11521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AutoShape 2">
            <a:extLst>
              <a:ext uri="{FF2B5EF4-FFF2-40B4-BE49-F238E27FC236}">
                <a16:creationId xmlns:a16="http://schemas.microsoft.com/office/drawing/2014/main" id="{58578B27-4E49-C70D-D8A8-F65A4BE5ED4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2013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B78E3EC-D771-756F-093A-AB7D963427E9}"/>
              </a:ext>
            </a:extLst>
          </p:cNvPr>
          <p:cNvSpPr txBox="1"/>
          <p:nvPr/>
        </p:nvSpPr>
        <p:spPr>
          <a:xfrm>
            <a:off x="6429650" y="708505"/>
            <a:ext cx="51554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Pascal Decision Tree</a:t>
            </a:r>
            <a:endParaRPr lang="ko-KR" altLang="en-US" b="1" dirty="0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AF3D3E35-B97F-56A2-6930-A65C324260E6}"/>
              </a:ext>
            </a:extLst>
          </p:cNvPr>
          <p:cNvSpPr/>
          <p:nvPr/>
        </p:nvSpPr>
        <p:spPr>
          <a:xfrm rot="14528965">
            <a:off x="8197200" y="3075052"/>
            <a:ext cx="3920306" cy="720707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" name="타원 5">
            <a:extLst>
              <a:ext uri="{FF2B5EF4-FFF2-40B4-BE49-F238E27FC236}">
                <a16:creationId xmlns:a16="http://schemas.microsoft.com/office/drawing/2014/main" id="{44F89812-095B-AA85-7CF8-594CCAD0AE00}"/>
              </a:ext>
            </a:extLst>
          </p:cNvPr>
          <p:cNvSpPr/>
          <p:nvPr/>
        </p:nvSpPr>
        <p:spPr>
          <a:xfrm rot="18566868">
            <a:off x="7317838" y="2481848"/>
            <a:ext cx="1357399" cy="639106"/>
          </a:xfrm>
          <a:prstGeom prst="ellipse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BBF7B28A-3998-42E5-40AA-50004FF5C8FD}"/>
              </a:ext>
            </a:extLst>
          </p:cNvPr>
          <p:cNvSpPr/>
          <p:nvPr/>
        </p:nvSpPr>
        <p:spPr>
          <a:xfrm rot="18566868">
            <a:off x="8089773" y="3836767"/>
            <a:ext cx="1357399" cy="639106"/>
          </a:xfrm>
          <a:prstGeom prst="ellipse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41C7E9D2-043A-C058-4DB4-3204ED484D69}"/>
              </a:ext>
            </a:extLst>
          </p:cNvPr>
          <p:cNvSpPr/>
          <p:nvPr/>
        </p:nvSpPr>
        <p:spPr>
          <a:xfrm rot="18566868">
            <a:off x="8770172" y="5190628"/>
            <a:ext cx="1357399" cy="639106"/>
          </a:xfrm>
          <a:prstGeom prst="ellipse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EBFBDFD-A513-423F-E73F-8EF59F705A9D}"/>
              </a:ext>
            </a:extLst>
          </p:cNvPr>
          <p:cNvSpPr txBox="1"/>
          <p:nvPr/>
        </p:nvSpPr>
        <p:spPr>
          <a:xfrm>
            <a:off x="8298240" y="3273535"/>
            <a:ext cx="4708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dirty="0">
                <a:solidFill>
                  <a:srgbClr val="0070C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+</a:t>
            </a:r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F844FB1-AA3E-BF3A-E256-9C78DE82EEC4}"/>
              </a:ext>
            </a:extLst>
          </p:cNvPr>
          <p:cNvSpPr txBox="1"/>
          <p:nvPr/>
        </p:nvSpPr>
        <p:spPr>
          <a:xfrm>
            <a:off x="8923020" y="4608583"/>
            <a:ext cx="4708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dirty="0">
                <a:solidFill>
                  <a:srgbClr val="0070C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+</a:t>
            </a:r>
            <a:endParaRPr lang="ko-KR" alt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711C743-729D-10B5-C1B7-C561E7CDCBBE}"/>
              </a:ext>
            </a:extLst>
          </p:cNvPr>
          <p:cNvSpPr txBox="1"/>
          <p:nvPr/>
        </p:nvSpPr>
        <p:spPr>
          <a:xfrm>
            <a:off x="10270877" y="2636912"/>
            <a:ext cx="4708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*</a:t>
            </a:r>
            <a:endParaRPr lang="ko-KR" altLang="en-US" dirty="0">
              <a:solidFill>
                <a:srgbClr val="FF0000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9399BCC-0879-EA81-CD7B-866DA81127C1}"/>
              </a:ext>
            </a:extLst>
          </p:cNvPr>
          <p:cNvSpPr txBox="1"/>
          <p:nvPr/>
        </p:nvSpPr>
        <p:spPr>
          <a:xfrm>
            <a:off x="10736122" y="3563724"/>
            <a:ext cx="4708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*</a:t>
            </a:r>
            <a:endParaRPr lang="ko-KR" altLang="en-US" dirty="0">
              <a:solidFill>
                <a:srgbClr val="FF0000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5F9420A-87FA-2B3D-6FAC-4A3B7FFDC0E5}"/>
              </a:ext>
            </a:extLst>
          </p:cNvPr>
          <p:cNvSpPr txBox="1"/>
          <p:nvPr/>
        </p:nvSpPr>
        <p:spPr>
          <a:xfrm>
            <a:off x="11096162" y="4571836"/>
            <a:ext cx="4708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*</a:t>
            </a:r>
            <a:endParaRPr lang="ko-KR" alt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889584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8" grpId="0" animBg="1"/>
      <p:bldP spid="11" grpId="0" animBg="1"/>
      <p:bldP spid="13" grpId="0"/>
      <p:bldP spid="14" grpId="0"/>
      <p:bldP spid="15" grpId="0"/>
      <p:bldP spid="16" grpId="0"/>
      <p:bldP spid="17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6</a:t>
            </a:fld>
            <a:endParaRPr lang="en-US" altLang="ko-KR" noProof="0" dirty="0"/>
          </a:p>
        </p:txBody>
      </p:sp>
      <p:sp>
        <p:nvSpPr>
          <p:cNvPr id="2" name="직사각형 1"/>
          <p:cNvSpPr/>
          <p:nvPr/>
        </p:nvSpPr>
        <p:spPr>
          <a:xfrm>
            <a:off x="765820" y="764704"/>
            <a:ext cx="7877478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확률론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(probability theory)</a:t>
            </a:r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은 사건의 빈도를 분석</a:t>
            </a:r>
            <a:endParaRPr lang="ko-KR" altLang="en-US" sz="2800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616A5B1-8581-2EBB-623F-214389405908}"/>
                  </a:ext>
                </a:extLst>
              </p:cNvPr>
              <p:cNvSpPr txBox="1"/>
              <p:nvPr/>
            </p:nvSpPr>
            <p:spPr>
              <a:xfrm>
                <a:off x="1629916" y="1287924"/>
                <a:ext cx="8208912" cy="404463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200000"/>
                  </a:lnSpc>
                </a:pPr>
                <a:r>
                  <a:rPr lang="ko-KR" altLang="en-US" sz="2400" dirty="0">
                    <a:latin typeface="+mj-ea"/>
                    <a:ea typeface="+mj-ea"/>
                  </a:rPr>
                  <a:t>✔ 실험</a:t>
                </a:r>
              </a:p>
              <a:p>
                <a:pPr marL="742950" lvl="1" indent="-285750">
                  <a:lnSpc>
                    <a:spcPct val="20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2000" dirty="0">
                    <a:latin typeface="+mj-ea"/>
                    <a:ea typeface="+mj-ea"/>
                  </a:rPr>
                  <a:t>동전을 </a:t>
                </a:r>
                <a:r>
                  <a:rPr lang="en-US" altLang="ko-KR" sz="2000" dirty="0">
                    <a:latin typeface="+mj-ea"/>
                    <a:ea typeface="+mj-ea"/>
                  </a:rPr>
                  <a:t>2</a:t>
                </a:r>
                <a:r>
                  <a:rPr lang="ko-KR" altLang="en-US" sz="2000" dirty="0">
                    <a:latin typeface="+mj-ea"/>
                    <a:ea typeface="+mj-ea"/>
                  </a:rPr>
                  <a:t>번 던짐</a:t>
                </a:r>
                <a:r>
                  <a:rPr lang="en-US" altLang="ko-KR" sz="2000" dirty="0">
                    <a:latin typeface="+mj-ea"/>
                    <a:ea typeface="+mj-ea"/>
                  </a:rPr>
                  <a:t>(</a:t>
                </a:r>
                <a:r>
                  <a:rPr lang="ko-KR" altLang="en-US" sz="2000" dirty="0">
                    <a:latin typeface="+mj-ea"/>
                    <a:ea typeface="+mj-ea"/>
                  </a:rPr>
                  <a:t>혹은 </a:t>
                </a:r>
                <a:r>
                  <a:rPr lang="en-US" altLang="ko-KR" sz="2000" dirty="0">
                    <a:latin typeface="+mj-ea"/>
                    <a:ea typeface="+mj-ea"/>
                  </a:rPr>
                  <a:t>2</a:t>
                </a:r>
                <a:r>
                  <a:rPr lang="ko-KR" altLang="en-US" sz="2000" dirty="0">
                    <a:latin typeface="+mj-ea"/>
                    <a:ea typeface="+mj-ea"/>
                  </a:rPr>
                  <a:t>개를 동시에 던짐</a:t>
                </a:r>
                <a:r>
                  <a:rPr lang="en-US" altLang="ko-KR" sz="2000" dirty="0">
                    <a:latin typeface="+mj-ea"/>
                    <a:ea typeface="+mj-ea"/>
                  </a:rPr>
                  <a:t>)</a:t>
                </a:r>
                <a:endParaRPr lang="ko-KR" altLang="en-US" sz="2400" dirty="0">
                  <a:latin typeface="+mj-ea"/>
                  <a:ea typeface="+mj-ea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ko-KR" altLang="en-US" sz="2400" dirty="0">
                    <a:latin typeface="+mj-ea"/>
                    <a:ea typeface="+mj-ea"/>
                  </a:rPr>
                  <a:t>✔ 표본공간 </a:t>
                </a:r>
                <a:r>
                  <a:rPr lang="en-US" altLang="ko-KR" sz="2400" dirty="0">
                    <a:latin typeface="+mj-ea"/>
                    <a:ea typeface="+mj-ea"/>
                  </a:rPr>
                  <a:t>(Sample Space)</a:t>
                </a:r>
              </a:p>
              <a:p>
                <a:pPr marL="742950" lvl="1" indent="-285750">
                  <a:lnSpc>
                    <a:spcPct val="200000"/>
                  </a:lnSpc>
                  <a:buFont typeface="Wingdings" panose="05000000000000000000" pitchFamily="2" charset="2"/>
                  <a:buChar char="v"/>
                </a:pPr>
                <a14:m>
                  <m:oMath xmlns:m="http://schemas.openxmlformats.org/officeDocument/2006/math">
                    <m:r>
                      <a:rPr lang="ko-KR" altLang="en-US" sz="2000" b="0" i="1" smtClean="0">
                        <a:latin typeface="Cambria Math" panose="02040503050406030204" pitchFamily="18" charset="0"/>
                        <a:ea typeface="+mj-ea"/>
                      </a:rPr>
                      <m:t>𝑆</m:t>
                    </m:r>
                    <m:r>
                      <a:rPr lang="en-US" altLang="ko-KR" sz="2000" b="0" i="0" smtClean="0">
                        <a:latin typeface="Cambria Math" panose="02040503050406030204" pitchFamily="18" charset="0"/>
                        <a:ea typeface="+mj-ea"/>
                      </a:rPr>
                      <m:t>={</m:t>
                    </m:r>
                    <m:r>
                      <m:rPr>
                        <m:sty m:val="p"/>
                      </m:rPr>
                      <a:rPr lang="en-US" altLang="ko-KR" sz="2000" b="0" i="0" smtClean="0">
                        <a:latin typeface="Cambria Math" panose="02040503050406030204" pitchFamily="18" charset="0"/>
                        <a:ea typeface="+mj-ea"/>
                      </a:rPr>
                      <m:t>HH</m:t>
                    </m:r>
                    <m:r>
                      <a:rPr lang="en-US" altLang="ko-KR" sz="2000" b="0" i="0" smtClean="0">
                        <a:latin typeface="Cambria Math" panose="02040503050406030204" pitchFamily="18" charset="0"/>
                        <a:ea typeface="+mj-ea"/>
                      </a:rPr>
                      <m:t>, </m:t>
                    </m:r>
                    <m:r>
                      <m:rPr>
                        <m:sty m:val="p"/>
                      </m:rPr>
                      <a:rPr lang="en-US" altLang="ko-KR" sz="2000" b="0" i="0" smtClean="0">
                        <a:latin typeface="Cambria Math" panose="02040503050406030204" pitchFamily="18" charset="0"/>
                        <a:ea typeface="+mj-ea"/>
                      </a:rPr>
                      <m:t>HT</m:t>
                    </m:r>
                    <m:r>
                      <a:rPr lang="en-US" altLang="ko-KR" sz="2000" b="0" i="0" smtClean="0">
                        <a:latin typeface="Cambria Math" panose="02040503050406030204" pitchFamily="18" charset="0"/>
                        <a:ea typeface="+mj-ea"/>
                      </a:rPr>
                      <m:t>, </m:t>
                    </m:r>
                    <m:r>
                      <m:rPr>
                        <m:sty m:val="p"/>
                      </m:rPr>
                      <a:rPr lang="en-US" altLang="ko-KR" sz="2000" b="0" i="0" smtClean="0">
                        <a:latin typeface="Cambria Math" panose="02040503050406030204" pitchFamily="18" charset="0"/>
                        <a:ea typeface="+mj-ea"/>
                      </a:rPr>
                      <m:t>TH</m:t>
                    </m:r>
                    <m:r>
                      <a:rPr lang="en-US" altLang="ko-KR" sz="2000" b="0" i="0" smtClean="0">
                        <a:latin typeface="Cambria Math" panose="02040503050406030204" pitchFamily="18" charset="0"/>
                        <a:ea typeface="+mj-ea"/>
                      </a:rPr>
                      <m:t>, </m:t>
                    </m:r>
                    <m:r>
                      <m:rPr>
                        <m:sty m:val="p"/>
                      </m:rPr>
                      <a:rPr lang="en-US" altLang="ko-KR" sz="2000" b="0" i="0" smtClean="0">
                        <a:latin typeface="Cambria Math" panose="02040503050406030204" pitchFamily="18" charset="0"/>
                        <a:ea typeface="+mj-ea"/>
                      </a:rPr>
                      <m:t>TT</m:t>
                    </m:r>
                    <m:r>
                      <a:rPr lang="en-US" altLang="ko-KR" sz="2000" b="0" i="0" smtClean="0">
                        <a:latin typeface="Cambria Math" panose="02040503050406030204" pitchFamily="18" charset="0"/>
                        <a:ea typeface="+mj-ea"/>
                      </a:rPr>
                      <m:t>}</m:t>
                    </m:r>
                  </m:oMath>
                </a14:m>
                <a:endParaRPr lang="ko-KR" altLang="en-US" sz="2400" dirty="0">
                  <a:latin typeface="+mj-ea"/>
                  <a:ea typeface="+mj-ea"/>
                </a:endParaRPr>
              </a:p>
              <a:p>
                <a:pPr>
                  <a:lnSpc>
                    <a:spcPct val="200000"/>
                  </a:lnSpc>
                </a:pPr>
                <a:r>
                  <a:rPr lang="ko-KR" altLang="en-US" sz="2400" dirty="0">
                    <a:latin typeface="+mj-ea"/>
                    <a:ea typeface="+mj-ea"/>
                  </a:rPr>
                  <a:t>✔ 확률변수 정의</a:t>
                </a:r>
                <a:endParaRPr lang="en-US" altLang="ko-KR" sz="2400" dirty="0">
                  <a:latin typeface="+mj-ea"/>
                  <a:ea typeface="+mj-ea"/>
                </a:endParaRPr>
              </a:p>
              <a:p>
                <a:pPr marL="742950" lvl="1" indent="-285750">
                  <a:lnSpc>
                    <a:spcPct val="20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2000" dirty="0">
                    <a:latin typeface="+mj-ea"/>
                    <a:ea typeface="+mj-ea"/>
                  </a:rPr>
                  <a:t>확률변수는 </a:t>
                </a:r>
                <a:r>
                  <a:rPr lang="ko-KR" altLang="en-US" sz="2000" b="1" dirty="0">
                    <a:latin typeface="+mj-ea"/>
                    <a:ea typeface="+mj-ea"/>
                  </a:rPr>
                  <a:t>사건 → 숫자 값으로 매핑하는 함수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616A5B1-8581-2EBB-623F-2143894059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29916" y="1287924"/>
                <a:ext cx="8208912" cy="4044633"/>
              </a:xfrm>
              <a:prstGeom prst="rect">
                <a:avLst/>
              </a:prstGeom>
              <a:blipFill>
                <a:blip r:embed="rId3"/>
                <a:stretch>
                  <a:fillRect l="-1114" b="-180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267234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971AA2-7665-89C3-A8AC-74C2F1B4B4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96AD45C6-4544-A375-0C8B-F71C226E5E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7</a:t>
            </a:fld>
            <a:endParaRPr lang="en-US" altLang="ko-KR" noProof="0" dirty="0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C0AC118F-BF0C-2737-5E5C-6AA784F48F3F}"/>
              </a:ext>
            </a:extLst>
          </p:cNvPr>
          <p:cNvSpPr/>
          <p:nvPr/>
        </p:nvSpPr>
        <p:spPr>
          <a:xfrm>
            <a:off x="765820" y="764704"/>
            <a:ext cx="7877478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확률론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(probability theory)</a:t>
            </a:r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은 사건의 빈도를 분석</a:t>
            </a:r>
            <a:endParaRPr lang="ko-KR" altLang="en-US" sz="2800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2" name="표 11">
                <a:extLst>
                  <a:ext uri="{FF2B5EF4-FFF2-40B4-BE49-F238E27FC236}">
                    <a16:creationId xmlns:a16="http://schemas.microsoft.com/office/drawing/2014/main" id="{D834C025-9C4C-1B40-6FCA-44C2E88F7CD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698930724"/>
                  </p:ext>
                </p:extLst>
              </p:nvPr>
            </p:nvGraphicFramePr>
            <p:xfrm>
              <a:off x="981844" y="2513802"/>
              <a:ext cx="10441161" cy="3240359"/>
            </p:xfrm>
            <a:graphic>
              <a:graphicData uri="http://schemas.openxmlformats.org/drawingml/2006/table">
                <a:tbl>
                  <a:tblPr firstRow="1" bandRow="1">
                    <a:tableStyleId>{F5AB1C69-6EDB-4FF4-983F-18BD219EF322}</a:tableStyleId>
                  </a:tblPr>
                  <a:tblGrid>
                    <a:gridCol w="2231131">
                      <a:extLst>
                        <a:ext uri="{9D8B030D-6E8A-4147-A177-3AD203B41FA5}">
                          <a16:colId xmlns:a16="http://schemas.microsoft.com/office/drawing/2014/main" val="2871442239"/>
                        </a:ext>
                      </a:extLst>
                    </a:gridCol>
                    <a:gridCol w="2012262">
                      <a:extLst>
                        <a:ext uri="{9D8B030D-6E8A-4147-A177-3AD203B41FA5}">
                          <a16:colId xmlns:a16="http://schemas.microsoft.com/office/drawing/2014/main" val="1460948932"/>
                        </a:ext>
                      </a:extLst>
                    </a:gridCol>
                    <a:gridCol w="2173244">
                      <a:extLst>
                        <a:ext uri="{9D8B030D-6E8A-4147-A177-3AD203B41FA5}">
                          <a16:colId xmlns:a16="http://schemas.microsoft.com/office/drawing/2014/main" val="2817877067"/>
                        </a:ext>
                      </a:extLst>
                    </a:gridCol>
                    <a:gridCol w="2012262">
                      <a:extLst>
                        <a:ext uri="{9D8B030D-6E8A-4147-A177-3AD203B41FA5}">
                          <a16:colId xmlns:a16="http://schemas.microsoft.com/office/drawing/2014/main" val="153491109"/>
                        </a:ext>
                      </a:extLst>
                    </a:gridCol>
                    <a:gridCol w="2012262">
                      <a:extLst>
                        <a:ext uri="{9D8B030D-6E8A-4147-A177-3AD203B41FA5}">
                          <a16:colId xmlns:a16="http://schemas.microsoft.com/office/drawing/2014/main" val="2594679281"/>
                        </a:ext>
                      </a:extLst>
                    </a:gridCol>
                  </a:tblGrid>
                  <a:tr h="758801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sz="1800" b="1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  <a:cs typeface="Times New Roman" panose="02020603050405020304" pitchFamily="18" charset="0"/>
                            </a:rPr>
                            <a:t>표본</a:t>
                          </a:r>
                          <a:r>
                            <a:rPr lang="en-US" altLang="ko-KR" sz="1800" b="1" baseline="0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ko-KR" altLang="en-US" sz="1800" b="1" baseline="0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  <a:cs typeface="Times New Roman" panose="02020603050405020304" pitchFamily="18" charset="0"/>
                            </a:rPr>
                            <a:t>공간</a:t>
                          </a:r>
                          <a:endParaRPr lang="en-US" altLang="ko-KR" sz="1800" b="1" baseline="0" dirty="0">
                            <a:solidFill>
                              <a:schemeClr val="tx1"/>
                            </a:solidFill>
                            <a:latin typeface="+mj-ea"/>
                            <a:ea typeface="+mj-ea"/>
                            <a:cs typeface="Times New Roman" panose="02020603050405020304" pitchFamily="18" charset="0"/>
                          </a:endParaRPr>
                        </a:p>
                        <a:p>
                          <a:pPr algn="ctr" latinLnBrk="1"/>
                          <a:r>
                            <a:rPr lang="en-US" altLang="ko-KR" sz="1800" b="1" baseline="0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  <a:cs typeface="Times New Roman" panose="02020603050405020304" pitchFamily="18" charset="0"/>
                            </a:rPr>
                            <a:t>(Sample Space)</a:t>
                          </a:r>
                          <a:endParaRPr lang="ko-KR" altLang="en-US" sz="1800" b="1" dirty="0">
                            <a:solidFill>
                              <a:schemeClr val="tx1"/>
                            </a:solidFill>
                            <a:latin typeface="+mj-ea"/>
                            <a:ea typeface="+mj-ea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</a:rPr>
                            <a:t>HH</a:t>
                          </a:r>
                          <a:endParaRPr lang="ko-KR" altLang="en-US" sz="1800" dirty="0">
                            <a:solidFill>
                              <a:schemeClr val="tx1"/>
                            </a:solidFill>
                            <a:latin typeface="+mj-ea"/>
                            <a:ea typeface="+mj-ea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</a:rPr>
                            <a:t>HT</a:t>
                          </a:r>
                          <a:endParaRPr lang="ko-KR" altLang="en-US" sz="1800" dirty="0">
                            <a:solidFill>
                              <a:schemeClr val="tx1"/>
                            </a:solidFill>
                            <a:latin typeface="+mj-ea"/>
                            <a:ea typeface="+mj-ea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</a:rPr>
                            <a:t>TH</a:t>
                          </a:r>
                          <a:endParaRPr lang="ko-KR" altLang="en-US" sz="1800" dirty="0">
                            <a:solidFill>
                              <a:schemeClr val="tx1"/>
                            </a:solidFill>
                            <a:latin typeface="+mj-ea"/>
                            <a:ea typeface="+mj-ea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</a:rPr>
                            <a:t>TT</a:t>
                          </a:r>
                          <a:endParaRPr lang="ko-KR" altLang="en-US" sz="1800" dirty="0">
                            <a:solidFill>
                              <a:schemeClr val="tx1"/>
                            </a:solidFill>
                            <a:latin typeface="+mj-ea"/>
                            <a:ea typeface="+mj-ea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54732645"/>
                      </a:ext>
                    </a:extLst>
                  </a:tr>
                  <a:tr h="758801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sz="1800" b="1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  <a:cs typeface="Times New Roman" panose="02020603050405020304" pitchFamily="18" charset="0"/>
                            </a:rPr>
                            <a:t>관측빈도</a:t>
                          </a:r>
                          <a:endParaRPr lang="en-US" altLang="ko-KR" sz="1800" b="1" dirty="0">
                            <a:solidFill>
                              <a:schemeClr val="tx1"/>
                            </a:solidFill>
                            <a:latin typeface="+mj-ea"/>
                            <a:ea typeface="+mj-ea"/>
                            <a:cs typeface="Times New Roman" panose="02020603050405020304" pitchFamily="18" charset="0"/>
                          </a:endParaRPr>
                        </a:p>
                        <a:p>
                          <a:pPr algn="ctr" latinLnBrk="1"/>
                          <a:r>
                            <a:rPr lang="en-US" altLang="ko-KR" sz="1800" b="1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  <a:cs typeface="Times New Roman" panose="02020603050405020304" pitchFamily="18" charset="0"/>
                            </a:rPr>
                            <a:t>(Frequency)</a:t>
                          </a:r>
                          <a:endParaRPr lang="ko-KR" altLang="en-US" sz="1800" b="1" dirty="0">
                            <a:solidFill>
                              <a:schemeClr val="tx1"/>
                            </a:solidFill>
                            <a:latin typeface="+mj-ea"/>
                            <a:ea typeface="+mj-ea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</a:rPr>
                            <a:t>24</a:t>
                          </a:r>
                          <a:r>
                            <a:rPr lang="ko-KR" altLang="en-US" sz="1800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</a:rPr>
                            <a:t>회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</a:rPr>
                            <a:t>21</a:t>
                          </a:r>
                          <a:endParaRPr lang="ko-KR" altLang="en-US" sz="1800" dirty="0">
                            <a:solidFill>
                              <a:schemeClr val="tx1"/>
                            </a:solidFill>
                            <a:latin typeface="+mj-ea"/>
                            <a:ea typeface="+mj-ea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</a:rPr>
                            <a:t>28</a:t>
                          </a:r>
                          <a:endParaRPr lang="ko-KR" altLang="en-US" sz="1800" dirty="0">
                            <a:solidFill>
                              <a:schemeClr val="tx1"/>
                            </a:solidFill>
                            <a:latin typeface="+mj-ea"/>
                            <a:ea typeface="+mj-ea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</a:rPr>
                            <a:t>27</a:t>
                          </a:r>
                          <a:endParaRPr lang="ko-KR" altLang="en-US" sz="1800" dirty="0">
                            <a:solidFill>
                              <a:schemeClr val="tx1"/>
                            </a:solidFill>
                            <a:latin typeface="+mj-ea"/>
                            <a:ea typeface="+mj-ea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78857031"/>
                      </a:ext>
                    </a:extLst>
                  </a:tr>
                  <a:tr h="758801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sz="1800" b="1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  <a:cs typeface="Times New Roman" panose="02020603050405020304" pitchFamily="18" charset="0"/>
                            </a:rPr>
                            <a:t>확률변수 </a:t>
                          </a:r>
                          <a14:m>
                            <m:oMath xmlns:m="http://schemas.openxmlformats.org/officeDocument/2006/math">
                              <m:r>
                                <a:rPr lang="en-US" altLang="ko-KR" sz="1800" b="1" kern="120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+mj-ea"/>
                                </a:rPr>
                                <m:t>𝑿</m:t>
                              </m:r>
                            </m:oMath>
                          </a14:m>
                          <a:r>
                            <a:rPr lang="ko-KR" altLang="en-US" sz="1800" b="1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  <a:cs typeface="Times New Roman" panose="02020603050405020304" pitchFamily="18" charset="0"/>
                            </a:rPr>
                            <a:t> </a:t>
                          </a:r>
                          <a:endParaRPr lang="en-US" altLang="ko-KR" sz="1800" b="1" dirty="0">
                            <a:solidFill>
                              <a:schemeClr val="tx1"/>
                            </a:solidFill>
                            <a:latin typeface="+mj-ea"/>
                            <a:ea typeface="+mj-ea"/>
                            <a:cs typeface="Times New Roman" panose="02020603050405020304" pitchFamily="18" charset="0"/>
                          </a:endParaRPr>
                        </a:p>
                        <a:p>
                          <a:pPr algn="ctr" latinLnBrk="1"/>
                          <a:r>
                            <a:rPr lang="en-US" altLang="ko-KR" sz="1800" b="1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  <a:cs typeface="Times New Roman" panose="02020603050405020304" pitchFamily="18" charset="0"/>
                            </a:rPr>
                            <a:t>(</a:t>
                          </a:r>
                          <a:r>
                            <a:rPr lang="ko-KR" altLang="en-US" sz="1800" b="1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  <a:cs typeface="Times New Roman" panose="02020603050405020304" pitchFamily="18" charset="0"/>
                            </a:rPr>
                            <a:t>빈도</a:t>
                          </a:r>
                          <a:r>
                            <a:rPr lang="en-US" altLang="ko-KR" sz="1800" b="1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  <a:cs typeface="Times New Roman" panose="02020603050405020304" pitchFamily="18" charset="0"/>
                            </a:rPr>
                            <a:t>)</a:t>
                          </a:r>
                          <a:endParaRPr lang="ko-KR" altLang="en-US" sz="1800" b="1" dirty="0">
                            <a:solidFill>
                              <a:schemeClr val="tx1"/>
                            </a:solidFill>
                            <a:latin typeface="+mj-ea"/>
                            <a:ea typeface="+mj-ea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𝑋</m:t>
                                </m:r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=24</m:t>
                                </m:r>
                              </m:oMath>
                            </m:oMathPara>
                          </a14:m>
                          <a:endParaRPr lang="en-US" altLang="ko-KR" sz="1800" b="0" dirty="0">
                            <a:solidFill>
                              <a:schemeClr val="tx1"/>
                            </a:solidFill>
                            <a:latin typeface="+mj-ea"/>
                            <a:ea typeface="+mj-ea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𝑋</m:t>
                                </m:r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=21</m:t>
                                </m:r>
                              </m:oMath>
                            </m:oMathPara>
                          </a14:m>
                          <a:endParaRPr lang="en-US" altLang="ko-KR" sz="1800" b="0" dirty="0">
                            <a:solidFill>
                              <a:schemeClr val="tx1"/>
                            </a:solidFill>
                            <a:latin typeface="+mj-ea"/>
                            <a:ea typeface="+mj-ea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𝑋</m:t>
                                </m:r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=28</m:t>
                                </m:r>
                              </m:oMath>
                            </m:oMathPara>
                          </a14:m>
                          <a:endParaRPr lang="en-US" altLang="ko-KR" sz="1800" b="0" dirty="0">
                            <a:solidFill>
                              <a:schemeClr val="tx1"/>
                            </a:solidFill>
                            <a:latin typeface="+mj-ea"/>
                            <a:ea typeface="+mj-ea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𝑋</m:t>
                                </m:r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=27</m:t>
                                </m:r>
                              </m:oMath>
                            </m:oMathPara>
                          </a14:m>
                          <a:endParaRPr lang="en-US" altLang="ko-KR" sz="1800" b="0" dirty="0">
                            <a:solidFill>
                              <a:schemeClr val="tx1"/>
                            </a:solidFill>
                            <a:latin typeface="+mj-ea"/>
                            <a:ea typeface="+mj-ea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65869906"/>
                      </a:ext>
                    </a:extLst>
                  </a:tr>
                  <a:tr h="963956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sz="1800" b="1" kern="1200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  <a:cs typeface="Times New Roman" panose="02020603050405020304" pitchFamily="18" charset="0"/>
                            </a:rPr>
                            <a:t>확률 </a:t>
                          </a:r>
                          <a:endParaRPr lang="en-US" altLang="ko-KR" sz="1800" b="1" kern="1200" dirty="0">
                            <a:solidFill>
                              <a:schemeClr val="tx1"/>
                            </a:solidFill>
                            <a:latin typeface="+mj-ea"/>
                            <a:ea typeface="+mj-ea"/>
                            <a:cs typeface="Times New Roman" panose="02020603050405020304" pitchFamily="18" charset="0"/>
                          </a:endParaRPr>
                        </a:p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800" b="1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𝑷</m:t>
                                </m:r>
                                <m:d>
                                  <m:dPr>
                                    <m:ctrlPr>
                                      <a:rPr lang="en-US" altLang="ko-KR" sz="1800" b="1" i="1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ko-KR" sz="1800" b="1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𝑿</m:t>
                                    </m:r>
                                    <m:r>
                                      <a:rPr lang="en-US" altLang="ko-KR" sz="1800" b="1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=</m:t>
                                    </m:r>
                                    <m:r>
                                      <a:rPr lang="en-US" altLang="ko-KR" sz="1800" b="1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𝒙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ko-KR" altLang="en-US" sz="1800" b="1" dirty="0">
                            <a:solidFill>
                              <a:schemeClr val="tx1"/>
                            </a:solidFill>
                            <a:latin typeface="+mj-ea"/>
                            <a:ea typeface="+mj-ea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𝑃</m:t>
                                </m:r>
                                <m:d>
                                  <m:dPr>
                                    <m:ctrlPr>
                                      <a:rPr lang="en-US" altLang="ko-KR" sz="1800" b="0" i="1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𝑋</m:t>
                                    </m:r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=24</m:t>
                                    </m:r>
                                  </m:e>
                                </m:d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en-US" altLang="ko-KR" sz="1800" b="0" i="1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24</m:t>
                                    </m:r>
                                  </m:num>
                                  <m:den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100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ko-KR" altLang="en-US" sz="1800" b="0" dirty="0">
                            <a:solidFill>
                              <a:schemeClr val="tx1"/>
                            </a:solidFill>
                            <a:latin typeface="+mj-ea"/>
                            <a:ea typeface="+mj-ea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𝑃</m:t>
                                </m:r>
                                <m:d>
                                  <m:dPr>
                                    <m:ctrlPr>
                                      <a:rPr lang="en-US" altLang="ko-KR" sz="1800" b="0" i="1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𝑋</m:t>
                                    </m:r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=21</m:t>
                                    </m:r>
                                  </m:e>
                                </m:d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en-US" altLang="ko-KR" sz="1800" b="0" i="1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21</m:t>
                                    </m:r>
                                  </m:num>
                                  <m:den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100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ko-KR" altLang="en-US" sz="1800" b="0" dirty="0">
                            <a:solidFill>
                              <a:schemeClr val="tx1"/>
                            </a:solidFill>
                            <a:latin typeface="+mj-ea"/>
                            <a:ea typeface="+mj-ea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𝑃</m:t>
                                </m:r>
                                <m:d>
                                  <m:dPr>
                                    <m:ctrlPr>
                                      <a:rPr lang="en-US" altLang="ko-KR" sz="1800" b="0" i="1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𝑋</m:t>
                                    </m:r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=28</m:t>
                                    </m:r>
                                  </m:e>
                                </m:d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en-US" altLang="ko-KR" sz="1800" b="0" i="1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28</m:t>
                                    </m:r>
                                  </m:num>
                                  <m:den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100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ko-KR" altLang="en-US" sz="1800" b="0" dirty="0">
                            <a:solidFill>
                              <a:schemeClr val="tx1"/>
                            </a:solidFill>
                            <a:latin typeface="+mj-ea"/>
                            <a:ea typeface="+mj-ea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𝑃</m:t>
                                </m:r>
                                <m:d>
                                  <m:dPr>
                                    <m:ctrlPr>
                                      <a:rPr lang="en-US" altLang="ko-KR" sz="1800" b="0" i="1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𝑋</m:t>
                                    </m:r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=27</m:t>
                                    </m:r>
                                  </m:e>
                                </m:d>
                                <m:r>
                                  <a:rPr lang="en-US" altLang="ko-KR" sz="1800" b="0" kern="120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+mj-ea"/>
                                  </a:rPr>
                                  <m:t>=</m:t>
                                </m:r>
                                <m:f>
                                  <m:fPr>
                                    <m:ctrlPr>
                                      <a:rPr lang="en-US" altLang="ko-KR" sz="1800" b="0" i="1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27</m:t>
                                    </m:r>
                                  </m:num>
                                  <m:den>
                                    <m:r>
                                      <a:rPr lang="en-US" altLang="ko-KR" sz="1800" b="0" kern="120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+mj-ea"/>
                                      </a:rPr>
                                      <m:t>100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ko-KR" altLang="en-US" sz="1800" b="0" dirty="0">
                            <a:solidFill>
                              <a:schemeClr val="tx1"/>
                            </a:solidFill>
                            <a:latin typeface="+mj-ea"/>
                            <a:ea typeface="+mj-ea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8869412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2" name="표 11">
                <a:extLst>
                  <a:ext uri="{FF2B5EF4-FFF2-40B4-BE49-F238E27FC236}">
                    <a16:creationId xmlns:a16="http://schemas.microsoft.com/office/drawing/2014/main" id="{D834C025-9C4C-1B40-6FCA-44C2E88F7CD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698930724"/>
                  </p:ext>
                </p:extLst>
              </p:nvPr>
            </p:nvGraphicFramePr>
            <p:xfrm>
              <a:off x="981844" y="2513802"/>
              <a:ext cx="10441161" cy="3240359"/>
            </p:xfrm>
            <a:graphic>
              <a:graphicData uri="http://schemas.openxmlformats.org/drawingml/2006/table">
                <a:tbl>
                  <a:tblPr firstRow="1" bandRow="1">
                    <a:tableStyleId>{F5AB1C69-6EDB-4FF4-983F-18BD219EF322}</a:tableStyleId>
                  </a:tblPr>
                  <a:tblGrid>
                    <a:gridCol w="2231131">
                      <a:extLst>
                        <a:ext uri="{9D8B030D-6E8A-4147-A177-3AD203B41FA5}">
                          <a16:colId xmlns:a16="http://schemas.microsoft.com/office/drawing/2014/main" val="2871442239"/>
                        </a:ext>
                      </a:extLst>
                    </a:gridCol>
                    <a:gridCol w="2012262">
                      <a:extLst>
                        <a:ext uri="{9D8B030D-6E8A-4147-A177-3AD203B41FA5}">
                          <a16:colId xmlns:a16="http://schemas.microsoft.com/office/drawing/2014/main" val="1460948932"/>
                        </a:ext>
                      </a:extLst>
                    </a:gridCol>
                    <a:gridCol w="2173244">
                      <a:extLst>
                        <a:ext uri="{9D8B030D-6E8A-4147-A177-3AD203B41FA5}">
                          <a16:colId xmlns:a16="http://schemas.microsoft.com/office/drawing/2014/main" val="2817877067"/>
                        </a:ext>
                      </a:extLst>
                    </a:gridCol>
                    <a:gridCol w="2012262">
                      <a:extLst>
                        <a:ext uri="{9D8B030D-6E8A-4147-A177-3AD203B41FA5}">
                          <a16:colId xmlns:a16="http://schemas.microsoft.com/office/drawing/2014/main" val="153491109"/>
                        </a:ext>
                      </a:extLst>
                    </a:gridCol>
                    <a:gridCol w="2012262">
                      <a:extLst>
                        <a:ext uri="{9D8B030D-6E8A-4147-A177-3AD203B41FA5}">
                          <a16:colId xmlns:a16="http://schemas.microsoft.com/office/drawing/2014/main" val="2594679281"/>
                        </a:ext>
                      </a:extLst>
                    </a:gridCol>
                  </a:tblGrid>
                  <a:tr h="758801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sz="1800" b="1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  <a:cs typeface="Times New Roman" panose="02020603050405020304" pitchFamily="18" charset="0"/>
                            </a:rPr>
                            <a:t>표본</a:t>
                          </a:r>
                          <a:r>
                            <a:rPr lang="en-US" altLang="ko-KR" sz="1800" b="1" baseline="0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  <a:cs typeface="Times New Roman" panose="02020603050405020304" pitchFamily="18" charset="0"/>
                            </a:rPr>
                            <a:t> </a:t>
                          </a:r>
                          <a:r>
                            <a:rPr lang="ko-KR" altLang="en-US" sz="1800" b="1" baseline="0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  <a:cs typeface="Times New Roman" panose="02020603050405020304" pitchFamily="18" charset="0"/>
                            </a:rPr>
                            <a:t>공간</a:t>
                          </a:r>
                          <a:endParaRPr lang="en-US" altLang="ko-KR" sz="1800" b="1" baseline="0" dirty="0">
                            <a:solidFill>
                              <a:schemeClr val="tx1"/>
                            </a:solidFill>
                            <a:latin typeface="+mj-ea"/>
                            <a:ea typeface="+mj-ea"/>
                            <a:cs typeface="Times New Roman" panose="02020603050405020304" pitchFamily="18" charset="0"/>
                          </a:endParaRPr>
                        </a:p>
                        <a:p>
                          <a:pPr algn="ctr" latinLnBrk="1"/>
                          <a:r>
                            <a:rPr lang="en-US" altLang="ko-KR" sz="1800" b="1" baseline="0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  <a:cs typeface="Times New Roman" panose="02020603050405020304" pitchFamily="18" charset="0"/>
                            </a:rPr>
                            <a:t>(Sample Space)</a:t>
                          </a:r>
                          <a:endParaRPr lang="ko-KR" altLang="en-US" sz="1800" b="1" dirty="0">
                            <a:solidFill>
                              <a:schemeClr val="tx1"/>
                            </a:solidFill>
                            <a:latin typeface="+mj-ea"/>
                            <a:ea typeface="+mj-ea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</a:rPr>
                            <a:t>HH</a:t>
                          </a:r>
                          <a:endParaRPr lang="ko-KR" altLang="en-US" sz="1800" dirty="0">
                            <a:solidFill>
                              <a:schemeClr val="tx1"/>
                            </a:solidFill>
                            <a:latin typeface="+mj-ea"/>
                            <a:ea typeface="+mj-ea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</a:rPr>
                            <a:t>HT</a:t>
                          </a:r>
                          <a:endParaRPr lang="ko-KR" altLang="en-US" sz="1800" dirty="0">
                            <a:solidFill>
                              <a:schemeClr val="tx1"/>
                            </a:solidFill>
                            <a:latin typeface="+mj-ea"/>
                            <a:ea typeface="+mj-ea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</a:rPr>
                            <a:t>TH</a:t>
                          </a:r>
                          <a:endParaRPr lang="ko-KR" altLang="en-US" sz="1800" dirty="0">
                            <a:solidFill>
                              <a:schemeClr val="tx1"/>
                            </a:solidFill>
                            <a:latin typeface="+mj-ea"/>
                            <a:ea typeface="+mj-ea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</a:rPr>
                            <a:t>TT</a:t>
                          </a:r>
                          <a:endParaRPr lang="ko-KR" altLang="en-US" sz="1800" dirty="0">
                            <a:solidFill>
                              <a:schemeClr val="tx1"/>
                            </a:solidFill>
                            <a:latin typeface="+mj-ea"/>
                            <a:ea typeface="+mj-ea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54732645"/>
                      </a:ext>
                    </a:extLst>
                  </a:tr>
                  <a:tr h="758801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ko-KR" altLang="en-US" sz="1800" b="1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  <a:cs typeface="Times New Roman" panose="02020603050405020304" pitchFamily="18" charset="0"/>
                            </a:rPr>
                            <a:t>관측빈도</a:t>
                          </a:r>
                          <a:endParaRPr lang="en-US" altLang="ko-KR" sz="1800" b="1" dirty="0">
                            <a:solidFill>
                              <a:schemeClr val="tx1"/>
                            </a:solidFill>
                            <a:latin typeface="+mj-ea"/>
                            <a:ea typeface="+mj-ea"/>
                            <a:cs typeface="Times New Roman" panose="02020603050405020304" pitchFamily="18" charset="0"/>
                          </a:endParaRPr>
                        </a:p>
                        <a:p>
                          <a:pPr algn="ctr" latinLnBrk="1"/>
                          <a:r>
                            <a:rPr lang="en-US" altLang="ko-KR" sz="1800" b="1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  <a:cs typeface="Times New Roman" panose="02020603050405020304" pitchFamily="18" charset="0"/>
                            </a:rPr>
                            <a:t>(Frequency)</a:t>
                          </a:r>
                          <a:endParaRPr lang="ko-KR" altLang="en-US" sz="1800" b="1" dirty="0">
                            <a:solidFill>
                              <a:schemeClr val="tx1"/>
                            </a:solidFill>
                            <a:latin typeface="+mj-ea"/>
                            <a:ea typeface="+mj-ea"/>
                            <a:cs typeface="Times New Roman" panose="02020603050405020304" pitchFamily="18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</a:rPr>
                            <a:t>24</a:t>
                          </a:r>
                          <a:r>
                            <a:rPr lang="ko-KR" altLang="en-US" sz="1800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</a:rPr>
                            <a:t>회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</a:rPr>
                            <a:t>21</a:t>
                          </a:r>
                          <a:endParaRPr lang="ko-KR" altLang="en-US" sz="1800" dirty="0">
                            <a:solidFill>
                              <a:schemeClr val="tx1"/>
                            </a:solidFill>
                            <a:latin typeface="+mj-ea"/>
                            <a:ea typeface="+mj-ea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</a:rPr>
                            <a:t>28</a:t>
                          </a:r>
                          <a:endParaRPr lang="ko-KR" altLang="en-US" sz="1800" dirty="0">
                            <a:solidFill>
                              <a:schemeClr val="tx1"/>
                            </a:solidFill>
                            <a:latin typeface="+mj-ea"/>
                            <a:ea typeface="+mj-ea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800" dirty="0">
                              <a:solidFill>
                                <a:schemeClr val="tx1"/>
                              </a:solidFill>
                              <a:latin typeface="+mj-ea"/>
                              <a:ea typeface="+mj-ea"/>
                            </a:rPr>
                            <a:t>27</a:t>
                          </a:r>
                          <a:endParaRPr lang="ko-KR" altLang="en-US" sz="1800" dirty="0">
                            <a:solidFill>
                              <a:schemeClr val="tx1"/>
                            </a:solidFill>
                            <a:latin typeface="+mj-ea"/>
                            <a:ea typeface="+mj-ea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78857031"/>
                      </a:ext>
                    </a:extLst>
                  </a:tr>
                  <a:tr h="758801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3"/>
                          <a:stretch>
                            <a:fillRect l="-273" t="-203200" r="-369399" b="-1288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3"/>
                          <a:stretch>
                            <a:fillRect l="-111212" t="-203200" r="-309697" b="-1288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3"/>
                          <a:stretch>
                            <a:fillRect l="-195238" t="-203200" r="-186275" b="-1288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3"/>
                          <a:stretch>
                            <a:fillRect l="-319394" t="-203200" r="-101515" b="-1288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3"/>
                          <a:stretch>
                            <a:fillRect l="-419394" t="-203200" r="-1515" b="-1288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65869906"/>
                      </a:ext>
                    </a:extLst>
                  </a:tr>
                  <a:tr h="963956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3"/>
                          <a:stretch>
                            <a:fillRect l="-273" t="-239873" r="-369399" b="-189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3"/>
                          <a:stretch>
                            <a:fillRect l="-111212" t="-239873" r="-309697" b="-189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3"/>
                          <a:stretch>
                            <a:fillRect l="-195238" t="-239873" r="-186275" b="-189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3"/>
                          <a:stretch>
                            <a:fillRect l="-319394" t="-239873" r="-101515" b="-189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>
                        <a:blipFill>
                          <a:blip r:embed="rId3"/>
                          <a:stretch>
                            <a:fillRect l="-419394" t="-239873" r="-1515" b="-189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88694129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E6173628-CC13-B114-9DA6-28C51EA63682}"/>
              </a:ext>
            </a:extLst>
          </p:cNvPr>
          <p:cNvSpPr txBox="1"/>
          <p:nvPr/>
        </p:nvSpPr>
        <p:spPr>
          <a:xfrm>
            <a:off x="784448" y="1700808"/>
            <a:ext cx="6096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+mj-ea"/>
                <a:ea typeface="+mj-ea"/>
              </a:rPr>
              <a:t>100</a:t>
            </a:r>
            <a:r>
              <a:rPr lang="ko-KR" altLang="en-US" sz="2000" dirty="0">
                <a:latin typeface="+mj-ea"/>
                <a:ea typeface="+mj-ea"/>
              </a:rPr>
              <a:t>번 실험에서 나온 빈도를 확률변수로 설정</a:t>
            </a:r>
            <a:endParaRPr lang="ko-KR" altLang="en-US" sz="2000" dirty="0"/>
          </a:p>
        </p:txBody>
      </p:sp>
    </p:spTree>
    <p:extLst>
      <p:ext uri="{BB962C8B-B14F-4D97-AF65-F5344CB8AC3E}">
        <p14:creationId xmlns:p14="http://schemas.microsoft.com/office/powerpoint/2010/main" val="2490203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700914-4B59-AAA1-1AF8-32746A9EA2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B822C6E-52B8-6527-1731-B766251B01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8</a:t>
            </a:fld>
            <a:endParaRPr lang="en-US" altLang="ko-KR" noProof="0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7793B876-0513-600B-A5D5-5AB86C280C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7987" y="1124744"/>
            <a:ext cx="7719453" cy="4968552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2E5940DF-C3FB-B03A-72C1-A809344A711F}"/>
              </a:ext>
            </a:extLst>
          </p:cNvPr>
          <p:cNvSpPr/>
          <p:nvPr/>
        </p:nvSpPr>
        <p:spPr>
          <a:xfrm>
            <a:off x="189756" y="338469"/>
            <a:ext cx="474206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확률변수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(Random variable)</a:t>
            </a:r>
          </a:p>
        </p:txBody>
      </p:sp>
    </p:spTree>
    <p:extLst>
      <p:ext uri="{BB962C8B-B14F-4D97-AF65-F5344CB8AC3E}">
        <p14:creationId xmlns:p14="http://schemas.microsoft.com/office/powerpoint/2010/main" val="5561479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8A1F99-A4EC-7F3F-934E-66005ED487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89D4F466-55C4-B16A-4029-996A9BC593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9</a:t>
            </a:fld>
            <a:endParaRPr lang="en-US" altLang="ko-KR" noProof="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85CCBDF-6705-3634-936B-9CB9066C4DBC}"/>
                  </a:ext>
                </a:extLst>
              </p:cNvPr>
              <p:cNvSpPr txBox="1"/>
              <p:nvPr/>
            </p:nvSpPr>
            <p:spPr>
              <a:xfrm>
                <a:off x="1917948" y="1453009"/>
                <a:ext cx="4392488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3600" b="0" i="1" smtClean="0">
                          <a:latin typeface="Cambria Math" panose="02040503050406030204" pitchFamily="18" charset="0"/>
                        </a:rPr>
                        <m:t>𝑃𝑟𝑜𝑏𝑎𝑏𝑖𝑙𝑖𝑡𝑦</m:t>
                      </m:r>
                      <m:r>
                        <a:rPr lang="en-US" altLang="ko-KR" sz="3600" b="0" i="1" smtClean="0">
                          <a:latin typeface="Cambria Math" panose="02040503050406030204" pitchFamily="18" charset="0"/>
                        </a:rPr>
                        <m:t>   =</m:t>
                      </m:r>
                    </m:oMath>
                  </m:oMathPara>
                </a14:m>
                <a:endParaRPr lang="ko-KR" altLang="en-US" sz="36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85CCBDF-6705-3634-936B-9CB9066C4D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17948" y="1453009"/>
                <a:ext cx="4392488" cy="64633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0BE0838-E578-53A7-A2BC-EBA1A3F1DD08}"/>
                  </a:ext>
                </a:extLst>
              </p:cNvPr>
              <p:cNvSpPr txBox="1"/>
              <p:nvPr/>
            </p:nvSpPr>
            <p:spPr>
              <a:xfrm>
                <a:off x="6094412" y="1196752"/>
                <a:ext cx="2398340" cy="12203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US" altLang="ko-KR" sz="48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sz="4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ko-KR" sz="4800" b="0" i="1" smtClean="0">
                            <a:latin typeface="Cambria Math" panose="02040503050406030204" pitchFamily="18" charset="0"/>
                          </a:rPr>
                          <m:t>𝑆𝑢𝑝𝑟𝑖𝑠𝑒</m:t>
                        </m:r>
                      </m:den>
                    </m:f>
                  </m:oMath>
                </a14:m>
                <a:r>
                  <a:rPr lang="en-US" altLang="ko-KR" sz="4800" dirty="0"/>
                  <a:t>   </a:t>
                </a:r>
                <a:endParaRPr lang="ko-KR" altLang="en-US" sz="48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0BE0838-E578-53A7-A2BC-EBA1A3F1DD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4412" y="1196752"/>
                <a:ext cx="2398340" cy="122039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50" name="Picture 2" descr="얼굴이 그려진 공 무리">
            <a:extLst>
              <a:ext uri="{FF2B5EF4-FFF2-40B4-BE49-F238E27FC236}">
                <a16:creationId xmlns:a16="http://schemas.microsoft.com/office/drawing/2014/main" id="{6D98B705-2128-E698-C0F3-EF068395DC2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33419" y="2852936"/>
            <a:ext cx="4392488" cy="29283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862643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21F737-4D84-A348-6FE1-9D35471CA0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ABF54B44-AEF4-5A91-28A0-B7F04F80476A}"/>
              </a:ext>
            </a:extLst>
          </p:cNvPr>
          <p:cNvSpPr/>
          <p:nvPr/>
        </p:nvSpPr>
        <p:spPr>
          <a:xfrm>
            <a:off x="598421" y="2204864"/>
            <a:ext cx="8136904" cy="6748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419A402-6026-8725-BF04-5D3962A632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10</a:t>
            </a:fld>
            <a:endParaRPr lang="en-US" altLang="ko-KR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66A1178-92B0-2653-5C2D-55676F0F0DEC}"/>
              </a:ext>
            </a:extLst>
          </p:cNvPr>
          <p:cNvSpPr txBox="1"/>
          <p:nvPr/>
        </p:nvSpPr>
        <p:spPr>
          <a:xfrm>
            <a:off x="1629916" y="147612"/>
            <a:ext cx="8928992" cy="5891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  <a:spcBef>
                <a:spcPts val="600"/>
              </a:spcBef>
            </a:pPr>
            <a:r>
              <a:rPr lang="ko-KR" altLang="en-US" sz="4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 변수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Variable)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이산형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(Discrete)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연속형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(Continuous)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확률변수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분산과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편향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 &amp; Bias)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 err="1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기대값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(Expectation)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분산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분포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Distribution)</a:t>
            </a: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베르누이분포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이항분포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정규분포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조건부 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(Conditional Probability)</a:t>
            </a:r>
          </a:p>
        </p:txBody>
      </p:sp>
    </p:spTree>
    <p:extLst>
      <p:ext uri="{BB962C8B-B14F-4D97-AF65-F5344CB8AC3E}">
        <p14:creationId xmlns:p14="http://schemas.microsoft.com/office/powerpoint/2010/main" val="13328218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11</a:t>
            </a:fld>
            <a:endParaRPr lang="en-US" altLang="ko-KR" noProof="0" dirty="0"/>
          </a:p>
        </p:txBody>
      </p:sp>
      <p:sp>
        <p:nvSpPr>
          <p:cNvPr id="10" name="직사각형 9"/>
          <p:cNvSpPr/>
          <p:nvPr/>
        </p:nvSpPr>
        <p:spPr>
          <a:xfrm>
            <a:off x="765820" y="764704"/>
            <a:ext cx="10153128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28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이산</a:t>
            </a:r>
            <a:r>
              <a:rPr lang="en-US" altLang="ko-KR" sz="28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vs </a:t>
            </a:r>
            <a:r>
              <a:rPr lang="ko-KR" altLang="en-US" sz="28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연속</a:t>
            </a:r>
            <a:r>
              <a:rPr lang="en-US" altLang="ko-KR" sz="28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(Discrete vs Continuous Variables)</a:t>
            </a:r>
            <a:r>
              <a:rPr lang="ko-KR" altLang="en-US" sz="28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형 변수</a:t>
            </a:r>
            <a:endParaRPr lang="en-US" altLang="ko-KR" sz="2800" dirty="0">
              <a:solidFill>
                <a:srgbClr val="31313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765820" y="1480069"/>
            <a:ext cx="10813564" cy="86979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동전의 앞과 뒤면</a:t>
            </a:r>
            <a:r>
              <a:rPr lang="en-US" altLang="ko-KR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주사위</a:t>
            </a:r>
            <a:r>
              <a:rPr lang="en-US" altLang="ko-KR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카드의 종류 등은 수자가 양의 </a:t>
            </a:r>
            <a:r>
              <a:rPr lang="ko-KR" altLang="en-US" b="1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정수</a:t>
            </a:r>
            <a:r>
              <a:rPr lang="ko-KR" altLang="en-US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로 셀 수 있으면 </a:t>
            </a:r>
            <a:r>
              <a:rPr lang="en-US" altLang="ko-KR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:   </a:t>
            </a:r>
            <a:r>
              <a:rPr lang="ko-KR" altLang="en-US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이산</a:t>
            </a:r>
            <a:r>
              <a:rPr lang="en-US" altLang="ko-KR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(Discrete)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키</a:t>
            </a:r>
            <a:r>
              <a:rPr lang="en-US" altLang="ko-KR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몸무게</a:t>
            </a:r>
            <a:r>
              <a:rPr lang="en-US" altLang="ko-KR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시간</a:t>
            </a:r>
            <a:r>
              <a:rPr lang="en-US" altLang="ko-KR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나이 등은 </a:t>
            </a:r>
            <a:r>
              <a:rPr lang="ko-KR" altLang="en-US" b="1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실수</a:t>
            </a:r>
            <a:r>
              <a:rPr lang="ko-KR" altLang="en-US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형으로 연속되어 관측하지 못하면 </a:t>
            </a:r>
            <a:r>
              <a:rPr lang="en-US" altLang="ko-KR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:</a:t>
            </a:r>
            <a:r>
              <a:rPr lang="en-US" altLang="ko-KR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sym typeface="Wingdings" panose="05000000000000000000" pitchFamily="2" charset="2"/>
              </a:rPr>
              <a:t>	       </a:t>
            </a:r>
            <a:r>
              <a:rPr lang="ko-KR" altLang="en-US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sym typeface="Wingdings" panose="05000000000000000000" pitchFamily="2" charset="2"/>
              </a:rPr>
              <a:t>연속</a:t>
            </a:r>
            <a:r>
              <a:rPr lang="en-US" altLang="ko-KR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(Continuous)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86423B1F-95FC-3C82-A06C-8B557E5F6A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7011" y="3068960"/>
            <a:ext cx="6108314" cy="3141419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440DC3E-0689-87B9-2317-7799DFC49C94}"/>
              </a:ext>
            </a:extLst>
          </p:cNvPr>
          <p:cNvSpPr txBox="1"/>
          <p:nvPr/>
        </p:nvSpPr>
        <p:spPr>
          <a:xfrm>
            <a:off x="8747167" y="4797152"/>
            <a:ext cx="10214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dirty="0"/>
              <a:t>X = 1.0</a:t>
            </a:r>
            <a:endParaRPr lang="ko-KR" altLang="en-US" sz="2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7505CD0-B828-A721-138C-847AA8FFB2BC}"/>
              </a:ext>
            </a:extLst>
          </p:cNvPr>
          <p:cNvSpPr txBox="1"/>
          <p:nvPr/>
        </p:nvSpPr>
        <p:spPr>
          <a:xfrm>
            <a:off x="1800522" y="4797152"/>
            <a:ext cx="78098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dirty="0"/>
              <a:t>X = 1</a:t>
            </a:r>
            <a:endParaRPr lang="ko-KR" altLang="en-US" sz="2400" dirty="0"/>
          </a:p>
        </p:txBody>
      </p:sp>
    </p:spTree>
    <p:extLst>
      <p:ext uri="{BB962C8B-B14F-4D97-AF65-F5344CB8AC3E}">
        <p14:creationId xmlns:p14="http://schemas.microsoft.com/office/powerpoint/2010/main" val="15078986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F0A1BE-5319-9B17-AC27-C21C5490B7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DB05A11E-C51B-54E0-6AE8-D2470373FD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12</a:t>
            </a:fld>
            <a:endParaRPr lang="en-US" altLang="ko-KR" noProof="0" dirty="0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21757F0F-DCD9-2DCB-6113-CB0A8074D20D}"/>
              </a:ext>
            </a:extLst>
          </p:cNvPr>
          <p:cNvSpPr/>
          <p:nvPr/>
        </p:nvSpPr>
        <p:spPr>
          <a:xfrm>
            <a:off x="765820" y="764704"/>
            <a:ext cx="10153128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28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연속</a:t>
            </a:r>
            <a:r>
              <a:rPr lang="en-US" altLang="ko-KR" sz="28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(Continuous Variables)</a:t>
            </a:r>
            <a:r>
              <a:rPr lang="ko-KR" altLang="en-US" sz="28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형 변수</a:t>
            </a:r>
            <a:endParaRPr lang="en-US" altLang="ko-KR" sz="2800" dirty="0">
              <a:solidFill>
                <a:srgbClr val="31313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FEC16F32-1436-4987-9DBA-9A41EB3CF136}"/>
              </a:ext>
            </a:extLst>
          </p:cNvPr>
          <p:cNvSpPr/>
          <p:nvPr/>
        </p:nvSpPr>
        <p:spPr>
          <a:xfrm>
            <a:off x="765820" y="1480069"/>
            <a:ext cx="10813564" cy="57496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4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당신의 정확한 키</a:t>
            </a:r>
            <a:r>
              <a:rPr lang="en-US" altLang="ko-KR" sz="24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24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몸무게</a:t>
            </a:r>
            <a:r>
              <a:rPr lang="en-US" altLang="ko-KR" sz="24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24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나이 등 실수형 변수는 알 수가 없다</a:t>
            </a:r>
            <a:r>
              <a:rPr lang="en-US" altLang="ko-KR" sz="24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ACC9085-109A-009A-A979-332B07FAB49A}"/>
              </a:ext>
            </a:extLst>
          </p:cNvPr>
          <p:cNvSpPr txBox="1"/>
          <p:nvPr/>
        </p:nvSpPr>
        <p:spPr>
          <a:xfrm>
            <a:off x="1845940" y="2492896"/>
            <a:ext cx="1238544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 dirty="0"/>
              <a:t>X = 0.1</a:t>
            </a:r>
          </a:p>
          <a:p>
            <a:r>
              <a:rPr lang="en-US" altLang="ko-KR" sz="2400" dirty="0"/>
              <a:t>y = 0.2</a:t>
            </a:r>
          </a:p>
          <a:p>
            <a:r>
              <a:rPr lang="en-US" altLang="ko-KR" sz="2400" dirty="0"/>
              <a:t>Z</a:t>
            </a:r>
            <a:r>
              <a:rPr lang="ko-KR" altLang="en-US" sz="2400" dirty="0"/>
              <a:t> </a:t>
            </a:r>
            <a:r>
              <a:rPr lang="en-US" altLang="ko-KR" sz="2400" dirty="0"/>
              <a:t>=</a:t>
            </a:r>
            <a:r>
              <a:rPr lang="ko-KR" altLang="en-US" sz="2400" dirty="0"/>
              <a:t> </a:t>
            </a:r>
            <a:r>
              <a:rPr lang="en-US" altLang="ko-KR" sz="2400" dirty="0"/>
              <a:t>X</a:t>
            </a:r>
            <a:r>
              <a:rPr lang="ko-KR" altLang="en-US" sz="2400" dirty="0"/>
              <a:t> </a:t>
            </a:r>
            <a:r>
              <a:rPr lang="en-US" altLang="ko-KR" sz="2400" dirty="0"/>
              <a:t>+</a:t>
            </a:r>
            <a:r>
              <a:rPr lang="ko-KR" altLang="en-US" sz="2400" dirty="0"/>
              <a:t> </a:t>
            </a:r>
            <a:r>
              <a:rPr lang="en-US" altLang="ko-KR" sz="2400" dirty="0"/>
              <a:t>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6D57E4D-8854-5028-D6CD-1F0257DFA71A}"/>
              </a:ext>
            </a:extLst>
          </p:cNvPr>
          <p:cNvSpPr txBox="1"/>
          <p:nvPr/>
        </p:nvSpPr>
        <p:spPr>
          <a:xfrm>
            <a:off x="4822948" y="2564904"/>
            <a:ext cx="6096000" cy="73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2400" dirty="0"/>
              <a:t>print(0.1+0.2)</a:t>
            </a:r>
          </a:p>
          <a:p>
            <a:pPr>
              <a:lnSpc>
                <a:spcPts val="1575"/>
              </a:lnSpc>
              <a:buNone/>
            </a:pPr>
            <a:endParaRPr lang="en-US" altLang="ko-KR" sz="2400" dirty="0"/>
          </a:p>
          <a:p>
            <a:pPr>
              <a:lnSpc>
                <a:spcPts val="1575"/>
              </a:lnSpc>
              <a:buNone/>
            </a:pPr>
            <a:r>
              <a:rPr lang="en-US" altLang="ko-KR" sz="2400" dirty="0"/>
              <a:t># 0.30000000000000004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168AD78-BD84-025B-68E3-977E3020D467}"/>
              </a:ext>
            </a:extLst>
          </p:cNvPr>
          <p:cNvSpPr txBox="1"/>
          <p:nvPr/>
        </p:nvSpPr>
        <p:spPr>
          <a:xfrm>
            <a:off x="5492575" y="3410072"/>
            <a:ext cx="6096000" cy="25317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소수점 아래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16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번째 자리에서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4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가 튀어나온 것을 볼 수 있습니다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.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이는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17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자리 근처에서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64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비트가 표현할 수 있는 한계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정밀도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에 도달했음을 의미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10진수 0.3을 2진수로 변환하면 0.01001100110011...</a:t>
            </a:r>
            <a:r>
              <a:rPr lang="ko-KR" altLang="ko-KR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처럼</a:t>
            </a:r>
            <a:r>
              <a:rPr lang="ko-KR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무한 순환 소수가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되어서</a:t>
            </a:r>
            <a:endParaRPr lang="ko-KR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339569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13</a:t>
            </a:fld>
            <a:endParaRPr lang="en-US" altLang="ko-KR" noProof="0" dirty="0"/>
          </a:p>
        </p:txBody>
      </p:sp>
      <p:sp>
        <p:nvSpPr>
          <p:cNvPr id="10" name="직사각형 9"/>
          <p:cNvSpPr/>
          <p:nvPr/>
        </p:nvSpPr>
        <p:spPr>
          <a:xfrm>
            <a:off x="765820" y="764704"/>
            <a:ext cx="8568952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이산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 vs </a:t>
            </a:r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연속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(Discrete vs Continuous Variables)</a:t>
            </a: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5820" y="2996952"/>
            <a:ext cx="4128993" cy="3024336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29275" y="2980913"/>
            <a:ext cx="4438836" cy="3024336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45940" y="4553863"/>
            <a:ext cx="817247" cy="86409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031752" y="1846455"/>
            <a:ext cx="6048672" cy="7833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실수형 키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(height)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는 존재하고 관측할 수 있는가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No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시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10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분에 버스를 탈 확률은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No</a:t>
            </a:r>
            <a:endParaRPr lang="ko-KR" altLang="en-US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76C8450-EB6E-751C-CE3F-07709D4FB308}"/>
              </a:ext>
            </a:extLst>
          </p:cNvPr>
          <p:cNvSpPr txBox="1"/>
          <p:nvPr/>
        </p:nvSpPr>
        <p:spPr>
          <a:xfrm>
            <a:off x="837828" y="1844824"/>
            <a:ext cx="4536504" cy="7833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주사위를 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N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번 던져 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 ~ 6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까지 나오는 빈도를 히스토그램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B4868BD-FAB2-A805-D17E-154EA0FDECCE}"/>
              </a:ext>
            </a:extLst>
          </p:cNvPr>
          <p:cNvSpPr txBox="1"/>
          <p:nvPr/>
        </p:nvSpPr>
        <p:spPr>
          <a:xfrm>
            <a:off x="8680520" y="5462005"/>
            <a:ext cx="131822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b="1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175.231…………</a:t>
            </a:r>
            <a:endParaRPr lang="ko-KR" altLang="en-US" sz="1200" b="1" dirty="0">
              <a:solidFill>
                <a:srgbClr val="FF0000"/>
              </a:solidFill>
            </a:endParaRPr>
          </a:p>
        </p:txBody>
      </p:sp>
      <p:pic>
        <p:nvPicPr>
          <p:cNvPr id="12" name="그래픽 11" descr="물음표 단색으로 채워진">
            <a:extLst>
              <a:ext uri="{FF2B5EF4-FFF2-40B4-BE49-F238E27FC236}">
                <a16:creationId xmlns:a16="http://schemas.microsoft.com/office/drawing/2014/main" id="{A9341DF1-1021-D53B-A9F0-6C5CADBED25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398668" y="5229200"/>
            <a:ext cx="465610" cy="4656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35777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417604-2327-5558-3C23-5FD763C932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E902671-99DC-0704-3E05-870C01723D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14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FF6FA2E-CCA4-9C6D-219C-3A10969775BC}"/>
              </a:ext>
            </a:extLst>
          </p:cNvPr>
          <p:cNvSpPr txBox="1"/>
          <p:nvPr/>
        </p:nvSpPr>
        <p:spPr>
          <a:xfrm>
            <a:off x="117747" y="260648"/>
            <a:ext cx="861757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이산 확률변수</a:t>
            </a:r>
            <a:r>
              <a:rPr lang="en-US" altLang="ko-KR" sz="3200" b="1" dirty="0"/>
              <a:t>(Discrete Random Variable)</a:t>
            </a:r>
            <a:endParaRPr lang="ko-KR" altLang="en-US" sz="3200" b="1" dirty="0"/>
          </a:p>
        </p:txBody>
      </p:sp>
      <p:pic>
        <p:nvPicPr>
          <p:cNvPr id="3075" name="Picture 3">
            <a:extLst>
              <a:ext uri="{FF2B5EF4-FFF2-40B4-BE49-F238E27FC236}">
                <a16:creationId xmlns:a16="http://schemas.microsoft.com/office/drawing/2014/main" id="{A0AA3B4A-A17D-3D7E-5AE2-8EDF1FCF30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441" y="2498610"/>
            <a:ext cx="5395189" cy="40403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7" name="Picture 5">
            <a:extLst>
              <a:ext uri="{FF2B5EF4-FFF2-40B4-BE49-F238E27FC236}">
                <a16:creationId xmlns:a16="http://schemas.microsoft.com/office/drawing/2014/main" id="{CEAFFF4A-8D79-A378-369A-56B6E02C3F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07499" y="2498610"/>
            <a:ext cx="5303537" cy="40347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52518F2-F2C5-B7F4-7D14-1EFF0BC5E3B6}"/>
              </a:ext>
            </a:extLst>
          </p:cNvPr>
          <p:cNvSpPr txBox="1"/>
          <p:nvPr/>
        </p:nvSpPr>
        <p:spPr>
          <a:xfrm>
            <a:off x="545028" y="1244332"/>
            <a:ext cx="11166008" cy="8759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2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개 주사위의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합을 확률변수로 가정하여 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확률질량함수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(Probability Mass Function)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와 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누적분포함수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(Cumulative Distribution Function)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를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만들고 토론하자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7868FED-814B-0837-726E-1CD03044A571}"/>
              </a:ext>
            </a:extLst>
          </p:cNvPr>
          <p:cNvSpPr txBox="1"/>
          <p:nvPr/>
        </p:nvSpPr>
        <p:spPr>
          <a:xfrm>
            <a:off x="1269876" y="2780928"/>
            <a:ext cx="1512168" cy="19543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1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P(X=2) = 0.028</a:t>
            </a:r>
            <a:endParaRPr lang="ko-KR" altLang="en-US" sz="1100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  <a:p>
            <a:r>
              <a:rPr lang="en-US" altLang="ko-KR" sz="11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P(X=3) = 0.056</a:t>
            </a:r>
            <a:endParaRPr lang="ko-KR" altLang="en-US" sz="1100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  <a:p>
            <a:r>
              <a:rPr lang="en-US" altLang="ko-KR" sz="11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P(X=4) = 0.083</a:t>
            </a:r>
            <a:endParaRPr lang="ko-KR" altLang="en-US" sz="1100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  <a:p>
            <a:r>
              <a:rPr lang="en-US" altLang="ko-KR" sz="11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P(X=5) = 0.111</a:t>
            </a:r>
            <a:endParaRPr lang="ko-KR" altLang="en-US" sz="1100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  <a:p>
            <a:r>
              <a:rPr lang="en-US" altLang="ko-KR" sz="11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P(X=6) = 0.139</a:t>
            </a:r>
            <a:endParaRPr lang="ko-KR" altLang="en-US" sz="1100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  <a:p>
            <a:r>
              <a:rPr lang="en-US" altLang="ko-KR" sz="11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P(X=7) = 0.167</a:t>
            </a:r>
            <a:endParaRPr lang="ko-KR" altLang="en-US" sz="1100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  <a:p>
            <a:r>
              <a:rPr lang="en-US" altLang="ko-KR" sz="11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P(X=8) = 0.139</a:t>
            </a:r>
            <a:endParaRPr lang="ko-KR" altLang="en-US" sz="1100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  <a:p>
            <a:r>
              <a:rPr lang="en-US" altLang="ko-KR" sz="11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P(X=9) = 0.111</a:t>
            </a:r>
            <a:endParaRPr lang="ko-KR" altLang="en-US" sz="1100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  <a:p>
            <a:r>
              <a:rPr lang="en-US" altLang="ko-KR" sz="11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P(X=10) = 0.083</a:t>
            </a:r>
            <a:endParaRPr lang="ko-KR" altLang="en-US" sz="1100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  <a:p>
            <a:r>
              <a:rPr lang="en-US" altLang="ko-KR" sz="11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P(X=11) = 0.056</a:t>
            </a:r>
            <a:endParaRPr lang="ko-KR" altLang="en-US" sz="1100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  <a:p>
            <a:r>
              <a:rPr lang="en-US" altLang="ko-KR" sz="11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P(X=12) = 0.028</a:t>
            </a:r>
            <a:endParaRPr lang="ko-KR" altLang="en-US" sz="1100" dirty="0"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C16035C-B9F4-DC4A-2764-D3E3D8BBA76B}"/>
              </a:ext>
            </a:extLst>
          </p:cNvPr>
          <p:cNvSpPr txBox="1"/>
          <p:nvPr/>
        </p:nvSpPr>
        <p:spPr>
          <a:xfrm>
            <a:off x="10157354" y="3854360"/>
            <a:ext cx="1417122" cy="21236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(</a:t>
            </a: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X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 ≤ 2) = 0.028</a:t>
            </a:r>
          </a:p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(</a:t>
            </a: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X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 ≤ 3) = 0.083</a:t>
            </a:r>
          </a:p>
          <a:p>
            <a:pPr marR="0" lvl="0" indent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(</a:t>
            </a: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X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 ≤ 4) = 0.167</a:t>
            </a:r>
          </a:p>
          <a:p>
            <a:pPr marR="0" lvl="0" indent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(</a:t>
            </a: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X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 ≤ 5) = 0.278</a:t>
            </a:r>
          </a:p>
          <a:p>
            <a:pPr marR="0" lvl="0" indent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(</a:t>
            </a: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X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 ≤ 6) = 0.417</a:t>
            </a:r>
          </a:p>
          <a:p>
            <a:pPr marR="0" lvl="0" indent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(</a:t>
            </a: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X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 ≤ 7) = 0.583</a:t>
            </a:r>
          </a:p>
          <a:p>
            <a:pPr marR="0" lvl="0" indent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(</a:t>
            </a: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X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 ≤ 8) = 0.722</a:t>
            </a:r>
          </a:p>
          <a:p>
            <a:pPr marR="0" lvl="0" indent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(</a:t>
            </a: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X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 ≤ 9) = 0.833</a:t>
            </a:r>
          </a:p>
          <a:p>
            <a:pPr marR="0" lvl="0" indent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(</a:t>
            </a: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X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 ≤ 10) = 0.917</a:t>
            </a:r>
          </a:p>
          <a:p>
            <a:pPr marR="0" lvl="0" indent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(</a:t>
            </a: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X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 ≤ 11) = 0.972</a:t>
            </a:r>
          </a:p>
          <a:p>
            <a:pPr marR="0" lvl="0" indent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P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(</a:t>
            </a:r>
            <a:r>
              <a:rPr lang="ko-KR" altLang="ko-KR" sz="1200" b="1" dirty="0" err="1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X</a:t>
            </a:r>
            <a:r>
              <a:rPr lang="ko-KR" altLang="ko-KR" sz="1200" b="1" dirty="0"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rPr>
              <a:t> ≤ 12) = 1.000</a:t>
            </a:r>
          </a:p>
        </p:txBody>
      </p:sp>
    </p:spTree>
    <p:extLst>
      <p:ext uri="{BB962C8B-B14F-4D97-AF65-F5344CB8AC3E}">
        <p14:creationId xmlns:p14="http://schemas.microsoft.com/office/powerpoint/2010/main" val="20205354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BDB1FC-FA00-8A5B-93A2-45FA9014DF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D7D0911-F317-C20F-9ED7-4D63DC3E6B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15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9E6A8E8-F46D-B882-CD19-F702C4184415}"/>
              </a:ext>
            </a:extLst>
          </p:cNvPr>
          <p:cNvSpPr txBox="1"/>
          <p:nvPr/>
        </p:nvSpPr>
        <p:spPr>
          <a:xfrm>
            <a:off x="117748" y="260648"/>
            <a:ext cx="993710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연속형 확률변수</a:t>
            </a:r>
            <a:r>
              <a:rPr lang="en-US" altLang="ko-KR" sz="3200" b="1" dirty="0"/>
              <a:t>(Continuous Random Variable)</a:t>
            </a:r>
            <a:endParaRPr lang="ko-KR" altLang="en-US" sz="3200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F4684D3-3797-6450-5C1A-643E2674B164}"/>
              </a:ext>
            </a:extLst>
          </p:cNvPr>
          <p:cNvSpPr txBox="1"/>
          <p:nvPr/>
        </p:nvSpPr>
        <p:spPr>
          <a:xfrm>
            <a:off x="549796" y="1268760"/>
            <a:ext cx="3173120" cy="42026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5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sns.load_dataset</a:t>
            </a:r>
            <a:r>
              <a:rPr lang="en-US" altLang="ko-KR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(“titanic“)</a:t>
            </a:r>
            <a:r>
              <a:rPr lang="ko-KR" altLang="en-US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의 </a:t>
            </a:r>
            <a:r>
              <a:rPr lang="en-US" altLang="ko-KR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age </a:t>
            </a:r>
            <a:r>
              <a:rPr lang="ko-KR" altLang="en-US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변수로 </a:t>
            </a:r>
            <a:r>
              <a:rPr lang="en-US" altLang="ko-KR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Histogram</a:t>
            </a:r>
            <a:r>
              <a:rPr lang="ko-KR" altLang="en-US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을 바탕으로 </a:t>
            </a:r>
            <a:r>
              <a:rPr lang="en-US" altLang="ko-KR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PMF, CDF</a:t>
            </a:r>
            <a:r>
              <a:rPr lang="ko-KR" altLang="en-US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를 시각화하고 </a:t>
            </a:r>
            <a:r>
              <a:rPr lang="en-US" altLang="ko-KR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KDE=True</a:t>
            </a:r>
            <a:r>
              <a:rPr lang="ko-KR" altLang="en-US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를 사용하여 </a:t>
            </a:r>
            <a:r>
              <a:rPr lang="en-US" altLang="ko-KR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PDF</a:t>
            </a:r>
            <a:r>
              <a:rPr lang="ko-KR" altLang="en-US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와</a:t>
            </a:r>
            <a:r>
              <a:rPr lang="en-US" altLang="ko-KR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CDF</a:t>
            </a:r>
            <a:r>
              <a:rPr lang="ko-KR" altLang="en-US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를</a:t>
            </a:r>
            <a:r>
              <a:rPr lang="en-US" altLang="ko-KR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만들고 토론하자</a:t>
            </a:r>
            <a:endParaRPr lang="en-US" altLang="ko-KR" sz="15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5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이산형 변수 </a:t>
            </a:r>
            <a:r>
              <a:rPr lang="en-US" altLang="ko-KR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age</a:t>
            </a:r>
            <a:r>
              <a:rPr lang="ko-KR" altLang="en-US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를 </a:t>
            </a:r>
            <a:r>
              <a:rPr lang="en-US" altLang="ko-KR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KDE</a:t>
            </a:r>
            <a:r>
              <a:rPr lang="ko-KR" altLang="en-US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로 </a:t>
            </a:r>
            <a:r>
              <a:rPr lang="en-US" altLang="ko-KR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fitting</a:t>
            </a:r>
            <a:r>
              <a:rPr lang="ko-KR" altLang="en-US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한 </a:t>
            </a:r>
            <a:r>
              <a:rPr lang="en-US" altLang="ko-KR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pdf</a:t>
            </a:r>
            <a:r>
              <a:rPr lang="ko-KR" altLang="en-US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는 왜 확률이 아닌가</a:t>
            </a:r>
            <a:r>
              <a:rPr lang="en-US" altLang="ko-KR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</a:t>
            </a:r>
            <a:r>
              <a:rPr lang="ko-KR" altLang="en-US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그렇다면 확률은 무엇인가</a:t>
            </a:r>
            <a:r>
              <a:rPr lang="en-US" altLang="ko-KR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</a:t>
            </a:r>
            <a:r>
              <a:rPr lang="ko-KR" altLang="en-US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확률은 특정 구간의</a:t>
            </a:r>
            <a:r>
              <a:rPr lang="en-US" altLang="ko-KR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적분이다</a:t>
            </a:r>
            <a:r>
              <a:rPr lang="en-US" altLang="ko-KR" sz="15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9F92C1C3-7BD6-6C78-DD43-BC315F7BB0A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06180" y="1268759"/>
            <a:ext cx="7200800" cy="51062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5" name="직선 연결선 4">
            <a:extLst>
              <a:ext uri="{FF2B5EF4-FFF2-40B4-BE49-F238E27FC236}">
                <a16:creationId xmlns:a16="http://schemas.microsoft.com/office/drawing/2014/main" id="{034463F8-063B-AE3C-F94A-CE78D30AC6AF}"/>
              </a:ext>
            </a:extLst>
          </p:cNvPr>
          <p:cNvCxnSpPr/>
          <p:nvPr/>
        </p:nvCxnSpPr>
        <p:spPr>
          <a:xfrm flipV="1">
            <a:off x="6183838" y="4437112"/>
            <a:ext cx="0" cy="165618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17C08847-DED1-FA39-1682-8BE3AAACBB0B}"/>
              </a:ext>
            </a:extLst>
          </p:cNvPr>
          <p:cNvCxnSpPr/>
          <p:nvPr/>
        </p:nvCxnSpPr>
        <p:spPr>
          <a:xfrm flipV="1">
            <a:off x="6958508" y="4437112"/>
            <a:ext cx="0" cy="165618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392568C-F1FE-36E7-5BAD-CB2402E110AA}"/>
                  </a:ext>
                </a:extLst>
              </p:cNvPr>
              <p:cNvSpPr txBox="1"/>
              <p:nvPr/>
            </p:nvSpPr>
            <p:spPr>
              <a:xfrm>
                <a:off x="6022404" y="1844824"/>
                <a:ext cx="1440159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2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𝑎𝑔𝑒</m:t>
                          </m:r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=55</m:t>
                          </m:r>
                        </m:e>
                      </m:d>
                    </m:oMath>
                  </m:oMathPara>
                </a14:m>
                <a:endParaRPr lang="en-US" altLang="ko-KR" sz="1200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392568C-F1FE-36E7-5BAD-CB2402E110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22404" y="1844824"/>
                <a:ext cx="1440159" cy="27699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D86A1032-7851-6067-E5E6-825F9118E6E4}"/>
                  </a:ext>
                </a:extLst>
              </p:cNvPr>
              <p:cNvSpPr txBox="1"/>
              <p:nvPr/>
            </p:nvSpPr>
            <p:spPr>
              <a:xfrm>
                <a:off x="5662364" y="4188348"/>
                <a:ext cx="1854790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2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45</m:t>
                          </m:r>
                          <m:r>
                            <a:rPr lang="ko-KR" altLang="en-US" sz="1200" i="1">
                              <a:latin typeface="Cambria Math" panose="02040503050406030204" pitchFamily="18" charset="0"/>
                            </a:rPr>
                            <m:t>≤</m:t>
                          </m:r>
                          <m:r>
                            <a:rPr lang="en-US" altLang="ko-KR" sz="1200" b="0" i="1" smtClean="0">
                              <a:latin typeface="Cambria Math" panose="02040503050406030204" pitchFamily="18" charset="0"/>
                            </a:rPr>
                            <m:t>𝑎𝑔𝑒</m:t>
                          </m:r>
                          <m:r>
                            <a:rPr lang="ko-KR" altLang="en-US" sz="1200" i="1">
                              <a:latin typeface="Cambria Math" panose="02040503050406030204" pitchFamily="18" charset="0"/>
                            </a:rPr>
                            <m:t>≤</m:t>
                          </m:r>
                          <m:r>
                            <a:rPr lang="en-US" altLang="ko-KR" sz="1200" i="1">
                              <a:latin typeface="Cambria Math" panose="02040503050406030204" pitchFamily="18" charset="0"/>
                            </a:rPr>
                            <m:t>55</m:t>
                          </m:r>
                        </m:e>
                      </m:d>
                    </m:oMath>
                  </m:oMathPara>
                </a14:m>
                <a:endParaRPr lang="en-US" altLang="ko-KR" sz="1200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D86A1032-7851-6067-E5E6-825F9118E6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62364" y="4188348"/>
                <a:ext cx="1854790" cy="27699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F6654FE7-FA3E-D7CA-1AA9-57AEAE41A356}"/>
              </a:ext>
            </a:extLst>
          </p:cNvPr>
          <p:cNvCxnSpPr/>
          <p:nvPr/>
        </p:nvCxnSpPr>
        <p:spPr>
          <a:xfrm flipV="1">
            <a:off x="6166420" y="1988840"/>
            <a:ext cx="0" cy="165618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0783FDFE-90EB-3F74-8A5F-57245085A571}"/>
              </a:ext>
            </a:extLst>
          </p:cNvPr>
          <p:cNvCxnSpPr/>
          <p:nvPr/>
        </p:nvCxnSpPr>
        <p:spPr>
          <a:xfrm>
            <a:off x="6183838" y="4869160"/>
            <a:ext cx="77467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963994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C3B0B1-AC43-276B-0D54-6930E9688F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5A7E9029-7CE6-C1E0-0D99-332796148B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16</a:t>
            </a:fld>
            <a:endParaRPr lang="en-US" altLang="ko-KR" noProof="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F2307B2-E487-A983-92DA-289CC6D0FD3B}"/>
              </a:ext>
            </a:extLst>
          </p:cNvPr>
          <p:cNvSpPr txBox="1"/>
          <p:nvPr/>
        </p:nvSpPr>
        <p:spPr>
          <a:xfrm>
            <a:off x="333771" y="989460"/>
            <a:ext cx="11377265" cy="11526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Histogram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bins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개수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위치에 따라 이산적인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(Discrete)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데이터의 분포 모양이 달라짐 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이산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(Discrete)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데이터를 연속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(Continuous)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데이터로 가정하여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Gaussian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KDE(Kernel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Density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Estimation)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함수를 적용하여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모든 무한한 실수에 대해 확률밀도를 예측함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A380877-4248-8305-6897-65878F33FD87}"/>
              </a:ext>
            </a:extLst>
          </p:cNvPr>
          <p:cNvSpPr txBox="1"/>
          <p:nvPr/>
        </p:nvSpPr>
        <p:spPr>
          <a:xfrm>
            <a:off x="117748" y="260648"/>
            <a:ext cx="482453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히스토그램과</a:t>
            </a:r>
            <a:r>
              <a:rPr lang="en-US" altLang="ko-KR" sz="3200" b="1" dirty="0"/>
              <a:t> KDE</a:t>
            </a:r>
            <a:endParaRPr lang="ko-KR" altLang="en-US" sz="3200" b="1" dirty="0"/>
          </a:p>
        </p:txBody>
      </p:sp>
      <p:pic>
        <p:nvPicPr>
          <p:cNvPr id="7" name="Picture 4">
            <a:extLst>
              <a:ext uri="{FF2B5EF4-FFF2-40B4-BE49-F238E27FC236}">
                <a16:creationId xmlns:a16="http://schemas.microsoft.com/office/drawing/2014/main" id="{9D2C2A6F-AA51-181B-2EE7-B31827536B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3812" y="2286185"/>
            <a:ext cx="11321047" cy="37572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319561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A9E592-91C4-33F7-AABF-0D38957D49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C0002C89-B43D-5CD1-AC62-40F09F0C9282}"/>
              </a:ext>
            </a:extLst>
          </p:cNvPr>
          <p:cNvSpPr/>
          <p:nvPr/>
        </p:nvSpPr>
        <p:spPr>
          <a:xfrm>
            <a:off x="598421" y="3474230"/>
            <a:ext cx="8136904" cy="6748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B1ABEE2-B3AC-0D1F-5C46-5A166B8151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17</a:t>
            </a:fld>
            <a:endParaRPr lang="en-US" altLang="ko-KR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4ACB671-6FA8-153A-D9F5-AFBE4E30AF40}"/>
              </a:ext>
            </a:extLst>
          </p:cNvPr>
          <p:cNvSpPr txBox="1"/>
          <p:nvPr/>
        </p:nvSpPr>
        <p:spPr>
          <a:xfrm>
            <a:off x="1629916" y="147612"/>
            <a:ext cx="8928992" cy="5891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  <a:spcBef>
                <a:spcPts val="600"/>
              </a:spcBef>
            </a:pPr>
            <a:r>
              <a:rPr lang="ko-KR" altLang="en-US" sz="4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 변수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Variable)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이산형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(Discrete)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연속형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(Continuous)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확률변수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분산과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편향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 &amp; Bias)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 err="1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기대값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(Expectation)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분산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분포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Distribution)</a:t>
            </a: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베르누이분포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이항분포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정규분포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조건부 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(Conditional Probability)</a:t>
            </a:r>
          </a:p>
        </p:txBody>
      </p:sp>
    </p:spTree>
    <p:extLst>
      <p:ext uri="{BB962C8B-B14F-4D97-AF65-F5344CB8AC3E}">
        <p14:creationId xmlns:p14="http://schemas.microsoft.com/office/powerpoint/2010/main" val="34081439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18</a:t>
            </a:fld>
            <a:endParaRPr lang="en-US" altLang="ko-KR" noProof="0" dirty="0"/>
          </a:p>
        </p:txBody>
      </p:sp>
      <p:sp>
        <p:nvSpPr>
          <p:cNvPr id="10" name="직사각형 9"/>
          <p:cNvSpPr/>
          <p:nvPr/>
        </p:nvSpPr>
        <p:spPr>
          <a:xfrm>
            <a:off x="765820" y="764704"/>
            <a:ext cx="8568952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2800" b="1" dirty="0" err="1">
                <a:solidFill>
                  <a:srgbClr val="313131"/>
                </a:solidFill>
                <a:latin typeface="PT Sans"/>
              </a:rPr>
              <a:t>이산형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 </a:t>
            </a:r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확률변수의 </a:t>
            </a:r>
            <a:r>
              <a:rPr lang="ko-KR" altLang="en-US" sz="2800" b="1" dirty="0" err="1">
                <a:solidFill>
                  <a:srgbClr val="313131"/>
                </a:solidFill>
                <a:latin typeface="PT Sans"/>
              </a:rPr>
              <a:t>기대값과</a:t>
            </a:r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 분산</a:t>
            </a:r>
            <a:endParaRPr lang="en-US" altLang="ko-KR" sz="2800" b="1" dirty="0">
              <a:solidFill>
                <a:srgbClr val="313131"/>
              </a:solidFill>
              <a:latin typeface="PT Sans"/>
            </a:endParaRPr>
          </a:p>
        </p:txBody>
      </p:sp>
      <p:graphicFrame>
        <p:nvGraphicFramePr>
          <p:cNvPr id="9" name="표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59400168"/>
              </p:ext>
            </p:extLst>
          </p:nvPr>
        </p:nvGraphicFramePr>
        <p:xfrm>
          <a:off x="1557908" y="1916832"/>
          <a:ext cx="10153126" cy="18001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53352">
                  <a:extLst>
                    <a:ext uri="{9D8B030D-6E8A-4147-A177-3AD203B41FA5}">
                      <a16:colId xmlns:a16="http://schemas.microsoft.com/office/drawing/2014/main" val="2871442239"/>
                    </a:ext>
                  </a:extLst>
                </a:gridCol>
                <a:gridCol w="1450447">
                  <a:extLst>
                    <a:ext uri="{9D8B030D-6E8A-4147-A177-3AD203B41FA5}">
                      <a16:colId xmlns:a16="http://schemas.microsoft.com/office/drawing/2014/main" val="1460948932"/>
                    </a:ext>
                  </a:extLst>
                </a:gridCol>
                <a:gridCol w="1369866">
                  <a:extLst>
                    <a:ext uri="{9D8B030D-6E8A-4147-A177-3AD203B41FA5}">
                      <a16:colId xmlns:a16="http://schemas.microsoft.com/office/drawing/2014/main" val="153491109"/>
                    </a:ext>
                  </a:extLst>
                </a:gridCol>
                <a:gridCol w="1369866">
                  <a:extLst>
                    <a:ext uri="{9D8B030D-6E8A-4147-A177-3AD203B41FA5}">
                      <a16:colId xmlns:a16="http://schemas.microsoft.com/office/drawing/2014/main" val="1461923300"/>
                    </a:ext>
                  </a:extLst>
                </a:gridCol>
                <a:gridCol w="1369863">
                  <a:extLst>
                    <a:ext uri="{9D8B030D-6E8A-4147-A177-3AD203B41FA5}">
                      <a16:colId xmlns:a16="http://schemas.microsoft.com/office/drawing/2014/main" val="744697576"/>
                    </a:ext>
                  </a:extLst>
                </a:gridCol>
                <a:gridCol w="1369866">
                  <a:extLst>
                    <a:ext uri="{9D8B030D-6E8A-4147-A177-3AD203B41FA5}">
                      <a16:colId xmlns:a16="http://schemas.microsoft.com/office/drawing/2014/main" val="1322659708"/>
                    </a:ext>
                  </a:extLst>
                </a:gridCol>
                <a:gridCol w="1369866">
                  <a:extLst>
                    <a:ext uri="{9D8B030D-6E8A-4147-A177-3AD203B41FA5}">
                      <a16:colId xmlns:a16="http://schemas.microsoft.com/office/drawing/2014/main" val="2261868981"/>
                    </a:ext>
                  </a:extLst>
                </a:gridCol>
              </a:tblGrid>
              <a:tr h="51942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주사위 수자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40324275"/>
                  </a:ext>
                </a:extLst>
              </a:tr>
              <a:tr h="46961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확률변수 </a:t>
                      </a:r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X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X =1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X =2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X =3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X =4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X =</a:t>
                      </a:r>
                      <a:r>
                        <a:rPr lang="en-US" altLang="ko-KR" sz="1600" b="0" baseline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5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X = 6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0650152"/>
                  </a:ext>
                </a:extLst>
              </a:tr>
              <a:tr h="81115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확률</a:t>
                      </a:r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(Probability)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P(X =1) =1/6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P(X =2) =1/6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P(X =3) =1/6</a:t>
                      </a:r>
                      <a:endParaRPr lang="ko-KR" altLang="en-US" sz="16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P(X =4)</a:t>
                      </a:r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=1/6</a:t>
                      </a:r>
                      <a:endParaRPr kumimoji="0" lang="ko-KR" altLang="en-US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P(X =5)</a:t>
                      </a:r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=1/6</a:t>
                      </a:r>
                      <a:endParaRPr kumimoji="0" lang="ko-KR" altLang="en-US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P(X =6)</a:t>
                      </a:r>
                      <a:r>
                        <a:rPr lang="en-US" altLang="ko-KR" sz="16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=1/6</a:t>
                      </a:r>
                      <a:endParaRPr kumimoji="0" lang="ko-KR" altLang="en-US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2739572"/>
                  </a:ext>
                </a:extLst>
              </a:tr>
            </a:tbl>
          </a:graphicData>
        </a:graphic>
      </p:graphicFrame>
      <p:pic>
        <p:nvPicPr>
          <p:cNvPr id="14" name="그림 1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4339" y="4091514"/>
            <a:ext cx="3067478" cy="2372056"/>
          </a:xfrm>
          <a:prstGeom prst="rect">
            <a:avLst/>
          </a:prstGeom>
        </p:spPr>
      </p:pic>
      <p:pic>
        <p:nvPicPr>
          <p:cNvPr id="15" name="그림 1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98268" y="4091514"/>
            <a:ext cx="7078063" cy="22386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20857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19</a:t>
            </a:fld>
            <a:endParaRPr lang="en-US" altLang="ko-KR" noProof="0" dirty="0"/>
          </a:p>
        </p:txBody>
      </p:sp>
      <p:sp>
        <p:nvSpPr>
          <p:cNvPr id="10" name="직사각형 9"/>
          <p:cNvSpPr/>
          <p:nvPr/>
        </p:nvSpPr>
        <p:spPr>
          <a:xfrm>
            <a:off x="765820" y="764704"/>
            <a:ext cx="8568952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2800" b="1" dirty="0" err="1">
                <a:solidFill>
                  <a:srgbClr val="313131"/>
                </a:solidFill>
                <a:latin typeface="PT Sans"/>
              </a:rPr>
              <a:t>연속형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 </a:t>
            </a:r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확률변수의 평균과 분산</a:t>
            </a:r>
            <a:endParaRPr lang="en-US" altLang="ko-KR" sz="2800" b="1" dirty="0">
              <a:solidFill>
                <a:srgbClr val="313131"/>
              </a:solidFill>
              <a:latin typeface="PT Sans"/>
            </a:endParaRPr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50634" y="2135306"/>
            <a:ext cx="2562583" cy="771633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6406" y="3028888"/>
            <a:ext cx="5020376" cy="704948"/>
          </a:xfrm>
          <a:prstGeom prst="rect">
            <a:avLst/>
          </a:prstGeom>
        </p:spPr>
      </p:pic>
      <p:grpSp>
        <p:nvGrpSpPr>
          <p:cNvPr id="2" name="그룹 1">
            <a:extLst>
              <a:ext uri="{FF2B5EF4-FFF2-40B4-BE49-F238E27FC236}">
                <a16:creationId xmlns:a16="http://schemas.microsoft.com/office/drawing/2014/main" id="{C255BAE0-71B0-460B-6D36-535DEC231007}"/>
              </a:ext>
            </a:extLst>
          </p:cNvPr>
          <p:cNvGrpSpPr/>
          <p:nvPr/>
        </p:nvGrpSpPr>
        <p:grpSpPr>
          <a:xfrm>
            <a:off x="827586" y="1212123"/>
            <a:ext cx="5744136" cy="5144228"/>
            <a:chOff x="795052" y="1916832"/>
            <a:chExt cx="4438836" cy="3816424"/>
          </a:xfrm>
        </p:grpSpPr>
        <p:pic>
          <p:nvPicPr>
            <p:cNvPr id="7" name="그림 6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95052" y="2204864"/>
              <a:ext cx="4438836" cy="3024336"/>
            </a:xfrm>
            <a:prstGeom prst="rect">
              <a:avLst/>
            </a:prstGeom>
          </p:spPr>
        </p:pic>
        <p:cxnSp>
          <p:nvCxnSpPr>
            <p:cNvPr id="12" name="직선 연결선 11"/>
            <p:cNvCxnSpPr/>
            <p:nvPr/>
          </p:nvCxnSpPr>
          <p:spPr>
            <a:xfrm>
              <a:off x="2710428" y="1916832"/>
              <a:ext cx="0" cy="3816424"/>
            </a:xfrm>
            <a:prstGeom prst="line">
              <a:avLst/>
            </a:prstGeom>
            <a:ln w="12700">
              <a:solidFill>
                <a:srgbClr val="00206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직선 연결선 15"/>
            <p:cNvCxnSpPr/>
            <p:nvPr/>
          </p:nvCxnSpPr>
          <p:spPr>
            <a:xfrm>
              <a:off x="3790156" y="1916832"/>
              <a:ext cx="0" cy="3816424"/>
            </a:xfrm>
            <a:prstGeom prst="line">
              <a:avLst/>
            </a:prstGeom>
            <a:ln w="12700">
              <a:solidFill>
                <a:srgbClr val="002060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직선 화살표 연결선 16"/>
            <p:cNvCxnSpPr/>
            <p:nvPr/>
          </p:nvCxnSpPr>
          <p:spPr>
            <a:xfrm>
              <a:off x="2735595" y="5517232"/>
              <a:ext cx="1008112" cy="0"/>
            </a:xfrm>
            <a:prstGeom prst="straightConnector1">
              <a:avLst/>
            </a:prstGeom>
            <a:ln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9" name="직사각형 18"/>
          <p:cNvSpPr/>
          <p:nvPr/>
        </p:nvSpPr>
        <p:spPr>
          <a:xfrm>
            <a:off x="837828" y="5939988"/>
            <a:ext cx="5872120" cy="338554"/>
          </a:xfrm>
          <a:prstGeom prst="rect">
            <a:avLst/>
          </a:prstGeom>
          <a:solidFill>
            <a:schemeClr val="bg1"/>
          </a:solidFill>
        </p:spPr>
        <p:txBody>
          <a:bodyPr wrap="none">
            <a:spAutoFit/>
          </a:bodyPr>
          <a:lstStyle/>
          <a:p>
            <a:pPr lvl="0" algn="ctr" latinLnBrk="1">
              <a:defRPr/>
            </a:pPr>
            <a:r>
              <a:rPr lang="en-US" altLang="ko-KR" sz="1600" dirty="0">
                <a:solidFill>
                  <a:srgbClr val="40404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P(X &lt;= 185)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- </a:t>
            </a:r>
            <a:r>
              <a:rPr lang="en-US" altLang="ko-KR" sz="1600" dirty="0">
                <a:solidFill>
                  <a:srgbClr val="40404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P(X &lt;= 135) = </a:t>
            </a:r>
            <a:r>
              <a:rPr lang="ko-KR" altLang="en-US" sz="1600" dirty="0">
                <a:solidFill>
                  <a:srgbClr val="40404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키가 </a:t>
            </a:r>
            <a:r>
              <a:rPr lang="en-US" altLang="ko-KR" sz="1600" dirty="0">
                <a:solidFill>
                  <a:srgbClr val="40404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135</a:t>
            </a:r>
            <a:r>
              <a:rPr lang="ko-KR" altLang="en-US" sz="1600" dirty="0">
                <a:solidFill>
                  <a:srgbClr val="40404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이상 </a:t>
            </a:r>
            <a:r>
              <a:rPr lang="en-US" altLang="ko-KR" sz="1600" dirty="0">
                <a:solidFill>
                  <a:srgbClr val="40404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185</a:t>
            </a:r>
            <a:r>
              <a:rPr lang="ko-KR" altLang="en-US" sz="1600" dirty="0">
                <a:solidFill>
                  <a:srgbClr val="40404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이하인 확률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endParaRPr lang="ko-KR" altLang="en-US" sz="1600" dirty="0">
              <a:solidFill>
                <a:srgbClr val="40404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95DB406-4AFF-BE7F-8019-A998F12969B0}"/>
              </a:ext>
            </a:extLst>
          </p:cNvPr>
          <p:cNvSpPr txBox="1"/>
          <p:nvPr/>
        </p:nvSpPr>
        <p:spPr>
          <a:xfrm>
            <a:off x="7081460" y="4288739"/>
            <a:ext cx="5094313" cy="11526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y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축의 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Density(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확률밀도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는 확률의 의미인가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확률과 밀도는 </a:t>
            </a:r>
            <a:r>
              <a:rPr lang="ko-KR" altLang="en-US" sz="16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다른가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밀도를 다 더하면 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인가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40446274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834A9B-1D9E-9BEC-0C9D-41CFEB45C7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81BF237D-153C-A49F-C3D0-25C7655BE83A}"/>
              </a:ext>
            </a:extLst>
          </p:cNvPr>
          <p:cNvSpPr/>
          <p:nvPr/>
        </p:nvSpPr>
        <p:spPr>
          <a:xfrm>
            <a:off x="598421" y="4122302"/>
            <a:ext cx="8136904" cy="6748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69D1503E-938B-93E6-F7E1-D009295A62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20</a:t>
            </a:fld>
            <a:endParaRPr lang="en-US" altLang="ko-KR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AA0C209-B81A-81D0-EC40-74FBAB65EE81}"/>
              </a:ext>
            </a:extLst>
          </p:cNvPr>
          <p:cNvSpPr txBox="1"/>
          <p:nvPr/>
        </p:nvSpPr>
        <p:spPr>
          <a:xfrm>
            <a:off x="1629916" y="147612"/>
            <a:ext cx="8928992" cy="5891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  <a:spcBef>
                <a:spcPts val="600"/>
              </a:spcBef>
            </a:pPr>
            <a:r>
              <a:rPr lang="ko-KR" altLang="en-US" sz="4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 변수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Variable)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이산형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(Discrete)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연속형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(Continuous)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확률변수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분산과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편향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 &amp; Bias)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 err="1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기대값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(Expectation)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분산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분포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Distribution)</a:t>
            </a: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베르누이분포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이항분포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정규분포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조건부 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(Conditional Probability)</a:t>
            </a:r>
          </a:p>
        </p:txBody>
      </p:sp>
    </p:spTree>
    <p:extLst>
      <p:ext uri="{BB962C8B-B14F-4D97-AF65-F5344CB8AC3E}">
        <p14:creationId xmlns:p14="http://schemas.microsoft.com/office/powerpoint/2010/main" val="29899127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21</a:t>
            </a:fld>
            <a:endParaRPr lang="en-US" altLang="ko-KR" noProof="0" dirty="0"/>
          </a:p>
        </p:txBody>
      </p:sp>
      <p:sp>
        <p:nvSpPr>
          <p:cNvPr id="15" name="직사각형 14"/>
          <p:cNvSpPr/>
          <p:nvPr/>
        </p:nvSpPr>
        <p:spPr>
          <a:xfrm>
            <a:off x="765820" y="764704"/>
            <a:ext cx="1595309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확률분포</a:t>
            </a:r>
            <a:endParaRPr lang="ko-KR" altLang="en-US" sz="2800" b="1" dirty="0"/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D4642D99-FBF5-AEFC-193D-20CA3131F1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66788832"/>
              </p:ext>
            </p:extLst>
          </p:nvPr>
        </p:nvGraphicFramePr>
        <p:xfrm>
          <a:off x="1794470" y="3212976"/>
          <a:ext cx="8599884" cy="2743664"/>
        </p:xfrm>
        <a:graphic>
          <a:graphicData uri="http://schemas.openxmlformats.org/drawingml/2006/table">
            <a:tbl>
              <a:tblPr>
                <a:tableStyleId>{C4B1156A-380E-4F78-BDF5-A606A8083BF9}</a:tableStyleId>
              </a:tblPr>
              <a:tblGrid>
                <a:gridCol w="2263180">
                  <a:extLst>
                    <a:ext uri="{9D8B030D-6E8A-4147-A177-3AD203B41FA5}">
                      <a16:colId xmlns:a16="http://schemas.microsoft.com/office/drawing/2014/main" val="2796709864"/>
                    </a:ext>
                  </a:extLst>
                </a:gridCol>
                <a:gridCol w="6336704">
                  <a:extLst>
                    <a:ext uri="{9D8B030D-6E8A-4147-A177-3AD203B41FA5}">
                      <a16:colId xmlns:a16="http://schemas.microsoft.com/office/drawing/2014/main" val="2134139185"/>
                    </a:ext>
                  </a:extLst>
                </a:gridCol>
              </a:tblGrid>
              <a:tr h="258645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600" b="1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분류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600" b="1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주요 확률분포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02573821"/>
                  </a:ext>
                </a:extLst>
              </a:tr>
              <a:tr h="1166822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600" b="1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이산 </a:t>
                      </a:r>
                      <a:r>
                        <a:rPr lang="en-US" altLang="ko-KR" sz="1600" b="1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</a:t>
                      </a:r>
                      <a:r>
                        <a:rPr lang="en-US" sz="1600" b="1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Discrete)</a:t>
                      </a:r>
                      <a:endParaRPr lang="en-US" sz="16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lnSpc>
                          <a:spcPct val="150000"/>
                        </a:lnSpc>
                        <a:buFont typeface="Wingdings" panose="05000000000000000000" pitchFamily="2" charset="2"/>
                        <a:buChar char="v"/>
                      </a:pPr>
                      <a:r>
                        <a:rPr lang="ko-KR" altLang="en-US" sz="1600" b="1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베르누이분포</a:t>
                      </a:r>
                    </a:p>
                    <a:p>
                      <a:pPr marL="285750" indent="-285750">
                        <a:lnSpc>
                          <a:spcPct val="150000"/>
                        </a:lnSpc>
                        <a:buFont typeface="Wingdings" panose="05000000000000000000" pitchFamily="2" charset="2"/>
                        <a:buChar char="v"/>
                      </a:pPr>
                      <a:r>
                        <a:rPr lang="ko-KR" altLang="en-US" sz="1600" b="1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이항분포</a:t>
                      </a:r>
                    </a:p>
                    <a:p>
                      <a:pPr marL="285750" indent="-285750">
                        <a:lnSpc>
                          <a:spcPct val="150000"/>
                        </a:lnSpc>
                        <a:buFont typeface="Wingdings" panose="05000000000000000000" pitchFamily="2" charset="2"/>
                        <a:buChar char="v"/>
                      </a:pPr>
                      <a:r>
                        <a:rPr lang="ko-KR" altLang="en-US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기하분포</a:t>
                      </a:r>
                      <a:r>
                        <a:rPr lang="en-US" altLang="ko-KR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</a:t>
                      </a:r>
                      <a:r>
                        <a:rPr lang="ko-KR" altLang="en-US" sz="1600" dirty="0" err="1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음이항분포</a:t>
                      </a:r>
                      <a:r>
                        <a:rPr lang="en-US" altLang="ko-KR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</a:t>
                      </a:r>
                      <a:r>
                        <a:rPr lang="ko-KR" altLang="en-US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초기하분포</a:t>
                      </a:r>
                      <a:r>
                        <a:rPr lang="en-US" altLang="ko-KR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Poisson(</a:t>
                      </a:r>
                      <a:r>
                        <a:rPr lang="ko-KR" altLang="en-US" sz="1600" dirty="0" err="1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포아송</a:t>
                      </a:r>
                      <a:r>
                        <a:rPr lang="en-US" altLang="ko-KR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) </a:t>
                      </a:r>
                      <a:r>
                        <a:rPr lang="ko-KR" altLang="en-US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분포</a:t>
                      </a:r>
                      <a:r>
                        <a:rPr lang="en-US" altLang="ko-KR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</a:t>
                      </a:r>
                      <a:endParaRPr lang="ko-KR" altLang="en-US" sz="16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6617388"/>
                  </a:ext>
                </a:extLst>
              </a:tr>
              <a:tr h="1166822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None/>
                      </a:pPr>
                      <a:r>
                        <a:rPr lang="ko-KR" altLang="en-US" sz="1600" b="1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연속 </a:t>
                      </a:r>
                      <a:r>
                        <a:rPr lang="en-US" altLang="ko-KR" sz="1600" b="1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</a:t>
                      </a:r>
                      <a:r>
                        <a:rPr lang="en-US" sz="1600" b="1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Continuous)</a:t>
                      </a:r>
                      <a:endParaRPr lang="en-US" sz="16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lnSpc>
                          <a:spcPct val="150000"/>
                        </a:lnSpc>
                        <a:buFont typeface="Wingdings" panose="05000000000000000000" pitchFamily="2" charset="2"/>
                        <a:buChar char="v"/>
                      </a:pPr>
                      <a:r>
                        <a:rPr lang="ko-KR" altLang="en-US" sz="1600" b="1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균일분포</a:t>
                      </a:r>
                    </a:p>
                    <a:p>
                      <a:pPr marL="285750" indent="-285750">
                        <a:lnSpc>
                          <a:spcPct val="150000"/>
                        </a:lnSpc>
                        <a:buFont typeface="Wingdings" panose="05000000000000000000" pitchFamily="2" charset="2"/>
                        <a:buChar char="v"/>
                      </a:pPr>
                      <a:r>
                        <a:rPr lang="ko-KR" altLang="en-US" sz="1600" b="1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정규분포</a:t>
                      </a:r>
                      <a:r>
                        <a:rPr lang="en-US" altLang="ko-KR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</a:t>
                      </a:r>
                      <a:r>
                        <a:rPr lang="ko-KR" altLang="en-US" sz="1600" dirty="0" err="1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카이제곱</a:t>
                      </a:r>
                      <a:r>
                        <a:rPr lang="en-US" altLang="ko-KR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t-</a:t>
                      </a:r>
                      <a:r>
                        <a:rPr lang="ko-KR" altLang="en-US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분포</a:t>
                      </a:r>
                      <a:r>
                        <a:rPr lang="en-US" altLang="ko-KR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F-</a:t>
                      </a:r>
                      <a:r>
                        <a:rPr lang="ko-KR" altLang="en-US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분포 포함</a:t>
                      </a:r>
                      <a:r>
                        <a:rPr lang="en-US" altLang="ko-KR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), </a:t>
                      </a:r>
                    </a:p>
                    <a:p>
                      <a:pPr marL="285750" indent="-285750">
                        <a:lnSpc>
                          <a:spcPct val="150000"/>
                        </a:lnSpc>
                        <a:buFont typeface="Wingdings" panose="05000000000000000000" pitchFamily="2" charset="2"/>
                        <a:buChar char="v"/>
                      </a:pPr>
                      <a:r>
                        <a:rPr lang="ko-KR" altLang="en-US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지수분포</a:t>
                      </a:r>
                      <a:r>
                        <a:rPr lang="en-US" altLang="ko-KR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</a:t>
                      </a:r>
                      <a:r>
                        <a:rPr lang="ko-KR" altLang="en-US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베타분포</a:t>
                      </a:r>
                      <a:r>
                        <a:rPr lang="en-US" altLang="ko-KR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</a:t>
                      </a:r>
                      <a:r>
                        <a:rPr lang="ko-KR" altLang="en-US" sz="16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감마분포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67018236"/>
                  </a:ext>
                </a:extLst>
              </a:tr>
            </a:tbl>
          </a:graphicData>
        </a:graphic>
      </p:graphicFrame>
      <p:sp>
        <p:nvSpPr>
          <p:cNvPr id="3" name="직사각형 2">
            <a:extLst>
              <a:ext uri="{FF2B5EF4-FFF2-40B4-BE49-F238E27FC236}">
                <a16:creationId xmlns:a16="http://schemas.microsoft.com/office/drawing/2014/main" id="{860F45A2-DF52-7961-5A68-876CC4DB03F7}"/>
              </a:ext>
            </a:extLst>
          </p:cNvPr>
          <p:cNvSpPr/>
          <p:nvPr/>
        </p:nvSpPr>
        <p:spPr>
          <a:xfrm>
            <a:off x="765819" y="1345637"/>
            <a:ext cx="10945217" cy="157876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표본의 확률분포를 안다는 것은 표본 그 자체를 넘어 표본을 통해 </a:t>
            </a:r>
            <a:r>
              <a:rPr lang="en-US" altLang="ko-KR" sz="1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'</a:t>
            </a:r>
            <a:r>
              <a:rPr lang="ko-KR" altLang="en-US" sz="1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모집단</a:t>
            </a:r>
            <a:r>
              <a:rPr lang="en-US" altLang="ko-KR" sz="1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'</a:t>
            </a:r>
            <a:r>
              <a:rPr lang="ko-KR" altLang="en-US" sz="1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을 이해하는 열쇠</a:t>
            </a:r>
            <a:endParaRPr lang="en-US" altLang="ko-KR" sz="1700" dirty="0">
              <a:solidFill>
                <a:srgbClr val="31313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7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표본의 데이터가 어떤 </a:t>
            </a:r>
            <a:r>
              <a:rPr lang="ko-KR" altLang="en-US" sz="1700" dirty="0" err="1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모수</a:t>
            </a:r>
            <a:r>
              <a:rPr lang="en-US" altLang="ko-KR" sz="17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(Parameter), </a:t>
            </a:r>
            <a:r>
              <a:rPr lang="ko-KR" altLang="en-US" sz="1700" dirty="0">
                <a:solidFill>
                  <a:srgbClr val="31313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예를 들어 정규분포라면 평균과 표준편차에 의해 정확히 식별 가능</a:t>
            </a:r>
            <a:endParaRPr lang="en-US" altLang="ko-KR" sz="1700" dirty="0">
              <a:solidFill>
                <a:srgbClr val="31313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확률분포를 알면 그 데이터를 통해 미래를 예측하거나 의사결정이 가능</a:t>
            </a:r>
            <a:endParaRPr lang="en-US" altLang="ko-KR" sz="17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412529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22</a:t>
            </a:fld>
            <a:endParaRPr lang="en-US" altLang="ko-KR" noProof="0" dirty="0"/>
          </a:p>
        </p:txBody>
      </p:sp>
      <p:sp>
        <p:nvSpPr>
          <p:cNvPr id="2" name="직사각형 1"/>
          <p:cNvSpPr/>
          <p:nvPr/>
        </p:nvSpPr>
        <p:spPr>
          <a:xfrm>
            <a:off x="6598468" y="980728"/>
            <a:ext cx="2736304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2000" b="1" dirty="0"/>
              <a:t> </a:t>
            </a:r>
            <a:r>
              <a:rPr lang="en-US" altLang="ko-KR" sz="2000" b="1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GALTON BOARD</a:t>
            </a:r>
            <a:r>
              <a:rPr lang="ko-KR" altLang="en-US" sz="2000" b="1" dirty="0"/>
              <a:t> </a:t>
            </a:r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8388" y="1480432"/>
            <a:ext cx="3820058" cy="5058481"/>
          </a:xfrm>
          <a:prstGeom prst="rect">
            <a:avLst/>
          </a:prstGeom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36DBC183-847F-AA14-7A37-BEF6DF137A1F}"/>
              </a:ext>
            </a:extLst>
          </p:cNvPr>
          <p:cNvSpPr/>
          <p:nvPr/>
        </p:nvSpPr>
        <p:spPr>
          <a:xfrm>
            <a:off x="261764" y="1760006"/>
            <a:ext cx="5328592" cy="14903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ko-KR" altLang="en-US" sz="1600" b="1" dirty="0">
                <a:latin typeface="Arial Narrow" panose="020B0606020202030204" pitchFamily="34" charset="0"/>
              </a:rPr>
              <a:t>동영상에서 떨어지는 구슬</a:t>
            </a:r>
            <a:r>
              <a:rPr lang="en-US" altLang="ko-KR" sz="1600" b="1" dirty="0">
                <a:latin typeface="Arial Narrow" panose="020B0606020202030204" pitchFamily="34" charset="0"/>
              </a:rPr>
              <a:t>,</a:t>
            </a:r>
            <a:r>
              <a:rPr lang="ko-KR" altLang="en-US" sz="1600" b="1" dirty="0">
                <a:latin typeface="Arial Narrow" panose="020B0606020202030204" pitchFamily="34" charset="0"/>
              </a:rPr>
              <a:t> 고정된 구슬과 각 </a:t>
            </a:r>
            <a:r>
              <a:rPr lang="en-US" altLang="ko-KR" sz="1600" b="1" dirty="0">
                <a:latin typeface="Arial Narrow" panose="020B0606020202030204" pitchFamily="34" charset="0"/>
              </a:rPr>
              <a:t>Layer</a:t>
            </a:r>
            <a:r>
              <a:rPr lang="ko-KR" altLang="en-US" sz="1600" b="1" dirty="0">
                <a:latin typeface="Arial Narrow" panose="020B0606020202030204" pitchFamily="34" charset="0"/>
              </a:rPr>
              <a:t>의 의미를 설명하라</a:t>
            </a:r>
            <a:endParaRPr lang="en-US" altLang="ko-KR" sz="1600" b="1" dirty="0">
              <a:latin typeface="Arial Narrow" panose="020B0606020202030204" pitchFamily="34" charset="0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ko-KR" altLang="en-US" sz="1600" b="1" dirty="0">
                <a:latin typeface="Arial Narrow" panose="020B0606020202030204" pitchFamily="34" charset="0"/>
              </a:rPr>
              <a:t>베르누이</a:t>
            </a:r>
            <a:r>
              <a:rPr lang="en-US" altLang="ko-KR" sz="1600" b="1" dirty="0">
                <a:latin typeface="Arial Narrow" panose="020B0606020202030204" pitchFamily="34" charset="0"/>
              </a:rPr>
              <a:t>, </a:t>
            </a:r>
            <a:r>
              <a:rPr lang="ko-KR" altLang="en-US" sz="1600" b="1" dirty="0">
                <a:latin typeface="Arial Narrow" panose="020B0606020202030204" pitchFamily="34" charset="0"/>
              </a:rPr>
              <a:t>이항분포</a:t>
            </a:r>
            <a:r>
              <a:rPr lang="en-US" altLang="ko-KR" sz="1600" b="1" dirty="0">
                <a:latin typeface="Arial Narrow" panose="020B0606020202030204" pitchFamily="34" charset="0"/>
              </a:rPr>
              <a:t>, </a:t>
            </a:r>
            <a:r>
              <a:rPr lang="ko-KR" altLang="en-US" sz="1600" b="1" dirty="0">
                <a:latin typeface="Arial Narrow" panose="020B0606020202030204" pitchFamily="34" charset="0"/>
              </a:rPr>
              <a:t>정규분포를 그림에서 설명하라</a:t>
            </a:r>
            <a:endParaRPr lang="en-US" altLang="ko-KR" sz="1600" b="1" dirty="0">
              <a:latin typeface="Arial Narrow" panose="020B0606020202030204" pitchFamily="34" charset="0"/>
            </a:endParaRPr>
          </a:p>
        </p:txBody>
      </p:sp>
      <p:pic>
        <p:nvPicPr>
          <p:cNvPr id="5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5AD29AEC-24CA-8B11-B307-9A15642C80B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475883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76277C-B59B-CF94-9FF4-C63DC4AE66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0668DA3-DFBF-0862-F6CE-A061D14661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23</a:t>
            </a:fld>
            <a:endParaRPr lang="en-US" altLang="ko-KR" noProof="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CE5BCF6-C520-CBBD-FA85-6EBD5619CAE6}"/>
              </a:ext>
            </a:extLst>
          </p:cNvPr>
          <p:cNvSpPr txBox="1"/>
          <p:nvPr/>
        </p:nvSpPr>
        <p:spPr>
          <a:xfrm>
            <a:off x="485793" y="2065088"/>
            <a:ext cx="287621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1" dirty="0" err="1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geogebra_Galton</a:t>
            </a:r>
            <a:r>
              <a:rPr lang="en-US" altLang="ko-KR" sz="1600" b="1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Board</a:t>
            </a:r>
            <a:endParaRPr lang="ko-KR" altLang="en-US" sz="1600" b="1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CAB8CA67-0689-B3B2-BC44-16189905813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9796" y="2492896"/>
            <a:ext cx="4248472" cy="3719523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A20172FC-9D4E-FA46-6142-945B3B8D4296}"/>
              </a:ext>
            </a:extLst>
          </p:cNvPr>
          <p:cNvSpPr txBox="1"/>
          <p:nvPr/>
        </p:nvSpPr>
        <p:spPr>
          <a:xfrm>
            <a:off x="483969" y="990607"/>
            <a:ext cx="11508916" cy="697050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아래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실험을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1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개의 동전던지기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실험으로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설명하고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(10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번 던지기 실험을 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1490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회 수행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 </a:t>
            </a:r>
            <a:r>
              <a:rPr lang="ko-KR" altLang="en-US" sz="14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시각화하는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코드를 제시하라</a:t>
            </a:r>
            <a:endParaRPr lang="en-US" altLang="ko-KR" sz="14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10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개의 동전을 한꺼번에 던지기 실험을 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149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회 수행하고 그 합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(H:1, T:-1)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에서 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5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를 차감하는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실험과 동일</a:t>
            </a:r>
            <a:endParaRPr lang="en-US" altLang="ko-KR" sz="14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5124" name="Picture 4">
            <a:extLst>
              <a:ext uri="{FF2B5EF4-FFF2-40B4-BE49-F238E27FC236}">
                <a16:creationId xmlns:a16="http://schemas.microsoft.com/office/drawing/2014/main" id="{14E198F2-1890-5CC6-BFDE-0DB08DC4D5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46340" y="2492896"/>
            <a:ext cx="5413592" cy="36609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D6801BA-2725-9BA4-409C-426A6AF9CCEC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pic>
        <p:nvPicPr>
          <p:cNvPr id="3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FFF009EE-06A6-8A54-242C-B31D7E24250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36795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24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7908" y="887028"/>
            <a:ext cx="8922255" cy="54434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42303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25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9078" y="2685197"/>
            <a:ext cx="4969093" cy="3110068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9041" y="2685197"/>
            <a:ext cx="5112568" cy="3209684"/>
          </a:xfrm>
          <a:prstGeom prst="rect">
            <a:avLst/>
          </a:prstGeom>
        </p:spPr>
      </p:pic>
      <p:sp>
        <p:nvSpPr>
          <p:cNvPr id="5" name="직사각형 4"/>
          <p:cNvSpPr/>
          <p:nvPr/>
        </p:nvSpPr>
        <p:spPr>
          <a:xfrm>
            <a:off x="6057053" y="1683061"/>
            <a:ext cx="6014023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Arial Narrow" panose="020B0606020202030204" pitchFamily="34" charset="0"/>
              </a:rPr>
              <a:t>동전을 </a:t>
            </a:r>
            <a:r>
              <a:rPr lang="en-US" altLang="ko-KR" sz="1600" dirty="0">
                <a:latin typeface="Arial Narrow" panose="020B0606020202030204" pitchFamily="34" charset="0"/>
              </a:rPr>
              <a:t>100</a:t>
            </a:r>
            <a:r>
              <a:rPr lang="ko-KR" altLang="en-US" sz="1600" dirty="0">
                <a:latin typeface="Arial Narrow" panose="020B0606020202030204" pitchFamily="34" charset="0"/>
              </a:rPr>
              <a:t>번을 앞 면이 나올 회수는 </a:t>
            </a:r>
            <a:r>
              <a:rPr lang="en-US" altLang="ko-KR" sz="1600" dirty="0">
                <a:latin typeface="Arial Narrow" panose="020B0606020202030204" pitchFamily="34" charset="0"/>
              </a:rPr>
              <a:t>? 55, 45, 50 </a:t>
            </a:r>
            <a:r>
              <a:rPr lang="ko-KR" altLang="en-US" sz="1600" dirty="0">
                <a:latin typeface="Arial Narrow" panose="020B0606020202030204" pitchFamily="34" charset="0"/>
              </a:rPr>
              <a:t>등 글쎄 </a:t>
            </a:r>
            <a:r>
              <a:rPr lang="ko-KR" altLang="en-US" sz="1600" dirty="0" err="1">
                <a:latin typeface="Arial Narrow" panose="020B0606020202030204" pitchFamily="34" charset="0"/>
              </a:rPr>
              <a:t>케박</a:t>
            </a:r>
            <a:endParaRPr lang="en-US" altLang="ko-KR" sz="1600" dirty="0">
              <a:latin typeface="Arial Narrow" panose="020B0606020202030204" pitchFamily="34" charset="0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Arial Narrow" panose="020B0606020202030204" pitchFamily="34" charset="0"/>
              </a:rPr>
              <a:t>동전을 </a:t>
            </a:r>
            <a:r>
              <a:rPr lang="en-US" altLang="ko-KR" sz="1600" dirty="0">
                <a:latin typeface="Arial Narrow" panose="020B0606020202030204" pitchFamily="34" charset="0"/>
              </a:rPr>
              <a:t>100</a:t>
            </a:r>
            <a:r>
              <a:rPr lang="ko-KR" altLang="en-US" sz="1600" dirty="0">
                <a:latin typeface="Arial Narrow" panose="020B0606020202030204" pitchFamily="34" charset="0"/>
              </a:rPr>
              <a:t>번을 던져서 앞면</a:t>
            </a:r>
            <a:r>
              <a:rPr lang="en-US" altLang="ko-KR" sz="1600" dirty="0">
                <a:latin typeface="Arial Narrow" panose="020B0606020202030204" pitchFamily="34" charset="0"/>
              </a:rPr>
              <a:t>(</a:t>
            </a:r>
            <a:r>
              <a:rPr lang="ko-KR" altLang="en-US" sz="1600" dirty="0">
                <a:latin typeface="Arial Narrow" panose="020B0606020202030204" pitchFamily="34" charset="0"/>
              </a:rPr>
              <a:t>성공확률</a:t>
            </a:r>
            <a:r>
              <a:rPr lang="en-US" altLang="ko-KR" sz="1600" dirty="0">
                <a:latin typeface="Arial Narrow" panose="020B0606020202030204" pitchFamily="34" charset="0"/>
              </a:rPr>
              <a:t>(0.5))</a:t>
            </a:r>
            <a:r>
              <a:rPr lang="ko-KR" altLang="en-US" sz="1600" dirty="0">
                <a:latin typeface="Arial Narrow" panose="020B0606020202030204" pitchFamily="34" charset="0"/>
              </a:rPr>
              <a:t>이 나올 횟수</a:t>
            </a:r>
            <a:r>
              <a:rPr lang="en-US" altLang="ko-KR" sz="1600" dirty="0">
                <a:latin typeface="Arial Narrow" panose="020B0606020202030204" pitchFamily="34" charset="0"/>
              </a:rPr>
              <a:t>, </a:t>
            </a:r>
            <a:r>
              <a:rPr lang="ko-KR" altLang="en-US" sz="1600" dirty="0">
                <a:latin typeface="Arial Narrow" panose="020B0606020202030204" pitchFamily="34" charset="0"/>
              </a:rPr>
              <a:t>이 시행을 </a:t>
            </a:r>
            <a:r>
              <a:rPr lang="en-US" altLang="ko-KR" sz="1600" dirty="0">
                <a:latin typeface="Arial Narrow" panose="020B0606020202030204" pitchFamily="34" charset="0"/>
              </a:rPr>
              <a:t>10000</a:t>
            </a:r>
            <a:r>
              <a:rPr lang="ko-KR" altLang="en-US" sz="1600" dirty="0">
                <a:latin typeface="Arial Narrow" panose="020B0606020202030204" pitchFamily="34" charset="0"/>
              </a:rPr>
              <a:t>번 수행 해서 빈도를 확인</a:t>
            </a:r>
            <a:endParaRPr lang="ko-KR" altLang="en-US" sz="1600" b="0" dirty="0">
              <a:effectLst/>
              <a:latin typeface="Arial Narrow" panose="020B0606020202030204" pitchFamily="34" charset="0"/>
            </a:endParaRPr>
          </a:p>
        </p:txBody>
      </p:sp>
      <p:sp>
        <p:nvSpPr>
          <p:cNvPr id="6" name="직사각형 5"/>
          <p:cNvSpPr/>
          <p:nvPr/>
        </p:nvSpPr>
        <p:spPr>
          <a:xfrm>
            <a:off x="261764" y="1760006"/>
            <a:ext cx="4974399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Arial Narrow" panose="020B0606020202030204" pitchFamily="34" charset="0"/>
              </a:rPr>
              <a:t>동전을 </a:t>
            </a:r>
            <a:r>
              <a:rPr lang="en-US" altLang="ko-KR" sz="1600" dirty="0">
                <a:latin typeface="Arial Narrow" panose="020B0606020202030204" pitchFamily="34" charset="0"/>
              </a:rPr>
              <a:t>1000</a:t>
            </a:r>
            <a:r>
              <a:rPr lang="ko-KR" altLang="en-US" sz="1600" dirty="0">
                <a:latin typeface="Arial Narrow" panose="020B0606020202030204" pitchFamily="34" charset="0"/>
              </a:rPr>
              <a:t>번 던져 앞면과 뒷면이 나온 회수</a:t>
            </a:r>
            <a:r>
              <a:rPr lang="en-US" altLang="ko-KR" sz="1600" dirty="0">
                <a:latin typeface="Arial Narrow" panose="020B0606020202030204" pitchFamily="34" charset="0"/>
              </a:rPr>
              <a:t>(</a:t>
            </a:r>
            <a:r>
              <a:rPr lang="ko-KR" altLang="en-US" sz="1600" dirty="0">
                <a:latin typeface="Arial Narrow" panose="020B0606020202030204" pitchFamily="34" charset="0"/>
              </a:rPr>
              <a:t>도수</a:t>
            </a:r>
            <a:r>
              <a:rPr lang="en-US" altLang="ko-KR" sz="1600" dirty="0">
                <a:latin typeface="Arial Narrow" panose="020B0606020202030204" pitchFamily="34" charset="0"/>
              </a:rPr>
              <a:t>)</a:t>
            </a:r>
          </a:p>
        </p:txBody>
      </p:sp>
      <p:sp>
        <p:nvSpPr>
          <p:cNvPr id="9" name="직사각형 8"/>
          <p:cNvSpPr/>
          <p:nvPr/>
        </p:nvSpPr>
        <p:spPr>
          <a:xfrm>
            <a:off x="6057053" y="692317"/>
            <a:ext cx="2576346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000" dirty="0">
                <a:solidFill>
                  <a:srgbClr val="212121"/>
                </a:solidFill>
                <a:latin typeface="Roboto"/>
              </a:rPr>
              <a:t>이항 분포</a:t>
            </a:r>
            <a:endParaRPr lang="en-US" altLang="ko-KR" sz="2000" dirty="0">
              <a:solidFill>
                <a:srgbClr val="212121"/>
              </a:solidFill>
              <a:latin typeface="Roboto"/>
            </a:endParaRPr>
          </a:p>
          <a:p>
            <a:r>
              <a:rPr lang="en-US" altLang="ko-KR" sz="2000" dirty="0">
                <a:solidFill>
                  <a:srgbClr val="212121"/>
                </a:solidFill>
                <a:latin typeface="Roboto"/>
              </a:rPr>
              <a:t>Binomial distribution</a:t>
            </a:r>
            <a:endParaRPr lang="en-US" altLang="ko-KR" sz="2000" i="0" dirty="0">
              <a:solidFill>
                <a:srgbClr val="212121"/>
              </a:solidFill>
              <a:effectLst/>
              <a:latin typeface="Roboto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405780" y="692696"/>
            <a:ext cx="2585964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000" dirty="0">
                <a:solidFill>
                  <a:srgbClr val="212121"/>
                </a:solidFill>
                <a:latin typeface="Roboto"/>
              </a:rPr>
              <a:t>베르누이</a:t>
            </a:r>
            <a:r>
              <a:rPr lang="en-US" altLang="ko-KR" sz="2000" dirty="0">
                <a:solidFill>
                  <a:srgbClr val="212121"/>
                </a:solidFill>
                <a:latin typeface="Roboto"/>
              </a:rPr>
              <a:t> </a:t>
            </a:r>
            <a:r>
              <a:rPr lang="ko-KR" altLang="en-US" sz="2000" dirty="0">
                <a:solidFill>
                  <a:srgbClr val="212121"/>
                </a:solidFill>
                <a:latin typeface="Roboto"/>
              </a:rPr>
              <a:t>시행</a:t>
            </a:r>
            <a:endParaRPr lang="en-US" altLang="ko-KR" sz="2000" dirty="0">
              <a:solidFill>
                <a:srgbClr val="212121"/>
              </a:solidFill>
              <a:latin typeface="Roboto"/>
            </a:endParaRPr>
          </a:p>
          <a:p>
            <a:r>
              <a:rPr lang="en-US" altLang="ko-KR" sz="2000" dirty="0">
                <a:solidFill>
                  <a:srgbClr val="212121"/>
                </a:solidFill>
                <a:latin typeface="Roboto"/>
              </a:rPr>
              <a:t>Bernoulli distribution</a:t>
            </a:r>
            <a:endParaRPr lang="en-US" altLang="ko-KR" sz="2000" i="0" dirty="0">
              <a:solidFill>
                <a:srgbClr val="212121"/>
              </a:solidFill>
              <a:effectLst/>
              <a:latin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12507561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9A2AAA-395D-04DF-EB0A-F9B81D0FAF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892229D-EE16-1E5B-90DF-46FC56A0FE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26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E1CDE1B-C06C-0D19-2BBA-24EDD1B3F8FA}"/>
              </a:ext>
            </a:extLst>
          </p:cNvPr>
          <p:cNvSpPr txBox="1"/>
          <p:nvPr/>
        </p:nvSpPr>
        <p:spPr>
          <a:xfrm>
            <a:off x="765820" y="1196752"/>
            <a:ext cx="11233248" cy="1512209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+mj-ea"/>
                <a:ea typeface="+mj-ea"/>
              </a:rPr>
              <a:t>동전을 던져서 베르누이</a:t>
            </a:r>
            <a:r>
              <a:rPr lang="en-US" altLang="ko-KR" sz="1600" dirty="0">
                <a:latin typeface="+mj-ea"/>
                <a:ea typeface="+mj-ea"/>
              </a:rPr>
              <a:t> </a:t>
            </a:r>
            <a:r>
              <a:rPr lang="ko-KR" altLang="en-US" sz="1600" dirty="0">
                <a:latin typeface="+mj-ea"/>
                <a:ea typeface="+mj-ea"/>
              </a:rPr>
              <a:t>시행과 이항분포</a:t>
            </a:r>
            <a:r>
              <a:rPr lang="en-US" altLang="ko-KR" sz="1600" dirty="0">
                <a:latin typeface="+mj-ea"/>
                <a:ea typeface="+mj-ea"/>
              </a:rPr>
              <a:t>(N=10</a:t>
            </a:r>
            <a:r>
              <a:rPr lang="ko-KR" altLang="en-US" sz="1600" dirty="0">
                <a:latin typeface="+mj-ea"/>
                <a:ea typeface="+mj-ea"/>
              </a:rPr>
              <a:t>화</a:t>
            </a:r>
            <a:r>
              <a:rPr lang="en-US" altLang="ko-KR" sz="1600" dirty="0">
                <a:latin typeface="+mj-ea"/>
                <a:ea typeface="+mj-ea"/>
              </a:rPr>
              <a:t>)</a:t>
            </a:r>
            <a:r>
              <a:rPr lang="ko-KR" altLang="en-US" sz="1600" dirty="0">
                <a:latin typeface="+mj-ea"/>
                <a:ea typeface="+mj-ea"/>
              </a:rPr>
              <a:t>를 파이썬 코드로 만들고 시각화하자</a:t>
            </a:r>
            <a:endParaRPr lang="en-US" altLang="ko-KR" sz="1600" dirty="0">
              <a:latin typeface="+mj-ea"/>
              <a:ea typeface="+mj-ea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+mj-ea"/>
                <a:ea typeface="+mj-ea"/>
              </a:rPr>
              <a:t>이항분포의 횟수를 </a:t>
            </a:r>
            <a:r>
              <a:rPr lang="en-US" altLang="ko-KR" sz="1600" dirty="0">
                <a:latin typeface="+mj-ea"/>
                <a:ea typeface="+mj-ea"/>
              </a:rPr>
              <a:t>100</a:t>
            </a:r>
            <a:r>
              <a:rPr lang="ko-KR" altLang="en-US" sz="1600" dirty="0">
                <a:latin typeface="+mj-ea"/>
                <a:ea typeface="+mj-ea"/>
              </a:rPr>
              <a:t>번 실험하면 어떤 그래프 모양이 되는지 토론하라</a:t>
            </a:r>
            <a:endParaRPr lang="en-US" altLang="ko-KR" sz="1600" dirty="0">
              <a:latin typeface="+mj-ea"/>
              <a:ea typeface="+mj-ea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+mj-ea"/>
                <a:ea typeface="+mj-ea"/>
              </a:rPr>
              <a:t>from </a:t>
            </a:r>
            <a:r>
              <a:rPr lang="en-US" altLang="ko-KR" sz="1400" dirty="0" err="1">
                <a:latin typeface="+mj-ea"/>
                <a:ea typeface="+mj-ea"/>
              </a:rPr>
              <a:t>scipy.stats</a:t>
            </a:r>
            <a:r>
              <a:rPr lang="en-US" altLang="ko-KR" sz="1400" dirty="0">
                <a:latin typeface="+mj-ea"/>
                <a:ea typeface="+mj-ea"/>
              </a:rPr>
              <a:t> import </a:t>
            </a:r>
            <a:r>
              <a:rPr lang="en-US" altLang="ko-KR" sz="1400" dirty="0" err="1">
                <a:latin typeface="+mj-ea"/>
                <a:ea typeface="+mj-ea"/>
              </a:rPr>
              <a:t>binom</a:t>
            </a:r>
            <a:r>
              <a:rPr lang="en-US" altLang="ko-KR" sz="1400" dirty="0">
                <a:latin typeface="+mj-ea"/>
                <a:ea typeface="+mj-ea"/>
              </a:rPr>
              <a:t>, </a:t>
            </a:r>
            <a:r>
              <a:rPr lang="en-US" altLang="ko-KR" sz="1400" dirty="0" err="1">
                <a:latin typeface="+mj-ea"/>
                <a:ea typeface="+mj-ea"/>
              </a:rPr>
              <a:t>bernoulli</a:t>
            </a:r>
            <a:r>
              <a:rPr lang="en-US" altLang="ko-KR" sz="1400" dirty="0">
                <a:latin typeface="+mj-ea"/>
                <a:ea typeface="+mj-ea"/>
              </a:rPr>
              <a:t> </a:t>
            </a:r>
            <a:r>
              <a:rPr lang="ko-KR" altLang="en-US" sz="1400" dirty="0">
                <a:latin typeface="+mj-ea"/>
                <a:ea typeface="+mj-ea"/>
              </a:rPr>
              <a:t>모듈을 사용하여 코딩과 시각화를 하라</a:t>
            </a:r>
            <a:endParaRPr lang="en-US" altLang="ko-KR" sz="1400" dirty="0">
              <a:latin typeface="+mj-ea"/>
              <a:ea typeface="+mj-ea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+mj-ea"/>
                <a:ea typeface="+mj-ea"/>
              </a:rPr>
              <a:t>동전의 찌그러져 있다면 앞면이 나올 확률이 </a:t>
            </a:r>
            <a:r>
              <a:rPr lang="en-US" altLang="ko-KR" sz="1600" dirty="0">
                <a:latin typeface="+mj-ea"/>
                <a:ea typeface="+mj-ea"/>
              </a:rPr>
              <a:t>0.7</a:t>
            </a:r>
            <a:r>
              <a:rPr lang="ko-KR" altLang="en-US" sz="1600" dirty="0">
                <a:latin typeface="+mj-ea"/>
                <a:ea typeface="+mj-ea"/>
              </a:rPr>
              <a:t>이고 뒷면은 </a:t>
            </a:r>
            <a:r>
              <a:rPr lang="en-US" altLang="ko-KR" sz="1600" dirty="0">
                <a:latin typeface="+mj-ea"/>
                <a:ea typeface="+mj-ea"/>
              </a:rPr>
              <a:t>0.3 </a:t>
            </a:r>
            <a:r>
              <a:rPr lang="ko-KR" altLang="en-US" sz="1600" dirty="0" err="1">
                <a:latin typeface="+mj-ea"/>
                <a:ea typeface="+mj-ea"/>
              </a:rPr>
              <a:t>인경우</a:t>
            </a:r>
            <a:r>
              <a:rPr lang="ko-KR" altLang="en-US" sz="1600" dirty="0">
                <a:latin typeface="+mj-ea"/>
                <a:ea typeface="+mj-ea"/>
              </a:rPr>
              <a:t> 베르누이</a:t>
            </a:r>
            <a:r>
              <a:rPr lang="en-US" altLang="ko-KR" sz="1600" dirty="0">
                <a:latin typeface="+mj-ea"/>
                <a:ea typeface="+mj-ea"/>
              </a:rPr>
              <a:t>, </a:t>
            </a:r>
            <a:r>
              <a:rPr lang="ko-KR" altLang="en-US" sz="1600" dirty="0">
                <a:latin typeface="+mj-ea"/>
                <a:ea typeface="+mj-ea"/>
              </a:rPr>
              <a:t>이항분포</a:t>
            </a:r>
            <a:r>
              <a:rPr lang="en-US" altLang="ko-KR" sz="1600" dirty="0">
                <a:latin typeface="+mj-ea"/>
                <a:ea typeface="+mj-ea"/>
              </a:rPr>
              <a:t>, </a:t>
            </a:r>
            <a:r>
              <a:rPr lang="ko-KR" altLang="en-US" sz="1600" dirty="0">
                <a:latin typeface="+mj-ea"/>
                <a:ea typeface="+mj-ea"/>
              </a:rPr>
              <a:t>정규분포를 만들라</a:t>
            </a:r>
            <a:endParaRPr lang="en-US" altLang="ko-KR" sz="1600" dirty="0">
              <a:latin typeface="+mj-ea"/>
              <a:ea typeface="+mj-ea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9FF8CBB-401C-02EA-2D8A-3655A2CB4CFE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D611C94A-5849-A344-CF5A-DADF35BD68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5820" y="3140968"/>
            <a:ext cx="11233248" cy="30855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5679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27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18542" y="1409428"/>
            <a:ext cx="7136311" cy="4940973"/>
          </a:xfrm>
          <a:prstGeom prst="rect">
            <a:avLst/>
          </a:prstGeom>
        </p:spPr>
      </p:pic>
      <p:pic>
        <p:nvPicPr>
          <p:cNvPr id="10" name="그림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4853" y="1403478"/>
            <a:ext cx="1287365" cy="1602133"/>
          </a:xfrm>
          <a:prstGeom prst="rect">
            <a:avLst/>
          </a:prstGeom>
        </p:spPr>
      </p:pic>
      <p:sp>
        <p:nvSpPr>
          <p:cNvPr id="11" name="직사각형 10"/>
          <p:cNvSpPr/>
          <p:nvPr/>
        </p:nvSpPr>
        <p:spPr>
          <a:xfrm>
            <a:off x="9118748" y="3197708"/>
            <a:ext cx="2593980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100" b="1" i="1" dirty="0">
                <a:solidFill>
                  <a:srgbClr val="333333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Gaussian distribution(</a:t>
            </a:r>
            <a:r>
              <a:rPr lang="ko-KR" altLang="en-US" sz="1100" b="1" i="1" dirty="0" err="1">
                <a:solidFill>
                  <a:srgbClr val="333333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가우시안</a:t>
            </a:r>
            <a:r>
              <a:rPr lang="ko-KR" altLang="en-US" sz="1100" b="1" i="1" dirty="0">
                <a:solidFill>
                  <a:srgbClr val="333333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분포</a:t>
            </a:r>
            <a:r>
              <a:rPr lang="en-US" altLang="ko-KR" sz="1100" b="1" i="1" dirty="0">
                <a:solidFill>
                  <a:srgbClr val="333333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endParaRPr lang="ko-KR" altLang="en-US" sz="11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908FA58-E0E6-EE17-B9B0-C4CB26295C71}"/>
              </a:ext>
            </a:extLst>
          </p:cNvPr>
          <p:cNvSpPr txBox="1"/>
          <p:nvPr/>
        </p:nvSpPr>
        <p:spPr>
          <a:xfrm>
            <a:off x="377313" y="455276"/>
            <a:ext cx="11233248" cy="443198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+mj-ea"/>
                <a:ea typeface="+mj-ea"/>
              </a:rPr>
              <a:t>정규분포와 표준정규분포를 통해 확률을 알 수가 있음</a:t>
            </a:r>
            <a:endParaRPr lang="en-US" altLang="ko-KR" dirty="0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15316118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DA544D-6B52-407A-3C50-AA730AD305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F1071C10-5F52-BBAE-A6FC-685EA26F5E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28</a:t>
            </a:fld>
            <a:endParaRPr lang="en-US" altLang="ko-KR" noProof="0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BC9FF561-0C8D-72AB-7311-E059B5B9E9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5940" y="672064"/>
            <a:ext cx="8150502" cy="57073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1166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29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9836" y="2105444"/>
            <a:ext cx="10081120" cy="425090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251152" y="1537628"/>
            <a:ext cx="149752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6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원자료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/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</a:t>
            </a:r>
            <a:r>
              <a:rPr lang="en-US" altLang="ko-KR" sz="16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Orignal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Data)</a:t>
            </a:r>
            <a:endParaRPr lang="ko-KR" altLang="en-US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92378" y="1537628"/>
            <a:ext cx="180998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평균중심화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/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(Mean Centering)</a:t>
            </a:r>
            <a:endParaRPr lang="ko-KR" altLang="en-US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8990345" y="1537628"/>
            <a:ext cx="175201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표준화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/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(Standardization)</a:t>
            </a:r>
            <a:endParaRPr lang="ko-KR" altLang="en-US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0" name="직선 화살표 연결선 9"/>
          <p:cNvCxnSpPr/>
          <p:nvPr/>
        </p:nvCxnSpPr>
        <p:spPr>
          <a:xfrm>
            <a:off x="4006180" y="1870488"/>
            <a:ext cx="79208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화살표 연결선 10"/>
          <p:cNvCxnSpPr/>
          <p:nvPr/>
        </p:nvCxnSpPr>
        <p:spPr>
          <a:xfrm>
            <a:off x="7678588" y="1860793"/>
            <a:ext cx="79208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2B80EF7-C7C9-069B-B8B2-92D4E34B8356}"/>
                  </a:ext>
                </a:extLst>
              </p:cNvPr>
              <p:cNvSpPr txBox="1"/>
              <p:nvPr/>
            </p:nvSpPr>
            <p:spPr>
              <a:xfrm>
                <a:off x="8728619" y="3454025"/>
                <a:ext cx="2244612" cy="1014317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ko-KR" sz="3200" b="1" i="1" smtClean="0">
                          <a:latin typeface="Cambria Math" panose="02040503050406030204" pitchFamily="18" charset="0"/>
                          <a:ea typeface="휴먼모음T" panose="02030504000101010101" pitchFamily="18" charset="-127"/>
                        </a:rPr>
                        <m:t>𝒁</m:t>
                      </m:r>
                      <m:r>
                        <a:rPr lang="en-US" altLang="ko-KR" sz="3200" b="1" i="1" smtClean="0">
                          <a:latin typeface="Cambria Math" panose="02040503050406030204" pitchFamily="18" charset="0"/>
                          <a:ea typeface="휴먼모음T" panose="02030504000101010101" pitchFamily="18" charset="-127"/>
                        </a:rPr>
                        <m:t>=</m:t>
                      </m:r>
                      <m:f>
                        <m:fPr>
                          <m:ctrlPr>
                            <a:rPr lang="en-US" altLang="ko-KR" sz="3200" b="1" i="1" smtClean="0">
                              <a:latin typeface="Cambria Math" panose="02040503050406030204" pitchFamily="18" charset="0"/>
                              <a:ea typeface="휴먼모음T" panose="02030504000101010101" pitchFamily="18" charset="-127"/>
                            </a:rPr>
                          </m:ctrlPr>
                        </m:fPr>
                        <m:num>
                          <m:r>
                            <a:rPr lang="en-US" altLang="ko-KR" sz="3200" b="1" i="1" smtClean="0">
                              <a:latin typeface="Cambria Math" panose="02040503050406030204" pitchFamily="18" charset="0"/>
                              <a:ea typeface="휴먼모음T" panose="02030504000101010101" pitchFamily="18" charset="-127"/>
                            </a:rPr>
                            <m:t>𝑿</m:t>
                          </m:r>
                          <m:r>
                            <a:rPr lang="en-US" altLang="ko-KR" sz="3200" b="1" i="1" smtClean="0">
                              <a:latin typeface="Cambria Math" panose="02040503050406030204" pitchFamily="18" charset="0"/>
                              <a:ea typeface="휴먼모음T" panose="02030504000101010101" pitchFamily="18" charset="-127"/>
                            </a:rPr>
                            <m:t>− </m:t>
                          </m:r>
                          <m:r>
                            <a:rPr lang="ko-KR" altLang="en-US" sz="3200" b="1" i="1" smtClean="0">
                              <a:latin typeface="Cambria Math" panose="02040503050406030204" pitchFamily="18" charset="0"/>
                              <a:ea typeface="휴먼모음T" panose="02030504000101010101" pitchFamily="18" charset="-127"/>
                            </a:rPr>
                            <m:t>𝝁</m:t>
                          </m:r>
                        </m:num>
                        <m:den>
                          <m:r>
                            <a:rPr lang="ko-KR" altLang="en-US" sz="3200" b="1" i="1" smtClean="0">
                              <a:latin typeface="Cambria Math" panose="02040503050406030204" pitchFamily="18" charset="0"/>
                              <a:ea typeface="휴먼모음T" panose="02030504000101010101" pitchFamily="18" charset="-127"/>
                            </a:rPr>
                            <m:t>𝝈</m:t>
                          </m:r>
                        </m:den>
                      </m:f>
                    </m:oMath>
                  </m:oMathPara>
                </a14:m>
                <a:endParaRPr lang="ko-KR" altLang="en-US" sz="3200" b="1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2B80EF7-C7C9-069B-B8B2-92D4E34B83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28619" y="3454025"/>
                <a:ext cx="2244612" cy="101431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99B7F199-243F-FB77-27CA-BD6E566F6563}"/>
              </a:ext>
            </a:extLst>
          </p:cNvPr>
          <p:cNvSpPr txBox="1"/>
          <p:nvPr/>
        </p:nvSpPr>
        <p:spPr>
          <a:xfrm>
            <a:off x="693812" y="1050968"/>
            <a:ext cx="8928992" cy="414024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원자료를 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Z-scores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로 변경하는 이유와 그 의미는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통계학적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16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머신러닝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관점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토론하자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8ED210D-26A6-52A0-9E74-18213BC7D1FA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C9BC2EC6-7AF8-33B1-DA19-1F42941075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815598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30</a:t>
            </a:fld>
            <a:endParaRPr lang="en-US" altLang="ko-KR" noProof="0" dirty="0"/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3892" y="1700808"/>
            <a:ext cx="9939333" cy="3927050"/>
          </a:xfrm>
          <a:prstGeom prst="rect">
            <a:avLst/>
          </a:prstGeom>
        </p:spPr>
      </p:pic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C43B6103-F76B-2993-97AF-547CED2372B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30516" y="924551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196913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31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89956" y="404664"/>
            <a:ext cx="8611871" cy="60132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39068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32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5860" y="1340768"/>
            <a:ext cx="10224283" cy="43793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68675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33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804" y="1916832"/>
            <a:ext cx="4777171" cy="3275564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0476" y="1916832"/>
            <a:ext cx="4799254" cy="3312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349996" y="1412776"/>
            <a:ext cx="15841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/>
              <a:t>정규분포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08559" y="1412776"/>
            <a:ext cx="15841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표준정규분포</a:t>
            </a:r>
          </a:p>
        </p:txBody>
      </p:sp>
    </p:spTree>
    <p:extLst>
      <p:ext uri="{BB962C8B-B14F-4D97-AF65-F5344CB8AC3E}">
        <p14:creationId xmlns:p14="http://schemas.microsoft.com/office/powerpoint/2010/main" val="7269449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762D7B-D5A9-7BAB-09D6-4DCA08A3D4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6AB87B8-ACF2-AFF1-3536-877FC4D605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34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69571D8-054F-0D37-CB96-591F35F16168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FBA3E3F-F8F2-1985-C326-AC13D02B7964}"/>
              </a:ext>
            </a:extLst>
          </p:cNvPr>
          <p:cNvSpPr txBox="1"/>
          <p:nvPr/>
        </p:nvSpPr>
        <p:spPr>
          <a:xfrm>
            <a:off x="693812" y="1050968"/>
            <a:ext cx="9289032" cy="1020216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from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scipy.stats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 베르누이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이항분포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정규분포 모듈을 호출하여 각 확률분포에서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1,000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개의 데이터를 임의 생성한 후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pmf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pdf,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cdf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각각 구하고 </a:t>
            </a:r>
            <a:r>
              <a:rPr lang="ko-KR" altLang="en-US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시각화하라</a:t>
            </a:r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각 확률분포의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parameters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변경하면서 분포의 모양새의 변화를 아래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코드로 검증하고 확인하라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F43D74B-0DAB-8202-1483-AA0C8AC50B6F}"/>
              </a:ext>
            </a:extLst>
          </p:cNvPr>
          <p:cNvSpPr txBox="1"/>
          <p:nvPr/>
        </p:nvSpPr>
        <p:spPr>
          <a:xfrm>
            <a:off x="693812" y="2354482"/>
            <a:ext cx="4680520" cy="3970318"/>
          </a:xfrm>
          <a:prstGeom prst="rect">
            <a:avLst/>
          </a:prstGeom>
          <a:solidFill>
            <a:srgbClr val="D7E3FF"/>
          </a:solidFill>
        </p:spPr>
        <p:txBody>
          <a:bodyPr wrap="square">
            <a:spAutoFit/>
          </a:bodyPr>
          <a:lstStyle/>
          <a:p>
            <a:r>
              <a:rPr lang="ko-KR" altLang="en-US" sz="1400" dirty="0" err="1">
                <a:latin typeface="Arial Narrow" panose="020B0606020202030204" pitchFamily="34" charset="0"/>
              </a:rPr>
              <a:t>import</a:t>
            </a:r>
            <a:r>
              <a:rPr lang="ko-KR" altLang="en-US" sz="1400" dirty="0">
                <a:latin typeface="Arial Narrow" panose="020B0606020202030204" pitchFamily="34" charset="0"/>
              </a:rPr>
              <a:t> </a:t>
            </a:r>
            <a:r>
              <a:rPr lang="ko-KR" altLang="en-US" sz="1400" dirty="0" err="1">
                <a:latin typeface="Arial Narrow" panose="020B0606020202030204" pitchFamily="34" charset="0"/>
              </a:rPr>
              <a:t>numpy</a:t>
            </a:r>
            <a:r>
              <a:rPr lang="ko-KR" altLang="en-US" sz="1400" dirty="0">
                <a:latin typeface="Arial Narrow" panose="020B0606020202030204" pitchFamily="34" charset="0"/>
              </a:rPr>
              <a:t> </a:t>
            </a:r>
            <a:r>
              <a:rPr lang="ko-KR" altLang="en-US" sz="1400" dirty="0" err="1">
                <a:latin typeface="Arial Narrow" panose="020B0606020202030204" pitchFamily="34" charset="0"/>
              </a:rPr>
              <a:t>as</a:t>
            </a:r>
            <a:r>
              <a:rPr lang="ko-KR" altLang="en-US" sz="1400" dirty="0">
                <a:latin typeface="Arial Narrow" panose="020B0606020202030204" pitchFamily="34" charset="0"/>
              </a:rPr>
              <a:t> </a:t>
            </a:r>
            <a:r>
              <a:rPr lang="ko-KR" altLang="en-US" sz="1400" dirty="0" err="1">
                <a:latin typeface="Arial Narrow" panose="020B0606020202030204" pitchFamily="34" charset="0"/>
              </a:rPr>
              <a:t>np</a:t>
            </a:r>
            <a:endParaRPr lang="ko-KR" altLang="en-US" sz="1400" dirty="0">
              <a:latin typeface="Arial Narrow" panose="020B0606020202030204" pitchFamily="34" charset="0"/>
            </a:endParaRPr>
          </a:p>
          <a:p>
            <a:r>
              <a:rPr lang="ko-KR" altLang="en-US" sz="1400" dirty="0" err="1">
                <a:latin typeface="Arial Narrow" panose="020B0606020202030204" pitchFamily="34" charset="0"/>
              </a:rPr>
              <a:t>import</a:t>
            </a:r>
            <a:r>
              <a:rPr lang="ko-KR" altLang="en-US" sz="1400" dirty="0">
                <a:latin typeface="Arial Narrow" panose="020B0606020202030204" pitchFamily="34" charset="0"/>
              </a:rPr>
              <a:t> </a:t>
            </a:r>
            <a:r>
              <a:rPr lang="ko-KR" altLang="en-US" sz="1400" dirty="0" err="1">
                <a:latin typeface="Arial Narrow" panose="020B0606020202030204" pitchFamily="34" charset="0"/>
              </a:rPr>
              <a:t>matplotlib.pyplot</a:t>
            </a:r>
            <a:r>
              <a:rPr lang="ko-KR" altLang="en-US" sz="1400" dirty="0">
                <a:latin typeface="Arial Narrow" panose="020B0606020202030204" pitchFamily="34" charset="0"/>
              </a:rPr>
              <a:t> </a:t>
            </a:r>
            <a:r>
              <a:rPr lang="ko-KR" altLang="en-US" sz="1400" dirty="0" err="1">
                <a:latin typeface="Arial Narrow" panose="020B0606020202030204" pitchFamily="34" charset="0"/>
              </a:rPr>
              <a:t>as</a:t>
            </a:r>
            <a:r>
              <a:rPr lang="ko-KR" altLang="en-US" sz="1400" dirty="0">
                <a:latin typeface="Arial Narrow" panose="020B0606020202030204" pitchFamily="34" charset="0"/>
              </a:rPr>
              <a:t> </a:t>
            </a:r>
            <a:r>
              <a:rPr lang="ko-KR" altLang="en-US" sz="1400" dirty="0" err="1">
                <a:latin typeface="Arial Narrow" panose="020B0606020202030204" pitchFamily="34" charset="0"/>
              </a:rPr>
              <a:t>plt</a:t>
            </a:r>
            <a:endParaRPr lang="ko-KR" altLang="en-US" sz="1400" dirty="0">
              <a:latin typeface="Arial Narrow" panose="020B0606020202030204" pitchFamily="34" charset="0"/>
            </a:endParaRPr>
          </a:p>
          <a:p>
            <a:r>
              <a:rPr lang="ko-KR" altLang="en-US" sz="1400" b="1" dirty="0" err="1">
                <a:latin typeface="Arial Narrow" panose="020B0606020202030204" pitchFamily="34" charset="0"/>
              </a:rPr>
              <a:t>from</a:t>
            </a:r>
            <a:r>
              <a:rPr lang="ko-KR" altLang="en-US" sz="1400" b="1" dirty="0">
                <a:latin typeface="Arial Narrow" panose="020B0606020202030204" pitchFamily="34" charset="0"/>
              </a:rPr>
              <a:t>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scipy.stats</a:t>
            </a:r>
            <a:r>
              <a:rPr lang="ko-KR" altLang="en-US" sz="1400" b="1" dirty="0">
                <a:latin typeface="Arial Narrow" panose="020B0606020202030204" pitchFamily="34" charset="0"/>
              </a:rPr>
              <a:t>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import</a:t>
            </a:r>
            <a:r>
              <a:rPr lang="ko-KR" altLang="en-US" sz="1400" b="1" dirty="0">
                <a:latin typeface="Arial Narrow" panose="020B0606020202030204" pitchFamily="34" charset="0"/>
              </a:rPr>
              <a:t>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bernoulli</a:t>
            </a:r>
            <a:r>
              <a:rPr lang="ko-KR" altLang="en-US" sz="1400" b="1" dirty="0">
                <a:latin typeface="Arial Narrow" panose="020B0606020202030204" pitchFamily="34" charset="0"/>
              </a:rPr>
              <a:t>,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binom</a:t>
            </a:r>
            <a:r>
              <a:rPr lang="ko-KR" altLang="en-US" sz="1400" b="1" dirty="0">
                <a:latin typeface="Arial Narrow" panose="020B0606020202030204" pitchFamily="34" charset="0"/>
              </a:rPr>
              <a:t>,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norm</a:t>
            </a:r>
            <a:endParaRPr lang="ko-KR" altLang="en-US" sz="1400" b="1" dirty="0">
              <a:latin typeface="Arial Narrow" panose="020B0606020202030204" pitchFamily="34" charset="0"/>
            </a:endParaRPr>
          </a:p>
          <a:p>
            <a:endParaRPr lang="ko-KR" altLang="en-US" sz="1400" dirty="0">
              <a:latin typeface="Arial Narrow" panose="020B0606020202030204" pitchFamily="34" charset="0"/>
            </a:endParaRPr>
          </a:p>
          <a:p>
            <a:r>
              <a:rPr lang="ko-KR" altLang="en-US" sz="1400" dirty="0">
                <a:latin typeface="Arial Narrow" panose="020B0606020202030204" pitchFamily="34" charset="0"/>
              </a:rPr>
              <a:t># 설정: 샘플 수 1000개</a:t>
            </a:r>
          </a:p>
          <a:p>
            <a:r>
              <a:rPr lang="ko-KR" altLang="en-US" sz="1400" dirty="0" err="1">
                <a:latin typeface="Arial Narrow" panose="020B0606020202030204" pitchFamily="34" charset="0"/>
              </a:rPr>
              <a:t>n_samples</a:t>
            </a:r>
            <a:r>
              <a:rPr lang="ko-KR" altLang="en-US" sz="1400" dirty="0">
                <a:latin typeface="Arial Narrow" panose="020B0606020202030204" pitchFamily="34" charset="0"/>
              </a:rPr>
              <a:t> = 1000</a:t>
            </a:r>
          </a:p>
          <a:p>
            <a:r>
              <a:rPr lang="ko-KR" altLang="en-US" sz="1400" dirty="0">
                <a:latin typeface="Arial Narrow" panose="020B0606020202030204" pitchFamily="34" charset="0"/>
              </a:rPr>
              <a:t># 1. 베르누이 분포 (</a:t>
            </a:r>
            <a:r>
              <a:rPr lang="ko-KR" altLang="en-US" sz="1400" dirty="0" err="1">
                <a:latin typeface="Arial Narrow" panose="020B0606020202030204" pitchFamily="34" charset="0"/>
              </a:rPr>
              <a:t>p</a:t>
            </a:r>
            <a:r>
              <a:rPr lang="ko-KR" altLang="en-US" sz="1400" dirty="0">
                <a:latin typeface="Arial Narrow" panose="020B0606020202030204" pitchFamily="34" charset="0"/>
              </a:rPr>
              <a:t>=0.</a:t>
            </a:r>
            <a:r>
              <a:rPr lang="en-US" altLang="ko-KR" sz="1400" dirty="0">
                <a:latin typeface="Arial Narrow" panose="020B0606020202030204" pitchFamily="34" charset="0"/>
              </a:rPr>
              <a:t>5</a:t>
            </a:r>
            <a:r>
              <a:rPr lang="ko-KR" altLang="en-US" sz="1400" dirty="0">
                <a:latin typeface="Arial Narrow" panose="020B0606020202030204" pitchFamily="34" charset="0"/>
              </a:rPr>
              <a:t>) </a:t>
            </a:r>
            <a:r>
              <a:rPr lang="en-US" altLang="ko-KR" sz="1400" dirty="0">
                <a:latin typeface="Arial Narrow" panose="020B0606020202030204" pitchFamily="34" charset="0"/>
              </a:rPr>
              <a:t>: parameter</a:t>
            </a:r>
            <a:endParaRPr lang="ko-KR" altLang="en-US" sz="1400" dirty="0">
              <a:latin typeface="Arial Narrow" panose="020B0606020202030204" pitchFamily="34" charset="0"/>
            </a:endParaRPr>
          </a:p>
          <a:p>
            <a:r>
              <a:rPr lang="ko-KR" altLang="en-US" sz="1400" b="1" dirty="0" err="1">
                <a:latin typeface="Arial Narrow" panose="020B0606020202030204" pitchFamily="34" charset="0"/>
              </a:rPr>
              <a:t>p_bern</a:t>
            </a:r>
            <a:r>
              <a:rPr lang="ko-KR" altLang="en-US" sz="1400" b="1" dirty="0">
                <a:latin typeface="Arial Narrow" panose="020B0606020202030204" pitchFamily="34" charset="0"/>
              </a:rPr>
              <a:t> = 0.</a:t>
            </a:r>
            <a:r>
              <a:rPr lang="en-US" altLang="ko-KR" sz="1400" b="1" dirty="0">
                <a:latin typeface="Arial Narrow" panose="020B0606020202030204" pitchFamily="34" charset="0"/>
              </a:rPr>
              <a:t>5</a:t>
            </a:r>
            <a:endParaRPr lang="ko-KR" altLang="en-US" sz="1400" b="1" dirty="0">
              <a:latin typeface="Arial Narrow" panose="020B0606020202030204" pitchFamily="34" charset="0"/>
            </a:endParaRPr>
          </a:p>
          <a:p>
            <a:r>
              <a:rPr lang="ko-KR" altLang="en-US" sz="1400" dirty="0" err="1">
                <a:latin typeface="Arial Narrow" panose="020B0606020202030204" pitchFamily="34" charset="0"/>
              </a:rPr>
              <a:t>data_bern</a:t>
            </a:r>
            <a:r>
              <a:rPr lang="ko-KR" altLang="en-US" sz="1400" dirty="0">
                <a:latin typeface="Arial Narrow" panose="020B0606020202030204" pitchFamily="34" charset="0"/>
              </a:rPr>
              <a:t> =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bernoulli.rvs</a:t>
            </a:r>
            <a:r>
              <a:rPr lang="ko-KR" altLang="en-US" sz="1400" b="1" dirty="0">
                <a:latin typeface="Arial Narrow" panose="020B0606020202030204" pitchFamily="34" charset="0"/>
              </a:rPr>
              <a:t>(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p_bern</a:t>
            </a:r>
            <a:r>
              <a:rPr lang="ko-KR" altLang="en-US" sz="1400" b="1" dirty="0">
                <a:latin typeface="Arial Narrow" panose="020B0606020202030204" pitchFamily="34" charset="0"/>
              </a:rPr>
              <a:t>,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size</a:t>
            </a:r>
            <a:r>
              <a:rPr lang="ko-KR" altLang="en-US" sz="1400" b="1" dirty="0">
                <a:latin typeface="Arial Narrow" panose="020B0606020202030204" pitchFamily="34" charset="0"/>
              </a:rPr>
              <a:t>=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n_samples</a:t>
            </a:r>
            <a:r>
              <a:rPr lang="ko-KR" altLang="en-US" sz="1400" b="1" dirty="0">
                <a:latin typeface="Arial Narrow" panose="020B0606020202030204" pitchFamily="34" charset="0"/>
              </a:rPr>
              <a:t>)</a:t>
            </a:r>
          </a:p>
          <a:p>
            <a:r>
              <a:rPr lang="ko-KR" altLang="en-US" sz="1400" dirty="0" err="1">
                <a:latin typeface="Arial Narrow" panose="020B0606020202030204" pitchFamily="34" charset="0"/>
              </a:rPr>
              <a:t>x_bern</a:t>
            </a:r>
            <a:r>
              <a:rPr lang="ko-KR" altLang="en-US" sz="1400" dirty="0">
                <a:latin typeface="Arial Narrow" panose="020B0606020202030204" pitchFamily="34" charset="0"/>
              </a:rPr>
              <a:t> = [0, 1]</a:t>
            </a:r>
          </a:p>
          <a:p>
            <a:r>
              <a:rPr lang="ko-KR" altLang="en-US" sz="1400" dirty="0">
                <a:latin typeface="Arial Narrow" panose="020B0606020202030204" pitchFamily="34" charset="0"/>
              </a:rPr>
              <a:t># 2. 이항 분포 (</a:t>
            </a:r>
            <a:r>
              <a:rPr lang="ko-KR" altLang="en-US" sz="1400" dirty="0" err="1">
                <a:latin typeface="Arial Narrow" panose="020B0606020202030204" pitchFamily="34" charset="0"/>
              </a:rPr>
              <a:t>n</a:t>
            </a:r>
            <a:r>
              <a:rPr lang="ko-KR" altLang="en-US" sz="1400" dirty="0">
                <a:latin typeface="Arial Narrow" panose="020B0606020202030204" pitchFamily="34" charset="0"/>
              </a:rPr>
              <a:t>=10, </a:t>
            </a:r>
            <a:r>
              <a:rPr lang="ko-KR" altLang="en-US" sz="1400" dirty="0" err="1">
                <a:latin typeface="Arial Narrow" panose="020B0606020202030204" pitchFamily="34" charset="0"/>
              </a:rPr>
              <a:t>p</a:t>
            </a:r>
            <a:r>
              <a:rPr lang="ko-KR" altLang="en-US" sz="1400" dirty="0">
                <a:latin typeface="Arial Narrow" panose="020B0606020202030204" pitchFamily="34" charset="0"/>
              </a:rPr>
              <a:t>=0.5) </a:t>
            </a:r>
            <a:r>
              <a:rPr lang="en-US" altLang="ko-KR" sz="1400" dirty="0">
                <a:latin typeface="Arial Narrow" panose="020B0606020202030204" pitchFamily="34" charset="0"/>
              </a:rPr>
              <a:t>: parameter</a:t>
            </a:r>
            <a:endParaRPr lang="ko-KR" altLang="en-US" sz="1400" dirty="0">
              <a:latin typeface="Arial Narrow" panose="020B0606020202030204" pitchFamily="34" charset="0"/>
            </a:endParaRPr>
          </a:p>
          <a:p>
            <a:r>
              <a:rPr lang="ko-KR" altLang="en-US" sz="1400" b="1" dirty="0" err="1">
                <a:latin typeface="Arial Narrow" panose="020B0606020202030204" pitchFamily="34" charset="0"/>
              </a:rPr>
              <a:t>n_bin</a:t>
            </a:r>
            <a:r>
              <a:rPr lang="ko-KR" altLang="en-US" sz="1400" b="1" dirty="0">
                <a:latin typeface="Arial Narrow" panose="020B0606020202030204" pitchFamily="34" charset="0"/>
              </a:rPr>
              <a:t>,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p_bin</a:t>
            </a:r>
            <a:r>
              <a:rPr lang="ko-KR" altLang="en-US" sz="1400" b="1" dirty="0">
                <a:latin typeface="Arial Narrow" panose="020B0606020202030204" pitchFamily="34" charset="0"/>
              </a:rPr>
              <a:t> = 10, 0.5</a:t>
            </a:r>
          </a:p>
          <a:p>
            <a:r>
              <a:rPr lang="ko-KR" altLang="en-US" sz="1400" dirty="0" err="1">
                <a:latin typeface="Arial Narrow" panose="020B0606020202030204" pitchFamily="34" charset="0"/>
              </a:rPr>
              <a:t>data_bin</a:t>
            </a:r>
            <a:r>
              <a:rPr lang="ko-KR" altLang="en-US" sz="1400" dirty="0">
                <a:latin typeface="Arial Narrow" panose="020B0606020202030204" pitchFamily="34" charset="0"/>
              </a:rPr>
              <a:t> =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binom.rvs</a:t>
            </a:r>
            <a:r>
              <a:rPr lang="ko-KR" altLang="en-US" sz="1400" b="1" dirty="0">
                <a:latin typeface="Arial Narrow" panose="020B0606020202030204" pitchFamily="34" charset="0"/>
              </a:rPr>
              <a:t>(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n_bin</a:t>
            </a:r>
            <a:r>
              <a:rPr lang="ko-KR" altLang="en-US" sz="1400" b="1" dirty="0">
                <a:latin typeface="Arial Narrow" panose="020B0606020202030204" pitchFamily="34" charset="0"/>
              </a:rPr>
              <a:t>,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p_bin</a:t>
            </a:r>
            <a:r>
              <a:rPr lang="ko-KR" altLang="en-US" sz="1400" b="1" dirty="0">
                <a:latin typeface="Arial Narrow" panose="020B0606020202030204" pitchFamily="34" charset="0"/>
              </a:rPr>
              <a:t>,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size</a:t>
            </a:r>
            <a:r>
              <a:rPr lang="ko-KR" altLang="en-US" sz="1400" b="1" dirty="0">
                <a:latin typeface="Arial Narrow" panose="020B0606020202030204" pitchFamily="34" charset="0"/>
              </a:rPr>
              <a:t>=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n_samples</a:t>
            </a:r>
            <a:r>
              <a:rPr lang="ko-KR" altLang="en-US" sz="1400" b="1" dirty="0">
                <a:latin typeface="Arial Narrow" panose="020B0606020202030204" pitchFamily="34" charset="0"/>
              </a:rPr>
              <a:t>)</a:t>
            </a:r>
          </a:p>
          <a:p>
            <a:r>
              <a:rPr lang="ko-KR" altLang="en-US" sz="1400" dirty="0" err="1">
                <a:latin typeface="Arial Narrow" panose="020B0606020202030204" pitchFamily="34" charset="0"/>
              </a:rPr>
              <a:t>x_bin</a:t>
            </a:r>
            <a:r>
              <a:rPr lang="ko-KR" altLang="en-US" sz="1400" dirty="0">
                <a:latin typeface="Arial Narrow" panose="020B0606020202030204" pitchFamily="34" charset="0"/>
              </a:rPr>
              <a:t> = </a:t>
            </a:r>
            <a:r>
              <a:rPr lang="ko-KR" altLang="en-US" sz="1400" dirty="0" err="1">
                <a:latin typeface="Arial Narrow" panose="020B0606020202030204" pitchFamily="34" charset="0"/>
              </a:rPr>
              <a:t>np.arange</a:t>
            </a:r>
            <a:r>
              <a:rPr lang="ko-KR" altLang="en-US" sz="1400" dirty="0">
                <a:latin typeface="Arial Narrow" panose="020B0606020202030204" pitchFamily="34" charset="0"/>
              </a:rPr>
              <a:t>(0, </a:t>
            </a:r>
            <a:r>
              <a:rPr lang="ko-KR" altLang="en-US" sz="1400" dirty="0" err="1">
                <a:latin typeface="Arial Narrow" panose="020B0606020202030204" pitchFamily="34" charset="0"/>
              </a:rPr>
              <a:t>n_bin</a:t>
            </a:r>
            <a:r>
              <a:rPr lang="ko-KR" altLang="en-US" sz="1400" dirty="0">
                <a:latin typeface="Arial Narrow" panose="020B0606020202030204" pitchFamily="34" charset="0"/>
              </a:rPr>
              <a:t> + 1)</a:t>
            </a:r>
          </a:p>
          <a:p>
            <a:r>
              <a:rPr lang="ko-KR" altLang="en-US" sz="1400" dirty="0">
                <a:latin typeface="Arial Narrow" panose="020B0606020202030204" pitchFamily="34" charset="0"/>
              </a:rPr>
              <a:t># 3. 정규 분포 (</a:t>
            </a:r>
            <a:r>
              <a:rPr lang="ko-KR" altLang="en-US" sz="1400" dirty="0" err="1">
                <a:latin typeface="Arial Narrow" panose="020B0606020202030204" pitchFamily="34" charset="0"/>
              </a:rPr>
              <a:t>mu</a:t>
            </a:r>
            <a:r>
              <a:rPr lang="ko-KR" altLang="en-US" sz="1400" dirty="0">
                <a:latin typeface="Arial Narrow" panose="020B0606020202030204" pitchFamily="34" charset="0"/>
              </a:rPr>
              <a:t>=0, </a:t>
            </a:r>
            <a:r>
              <a:rPr lang="ko-KR" altLang="en-US" sz="1400" dirty="0" err="1">
                <a:latin typeface="Arial Narrow" panose="020B0606020202030204" pitchFamily="34" charset="0"/>
              </a:rPr>
              <a:t>sigma</a:t>
            </a:r>
            <a:r>
              <a:rPr lang="ko-KR" altLang="en-US" sz="1400" dirty="0">
                <a:latin typeface="Arial Narrow" panose="020B0606020202030204" pitchFamily="34" charset="0"/>
              </a:rPr>
              <a:t>=1) </a:t>
            </a:r>
            <a:r>
              <a:rPr lang="en-US" altLang="ko-KR" sz="1400" dirty="0">
                <a:latin typeface="Arial Narrow" panose="020B0606020202030204" pitchFamily="34" charset="0"/>
              </a:rPr>
              <a:t>: parameter</a:t>
            </a:r>
            <a:endParaRPr lang="ko-KR" altLang="en-US" sz="1400" dirty="0">
              <a:latin typeface="Arial Narrow" panose="020B0606020202030204" pitchFamily="34" charset="0"/>
            </a:endParaRPr>
          </a:p>
          <a:p>
            <a:r>
              <a:rPr lang="ko-KR" altLang="en-US" sz="1400" b="1" dirty="0" err="1">
                <a:latin typeface="Arial Narrow" panose="020B0606020202030204" pitchFamily="34" charset="0"/>
              </a:rPr>
              <a:t>mu</a:t>
            </a:r>
            <a:r>
              <a:rPr lang="ko-KR" altLang="en-US" sz="1400" b="1" dirty="0">
                <a:latin typeface="Arial Narrow" panose="020B0606020202030204" pitchFamily="34" charset="0"/>
              </a:rPr>
              <a:t>,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std</a:t>
            </a:r>
            <a:r>
              <a:rPr lang="ko-KR" altLang="en-US" sz="1400" b="1" dirty="0">
                <a:latin typeface="Arial Narrow" panose="020B0606020202030204" pitchFamily="34" charset="0"/>
              </a:rPr>
              <a:t> = 0, 1</a:t>
            </a:r>
          </a:p>
          <a:p>
            <a:r>
              <a:rPr lang="ko-KR" altLang="en-US" sz="1400" dirty="0" err="1">
                <a:latin typeface="Arial Narrow" panose="020B0606020202030204" pitchFamily="34" charset="0"/>
              </a:rPr>
              <a:t>data_norm</a:t>
            </a:r>
            <a:r>
              <a:rPr lang="ko-KR" altLang="en-US" sz="1400" dirty="0">
                <a:latin typeface="Arial Narrow" panose="020B0606020202030204" pitchFamily="34" charset="0"/>
              </a:rPr>
              <a:t> =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norm.rvs</a:t>
            </a:r>
            <a:r>
              <a:rPr lang="ko-KR" altLang="en-US" sz="1400" b="1" dirty="0">
                <a:latin typeface="Arial Narrow" panose="020B0606020202030204" pitchFamily="34" charset="0"/>
              </a:rPr>
              <a:t>(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mu</a:t>
            </a:r>
            <a:r>
              <a:rPr lang="ko-KR" altLang="en-US" sz="1400" b="1" dirty="0">
                <a:latin typeface="Arial Narrow" panose="020B0606020202030204" pitchFamily="34" charset="0"/>
              </a:rPr>
              <a:t>,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std</a:t>
            </a:r>
            <a:r>
              <a:rPr lang="ko-KR" altLang="en-US" sz="1400" b="1" dirty="0">
                <a:latin typeface="Arial Narrow" panose="020B0606020202030204" pitchFamily="34" charset="0"/>
              </a:rPr>
              <a:t>,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size</a:t>
            </a:r>
            <a:r>
              <a:rPr lang="ko-KR" altLang="en-US" sz="1400" b="1" dirty="0">
                <a:latin typeface="Arial Narrow" panose="020B0606020202030204" pitchFamily="34" charset="0"/>
              </a:rPr>
              <a:t>=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n_samples</a:t>
            </a:r>
            <a:r>
              <a:rPr lang="ko-KR" altLang="en-US" sz="1400" b="1" dirty="0">
                <a:latin typeface="Arial Narrow" panose="020B0606020202030204" pitchFamily="34" charset="0"/>
              </a:rPr>
              <a:t>)</a:t>
            </a:r>
          </a:p>
          <a:p>
            <a:r>
              <a:rPr lang="ko-KR" altLang="en-US" sz="1400" dirty="0" err="1">
                <a:latin typeface="Arial Narrow" panose="020B0606020202030204" pitchFamily="34" charset="0"/>
              </a:rPr>
              <a:t>x_norm</a:t>
            </a:r>
            <a:r>
              <a:rPr lang="ko-KR" altLang="en-US" sz="1400" dirty="0">
                <a:latin typeface="Arial Narrow" panose="020B0606020202030204" pitchFamily="34" charset="0"/>
              </a:rPr>
              <a:t> = </a:t>
            </a:r>
            <a:r>
              <a:rPr lang="ko-KR" altLang="en-US" sz="1400" dirty="0" err="1">
                <a:latin typeface="Arial Narrow" panose="020B0606020202030204" pitchFamily="34" charset="0"/>
              </a:rPr>
              <a:t>np.linspace</a:t>
            </a:r>
            <a:r>
              <a:rPr lang="ko-KR" altLang="en-US" sz="1400" dirty="0">
                <a:latin typeface="Arial Narrow" panose="020B0606020202030204" pitchFamily="34" charset="0"/>
              </a:rPr>
              <a:t>(-4, 4, 100)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A3219CE-EFFA-23AF-B60B-6B6A6F1C1B09}"/>
              </a:ext>
            </a:extLst>
          </p:cNvPr>
          <p:cNvSpPr txBox="1"/>
          <p:nvPr/>
        </p:nvSpPr>
        <p:spPr>
          <a:xfrm>
            <a:off x="5518349" y="2339583"/>
            <a:ext cx="5688632" cy="4185761"/>
          </a:xfrm>
          <a:prstGeom prst="rect">
            <a:avLst/>
          </a:prstGeom>
          <a:solidFill>
            <a:srgbClr val="D7E3FF"/>
          </a:solidFill>
        </p:spPr>
        <p:txBody>
          <a:bodyPr wrap="square">
            <a:spAutoFit/>
          </a:bodyPr>
          <a:lstStyle/>
          <a:p>
            <a:r>
              <a:rPr lang="ko-KR" altLang="en-US" sz="1400" dirty="0" err="1">
                <a:latin typeface="Arial Narrow" panose="020B0606020202030204" pitchFamily="34" charset="0"/>
              </a:rPr>
              <a:t>fig</a:t>
            </a:r>
            <a:r>
              <a:rPr lang="ko-KR" altLang="en-US" sz="1400" dirty="0">
                <a:latin typeface="Arial Narrow" panose="020B0606020202030204" pitchFamily="34" charset="0"/>
              </a:rPr>
              <a:t>, </a:t>
            </a:r>
            <a:r>
              <a:rPr lang="ko-KR" altLang="en-US" sz="1400" dirty="0" err="1">
                <a:latin typeface="Arial Narrow" panose="020B0606020202030204" pitchFamily="34" charset="0"/>
              </a:rPr>
              <a:t>axes</a:t>
            </a:r>
            <a:r>
              <a:rPr lang="ko-KR" altLang="en-US" sz="1400" dirty="0">
                <a:latin typeface="Arial Narrow" panose="020B0606020202030204" pitchFamily="34" charset="0"/>
              </a:rPr>
              <a:t> = </a:t>
            </a:r>
            <a:r>
              <a:rPr lang="ko-KR" altLang="en-US" sz="1400" dirty="0" err="1">
                <a:latin typeface="Arial Narrow" panose="020B0606020202030204" pitchFamily="34" charset="0"/>
              </a:rPr>
              <a:t>plt.subplots</a:t>
            </a:r>
            <a:r>
              <a:rPr lang="ko-KR" altLang="en-US" sz="1400" dirty="0">
                <a:latin typeface="Arial Narrow" panose="020B0606020202030204" pitchFamily="34" charset="0"/>
              </a:rPr>
              <a:t>(3, 2, </a:t>
            </a:r>
            <a:r>
              <a:rPr lang="ko-KR" altLang="en-US" sz="1400" dirty="0" err="1">
                <a:latin typeface="Arial Narrow" panose="020B0606020202030204" pitchFamily="34" charset="0"/>
              </a:rPr>
              <a:t>figsize</a:t>
            </a:r>
            <a:r>
              <a:rPr lang="ko-KR" altLang="en-US" sz="1400" dirty="0">
                <a:latin typeface="Arial Narrow" panose="020B0606020202030204" pitchFamily="34" charset="0"/>
              </a:rPr>
              <a:t>=(1</a:t>
            </a:r>
            <a:r>
              <a:rPr lang="en-US" altLang="ko-KR" sz="1400" dirty="0">
                <a:latin typeface="Arial Narrow" panose="020B0606020202030204" pitchFamily="34" charset="0"/>
              </a:rPr>
              <a:t>0</a:t>
            </a:r>
            <a:r>
              <a:rPr lang="ko-KR" altLang="en-US" sz="1400" dirty="0">
                <a:latin typeface="Arial Narrow" panose="020B0606020202030204" pitchFamily="34" charset="0"/>
              </a:rPr>
              <a:t>, 1</a:t>
            </a:r>
            <a:r>
              <a:rPr lang="en-US" altLang="ko-KR" sz="1400" dirty="0">
                <a:latin typeface="Arial Narrow" panose="020B0606020202030204" pitchFamily="34" charset="0"/>
              </a:rPr>
              <a:t>0</a:t>
            </a:r>
            <a:r>
              <a:rPr lang="ko-KR" altLang="en-US" sz="1400" dirty="0">
                <a:latin typeface="Arial Narrow" panose="020B0606020202030204" pitchFamily="34" charset="0"/>
              </a:rPr>
              <a:t>))</a:t>
            </a:r>
          </a:p>
          <a:p>
            <a:endParaRPr lang="en-US" altLang="ko-KR" sz="1400" dirty="0">
              <a:latin typeface="Arial Narrow" panose="020B0606020202030204" pitchFamily="34" charset="0"/>
            </a:endParaRPr>
          </a:p>
          <a:p>
            <a:r>
              <a:rPr lang="en-US" altLang="ko-KR" sz="1400" dirty="0">
                <a:latin typeface="Arial Narrow" panose="020B0606020202030204" pitchFamily="34" charset="0"/>
              </a:rPr>
              <a:t># --- Bernoulli ---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axes[0, 0].bar(</a:t>
            </a:r>
            <a:r>
              <a:rPr lang="en-US" altLang="ko-KR" sz="1400" dirty="0" err="1">
                <a:latin typeface="Arial Narrow" panose="020B0606020202030204" pitchFamily="34" charset="0"/>
              </a:rPr>
              <a:t>x_bern</a:t>
            </a:r>
            <a:r>
              <a:rPr lang="en-US" altLang="ko-KR" sz="1400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bernoulli.pmf</a:t>
            </a:r>
            <a:r>
              <a:rPr lang="en-US" altLang="ko-KR" sz="1400" b="1" dirty="0">
                <a:latin typeface="Arial Narrow" panose="020B0606020202030204" pitchFamily="34" charset="0"/>
              </a:rPr>
              <a:t>(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x_bern</a:t>
            </a:r>
            <a:r>
              <a:rPr lang="en-US" altLang="ko-KR" sz="1400" b="1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p_bern</a:t>
            </a:r>
            <a:r>
              <a:rPr lang="en-US" altLang="ko-KR" sz="1400" b="1" dirty="0">
                <a:latin typeface="Arial Narrow" panose="020B0606020202030204" pitchFamily="34" charset="0"/>
              </a:rPr>
              <a:t>)</a:t>
            </a:r>
            <a:r>
              <a:rPr lang="en-US" altLang="ko-KR" sz="1400" dirty="0">
                <a:latin typeface="Arial Narrow" panose="020B0606020202030204" pitchFamily="34" charset="0"/>
              </a:rPr>
              <a:t>, color='</a:t>
            </a:r>
            <a:r>
              <a:rPr lang="en-US" altLang="ko-KR" sz="1400" dirty="0" err="1">
                <a:latin typeface="Arial Narrow" panose="020B0606020202030204" pitchFamily="34" charset="0"/>
              </a:rPr>
              <a:t>skyblue</a:t>
            </a:r>
            <a:r>
              <a:rPr lang="en-US" altLang="ko-KR" sz="1400" dirty="0">
                <a:latin typeface="Arial Narrow" panose="020B0606020202030204" pitchFamily="34" charset="0"/>
              </a:rPr>
              <a:t>')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axes[0, 0].</a:t>
            </a:r>
            <a:r>
              <a:rPr lang="en-US" altLang="ko-KR" sz="1400" dirty="0" err="1">
                <a:latin typeface="Arial Narrow" panose="020B0606020202030204" pitchFamily="34" charset="0"/>
              </a:rPr>
              <a:t>set_title</a:t>
            </a:r>
            <a:r>
              <a:rPr lang="en-US" altLang="ko-KR" sz="1400" dirty="0">
                <a:latin typeface="Arial Narrow" panose="020B0606020202030204" pitchFamily="34" charset="0"/>
              </a:rPr>
              <a:t>(</a:t>
            </a:r>
            <a:r>
              <a:rPr lang="en-US" altLang="ko-KR" sz="1400" dirty="0" err="1">
                <a:latin typeface="Arial Narrow" panose="020B0606020202030204" pitchFamily="34" charset="0"/>
              </a:rPr>
              <a:t>f"Bernoulli</a:t>
            </a:r>
            <a:r>
              <a:rPr lang="en-US" altLang="ko-KR" sz="1400" dirty="0">
                <a:latin typeface="Arial Narrow" panose="020B0606020202030204" pitchFamily="34" charset="0"/>
              </a:rPr>
              <a:t> PMF (p={</a:t>
            </a:r>
            <a:r>
              <a:rPr lang="en-US" altLang="ko-KR" sz="1400" dirty="0" err="1">
                <a:latin typeface="Arial Narrow" panose="020B0606020202030204" pitchFamily="34" charset="0"/>
              </a:rPr>
              <a:t>p_bern</a:t>
            </a:r>
            <a:r>
              <a:rPr lang="en-US" altLang="ko-KR" sz="1400" dirty="0">
                <a:latin typeface="Arial Narrow" panose="020B0606020202030204" pitchFamily="34" charset="0"/>
              </a:rPr>
              <a:t>})")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axes[0, 1].step(</a:t>
            </a:r>
            <a:r>
              <a:rPr lang="en-US" altLang="ko-KR" sz="1400" dirty="0" err="1">
                <a:latin typeface="Arial Narrow" panose="020B0606020202030204" pitchFamily="34" charset="0"/>
              </a:rPr>
              <a:t>x_bern</a:t>
            </a:r>
            <a:r>
              <a:rPr lang="en-US" altLang="ko-KR" sz="1400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bernoulli.cdf</a:t>
            </a:r>
            <a:r>
              <a:rPr lang="en-US" altLang="ko-KR" sz="1400" b="1" dirty="0">
                <a:latin typeface="Arial Narrow" panose="020B0606020202030204" pitchFamily="34" charset="0"/>
              </a:rPr>
              <a:t>(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x_bern</a:t>
            </a:r>
            <a:r>
              <a:rPr lang="en-US" altLang="ko-KR" sz="1400" b="1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p_bern</a:t>
            </a:r>
            <a:r>
              <a:rPr lang="en-US" altLang="ko-KR" sz="1400" b="1" dirty="0">
                <a:latin typeface="Arial Narrow" panose="020B0606020202030204" pitchFamily="34" charset="0"/>
              </a:rPr>
              <a:t>)</a:t>
            </a:r>
            <a:r>
              <a:rPr lang="en-US" altLang="ko-KR" sz="1400" dirty="0">
                <a:latin typeface="Arial Narrow" panose="020B0606020202030204" pitchFamily="34" charset="0"/>
              </a:rPr>
              <a:t>, where='post', color='blue')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axes[0, 1].</a:t>
            </a:r>
            <a:r>
              <a:rPr lang="en-US" altLang="ko-KR" sz="1400" dirty="0" err="1">
                <a:latin typeface="Arial Narrow" panose="020B0606020202030204" pitchFamily="34" charset="0"/>
              </a:rPr>
              <a:t>set_title</a:t>
            </a:r>
            <a:r>
              <a:rPr lang="en-US" altLang="ko-KR" sz="1400" dirty="0">
                <a:latin typeface="Arial Narrow" panose="020B0606020202030204" pitchFamily="34" charset="0"/>
              </a:rPr>
              <a:t>("Bernoulli CDF")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# --- Binomial ---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axes[1, 0].bar(</a:t>
            </a:r>
            <a:r>
              <a:rPr lang="en-US" altLang="ko-KR" sz="1400" dirty="0" err="1">
                <a:latin typeface="Arial Narrow" panose="020B0606020202030204" pitchFamily="34" charset="0"/>
              </a:rPr>
              <a:t>x_bin</a:t>
            </a:r>
            <a:r>
              <a:rPr lang="en-US" altLang="ko-KR" sz="1400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binom.pmf</a:t>
            </a:r>
            <a:r>
              <a:rPr lang="en-US" altLang="ko-KR" sz="1400" b="1" dirty="0">
                <a:latin typeface="Arial Narrow" panose="020B0606020202030204" pitchFamily="34" charset="0"/>
              </a:rPr>
              <a:t>(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x_bin</a:t>
            </a:r>
            <a:r>
              <a:rPr lang="en-US" altLang="ko-KR" sz="1400" b="1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n_bin</a:t>
            </a:r>
            <a:r>
              <a:rPr lang="en-US" altLang="ko-KR" sz="1400" b="1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p_bin</a:t>
            </a:r>
            <a:r>
              <a:rPr lang="en-US" altLang="ko-KR" sz="1400" b="1" dirty="0">
                <a:latin typeface="Arial Narrow" panose="020B0606020202030204" pitchFamily="34" charset="0"/>
              </a:rPr>
              <a:t>)</a:t>
            </a:r>
            <a:r>
              <a:rPr lang="en-US" altLang="ko-KR" sz="1400" dirty="0">
                <a:latin typeface="Arial Narrow" panose="020B0606020202030204" pitchFamily="34" charset="0"/>
              </a:rPr>
              <a:t>, color='salmon')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axes[1, 0].</a:t>
            </a:r>
            <a:r>
              <a:rPr lang="en-US" altLang="ko-KR" sz="1400" dirty="0" err="1">
                <a:latin typeface="Arial Narrow" panose="020B0606020202030204" pitchFamily="34" charset="0"/>
              </a:rPr>
              <a:t>set_title</a:t>
            </a:r>
            <a:r>
              <a:rPr lang="en-US" altLang="ko-KR" sz="1400" dirty="0">
                <a:latin typeface="Arial Narrow" panose="020B0606020202030204" pitchFamily="34" charset="0"/>
              </a:rPr>
              <a:t>(</a:t>
            </a:r>
            <a:r>
              <a:rPr lang="en-US" altLang="ko-KR" sz="1400" dirty="0" err="1">
                <a:latin typeface="Arial Narrow" panose="020B0606020202030204" pitchFamily="34" charset="0"/>
              </a:rPr>
              <a:t>f"Binomial</a:t>
            </a:r>
            <a:r>
              <a:rPr lang="en-US" altLang="ko-KR" sz="1400" dirty="0">
                <a:latin typeface="Arial Narrow" panose="020B0606020202030204" pitchFamily="34" charset="0"/>
              </a:rPr>
              <a:t> PMF (n={</a:t>
            </a:r>
            <a:r>
              <a:rPr lang="en-US" altLang="ko-KR" sz="1400" dirty="0" err="1">
                <a:latin typeface="Arial Narrow" panose="020B0606020202030204" pitchFamily="34" charset="0"/>
              </a:rPr>
              <a:t>n_bin</a:t>
            </a:r>
            <a:r>
              <a:rPr lang="en-US" altLang="ko-KR" sz="1400" dirty="0">
                <a:latin typeface="Arial Narrow" panose="020B0606020202030204" pitchFamily="34" charset="0"/>
              </a:rPr>
              <a:t>}, p={</a:t>
            </a:r>
            <a:r>
              <a:rPr lang="en-US" altLang="ko-KR" sz="1400" dirty="0" err="1">
                <a:latin typeface="Arial Narrow" panose="020B0606020202030204" pitchFamily="34" charset="0"/>
              </a:rPr>
              <a:t>p_bin</a:t>
            </a:r>
            <a:r>
              <a:rPr lang="en-US" altLang="ko-KR" sz="1400" dirty="0">
                <a:latin typeface="Arial Narrow" panose="020B0606020202030204" pitchFamily="34" charset="0"/>
              </a:rPr>
              <a:t>})")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axes[1, 1].step(</a:t>
            </a:r>
            <a:r>
              <a:rPr lang="en-US" altLang="ko-KR" sz="1400" dirty="0" err="1">
                <a:latin typeface="Arial Narrow" panose="020B0606020202030204" pitchFamily="34" charset="0"/>
              </a:rPr>
              <a:t>x_bin</a:t>
            </a:r>
            <a:r>
              <a:rPr lang="en-US" altLang="ko-KR" sz="1400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binom.cdf</a:t>
            </a:r>
            <a:r>
              <a:rPr lang="en-US" altLang="ko-KR" sz="1400" b="1" dirty="0">
                <a:latin typeface="Arial Narrow" panose="020B0606020202030204" pitchFamily="34" charset="0"/>
              </a:rPr>
              <a:t>(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x_bin</a:t>
            </a:r>
            <a:r>
              <a:rPr lang="en-US" altLang="ko-KR" sz="1400" b="1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n_bin</a:t>
            </a:r>
            <a:r>
              <a:rPr lang="en-US" altLang="ko-KR" sz="1400" b="1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p_bin</a:t>
            </a:r>
            <a:r>
              <a:rPr lang="en-US" altLang="ko-KR" sz="1400" b="1" dirty="0">
                <a:latin typeface="Arial Narrow" panose="020B0606020202030204" pitchFamily="34" charset="0"/>
              </a:rPr>
              <a:t>)</a:t>
            </a:r>
            <a:r>
              <a:rPr lang="en-US" altLang="ko-KR" sz="1400" dirty="0">
                <a:latin typeface="Arial Narrow" panose="020B0606020202030204" pitchFamily="34" charset="0"/>
              </a:rPr>
              <a:t>, where='post', color='red')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axes[1, 1].</a:t>
            </a:r>
            <a:r>
              <a:rPr lang="en-US" altLang="ko-KR" sz="1400" dirty="0" err="1">
                <a:latin typeface="Arial Narrow" panose="020B0606020202030204" pitchFamily="34" charset="0"/>
              </a:rPr>
              <a:t>set_title</a:t>
            </a:r>
            <a:r>
              <a:rPr lang="en-US" altLang="ko-KR" sz="1400" dirty="0">
                <a:latin typeface="Arial Narrow" panose="020B0606020202030204" pitchFamily="34" charset="0"/>
              </a:rPr>
              <a:t>("Binomial CDF")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# --- Normal ---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axes[2, 0].plot(</a:t>
            </a:r>
            <a:r>
              <a:rPr lang="en-US" altLang="ko-KR" sz="1400" dirty="0" err="1">
                <a:latin typeface="Arial Narrow" panose="020B0606020202030204" pitchFamily="34" charset="0"/>
              </a:rPr>
              <a:t>x_norm</a:t>
            </a:r>
            <a:r>
              <a:rPr lang="en-US" altLang="ko-KR" sz="1400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>
                <a:latin typeface="Arial Narrow" panose="020B0606020202030204" pitchFamily="34" charset="0"/>
              </a:rPr>
              <a:t>norm.pdf(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x_norm</a:t>
            </a:r>
            <a:r>
              <a:rPr lang="en-US" altLang="ko-KR" sz="1400" b="1" dirty="0">
                <a:latin typeface="Arial Narrow" panose="020B0606020202030204" pitchFamily="34" charset="0"/>
              </a:rPr>
              <a:t>, mu, std)</a:t>
            </a:r>
            <a:r>
              <a:rPr lang="en-US" altLang="ko-KR" sz="1400" dirty="0">
                <a:latin typeface="Arial Narrow" panose="020B0606020202030204" pitchFamily="34" charset="0"/>
              </a:rPr>
              <a:t>, color='</a:t>
            </a:r>
            <a:r>
              <a:rPr lang="en-US" altLang="ko-KR" sz="1400" dirty="0" err="1">
                <a:latin typeface="Arial Narrow" panose="020B0606020202030204" pitchFamily="34" charset="0"/>
              </a:rPr>
              <a:t>lightgreen</a:t>
            </a:r>
            <a:r>
              <a:rPr lang="en-US" altLang="ko-KR" sz="1400" dirty="0">
                <a:latin typeface="Arial Narrow" panose="020B0606020202030204" pitchFamily="34" charset="0"/>
              </a:rPr>
              <a:t>', </a:t>
            </a:r>
            <a:r>
              <a:rPr lang="en-US" altLang="ko-KR" sz="1400" dirty="0" err="1">
                <a:latin typeface="Arial Narrow" panose="020B0606020202030204" pitchFamily="34" charset="0"/>
              </a:rPr>
              <a:t>lw</a:t>
            </a:r>
            <a:r>
              <a:rPr lang="en-US" altLang="ko-KR" sz="1400" dirty="0">
                <a:latin typeface="Arial Narrow" panose="020B0606020202030204" pitchFamily="34" charset="0"/>
              </a:rPr>
              <a:t>=3)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axes[2, 0].</a:t>
            </a:r>
            <a:r>
              <a:rPr lang="en-US" altLang="ko-KR" sz="1400" dirty="0" err="1">
                <a:latin typeface="Arial Narrow" panose="020B0606020202030204" pitchFamily="34" charset="0"/>
              </a:rPr>
              <a:t>set_title</a:t>
            </a:r>
            <a:r>
              <a:rPr lang="en-US" altLang="ko-KR" sz="1400" dirty="0">
                <a:latin typeface="Arial Narrow" panose="020B0606020202030204" pitchFamily="34" charset="0"/>
              </a:rPr>
              <a:t>(</a:t>
            </a:r>
            <a:r>
              <a:rPr lang="en-US" altLang="ko-KR" sz="1400" dirty="0" err="1">
                <a:latin typeface="Arial Narrow" panose="020B0606020202030204" pitchFamily="34" charset="0"/>
              </a:rPr>
              <a:t>f"Normal</a:t>
            </a:r>
            <a:r>
              <a:rPr lang="en-US" altLang="ko-KR" sz="1400" dirty="0">
                <a:latin typeface="Arial Narrow" panose="020B0606020202030204" pitchFamily="34" charset="0"/>
              </a:rPr>
              <a:t> PDF (mu={mu}, sigma={std})")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axes[2, 1].plot(</a:t>
            </a:r>
            <a:r>
              <a:rPr lang="en-US" altLang="ko-KR" sz="1400" dirty="0" err="1">
                <a:latin typeface="Arial Narrow" panose="020B0606020202030204" pitchFamily="34" charset="0"/>
              </a:rPr>
              <a:t>x_norm</a:t>
            </a:r>
            <a:r>
              <a:rPr lang="en-US" altLang="ko-KR" sz="1400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norm.cdf</a:t>
            </a:r>
            <a:r>
              <a:rPr lang="en-US" altLang="ko-KR" sz="1400" b="1" dirty="0">
                <a:latin typeface="Arial Narrow" panose="020B0606020202030204" pitchFamily="34" charset="0"/>
              </a:rPr>
              <a:t>(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x_norm</a:t>
            </a:r>
            <a:r>
              <a:rPr lang="en-US" altLang="ko-KR" sz="1400" b="1" dirty="0">
                <a:latin typeface="Arial Narrow" panose="020B0606020202030204" pitchFamily="34" charset="0"/>
              </a:rPr>
              <a:t>, mu, std)</a:t>
            </a:r>
            <a:r>
              <a:rPr lang="en-US" altLang="ko-KR" sz="1400" dirty="0">
                <a:latin typeface="Arial Narrow" panose="020B0606020202030204" pitchFamily="34" charset="0"/>
              </a:rPr>
              <a:t>, color='green', </a:t>
            </a:r>
            <a:r>
              <a:rPr lang="en-US" altLang="ko-KR" sz="1400" dirty="0" err="1">
                <a:latin typeface="Arial Narrow" panose="020B0606020202030204" pitchFamily="34" charset="0"/>
              </a:rPr>
              <a:t>lw</a:t>
            </a:r>
            <a:r>
              <a:rPr lang="en-US" altLang="ko-KR" sz="1400" dirty="0">
                <a:latin typeface="Arial Narrow" panose="020B0606020202030204" pitchFamily="34" charset="0"/>
              </a:rPr>
              <a:t>=3)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axes[2, 1].</a:t>
            </a:r>
            <a:r>
              <a:rPr lang="en-US" altLang="ko-KR" sz="1400" dirty="0" err="1">
                <a:latin typeface="Arial Narrow" panose="020B0606020202030204" pitchFamily="34" charset="0"/>
              </a:rPr>
              <a:t>set_title</a:t>
            </a:r>
            <a:r>
              <a:rPr lang="en-US" altLang="ko-KR" sz="1400" dirty="0">
                <a:latin typeface="Arial Narrow" panose="020B0606020202030204" pitchFamily="34" charset="0"/>
              </a:rPr>
              <a:t>("Normal CDF")</a:t>
            </a:r>
            <a:endParaRPr lang="ko-KR" altLang="en-US" sz="1400" dirty="0">
              <a:latin typeface="Arial Narrow" panose="020B0606020202030204" pitchFamily="34" charset="0"/>
            </a:endParaRPr>
          </a:p>
          <a:p>
            <a:r>
              <a:rPr lang="ko-KR" altLang="en-US" sz="1400" dirty="0" err="1">
                <a:latin typeface="Arial Narrow" panose="020B0606020202030204" pitchFamily="34" charset="0"/>
              </a:rPr>
              <a:t>plt.tight_layout</a:t>
            </a:r>
            <a:r>
              <a:rPr lang="ko-KR" altLang="en-US" sz="1400" dirty="0">
                <a:latin typeface="Arial Narrow" panose="020B0606020202030204" pitchFamily="34" charset="0"/>
              </a:rPr>
              <a:t>()</a:t>
            </a:r>
          </a:p>
          <a:p>
            <a:r>
              <a:rPr lang="ko-KR" altLang="en-US" sz="1400" dirty="0" err="1">
                <a:latin typeface="Arial Narrow" panose="020B0606020202030204" pitchFamily="34" charset="0"/>
              </a:rPr>
              <a:t>plt.show</a:t>
            </a:r>
            <a:r>
              <a:rPr lang="ko-KR" altLang="en-US" sz="1400" dirty="0">
                <a:latin typeface="Arial Narrow" panose="020B0606020202030204" pitchFamily="34" charset="0"/>
              </a:rPr>
              <a:t>()</a:t>
            </a:r>
          </a:p>
        </p:txBody>
      </p:sp>
      <p:pic>
        <p:nvPicPr>
          <p:cNvPr id="4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8AF80B28-3E90-86A4-B1C6-1ED933FEE3C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097084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E083FC-77E3-D439-E109-6220E05EC4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9620C70-4388-784B-E96F-088F1C9A17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35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6AB2D1B-762F-E54A-EBFF-F2E3FABCD47A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685B150-C037-D6A6-4888-89073D4169DB}"/>
              </a:ext>
            </a:extLst>
          </p:cNvPr>
          <p:cNvSpPr txBox="1"/>
          <p:nvPr/>
        </p:nvSpPr>
        <p:spPr>
          <a:xfrm>
            <a:off x="693812" y="1050968"/>
            <a:ext cx="11233248" cy="1020216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from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scipy.stats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 베르누이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이항분포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정규분포 모듈을 호출하여 각 확률분포에서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1,000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개의 데이터를 임의 생성한 후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pmf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pdf,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cdf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각각 구하고 </a:t>
            </a:r>
            <a:r>
              <a:rPr lang="ko-KR" altLang="en-US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시각화하라</a:t>
            </a:r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각 확률분포의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parameters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변경하면서 분포의 모양새의 변화를 확인하고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코드의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bold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코드를 이해하라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3CD6FCF-BF3F-BCA4-26F5-3C837B16E992}"/>
              </a:ext>
            </a:extLst>
          </p:cNvPr>
          <p:cNvSpPr txBox="1"/>
          <p:nvPr/>
        </p:nvSpPr>
        <p:spPr>
          <a:xfrm>
            <a:off x="693812" y="2354482"/>
            <a:ext cx="4680520" cy="3970318"/>
          </a:xfrm>
          <a:prstGeom prst="rect">
            <a:avLst/>
          </a:prstGeom>
          <a:solidFill>
            <a:srgbClr val="D7E3FF"/>
          </a:solidFill>
        </p:spPr>
        <p:txBody>
          <a:bodyPr wrap="square">
            <a:spAutoFit/>
          </a:bodyPr>
          <a:lstStyle/>
          <a:p>
            <a:r>
              <a:rPr lang="ko-KR" altLang="en-US" sz="1400" dirty="0" err="1">
                <a:latin typeface="Arial Narrow" panose="020B0606020202030204" pitchFamily="34" charset="0"/>
              </a:rPr>
              <a:t>import</a:t>
            </a:r>
            <a:r>
              <a:rPr lang="ko-KR" altLang="en-US" sz="1400" dirty="0">
                <a:latin typeface="Arial Narrow" panose="020B0606020202030204" pitchFamily="34" charset="0"/>
              </a:rPr>
              <a:t> </a:t>
            </a:r>
            <a:r>
              <a:rPr lang="ko-KR" altLang="en-US" sz="1400" dirty="0" err="1">
                <a:latin typeface="Arial Narrow" panose="020B0606020202030204" pitchFamily="34" charset="0"/>
              </a:rPr>
              <a:t>numpy</a:t>
            </a:r>
            <a:r>
              <a:rPr lang="ko-KR" altLang="en-US" sz="1400" dirty="0">
                <a:latin typeface="Arial Narrow" panose="020B0606020202030204" pitchFamily="34" charset="0"/>
              </a:rPr>
              <a:t> </a:t>
            </a:r>
            <a:r>
              <a:rPr lang="ko-KR" altLang="en-US" sz="1400" dirty="0" err="1">
                <a:latin typeface="Arial Narrow" panose="020B0606020202030204" pitchFamily="34" charset="0"/>
              </a:rPr>
              <a:t>as</a:t>
            </a:r>
            <a:r>
              <a:rPr lang="ko-KR" altLang="en-US" sz="1400" dirty="0">
                <a:latin typeface="Arial Narrow" panose="020B0606020202030204" pitchFamily="34" charset="0"/>
              </a:rPr>
              <a:t> </a:t>
            </a:r>
            <a:r>
              <a:rPr lang="ko-KR" altLang="en-US" sz="1400" dirty="0" err="1">
                <a:latin typeface="Arial Narrow" panose="020B0606020202030204" pitchFamily="34" charset="0"/>
              </a:rPr>
              <a:t>np</a:t>
            </a:r>
            <a:endParaRPr lang="ko-KR" altLang="en-US" sz="1400" dirty="0">
              <a:latin typeface="Arial Narrow" panose="020B0606020202030204" pitchFamily="34" charset="0"/>
            </a:endParaRPr>
          </a:p>
          <a:p>
            <a:r>
              <a:rPr lang="ko-KR" altLang="en-US" sz="1400" dirty="0" err="1">
                <a:latin typeface="Arial Narrow" panose="020B0606020202030204" pitchFamily="34" charset="0"/>
              </a:rPr>
              <a:t>import</a:t>
            </a:r>
            <a:r>
              <a:rPr lang="ko-KR" altLang="en-US" sz="1400" dirty="0">
                <a:latin typeface="Arial Narrow" panose="020B0606020202030204" pitchFamily="34" charset="0"/>
              </a:rPr>
              <a:t> </a:t>
            </a:r>
            <a:r>
              <a:rPr lang="ko-KR" altLang="en-US" sz="1400" dirty="0" err="1">
                <a:latin typeface="Arial Narrow" panose="020B0606020202030204" pitchFamily="34" charset="0"/>
              </a:rPr>
              <a:t>matplotlib.pyplot</a:t>
            </a:r>
            <a:r>
              <a:rPr lang="ko-KR" altLang="en-US" sz="1400" dirty="0">
                <a:latin typeface="Arial Narrow" panose="020B0606020202030204" pitchFamily="34" charset="0"/>
              </a:rPr>
              <a:t> </a:t>
            </a:r>
            <a:r>
              <a:rPr lang="ko-KR" altLang="en-US" sz="1400" dirty="0" err="1">
                <a:latin typeface="Arial Narrow" panose="020B0606020202030204" pitchFamily="34" charset="0"/>
              </a:rPr>
              <a:t>as</a:t>
            </a:r>
            <a:r>
              <a:rPr lang="ko-KR" altLang="en-US" sz="1400" dirty="0">
                <a:latin typeface="Arial Narrow" panose="020B0606020202030204" pitchFamily="34" charset="0"/>
              </a:rPr>
              <a:t> </a:t>
            </a:r>
            <a:r>
              <a:rPr lang="ko-KR" altLang="en-US" sz="1400" dirty="0" err="1">
                <a:latin typeface="Arial Narrow" panose="020B0606020202030204" pitchFamily="34" charset="0"/>
              </a:rPr>
              <a:t>plt</a:t>
            </a:r>
            <a:endParaRPr lang="ko-KR" altLang="en-US" sz="1400" dirty="0">
              <a:latin typeface="Arial Narrow" panose="020B0606020202030204" pitchFamily="34" charset="0"/>
            </a:endParaRPr>
          </a:p>
          <a:p>
            <a:r>
              <a:rPr lang="ko-KR" altLang="en-US" sz="1400" b="1" dirty="0" err="1">
                <a:latin typeface="Arial Narrow" panose="020B0606020202030204" pitchFamily="34" charset="0"/>
              </a:rPr>
              <a:t>from</a:t>
            </a:r>
            <a:r>
              <a:rPr lang="ko-KR" altLang="en-US" sz="1400" b="1" dirty="0">
                <a:latin typeface="Arial Narrow" panose="020B0606020202030204" pitchFamily="34" charset="0"/>
              </a:rPr>
              <a:t>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scipy.stats</a:t>
            </a:r>
            <a:r>
              <a:rPr lang="ko-KR" altLang="en-US" sz="1400" b="1" dirty="0">
                <a:latin typeface="Arial Narrow" panose="020B0606020202030204" pitchFamily="34" charset="0"/>
              </a:rPr>
              <a:t>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import</a:t>
            </a:r>
            <a:r>
              <a:rPr lang="ko-KR" altLang="en-US" sz="1400" b="1" dirty="0">
                <a:latin typeface="Arial Narrow" panose="020B0606020202030204" pitchFamily="34" charset="0"/>
              </a:rPr>
              <a:t>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bernoulli</a:t>
            </a:r>
            <a:r>
              <a:rPr lang="ko-KR" altLang="en-US" sz="1400" b="1" dirty="0">
                <a:latin typeface="Arial Narrow" panose="020B0606020202030204" pitchFamily="34" charset="0"/>
              </a:rPr>
              <a:t>,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binom</a:t>
            </a:r>
            <a:r>
              <a:rPr lang="ko-KR" altLang="en-US" sz="1400" b="1" dirty="0">
                <a:latin typeface="Arial Narrow" panose="020B0606020202030204" pitchFamily="34" charset="0"/>
              </a:rPr>
              <a:t>,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norm</a:t>
            </a:r>
            <a:endParaRPr lang="ko-KR" altLang="en-US" sz="1400" b="1" dirty="0">
              <a:latin typeface="Arial Narrow" panose="020B0606020202030204" pitchFamily="34" charset="0"/>
            </a:endParaRPr>
          </a:p>
          <a:p>
            <a:endParaRPr lang="ko-KR" altLang="en-US" sz="1400" dirty="0">
              <a:latin typeface="Arial Narrow" panose="020B0606020202030204" pitchFamily="34" charset="0"/>
            </a:endParaRPr>
          </a:p>
          <a:p>
            <a:r>
              <a:rPr lang="ko-KR" altLang="en-US" sz="1400" dirty="0">
                <a:latin typeface="Arial Narrow" panose="020B0606020202030204" pitchFamily="34" charset="0"/>
              </a:rPr>
              <a:t># 설정: 샘플 수 1000개</a:t>
            </a:r>
          </a:p>
          <a:p>
            <a:r>
              <a:rPr lang="ko-KR" altLang="en-US" sz="1400" dirty="0" err="1">
                <a:latin typeface="Arial Narrow" panose="020B0606020202030204" pitchFamily="34" charset="0"/>
              </a:rPr>
              <a:t>n_samples</a:t>
            </a:r>
            <a:r>
              <a:rPr lang="ko-KR" altLang="en-US" sz="1400" dirty="0">
                <a:latin typeface="Arial Narrow" panose="020B0606020202030204" pitchFamily="34" charset="0"/>
              </a:rPr>
              <a:t> = 1000</a:t>
            </a:r>
          </a:p>
          <a:p>
            <a:r>
              <a:rPr lang="ko-KR" altLang="en-US" sz="1400" dirty="0">
                <a:latin typeface="Arial Narrow" panose="020B0606020202030204" pitchFamily="34" charset="0"/>
              </a:rPr>
              <a:t># 1. 베르누이 분포 (</a:t>
            </a:r>
            <a:r>
              <a:rPr lang="ko-KR" altLang="en-US" sz="1400" dirty="0" err="1">
                <a:latin typeface="Arial Narrow" panose="020B0606020202030204" pitchFamily="34" charset="0"/>
              </a:rPr>
              <a:t>p</a:t>
            </a:r>
            <a:r>
              <a:rPr lang="ko-KR" altLang="en-US" sz="1400" dirty="0">
                <a:latin typeface="Arial Narrow" panose="020B0606020202030204" pitchFamily="34" charset="0"/>
              </a:rPr>
              <a:t>=0.</a:t>
            </a:r>
            <a:r>
              <a:rPr lang="en-US" altLang="ko-KR" sz="1400" dirty="0">
                <a:latin typeface="Arial Narrow" panose="020B0606020202030204" pitchFamily="34" charset="0"/>
              </a:rPr>
              <a:t>5</a:t>
            </a:r>
            <a:r>
              <a:rPr lang="ko-KR" altLang="en-US" sz="1400" dirty="0">
                <a:latin typeface="Arial Narrow" panose="020B0606020202030204" pitchFamily="34" charset="0"/>
              </a:rPr>
              <a:t>) </a:t>
            </a:r>
            <a:r>
              <a:rPr lang="en-US" altLang="ko-KR" sz="1400" dirty="0">
                <a:latin typeface="Arial Narrow" panose="020B0606020202030204" pitchFamily="34" charset="0"/>
              </a:rPr>
              <a:t>: parameter</a:t>
            </a:r>
            <a:endParaRPr lang="ko-KR" altLang="en-US" sz="1400" dirty="0">
              <a:latin typeface="Arial Narrow" panose="020B0606020202030204" pitchFamily="34" charset="0"/>
            </a:endParaRPr>
          </a:p>
          <a:p>
            <a:r>
              <a:rPr lang="ko-KR" altLang="en-US" sz="1400" b="1" dirty="0" err="1">
                <a:latin typeface="Arial Narrow" panose="020B0606020202030204" pitchFamily="34" charset="0"/>
              </a:rPr>
              <a:t>p_bern</a:t>
            </a:r>
            <a:r>
              <a:rPr lang="ko-KR" altLang="en-US" sz="1400" b="1" dirty="0">
                <a:latin typeface="Arial Narrow" panose="020B0606020202030204" pitchFamily="34" charset="0"/>
              </a:rPr>
              <a:t> = 0.</a:t>
            </a:r>
            <a:r>
              <a:rPr lang="en-US" altLang="ko-KR" sz="1400" b="1" dirty="0">
                <a:latin typeface="Arial Narrow" panose="020B0606020202030204" pitchFamily="34" charset="0"/>
              </a:rPr>
              <a:t>5</a:t>
            </a:r>
            <a:endParaRPr lang="ko-KR" altLang="en-US" sz="1400" b="1" dirty="0">
              <a:latin typeface="Arial Narrow" panose="020B0606020202030204" pitchFamily="34" charset="0"/>
            </a:endParaRPr>
          </a:p>
          <a:p>
            <a:r>
              <a:rPr lang="ko-KR" altLang="en-US" sz="1400" dirty="0" err="1">
                <a:latin typeface="Arial Narrow" panose="020B0606020202030204" pitchFamily="34" charset="0"/>
              </a:rPr>
              <a:t>data_bern</a:t>
            </a:r>
            <a:r>
              <a:rPr lang="ko-KR" altLang="en-US" sz="1400" dirty="0">
                <a:latin typeface="Arial Narrow" panose="020B0606020202030204" pitchFamily="34" charset="0"/>
              </a:rPr>
              <a:t> =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bernoulli.rvs</a:t>
            </a:r>
            <a:r>
              <a:rPr lang="ko-KR" altLang="en-US" sz="1400" b="1" dirty="0">
                <a:latin typeface="Arial Narrow" panose="020B0606020202030204" pitchFamily="34" charset="0"/>
              </a:rPr>
              <a:t>(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p_bern</a:t>
            </a:r>
            <a:r>
              <a:rPr lang="ko-KR" altLang="en-US" sz="1400" b="1" dirty="0">
                <a:latin typeface="Arial Narrow" panose="020B0606020202030204" pitchFamily="34" charset="0"/>
              </a:rPr>
              <a:t>,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size</a:t>
            </a:r>
            <a:r>
              <a:rPr lang="ko-KR" altLang="en-US" sz="1400" b="1" dirty="0">
                <a:latin typeface="Arial Narrow" panose="020B0606020202030204" pitchFamily="34" charset="0"/>
              </a:rPr>
              <a:t>=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n_samples</a:t>
            </a:r>
            <a:r>
              <a:rPr lang="ko-KR" altLang="en-US" sz="1400" b="1" dirty="0">
                <a:latin typeface="Arial Narrow" panose="020B0606020202030204" pitchFamily="34" charset="0"/>
              </a:rPr>
              <a:t>)</a:t>
            </a:r>
          </a:p>
          <a:p>
            <a:r>
              <a:rPr lang="ko-KR" altLang="en-US" sz="1400" dirty="0" err="1">
                <a:latin typeface="Arial Narrow" panose="020B0606020202030204" pitchFamily="34" charset="0"/>
              </a:rPr>
              <a:t>x_bern</a:t>
            </a:r>
            <a:r>
              <a:rPr lang="ko-KR" altLang="en-US" sz="1400" dirty="0">
                <a:latin typeface="Arial Narrow" panose="020B0606020202030204" pitchFamily="34" charset="0"/>
              </a:rPr>
              <a:t> = [0, 1]</a:t>
            </a:r>
          </a:p>
          <a:p>
            <a:r>
              <a:rPr lang="ko-KR" altLang="en-US" sz="1400" dirty="0">
                <a:latin typeface="Arial Narrow" panose="020B0606020202030204" pitchFamily="34" charset="0"/>
              </a:rPr>
              <a:t># 2. 이항 분포 (</a:t>
            </a:r>
            <a:r>
              <a:rPr lang="ko-KR" altLang="en-US" sz="1400" dirty="0" err="1">
                <a:latin typeface="Arial Narrow" panose="020B0606020202030204" pitchFamily="34" charset="0"/>
              </a:rPr>
              <a:t>n</a:t>
            </a:r>
            <a:r>
              <a:rPr lang="ko-KR" altLang="en-US" sz="1400" dirty="0">
                <a:latin typeface="Arial Narrow" panose="020B0606020202030204" pitchFamily="34" charset="0"/>
              </a:rPr>
              <a:t>=10, </a:t>
            </a:r>
            <a:r>
              <a:rPr lang="ko-KR" altLang="en-US" sz="1400" dirty="0" err="1">
                <a:latin typeface="Arial Narrow" panose="020B0606020202030204" pitchFamily="34" charset="0"/>
              </a:rPr>
              <a:t>p</a:t>
            </a:r>
            <a:r>
              <a:rPr lang="ko-KR" altLang="en-US" sz="1400" dirty="0">
                <a:latin typeface="Arial Narrow" panose="020B0606020202030204" pitchFamily="34" charset="0"/>
              </a:rPr>
              <a:t>=0.5) </a:t>
            </a:r>
            <a:r>
              <a:rPr lang="en-US" altLang="ko-KR" sz="1400" dirty="0">
                <a:latin typeface="Arial Narrow" panose="020B0606020202030204" pitchFamily="34" charset="0"/>
              </a:rPr>
              <a:t>: parameter</a:t>
            </a:r>
            <a:endParaRPr lang="ko-KR" altLang="en-US" sz="1400" dirty="0">
              <a:latin typeface="Arial Narrow" panose="020B0606020202030204" pitchFamily="34" charset="0"/>
            </a:endParaRPr>
          </a:p>
          <a:p>
            <a:r>
              <a:rPr lang="ko-KR" altLang="en-US" sz="1400" b="1" dirty="0" err="1">
                <a:latin typeface="Arial Narrow" panose="020B0606020202030204" pitchFamily="34" charset="0"/>
              </a:rPr>
              <a:t>n_bin</a:t>
            </a:r>
            <a:r>
              <a:rPr lang="ko-KR" altLang="en-US" sz="1400" b="1" dirty="0">
                <a:latin typeface="Arial Narrow" panose="020B0606020202030204" pitchFamily="34" charset="0"/>
              </a:rPr>
              <a:t>,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p_bin</a:t>
            </a:r>
            <a:r>
              <a:rPr lang="ko-KR" altLang="en-US" sz="1400" b="1" dirty="0">
                <a:latin typeface="Arial Narrow" panose="020B0606020202030204" pitchFamily="34" charset="0"/>
              </a:rPr>
              <a:t> = 10, 0.5</a:t>
            </a:r>
          </a:p>
          <a:p>
            <a:r>
              <a:rPr lang="ko-KR" altLang="en-US" sz="1400" dirty="0" err="1">
                <a:latin typeface="Arial Narrow" panose="020B0606020202030204" pitchFamily="34" charset="0"/>
              </a:rPr>
              <a:t>data_bin</a:t>
            </a:r>
            <a:r>
              <a:rPr lang="ko-KR" altLang="en-US" sz="1400" dirty="0">
                <a:latin typeface="Arial Narrow" panose="020B0606020202030204" pitchFamily="34" charset="0"/>
              </a:rPr>
              <a:t> =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binom.rvs</a:t>
            </a:r>
            <a:r>
              <a:rPr lang="ko-KR" altLang="en-US" sz="1400" b="1" dirty="0">
                <a:latin typeface="Arial Narrow" panose="020B0606020202030204" pitchFamily="34" charset="0"/>
              </a:rPr>
              <a:t>(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n_bin</a:t>
            </a:r>
            <a:r>
              <a:rPr lang="ko-KR" altLang="en-US" sz="1400" b="1" dirty="0">
                <a:latin typeface="Arial Narrow" panose="020B0606020202030204" pitchFamily="34" charset="0"/>
              </a:rPr>
              <a:t>,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p_bin</a:t>
            </a:r>
            <a:r>
              <a:rPr lang="ko-KR" altLang="en-US" sz="1400" b="1" dirty="0">
                <a:latin typeface="Arial Narrow" panose="020B0606020202030204" pitchFamily="34" charset="0"/>
              </a:rPr>
              <a:t>,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size</a:t>
            </a:r>
            <a:r>
              <a:rPr lang="ko-KR" altLang="en-US" sz="1400" b="1" dirty="0">
                <a:latin typeface="Arial Narrow" panose="020B0606020202030204" pitchFamily="34" charset="0"/>
              </a:rPr>
              <a:t>=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n_samples</a:t>
            </a:r>
            <a:r>
              <a:rPr lang="ko-KR" altLang="en-US" sz="1400" b="1" dirty="0">
                <a:latin typeface="Arial Narrow" panose="020B0606020202030204" pitchFamily="34" charset="0"/>
              </a:rPr>
              <a:t>)</a:t>
            </a:r>
          </a:p>
          <a:p>
            <a:r>
              <a:rPr lang="ko-KR" altLang="en-US" sz="1400" dirty="0" err="1">
                <a:latin typeface="Arial Narrow" panose="020B0606020202030204" pitchFamily="34" charset="0"/>
              </a:rPr>
              <a:t>x_bin</a:t>
            </a:r>
            <a:r>
              <a:rPr lang="ko-KR" altLang="en-US" sz="1400" dirty="0">
                <a:latin typeface="Arial Narrow" panose="020B0606020202030204" pitchFamily="34" charset="0"/>
              </a:rPr>
              <a:t> = </a:t>
            </a:r>
            <a:r>
              <a:rPr lang="ko-KR" altLang="en-US" sz="1400" dirty="0" err="1">
                <a:latin typeface="Arial Narrow" panose="020B0606020202030204" pitchFamily="34" charset="0"/>
              </a:rPr>
              <a:t>np.arange</a:t>
            </a:r>
            <a:r>
              <a:rPr lang="ko-KR" altLang="en-US" sz="1400" dirty="0">
                <a:latin typeface="Arial Narrow" panose="020B0606020202030204" pitchFamily="34" charset="0"/>
              </a:rPr>
              <a:t>(0, </a:t>
            </a:r>
            <a:r>
              <a:rPr lang="ko-KR" altLang="en-US" sz="1400" dirty="0" err="1">
                <a:latin typeface="Arial Narrow" panose="020B0606020202030204" pitchFamily="34" charset="0"/>
              </a:rPr>
              <a:t>n_bin</a:t>
            </a:r>
            <a:r>
              <a:rPr lang="ko-KR" altLang="en-US" sz="1400" dirty="0">
                <a:latin typeface="Arial Narrow" panose="020B0606020202030204" pitchFamily="34" charset="0"/>
              </a:rPr>
              <a:t> + 1)</a:t>
            </a:r>
          </a:p>
          <a:p>
            <a:r>
              <a:rPr lang="ko-KR" altLang="en-US" sz="1400" dirty="0">
                <a:latin typeface="Arial Narrow" panose="020B0606020202030204" pitchFamily="34" charset="0"/>
              </a:rPr>
              <a:t># 3. 정규 분포 (</a:t>
            </a:r>
            <a:r>
              <a:rPr lang="ko-KR" altLang="en-US" sz="1400" dirty="0" err="1">
                <a:latin typeface="Arial Narrow" panose="020B0606020202030204" pitchFamily="34" charset="0"/>
              </a:rPr>
              <a:t>mu</a:t>
            </a:r>
            <a:r>
              <a:rPr lang="ko-KR" altLang="en-US" sz="1400" dirty="0">
                <a:latin typeface="Arial Narrow" panose="020B0606020202030204" pitchFamily="34" charset="0"/>
              </a:rPr>
              <a:t>=0, </a:t>
            </a:r>
            <a:r>
              <a:rPr lang="ko-KR" altLang="en-US" sz="1400" dirty="0" err="1">
                <a:latin typeface="Arial Narrow" panose="020B0606020202030204" pitchFamily="34" charset="0"/>
              </a:rPr>
              <a:t>sigma</a:t>
            </a:r>
            <a:r>
              <a:rPr lang="ko-KR" altLang="en-US" sz="1400" dirty="0">
                <a:latin typeface="Arial Narrow" panose="020B0606020202030204" pitchFamily="34" charset="0"/>
              </a:rPr>
              <a:t>=1) </a:t>
            </a:r>
            <a:r>
              <a:rPr lang="en-US" altLang="ko-KR" sz="1400" dirty="0">
                <a:latin typeface="Arial Narrow" panose="020B0606020202030204" pitchFamily="34" charset="0"/>
              </a:rPr>
              <a:t>: parameter</a:t>
            </a:r>
            <a:endParaRPr lang="ko-KR" altLang="en-US" sz="1400" dirty="0">
              <a:latin typeface="Arial Narrow" panose="020B0606020202030204" pitchFamily="34" charset="0"/>
            </a:endParaRPr>
          </a:p>
          <a:p>
            <a:r>
              <a:rPr lang="ko-KR" altLang="en-US" sz="1400" b="1" dirty="0" err="1">
                <a:latin typeface="Arial Narrow" panose="020B0606020202030204" pitchFamily="34" charset="0"/>
              </a:rPr>
              <a:t>mu</a:t>
            </a:r>
            <a:r>
              <a:rPr lang="ko-KR" altLang="en-US" sz="1400" b="1" dirty="0">
                <a:latin typeface="Arial Narrow" panose="020B0606020202030204" pitchFamily="34" charset="0"/>
              </a:rPr>
              <a:t>,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std</a:t>
            </a:r>
            <a:r>
              <a:rPr lang="ko-KR" altLang="en-US" sz="1400" b="1" dirty="0">
                <a:latin typeface="Arial Narrow" panose="020B0606020202030204" pitchFamily="34" charset="0"/>
              </a:rPr>
              <a:t> = 0, 1</a:t>
            </a:r>
          </a:p>
          <a:p>
            <a:r>
              <a:rPr lang="ko-KR" altLang="en-US" sz="1400" dirty="0" err="1">
                <a:latin typeface="Arial Narrow" panose="020B0606020202030204" pitchFamily="34" charset="0"/>
              </a:rPr>
              <a:t>data_norm</a:t>
            </a:r>
            <a:r>
              <a:rPr lang="ko-KR" altLang="en-US" sz="1400" dirty="0">
                <a:latin typeface="Arial Narrow" panose="020B0606020202030204" pitchFamily="34" charset="0"/>
              </a:rPr>
              <a:t> =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norm.rvs</a:t>
            </a:r>
            <a:r>
              <a:rPr lang="ko-KR" altLang="en-US" sz="1400" b="1" dirty="0">
                <a:latin typeface="Arial Narrow" panose="020B0606020202030204" pitchFamily="34" charset="0"/>
              </a:rPr>
              <a:t>(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mu</a:t>
            </a:r>
            <a:r>
              <a:rPr lang="ko-KR" altLang="en-US" sz="1400" b="1" dirty="0">
                <a:latin typeface="Arial Narrow" panose="020B0606020202030204" pitchFamily="34" charset="0"/>
              </a:rPr>
              <a:t>,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std</a:t>
            </a:r>
            <a:r>
              <a:rPr lang="ko-KR" altLang="en-US" sz="1400" b="1" dirty="0">
                <a:latin typeface="Arial Narrow" panose="020B0606020202030204" pitchFamily="34" charset="0"/>
              </a:rPr>
              <a:t>, 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size</a:t>
            </a:r>
            <a:r>
              <a:rPr lang="ko-KR" altLang="en-US" sz="1400" b="1" dirty="0">
                <a:latin typeface="Arial Narrow" panose="020B0606020202030204" pitchFamily="34" charset="0"/>
              </a:rPr>
              <a:t>=</a:t>
            </a:r>
            <a:r>
              <a:rPr lang="ko-KR" altLang="en-US" sz="1400" b="1" dirty="0" err="1">
                <a:latin typeface="Arial Narrow" panose="020B0606020202030204" pitchFamily="34" charset="0"/>
              </a:rPr>
              <a:t>n_samples</a:t>
            </a:r>
            <a:r>
              <a:rPr lang="ko-KR" altLang="en-US" sz="1400" b="1" dirty="0">
                <a:latin typeface="Arial Narrow" panose="020B0606020202030204" pitchFamily="34" charset="0"/>
              </a:rPr>
              <a:t>)</a:t>
            </a:r>
          </a:p>
          <a:p>
            <a:r>
              <a:rPr lang="ko-KR" altLang="en-US" sz="1400" dirty="0" err="1">
                <a:latin typeface="Arial Narrow" panose="020B0606020202030204" pitchFamily="34" charset="0"/>
              </a:rPr>
              <a:t>x_norm</a:t>
            </a:r>
            <a:r>
              <a:rPr lang="ko-KR" altLang="en-US" sz="1400" dirty="0">
                <a:latin typeface="Arial Narrow" panose="020B0606020202030204" pitchFamily="34" charset="0"/>
              </a:rPr>
              <a:t> = </a:t>
            </a:r>
            <a:r>
              <a:rPr lang="ko-KR" altLang="en-US" sz="1400" dirty="0" err="1">
                <a:latin typeface="Arial Narrow" panose="020B0606020202030204" pitchFamily="34" charset="0"/>
              </a:rPr>
              <a:t>np.linspace</a:t>
            </a:r>
            <a:r>
              <a:rPr lang="ko-KR" altLang="en-US" sz="1400" dirty="0">
                <a:latin typeface="Arial Narrow" panose="020B0606020202030204" pitchFamily="34" charset="0"/>
              </a:rPr>
              <a:t>(-4, 4, 100)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4458EE-171F-61C5-9CAE-90A01D9DCBDF}"/>
              </a:ext>
            </a:extLst>
          </p:cNvPr>
          <p:cNvSpPr txBox="1"/>
          <p:nvPr/>
        </p:nvSpPr>
        <p:spPr>
          <a:xfrm>
            <a:off x="5518349" y="2339583"/>
            <a:ext cx="5688632" cy="4185761"/>
          </a:xfrm>
          <a:prstGeom prst="rect">
            <a:avLst/>
          </a:prstGeom>
          <a:solidFill>
            <a:srgbClr val="D7E3FF"/>
          </a:solidFill>
        </p:spPr>
        <p:txBody>
          <a:bodyPr wrap="square">
            <a:spAutoFit/>
          </a:bodyPr>
          <a:lstStyle/>
          <a:p>
            <a:r>
              <a:rPr lang="ko-KR" altLang="en-US" sz="1400" dirty="0" err="1">
                <a:latin typeface="Arial Narrow" panose="020B0606020202030204" pitchFamily="34" charset="0"/>
              </a:rPr>
              <a:t>fig</a:t>
            </a:r>
            <a:r>
              <a:rPr lang="ko-KR" altLang="en-US" sz="1400" dirty="0">
                <a:latin typeface="Arial Narrow" panose="020B0606020202030204" pitchFamily="34" charset="0"/>
              </a:rPr>
              <a:t>, </a:t>
            </a:r>
            <a:r>
              <a:rPr lang="ko-KR" altLang="en-US" sz="1400" dirty="0" err="1">
                <a:latin typeface="Arial Narrow" panose="020B0606020202030204" pitchFamily="34" charset="0"/>
              </a:rPr>
              <a:t>axes</a:t>
            </a:r>
            <a:r>
              <a:rPr lang="ko-KR" altLang="en-US" sz="1400" dirty="0">
                <a:latin typeface="Arial Narrow" panose="020B0606020202030204" pitchFamily="34" charset="0"/>
              </a:rPr>
              <a:t> = </a:t>
            </a:r>
            <a:r>
              <a:rPr lang="ko-KR" altLang="en-US" sz="1400" dirty="0" err="1">
                <a:latin typeface="Arial Narrow" panose="020B0606020202030204" pitchFamily="34" charset="0"/>
              </a:rPr>
              <a:t>plt.subplots</a:t>
            </a:r>
            <a:r>
              <a:rPr lang="ko-KR" altLang="en-US" sz="1400" dirty="0">
                <a:latin typeface="Arial Narrow" panose="020B0606020202030204" pitchFamily="34" charset="0"/>
              </a:rPr>
              <a:t>(3, 2, </a:t>
            </a:r>
            <a:r>
              <a:rPr lang="ko-KR" altLang="en-US" sz="1400" dirty="0" err="1">
                <a:latin typeface="Arial Narrow" panose="020B0606020202030204" pitchFamily="34" charset="0"/>
              </a:rPr>
              <a:t>figsize</a:t>
            </a:r>
            <a:r>
              <a:rPr lang="ko-KR" altLang="en-US" sz="1400" dirty="0">
                <a:latin typeface="Arial Narrow" panose="020B0606020202030204" pitchFamily="34" charset="0"/>
              </a:rPr>
              <a:t>=(1</a:t>
            </a:r>
            <a:r>
              <a:rPr lang="en-US" altLang="ko-KR" sz="1400" dirty="0">
                <a:latin typeface="Arial Narrow" panose="020B0606020202030204" pitchFamily="34" charset="0"/>
              </a:rPr>
              <a:t>0</a:t>
            </a:r>
            <a:r>
              <a:rPr lang="ko-KR" altLang="en-US" sz="1400" dirty="0">
                <a:latin typeface="Arial Narrow" panose="020B0606020202030204" pitchFamily="34" charset="0"/>
              </a:rPr>
              <a:t>, 1</a:t>
            </a:r>
            <a:r>
              <a:rPr lang="en-US" altLang="ko-KR" sz="1400" dirty="0">
                <a:latin typeface="Arial Narrow" panose="020B0606020202030204" pitchFamily="34" charset="0"/>
              </a:rPr>
              <a:t>0</a:t>
            </a:r>
            <a:r>
              <a:rPr lang="ko-KR" altLang="en-US" sz="1400" dirty="0">
                <a:latin typeface="Arial Narrow" panose="020B0606020202030204" pitchFamily="34" charset="0"/>
              </a:rPr>
              <a:t>))</a:t>
            </a:r>
          </a:p>
          <a:p>
            <a:endParaRPr lang="en-US" altLang="ko-KR" sz="1400" dirty="0">
              <a:latin typeface="Arial Narrow" panose="020B0606020202030204" pitchFamily="34" charset="0"/>
            </a:endParaRPr>
          </a:p>
          <a:p>
            <a:r>
              <a:rPr lang="en-US" altLang="ko-KR" sz="1400" dirty="0">
                <a:latin typeface="Arial Narrow" panose="020B0606020202030204" pitchFamily="34" charset="0"/>
              </a:rPr>
              <a:t># --- Bernoulli ---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axes[0, 0].bar(</a:t>
            </a:r>
            <a:r>
              <a:rPr lang="en-US" altLang="ko-KR" sz="1400" dirty="0" err="1">
                <a:latin typeface="Arial Narrow" panose="020B0606020202030204" pitchFamily="34" charset="0"/>
              </a:rPr>
              <a:t>x_bern</a:t>
            </a:r>
            <a:r>
              <a:rPr lang="en-US" altLang="ko-KR" sz="1400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bernoulli.pmf</a:t>
            </a:r>
            <a:r>
              <a:rPr lang="en-US" altLang="ko-KR" sz="1400" b="1" dirty="0">
                <a:latin typeface="Arial Narrow" panose="020B0606020202030204" pitchFamily="34" charset="0"/>
              </a:rPr>
              <a:t>(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x_bern</a:t>
            </a:r>
            <a:r>
              <a:rPr lang="en-US" altLang="ko-KR" sz="1400" b="1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p_bern</a:t>
            </a:r>
            <a:r>
              <a:rPr lang="en-US" altLang="ko-KR" sz="1400" b="1" dirty="0">
                <a:latin typeface="Arial Narrow" panose="020B0606020202030204" pitchFamily="34" charset="0"/>
              </a:rPr>
              <a:t>)</a:t>
            </a:r>
            <a:r>
              <a:rPr lang="en-US" altLang="ko-KR" sz="1400" dirty="0">
                <a:latin typeface="Arial Narrow" panose="020B0606020202030204" pitchFamily="34" charset="0"/>
              </a:rPr>
              <a:t>, color='</a:t>
            </a:r>
            <a:r>
              <a:rPr lang="en-US" altLang="ko-KR" sz="1400" dirty="0" err="1">
                <a:latin typeface="Arial Narrow" panose="020B0606020202030204" pitchFamily="34" charset="0"/>
              </a:rPr>
              <a:t>skyblue</a:t>
            </a:r>
            <a:r>
              <a:rPr lang="en-US" altLang="ko-KR" sz="1400" dirty="0">
                <a:latin typeface="Arial Narrow" panose="020B0606020202030204" pitchFamily="34" charset="0"/>
              </a:rPr>
              <a:t>')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axes[0, 0].</a:t>
            </a:r>
            <a:r>
              <a:rPr lang="en-US" altLang="ko-KR" sz="1400" dirty="0" err="1">
                <a:latin typeface="Arial Narrow" panose="020B0606020202030204" pitchFamily="34" charset="0"/>
              </a:rPr>
              <a:t>set_title</a:t>
            </a:r>
            <a:r>
              <a:rPr lang="en-US" altLang="ko-KR" sz="1400" dirty="0">
                <a:latin typeface="Arial Narrow" panose="020B0606020202030204" pitchFamily="34" charset="0"/>
              </a:rPr>
              <a:t>(</a:t>
            </a:r>
            <a:r>
              <a:rPr lang="en-US" altLang="ko-KR" sz="1400" dirty="0" err="1">
                <a:latin typeface="Arial Narrow" panose="020B0606020202030204" pitchFamily="34" charset="0"/>
              </a:rPr>
              <a:t>f"Bernoulli</a:t>
            </a:r>
            <a:r>
              <a:rPr lang="en-US" altLang="ko-KR" sz="1400" dirty="0">
                <a:latin typeface="Arial Narrow" panose="020B0606020202030204" pitchFamily="34" charset="0"/>
              </a:rPr>
              <a:t> PMF (p={</a:t>
            </a:r>
            <a:r>
              <a:rPr lang="en-US" altLang="ko-KR" sz="1400" dirty="0" err="1">
                <a:latin typeface="Arial Narrow" panose="020B0606020202030204" pitchFamily="34" charset="0"/>
              </a:rPr>
              <a:t>p_bern</a:t>
            </a:r>
            <a:r>
              <a:rPr lang="en-US" altLang="ko-KR" sz="1400" dirty="0">
                <a:latin typeface="Arial Narrow" panose="020B0606020202030204" pitchFamily="34" charset="0"/>
              </a:rPr>
              <a:t>})")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axes[0, 1].step(</a:t>
            </a:r>
            <a:r>
              <a:rPr lang="en-US" altLang="ko-KR" sz="1400" dirty="0" err="1">
                <a:latin typeface="Arial Narrow" panose="020B0606020202030204" pitchFamily="34" charset="0"/>
              </a:rPr>
              <a:t>x_bern</a:t>
            </a:r>
            <a:r>
              <a:rPr lang="en-US" altLang="ko-KR" sz="1400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bernoulli.cdf</a:t>
            </a:r>
            <a:r>
              <a:rPr lang="en-US" altLang="ko-KR" sz="1400" b="1" dirty="0">
                <a:latin typeface="Arial Narrow" panose="020B0606020202030204" pitchFamily="34" charset="0"/>
              </a:rPr>
              <a:t>(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x_bern</a:t>
            </a:r>
            <a:r>
              <a:rPr lang="en-US" altLang="ko-KR" sz="1400" b="1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p_bern</a:t>
            </a:r>
            <a:r>
              <a:rPr lang="en-US" altLang="ko-KR" sz="1400" b="1" dirty="0">
                <a:latin typeface="Arial Narrow" panose="020B0606020202030204" pitchFamily="34" charset="0"/>
              </a:rPr>
              <a:t>)</a:t>
            </a:r>
            <a:r>
              <a:rPr lang="en-US" altLang="ko-KR" sz="1400" dirty="0">
                <a:latin typeface="Arial Narrow" panose="020B0606020202030204" pitchFamily="34" charset="0"/>
              </a:rPr>
              <a:t>, where='post', color='blue')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axes[0, 1].</a:t>
            </a:r>
            <a:r>
              <a:rPr lang="en-US" altLang="ko-KR" sz="1400" dirty="0" err="1">
                <a:latin typeface="Arial Narrow" panose="020B0606020202030204" pitchFamily="34" charset="0"/>
              </a:rPr>
              <a:t>set_title</a:t>
            </a:r>
            <a:r>
              <a:rPr lang="en-US" altLang="ko-KR" sz="1400" dirty="0">
                <a:latin typeface="Arial Narrow" panose="020B0606020202030204" pitchFamily="34" charset="0"/>
              </a:rPr>
              <a:t>("Bernoulli CDF")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# --- Binomial ---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axes[1, 0].bar(</a:t>
            </a:r>
            <a:r>
              <a:rPr lang="en-US" altLang="ko-KR" sz="1400" dirty="0" err="1">
                <a:latin typeface="Arial Narrow" panose="020B0606020202030204" pitchFamily="34" charset="0"/>
              </a:rPr>
              <a:t>x_bin</a:t>
            </a:r>
            <a:r>
              <a:rPr lang="en-US" altLang="ko-KR" sz="1400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binom.pmf</a:t>
            </a:r>
            <a:r>
              <a:rPr lang="en-US" altLang="ko-KR" sz="1400" b="1" dirty="0">
                <a:latin typeface="Arial Narrow" panose="020B0606020202030204" pitchFamily="34" charset="0"/>
              </a:rPr>
              <a:t>(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x_bin</a:t>
            </a:r>
            <a:r>
              <a:rPr lang="en-US" altLang="ko-KR" sz="1400" b="1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n_bin</a:t>
            </a:r>
            <a:r>
              <a:rPr lang="en-US" altLang="ko-KR" sz="1400" b="1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p_bin</a:t>
            </a:r>
            <a:r>
              <a:rPr lang="en-US" altLang="ko-KR" sz="1400" b="1" dirty="0">
                <a:latin typeface="Arial Narrow" panose="020B0606020202030204" pitchFamily="34" charset="0"/>
              </a:rPr>
              <a:t>)</a:t>
            </a:r>
            <a:r>
              <a:rPr lang="en-US" altLang="ko-KR" sz="1400" dirty="0">
                <a:latin typeface="Arial Narrow" panose="020B0606020202030204" pitchFamily="34" charset="0"/>
              </a:rPr>
              <a:t>, color='salmon')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axes[1, 0].</a:t>
            </a:r>
            <a:r>
              <a:rPr lang="en-US" altLang="ko-KR" sz="1400" dirty="0" err="1">
                <a:latin typeface="Arial Narrow" panose="020B0606020202030204" pitchFamily="34" charset="0"/>
              </a:rPr>
              <a:t>set_title</a:t>
            </a:r>
            <a:r>
              <a:rPr lang="en-US" altLang="ko-KR" sz="1400" dirty="0">
                <a:latin typeface="Arial Narrow" panose="020B0606020202030204" pitchFamily="34" charset="0"/>
              </a:rPr>
              <a:t>(</a:t>
            </a:r>
            <a:r>
              <a:rPr lang="en-US" altLang="ko-KR" sz="1400" dirty="0" err="1">
                <a:latin typeface="Arial Narrow" panose="020B0606020202030204" pitchFamily="34" charset="0"/>
              </a:rPr>
              <a:t>f"Binomial</a:t>
            </a:r>
            <a:r>
              <a:rPr lang="en-US" altLang="ko-KR" sz="1400" dirty="0">
                <a:latin typeface="Arial Narrow" panose="020B0606020202030204" pitchFamily="34" charset="0"/>
              </a:rPr>
              <a:t> PMF (n={</a:t>
            </a:r>
            <a:r>
              <a:rPr lang="en-US" altLang="ko-KR" sz="1400" dirty="0" err="1">
                <a:latin typeface="Arial Narrow" panose="020B0606020202030204" pitchFamily="34" charset="0"/>
              </a:rPr>
              <a:t>n_bin</a:t>
            </a:r>
            <a:r>
              <a:rPr lang="en-US" altLang="ko-KR" sz="1400" dirty="0">
                <a:latin typeface="Arial Narrow" panose="020B0606020202030204" pitchFamily="34" charset="0"/>
              </a:rPr>
              <a:t>}, p={</a:t>
            </a:r>
            <a:r>
              <a:rPr lang="en-US" altLang="ko-KR" sz="1400" dirty="0" err="1">
                <a:latin typeface="Arial Narrow" panose="020B0606020202030204" pitchFamily="34" charset="0"/>
              </a:rPr>
              <a:t>p_bin</a:t>
            </a:r>
            <a:r>
              <a:rPr lang="en-US" altLang="ko-KR" sz="1400" dirty="0">
                <a:latin typeface="Arial Narrow" panose="020B0606020202030204" pitchFamily="34" charset="0"/>
              </a:rPr>
              <a:t>})")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axes[1, 1].step(</a:t>
            </a:r>
            <a:r>
              <a:rPr lang="en-US" altLang="ko-KR" sz="1400" dirty="0" err="1">
                <a:latin typeface="Arial Narrow" panose="020B0606020202030204" pitchFamily="34" charset="0"/>
              </a:rPr>
              <a:t>x_bin</a:t>
            </a:r>
            <a:r>
              <a:rPr lang="en-US" altLang="ko-KR" sz="1400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binom.cdf</a:t>
            </a:r>
            <a:r>
              <a:rPr lang="en-US" altLang="ko-KR" sz="1400" b="1" dirty="0">
                <a:latin typeface="Arial Narrow" panose="020B0606020202030204" pitchFamily="34" charset="0"/>
              </a:rPr>
              <a:t>(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x_bin</a:t>
            </a:r>
            <a:r>
              <a:rPr lang="en-US" altLang="ko-KR" sz="1400" b="1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n_bin</a:t>
            </a:r>
            <a:r>
              <a:rPr lang="en-US" altLang="ko-KR" sz="1400" b="1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p_bin</a:t>
            </a:r>
            <a:r>
              <a:rPr lang="en-US" altLang="ko-KR" sz="1400" b="1" dirty="0">
                <a:latin typeface="Arial Narrow" panose="020B0606020202030204" pitchFamily="34" charset="0"/>
              </a:rPr>
              <a:t>)</a:t>
            </a:r>
            <a:r>
              <a:rPr lang="en-US" altLang="ko-KR" sz="1400" dirty="0">
                <a:latin typeface="Arial Narrow" panose="020B0606020202030204" pitchFamily="34" charset="0"/>
              </a:rPr>
              <a:t>, where='post', color='red')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axes[1, 1].</a:t>
            </a:r>
            <a:r>
              <a:rPr lang="en-US" altLang="ko-KR" sz="1400" dirty="0" err="1">
                <a:latin typeface="Arial Narrow" panose="020B0606020202030204" pitchFamily="34" charset="0"/>
              </a:rPr>
              <a:t>set_title</a:t>
            </a:r>
            <a:r>
              <a:rPr lang="en-US" altLang="ko-KR" sz="1400" dirty="0">
                <a:latin typeface="Arial Narrow" panose="020B0606020202030204" pitchFamily="34" charset="0"/>
              </a:rPr>
              <a:t>("Binomial CDF")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# --- Normal ---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axes[2, 0].plot(</a:t>
            </a:r>
            <a:r>
              <a:rPr lang="en-US" altLang="ko-KR" sz="1400" dirty="0" err="1">
                <a:latin typeface="Arial Narrow" panose="020B0606020202030204" pitchFamily="34" charset="0"/>
              </a:rPr>
              <a:t>x_norm</a:t>
            </a:r>
            <a:r>
              <a:rPr lang="en-US" altLang="ko-KR" sz="1400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>
                <a:latin typeface="Arial Narrow" panose="020B0606020202030204" pitchFamily="34" charset="0"/>
              </a:rPr>
              <a:t>norm.pdf(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x_norm</a:t>
            </a:r>
            <a:r>
              <a:rPr lang="en-US" altLang="ko-KR" sz="1400" b="1" dirty="0">
                <a:latin typeface="Arial Narrow" panose="020B0606020202030204" pitchFamily="34" charset="0"/>
              </a:rPr>
              <a:t>, mu, std)</a:t>
            </a:r>
            <a:r>
              <a:rPr lang="en-US" altLang="ko-KR" sz="1400" dirty="0">
                <a:latin typeface="Arial Narrow" panose="020B0606020202030204" pitchFamily="34" charset="0"/>
              </a:rPr>
              <a:t>, color='</a:t>
            </a:r>
            <a:r>
              <a:rPr lang="en-US" altLang="ko-KR" sz="1400" dirty="0" err="1">
                <a:latin typeface="Arial Narrow" panose="020B0606020202030204" pitchFamily="34" charset="0"/>
              </a:rPr>
              <a:t>lightgreen</a:t>
            </a:r>
            <a:r>
              <a:rPr lang="en-US" altLang="ko-KR" sz="1400" dirty="0">
                <a:latin typeface="Arial Narrow" panose="020B0606020202030204" pitchFamily="34" charset="0"/>
              </a:rPr>
              <a:t>', </a:t>
            </a:r>
            <a:r>
              <a:rPr lang="en-US" altLang="ko-KR" sz="1400" dirty="0" err="1">
                <a:latin typeface="Arial Narrow" panose="020B0606020202030204" pitchFamily="34" charset="0"/>
              </a:rPr>
              <a:t>lw</a:t>
            </a:r>
            <a:r>
              <a:rPr lang="en-US" altLang="ko-KR" sz="1400" dirty="0">
                <a:latin typeface="Arial Narrow" panose="020B0606020202030204" pitchFamily="34" charset="0"/>
              </a:rPr>
              <a:t>=3)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axes[2, 0].</a:t>
            </a:r>
            <a:r>
              <a:rPr lang="en-US" altLang="ko-KR" sz="1400" dirty="0" err="1">
                <a:latin typeface="Arial Narrow" panose="020B0606020202030204" pitchFamily="34" charset="0"/>
              </a:rPr>
              <a:t>set_title</a:t>
            </a:r>
            <a:r>
              <a:rPr lang="en-US" altLang="ko-KR" sz="1400" dirty="0">
                <a:latin typeface="Arial Narrow" panose="020B0606020202030204" pitchFamily="34" charset="0"/>
              </a:rPr>
              <a:t>(</a:t>
            </a:r>
            <a:r>
              <a:rPr lang="en-US" altLang="ko-KR" sz="1400" dirty="0" err="1">
                <a:latin typeface="Arial Narrow" panose="020B0606020202030204" pitchFamily="34" charset="0"/>
              </a:rPr>
              <a:t>f"Normal</a:t>
            </a:r>
            <a:r>
              <a:rPr lang="en-US" altLang="ko-KR" sz="1400" dirty="0">
                <a:latin typeface="Arial Narrow" panose="020B0606020202030204" pitchFamily="34" charset="0"/>
              </a:rPr>
              <a:t> PDF (mu={mu}, sigma={std})")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axes[2, 1].plot(</a:t>
            </a:r>
            <a:r>
              <a:rPr lang="en-US" altLang="ko-KR" sz="1400" dirty="0" err="1">
                <a:latin typeface="Arial Narrow" panose="020B0606020202030204" pitchFamily="34" charset="0"/>
              </a:rPr>
              <a:t>x_norm</a:t>
            </a:r>
            <a:r>
              <a:rPr lang="en-US" altLang="ko-KR" sz="1400" dirty="0">
                <a:latin typeface="Arial Narrow" panose="020B0606020202030204" pitchFamily="34" charset="0"/>
              </a:rPr>
              <a:t>, 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norm.cdf</a:t>
            </a:r>
            <a:r>
              <a:rPr lang="en-US" altLang="ko-KR" sz="1400" b="1" dirty="0">
                <a:latin typeface="Arial Narrow" panose="020B0606020202030204" pitchFamily="34" charset="0"/>
              </a:rPr>
              <a:t>(</a:t>
            </a:r>
            <a:r>
              <a:rPr lang="en-US" altLang="ko-KR" sz="1400" b="1" dirty="0" err="1">
                <a:latin typeface="Arial Narrow" panose="020B0606020202030204" pitchFamily="34" charset="0"/>
              </a:rPr>
              <a:t>x_norm</a:t>
            </a:r>
            <a:r>
              <a:rPr lang="en-US" altLang="ko-KR" sz="1400" b="1" dirty="0">
                <a:latin typeface="Arial Narrow" panose="020B0606020202030204" pitchFamily="34" charset="0"/>
              </a:rPr>
              <a:t>, mu, std)</a:t>
            </a:r>
            <a:r>
              <a:rPr lang="en-US" altLang="ko-KR" sz="1400" dirty="0">
                <a:latin typeface="Arial Narrow" panose="020B0606020202030204" pitchFamily="34" charset="0"/>
              </a:rPr>
              <a:t>, color='green', </a:t>
            </a:r>
            <a:r>
              <a:rPr lang="en-US" altLang="ko-KR" sz="1400" dirty="0" err="1">
                <a:latin typeface="Arial Narrow" panose="020B0606020202030204" pitchFamily="34" charset="0"/>
              </a:rPr>
              <a:t>lw</a:t>
            </a:r>
            <a:r>
              <a:rPr lang="en-US" altLang="ko-KR" sz="1400" dirty="0">
                <a:latin typeface="Arial Narrow" panose="020B0606020202030204" pitchFamily="34" charset="0"/>
              </a:rPr>
              <a:t>=3)</a:t>
            </a:r>
          </a:p>
          <a:p>
            <a:r>
              <a:rPr lang="en-US" altLang="ko-KR" sz="1400" dirty="0">
                <a:latin typeface="Arial Narrow" panose="020B0606020202030204" pitchFamily="34" charset="0"/>
              </a:rPr>
              <a:t>axes[2, 1].</a:t>
            </a:r>
            <a:r>
              <a:rPr lang="en-US" altLang="ko-KR" sz="1400" dirty="0" err="1">
                <a:latin typeface="Arial Narrow" panose="020B0606020202030204" pitchFamily="34" charset="0"/>
              </a:rPr>
              <a:t>set_title</a:t>
            </a:r>
            <a:r>
              <a:rPr lang="en-US" altLang="ko-KR" sz="1400" dirty="0">
                <a:latin typeface="Arial Narrow" panose="020B0606020202030204" pitchFamily="34" charset="0"/>
              </a:rPr>
              <a:t>("Normal CDF")</a:t>
            </a:r>
            <a:endParaRPr lang="ko-KR" altLang="en-US" sz="1400" dirty="0">
              <a:latin typeface="Arial Narrow" panose="020B0606020202030204" pitchFamily="34" charset="0"/>
            </a:endParaRPr>
          </a:p>
          <a:p>
            <a:r>
              <a:rPr lang="ko-KR" altLang="en-US" sz="1400" dirty="0" err="1">
                <a:latin typeface="Arial Narrow" panose="020B0606020202030204" pitchFamily="34" charset="0"/>
              </a:rPr>
              <a:t>plt.tight_layout</a:t>
            </a:r>
            <a:r>
              <a:rPr lang="ko-KR" altLang="en-US" sz="1400" dirty="0">
                <a:latin typeface="Arial Narrow" panose="020B0606020202030204" pitchFamily="34" charset="0"/>
              </a:rPr>
              <a:t>()</a:t>
            </a:r>
          </a:p>
          <a:p>
            <a:r>
              <a:rPr lang="ko-KR" altLang="en-US" sz="1400" dirty="0" err="1">
                <a:latin typeface="Arial Narrow" panose="020B0606020202030204" pitchFamily="34" charset="0"/>
              </a:rPr>
              <a:t>plt.show</a:t>
            </a:r>
            <a:r>
              <a:rPr lang="ko-KR" altLang="en-US" sz="1400" dirty="0">
                <a:latin typeface="Arial Narrow" panose="020B0606020202030204" pitchFamily="34" charset="0"/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34806312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449FE5-E00F-90F2-863A-30C2C31CC4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65193FF2-FCF8-EAFD-C959-493CF87F11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36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CE646F4-ADCD-9A58-74BE-59E448FC66DB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D11140F-8572-3129-4401-849CED078916}"/>
              </a:ext>
            </a:extLst>
          </p:cNvPr>
          <p:cNvSpPr txBox="1"/>
          <p:nvPr/>
        </p:nvSpPr>
        <p:spPr>
          <a:xfrm>
            <a:off x="693812" y="1050968"/>
            <a:ext cx="11233248" cy="1020216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from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scipy.stats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 베르누이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이항분포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정규분포 모듈을 호출하여 각 확률분포에서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1,000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개의 데이터를 임의 생성한 후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pmf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pdf, </a:t>
            </a:r>
            <a:r>
              <a:rPr lang="en-US" altLang="ko-KR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cdf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각각 구하고 </a:t>
            </a:r>
            <a:r>
              <a:rPr lang="ko-KR" altLang="en-US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시각화하라</a:t>
            </a:r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각 확률분포의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parameters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변경하면서 분포의 모양새의 변화를 확인하고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코드의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bold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코드를 이해하라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7DBEFC0-576A-77FA-C6FE-5C224F8FB2C8}"/>
              </a:ext>
            </a:extLst>
          </p:cNvPr>
          <p:cNvSpPr txBox="1"/>
          <p:nvPr/>
        </p:nvSpPr>
        <p:spPr>
          <a:xfrm>
            <a:off x="1125860" y="2570506"/>
            <a:ext cx="6192688" cy="923330"/>
          </a:xfrm>
          <a:prstGeom prst="rect">
            <a:avLst/>
          </a:prstGeom>
          <a:solidFill>
            <a:srgbClr val="D7E3FF"/>
          </a:solidFill>
        </p:spPr>
        <p:txBody>
          <a:bodyPr wrap="square">
            <a:spAutoFit/>
          </a:bodyPr>
          <a:lstStyle/>
          <a:p>
            <a:r>
              <a:rPr lang="de-DE" altLang="ko-KR" dirty="0"/>
              <a:t>p_bern = 0.5</a:t>
            </a:r>
          </a:p>
          <a:p>
            <a:r>
              <a:rPr lang="de-DE" altLang="ko-KR" dirty="0"/>
              <a:t>data_bern = bernoulli.</a:t>
            </a:r>
            <a:r>
              <a:rPr lang="de-DE" altLang="ko-KR" b="1" dirty="0"/>
              <a:t>rvs</a:t>
            </a:r>
            <a:r>
              <a:rPr lang="de-DE" altLang="ko-KR" dirty="0"/>
              <a:t>(p_bern, size=</a:t>
            </a:r>
            <a:r>
              <a:rPr lang="ko-KR" altLang="en-US" dirty="0" err="1"/>
              <a:t>n_samples</a:t>
            </a:r>
            <a:r>
              <a:rPr lang="ko-KR" altLang="en-US" dirty="0"/>
              <a:t> </a:t>
            </a:r>
            <a:r>
              <a:rPr lang="de-DE" altLang="ko-KR" dirty="0"/>
              <a:t>)</a:t>
            </a:r>
          </a:p>
          <a:p>
            <a:r>
              <a:rPr lang="de-DE" altLang="ko-KR" dirty="0"/>
              <a:t>data_bern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6D438AD-B5A9-D9D2-47E4-A315FD1DD8B4}"/>
              </a:ext>
            </a:extLst>
          </p:cNvPr>
          <p:cNvSpPr txBox="1"/>
          <p:nvPr/>
        </p:nvSpPr>
        <p:spPr>
          <a:xfrm>
            <a:off x="1125860" y="3933056"/>
            <a:ext cx="6192688" cy="923330"/>
          </a:xfrm>
          <a:prstGeom prst="rect">
            <a:avLst/>
          </a:prstGeom>
          <a:solidFill>
            <a:srgbClr val="D7E3FF"/>
          </a:solidFill>
        </p:spPr>
        <p:txBody>
          <a:bodyPr wrap="square">
            <a:spAutoFit/>
          </a:bodyPr>
          <a:lstStyle/>
          <a:p>
            <a:r>
              <a:rPr lang="de-DE" altLang="ko-KR" dirty="0"/>
              <a:t>n_bin, p_bin = 10, 0.5</a:t>
            </a:r>
          </a:p>
          <a:p>
            <a:r>
              <a:rPr lang="de-DE" altLang="ko-KR" dirty="0"/>
              <a:t>data_bin = binom.</a:t>
            </a:r>
            <a:r>
              <a:rPr lang="de-DE" altLang="ko-KR" b="1" dirty="0"/>
              <a:t>rvs</a:t>
            </a:r>
            <a:r>
              <a:rPr lang="de-DE" altLang="ko-KR" dirty="0"/>
              <a:t>(n_bin, p_bin, size=</a:t>
            </a:r>
            <a:r>
              <a:rPr lang="ko-KR" altLang="en-US" dirty="0" err="1"/>
              <a:t>n_samples</a:t>
            </a:r>
            <a:r>
              <a:rPr lang="ko-KR" altLang="en-US" dirty="0"/>
              <a:t> </a:t>
            </a:r>
            <a:r>
              <a:rPr lang="de-DE" altLang="ko-KR" dirty="0"/>
              <a:t>)</a:t>
            </a:r>
          </a:p>
          <a:p>
            <a:r>
              <a:rPr lang="de-DE" altLang="ko-KR" dirty="0"/>
              <a:t>data_bin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49E67EF-B1EE-6E30-1485-1545A22C2CAB}"/>
              </a:ext>
            </a:extLst>
          </p:cNvPr>
          <p:cNvSpPr txBox="1"/>
          <p:nvPr/>
        </p:nvSpPr>
        <p:spPr>
          <a:xfrm>
            <a:off x="1125860" y="5385990"/>
            <a:ext cx="6192688" cy="923330"/>
          </a:xfrm>
          <a:prstGeom prst="rect">
            <a:avLst/>
          </a:prstGeom>
          <a:solidFill>
            <a:srgbClr val="D7E3FF"/>
          </a:solidFill>
        </p:spPr>
        <p:txBody>
          <a:bodyPr wrap="square">
            <a:spAutoFit/>
          </a:bodyPr>
          <a:lstStyle/>
          <a:p>
            <a:r>
              <a:rPr lang="en-US" altLang="ko-KR" dirty="0"/>
              <a:t>mu, std = 0, 1</a:t>
            </a:r>
          </a:p>
          <a:p>
            <a:r>
              <a:rPr lang="en-US" altLang="ko-KR" dirty="0" err="1"/>
              <a:t>data_norm</a:t>
            </a:r>
            <a:r>
              <a:rPr lang="en-US" altLang="ko-KR" dirty="0"/>
              <a:t> = </a:t>
            </a:r>
            <a:r>
              <a:rPr lang="en-US" altLang="ko-KR" dirty="0" err="1"/>
              <a:t>norm.</a:t>
            </a:r>
            <a:r>
              <a:rPr lang="en-US" altLang="ko-KR" b="1" dirty="0" err="1"/>
              <a:t>rvs</a:t>
            </a:r>
            <a:r>
              <a:rPr lang="en-US" altLang="ko-KR" dirty="0"/>
              <a:t>(mu, std, size=</a:t>
            </a:r>
            <a:r>
              <a:rPr lang="ko-KR" altLang="en-US" dirty="0" err="1"/>
              <a:t>n_samples</a:t>
            </a:r>
            <a:r>
              <a:rPr lang="ko-KR" altLang="en-US" dirty="0"/>
              <a:t> </a:t>
            </a:r>
            <a:r>
              <a:rPr lang="en-US" altLang="ko-KR" dirty="0"/>
              <a:t>)</a:t>
            </a:r>
          </a:p>
          <a:p>
            <a:r>
              <a:rPr lang="en-US" altLang="ko-KR" dirty="0" err="1"/>
              <a:t>data_norm</a:t>
            </a:r>
            <a:endParaRPr lang="en-US" altLang="ko-KR" dirty="0"/>
          </a:p>
        </p:txBody>
      </p:sp>
      <p:sp>
        <p:nvSpPr>
          <p:cNvPr id="11" name="화살표: 오른쪽 10">
            <a:extLst>
              <a:ext uri="{FF2B5EF4-FFF2-40B4-BE49-F238E27FC236}">
                <a16:creationId xmlns:a16="http://schemas.microsoft.com/office/drawing/2014/main" id="{91128739-5290-7A6A-71D0-1DD8A378F51E}"/>
              </a:ext>
            </a:extLst>
          </p:cNvPr>
          <p:cNvSpPr/>
          <p:nvPr/>
        </p:nvSpPr>
        <p:spPr>
          <a:xfrm>
            <a:off x="7750596" y="3356992"/>
            <a:ext cx="1368152" cy="1944216"/>
          </a:xfrm>
          <a:prstGeom prst="rightArrow">
            <a:avLst>
              <a:gd name="adj1" fmla="val 69366"/>
              <a:gd name="adj2" fmla="val 5000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시각화</a:t>
            </a:r>
            <a:endParaRPr lang="en-US" altLang="ko-KR" dirty="0"/>
          </a:p>
          <a:p>
            <a:pPr algn="ctr"/>
            <a:endParaRPr lang="en-US" altLang="ko-KR" dirty="0"/>
          </a:p>
          <a:p>
            <a:pPr algn="ctr"/>
            <a:r>
              <a:rPr lang="ko-KR" altLang="en-US" dirty="0"/>
              <a:t>확인</a:t>
            </a:r>
          </a:p>
        </p:txBody>
      </p:sp>
      <p:pic>
        <p:nvPicPr>
          <p:cNvPr id="5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163B8586-B9BC-4B03-7921-F6CB2DF0BD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259094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37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5900" y="832125"/>
            <a:ext cx="8856984" cy="51095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31002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37F7E9-1FE7-2EBC-35C8-B2B2C621A3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77C678DC-E0FA-3ABC-B06D-0B4F099AF4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522" y="2843639"/>
            <a:ext cx="12083779" cy="35127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8F40D37-F604-11F7-60C6-6208E65A1B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38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0821057-03B1-184F-DD09-1DD99A12995A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E5D5899-55B7-98D1-1DCB-BAF688C29F1D}"/>
              </a:ext>
            </a:extLst>
          </p:cNvPr>
          <p:cNvSpPr txBox="1"/>
          <p:nvPr/>
        </p:nvSpPr>
        <p:spPr>
          <a:xfrm>
            <a:off x="10486900" y="3296617"/>
            <a:ext cx="151216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Outliers →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이상치 튀어나옴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FAA4235-19EA-715C-7139-7101D316FA54}"/>
              </a:ext>
            </a:extLst>
          </p:cNvPr>
          <p:cNvSpPr txBox="1"/>
          <p:nvPr/>
        </p:nvSpPr>
        <p:spPr>
          <a:xfrm>
            <a:off x="2449692" y="2442374"/>
            <a:ext cx="757747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US" altLang="ko-KR" sz="16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“</a:t>
            </a:r>
            <a:r>
              <a:rPr lang="ko-KR" altLang="en-US" sz="16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모집단의 분포는 제 각각이지만</a:t>
            </a:r>
            <a:r>
              <a:rPr lang="en-US" altLang="ko-KR" sz="16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16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표본의 평균은 같은 언어</a:t>
            </a:r>
            <a:r>
              <a:rPr lang="en-US" altLang="ko-KR" sz="16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</a:t>
            </a:r>
            <a:r>
              <a:rPr lang="ko-KR" altLang="en-US" sz="16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정규분포</a:t>
            </a:r>
            <a:r>
              <a:rPr lang="en-US" altLang="ko-KR" sz="16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r>
              <a:rPr lang="ko-KR" altLang="en-US" sz="16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를 따른다”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6C735DF-E00B-8759-15BA-EA8CC9109A32}"/>
              </a:ext>
            </a:extLst>
          </p:cNvPr>
          <p:cNvSpPr txBox="1"/>
          <p:nvPr/>
        </p:nvSpPr>
        <p:spPr>
          <a:xfrm>
            <a:off x="693812" y="3714057"/>
            <a:ext cx="201622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Uniform → </a:t>
            </a:r>
            <a:r>
              <a:rPr lang="ko-KR" altLang="en-US" sz="1400" dirty="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평평 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449BE78-8871-9D8E-A657-65BCF1973E2D}"/>
              </a:ext>
            </a:extLst>
          </p:cNvPr>
          <p:cNvSpPr txBox="1"/>
          <p:nvPr/>
        </p:nvSpPr>
        <p:spPr>
          <a:xfrm>
            <a:off x="3646140" y="3274699"/>
            <a:ext cx="259228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Skewed →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한쪽으로 치우침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3C7E706-DAE6-5266-8D86-3CF44CCF8B23}"/>
              </a:ext>
            </a:extLst>
          </p:cNvPr>
          <p:cNvSpPr txBox="1"/>
          <p:nvPr/>
        </p:nvSpPr>
        <p:spPr>
          <a:xfrm>
            <a:off x="7102524" y="3460581"/>
            <a:ext cx="213602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Heavy Tail →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긴 꼬리 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804DD40-BF9D-37F2-2E9B-FBAA331C9BD3}"/>
              </a:ext>
            </a:extLst>
          </p:cNvPr>
          <p:cNvSpPr txBox="1"/>
          <p:nvPr/>
        </p:nvSpPr>
        <p:spPr>
          <a:xfrm>
            <a:off x="483969" y="990607"/>
            <a:ext cx="9383932" cy="1020216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왜 서로 다른 분포인데 결과는 같아지는가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이상치가 있어도 평균은 왜 안정적인가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이게 </a:t>
            </a:r>
            <a:r>
              <a:rPr lang="ko-KR" altLang="en-US" sz="14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머신러닝과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4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딥러닝과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무슨 관계인가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이게 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A/B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테스트와 무슨 관계인가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아래 경우를 바탕으로 다양한 예를 들어 중심극한정리를 적용하여 시각화하고 </a:t>
            </a:r>
            <a:r>
              <a:rPr lang="ko-KR" altLang="en-US" sz="14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머신러닝과의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접목점도 시각화 하고 설명하는 보고서를 제출하라</a:t>
            </a:r>
            <a:endParaRPr lang="en-US" altLang="ko-KR" sz="14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3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478538E0-23E4-A86D-1292-242EEF1008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421140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5EA21B-0B46-FCE1-79D8-2485820A9A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89AAFB6A-2F92-0D94-43A3-5F5C78060C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39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70E5AA0-92F8-F123-B4E8-D4FA1D208387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4A77B24-B972-3430-22FD-5B037A7CFCE0}"/>
              </a:ext>
            </a:extLst>
          </p:cNvPr>
          <p:cNvSpPr txBox="1"/>
          <p:nvPr/>
        </p:nvSpPr>
        <p:spPr>
          <a:xfrm>
            <a:off x="333772" y="1772816"/>
            <a:ext cx="5112569" cy="336893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Problem : 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현실 데이터는 왜 어려운가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</a:t>
            </a:r>
          </a:p>
          <a:p>
            <a:pPr>
              <a:lnSpc>
                <a:spcPct val="150000"/>
              </a:lnSpc>
              <a:buNone/>
            </a:pPr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분포를 모른다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(uniform,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exponential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등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이상치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(abnormality, outliers)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존재 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정규분포 아님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(skewed, heavy tail) 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👉 질문</a:t>
            </a:r>
            <a:b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</a:b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“이런 데이터로 어떻게 분석과 학습을 할까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?”</a:t>
            </a:r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E81EE9F-6901-C6DC-5EB0-FF4F18BEB070}"/>
              </a:ext>
            </a:extLst>
          </p:cNvPr>
          <p:cNvSpPr txBox="1"/>
          <p:nvPr/>
        </p:nvSpPr>
        <p:spPr>
          <a:xfrm>
            <a:off x="6382444" y="1772816"/>
            <a:ext cx="5090965" cy="336893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Solution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평균이 문제를 해결한다</a:t>
            </a:r>
            <a:r>
              <a:rPr lang="en-US" altLang="ko-KR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>
              <a:lnSpc>
                <a:spcPct val="150000"/>
              </a:lnSpc>
              <a:buNone/>
            </a:pPr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개별 데이터 → 불규칙 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평균 → 안정적 </a:t>
            </a:r>
          </a:p>
          <a:p>
            <a:pPr>
              <a:lnSpc>
                <a:spcPct val="150000"/>
              </a:lnSpc>
              <a:buNone/>
            </a:pP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  <a:buNone/>
            </a:pP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👉 핵심 메시지</a:t>
            </a:r>
            <a:b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</a:b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“평균을 보면 질서가 보인다”</a:t>
            </a:r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3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5E22FDCF-DC6C-3F46-ED1B-7A70983909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740659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DDCC26-4A6F-3EA6-8212-862648D149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D1C6FDF6-4C1F-E672-780E-582262BBC0EF}"/>
              </a:ext>
            </a:extLst>
          </p:cNvPr>
          <p:cNvSpPr/>
          <p:nvPr/>
        </p:nvSpPr>
        <p:spPr>
          <a:xfrm>
            <a:off x="598421" y="5445224"/>
            <a:ext cx="8136904" cy="6748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FF2CCE3C-C8AB-36C2-563E-166AEFF821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40</a:t>
            </a:fld>
            <a:endParaRPr lang="en-US" altLang="ko-KR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F4B3A6C-81F2-1538-0FA3-857F7B49C526}"/>
              </a:ext>
            </a:extLst>
          </p:cNvPr>
          <p:cNvSpPr txBox="1"/>
          <p:nvPr/>
        </p:nvSpPr>
        <p:spPr>
          <a:xfrm>
            <a:off x="1629916" y="147612"/>
            <a:ext cx="8928992" cy="5891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  <a:spcBef>
                <a:spcPts val="600"/>
              </a:spcBef>
            </a:pPr>
            <a:r>
              <a:rPr lang="ko-KR" altLang="en-US" sz="4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 변수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Variable)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이산형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(Discrete)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연속형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(Continuous)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확률변수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분산과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편향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 &amp; Bias)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 err="1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기대값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(Expectation)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과 분산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(variance)</a:t>
            </a: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분포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(Random Distribution)</a:t>
            </a:r>
          </a:p>
          <a:p>
            <a:pPr marL="971550" lvl="1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베르누이분포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이항분포</a:t>
            </a:r>
            <a:r>
              <a:rPr lang="en-US" altLang="ko-KR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, </a:t>
            </a:r>
            <a:r>
              <a:rPr lang="ko-KR" altLang="en-US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정규분포</a:t>
            </a:r>
            <a:endParaRPr lang="en-US" altLang="ko-KR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spcBef>
                <a:spcPts val="600"/>
              </a:spcBef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조건부 확률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(Conditional Probability)</a:t>
            </a:r>
          </a:p>
        </p:txBody>
      </p:sp>
    </p:spTree>
    <p:extLst>
      <p:ext uri="{BB962C8B-B14F-4D97-AF65-F5344CB8AC3E}">
        <p14:creationId xmlns:p14="http://schemas.microsoft.com/office/powerpoint/2010/main" val="13379947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41</a:t>
            </a:fld>
            <a:endParaRPr lang="en-US" altLang="ko-KR" noProof="0" dirty="0"/>
          </a:p>
        </p:txBody>
      </p:sp>
      <p:sp>
        <p:nvSpPr>
          <p:cNvPr id="4" name="직사각형 3"/>
          <p:cNvSpPr/>
          <p:nvPr/>
        </p:nvSpPr>
        <p:spPr>
          <a:xfrm>
            <a:off x="333772" y="692696"/>
            <a:ext cx="11737304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sz="2000" dirty="0"/>
              <a:t>AI</a:t>
            </a:r>
            <a:r>
              <a:rPr lang="ko-KR" altLang="en-US" sz="2000" dirty="0"/>
              <a:t>는 스스로 어떻게 학습하고 답변하는가</a:t>
            </a:r>
            <a:r>
              <a:rPr lang="en-US" altLang="ko-KR" sz="2000" dirty="0"/>
              <a:t>? </a:t>
            </a:r>
            <a:r>
              <a:rPr lang="ko-KR" altLang="en-US" sz="2000" dirty="0"/>
              <a:t>당신은</a:t>
            </a:r>
            <a:r>
              <a:rPr lang="en-US" altLang="ko-KR" sz="2000" dirty="0"/>
              <a:t>?</a:t>
            </a:r>
            <a:endParaRPr lang="ko-KR" altLang="en-US" sz="2000" dirty="0"/>
          </a:p>
        </p:txBody>
      </p:sp>
      <p:sp>
        <p:nvSpPr>
          <p:cNvPr id="5" name="제목 1">
            <a:extLst>
              <a:ext uri="{FF2B5EF4-FFF2-40B4-BE49-F238E27FC236}">
                <a16:creationId xmlns:a16="http://schemas.microsoft.com/office/drawing/2014/main" id="{943DF403-EEB4-C91B-32EE-23EFD899536D}"/>
              </a:ext>
            </a:extLst>
          </p:cNvPr>
          <p:cNvSpPr txBox="1">
            <a:spLocks/>
          </p:cNvSpPr>
          <p:nvPr/>
        </p:nvSpPr>
        <p:spPr>
          <a:xfrm>
            <a:off x="2159350" y="2540901"/>
            <a:ext cx="4861565" cy="57482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68580" tIns="34290" rIns="68580" bIns="34290" rtlCol="0" anchor="ctr">
            <a:normAutofit/>
          </a:bodyPr>
          <a:lstStyle>
            <a:lvl1pPr algn="ctr" defTabSz="4572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Batang" panose="02030600000101010101" pitchFamily="18" charset="-127"/>
              </a:defRPr>
            </a:lvl1pPr>
            <a:lvl2pPr eaLnBrk="1" latinLnBrk="1" hangingPunct="1">
              <a:defRPr>
                <a:solidFill>
                  <a:schemeClr val="tx2"/>
                </a:solidFill>
              </a:defRPr>
            </a:lvl2pPr>
            <a:lvl3pPr eaLnBrk="1" latinLnBrk="1" hangingPunct="1">
              <a:defRPr>
                <a:solidFill>
                  <a:schemeClr val="tx2"/>
                </a:solidFill>
              </a:defRPr>
            </a:lvl3pPr>
            <a:lvl4pPr eaLnBrk="1" latinLnBrk="1" hangingPunct="1">
              <a:defRPr>
                <a:solidFill>
                  <a:schemeClr val="tx2"/>
                </a:solidFill>
              </a:defRPr>
            </a:lvl4pPr>
            <a:lvl5pPr eaLnBrk="1" latinLnBrk="1" hangingPunct="1">
              <a:defRPr>
                <a:solidFill>
                  <a:schemeClr val="tx2"/>
                </a:solidFill>
              </a:defRPr>
            </a:lvl5pPr>
            <a:lvl6pPr eaLnBrk="1" latinLnBrk="1" hangingPunct="1">
              <a:defRPr>
                <a:solidFill>
                  <a:schemeClr val="tx2"/>
                </a:solidFill>
              </a:defRPr>
            </a:lvl6pPr>
            <a:lvl7pPr eaLnBrk="1" latinLnBrk="1" hangingPunct="1">
              <a:defRPr>
                <a:solidFill>
                  <a:schemeClr val="tx2"/>
                </a:solidFill>
              </a:defRPr>
            </a:lvl7pPr>
            <a:lvl8pPr eaLnBrk="1" latinLnBrk="1" hangingPunct="1">
              <a:defRPr>
                <a:solidFill>
                  <a:schemeClr val="tx2"/>
                </a:solidFill>
              </a:defRPr>
            </a:lvl8pPr>
            <a:lvl9pPr eaLnBrk="1" latinLnBrk="1" hangingPunct="1">
              <a:defRPr>
                <a:solidFill>
                  <a:schemeClr val="tx2"/>
                </a:solidFill>
              </a:defRPr>
            </a:lvl9pPr>
          </a:lstStyle>
          <a:p>
            <a:pPr algn="l"/>
            <a:r>
              <a:rPr lang="ko-KR" altLang="en-US" sz="2100" dirty="0">
                <a:solidFill>
                  <a:schemeClr val="tx1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블랙    </a:t>
            </a:r>
            <a:r>
              <a:rPr lang="en-US" altLang="ko-KR" sz="2100" dirty="0">
                <a:solidFill>
                  <a:schemeClr val="tx1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    ?     )</a:t>
            </a:r>
            <a:endParaRPr lang="ko-KR" altLang="en-US" sz="2100" dirty="0">
              <a:solidFill>
                <a:schemeClr val="tx1"/>
              </a:solidFill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0C74DF30-B848-CCCB-2DB9-DD0CA5B281F0}"/>
              </a:ext>
            </a:extLst>
          </p:cNvPr>
          <p:cNvGrpSpPr/>
          <p:nvPr/>
        </p:nvGrpSpPr>
        <p:grpSpPr>
          <a:xfrm>
            <a:off x="3317348" y="2164000"/>
            <a:ext cx="4861565" cy="2288032"/>
            <a:chOff x="2849632" y="1003319"/>
            <a:chExt cx="6482087" cy="3050709"/>
          </a:xfrm>
        </p:grpSpPr>
        <p:sp>
          <p:nvSpPr>
            <p:cNvPr id="10" name="제목 1">
              <a:extLst>
                <a:ext uri="{FF2B5EF4-FFF2-40B4-BE49-F238E27FC236}">
                  <a16:creationId xmlns:a16="http://schemas.microsoft.com/office/drawing/2014/main" id="{C626DF26-B724-97BC-A10D-E431B47870AF}"/>
                </a:ext>
              </a:extLst>
            </p:cNvPr>
            <p:cNvSpPr txBox="1">
              <a:spLocks/>
            </p:cNvSpPr>
            <p:nvPr/>
          </p:nvSpPr>
          <p:spPr>
            <a:xfrm>
              <a:off x="2849632" y="2427345"/>
              <a:ext cx="6482087" cy="766439"/>
            </a:xfrm>
            <a:prstGeom prst="rect">
              <a:avLst/>
            </a:prstGeom>
            <a:effectLst>
              <a:outerShdw blurRad="25400" dir="17880000">
                <a:srgbClr val="000000">
                  <a:alpha val="46000"/>
                </a:srgbClr>
              </a:outerShdw>
            </a:effectLst>
          </p:spPr>
          <p:txBody>
            <a:bodyPr vert="horz" lIns="68580" tIns="34290" rIns="68580" bIns="34290" rtlCol="0" anchor="ctr">
              <a:normAutofit/>
            </a:bodyPr>
            <a:lstStyle>
              <a:lvl1pPr algn="ctr" defTabSz="457200" rtl="0" eaLnBrk="1" latinLnBrk="1" hangingPunct="1">
                <a:lnSpc>
                  <a:spcPct val="90000"/>
                </a:lnSpc>
                <a:spcBef>
                  <a:spcPct val="0"/>
                </a:spcBef>
                <a:buNone/>
                <a:defRPr sz="3200" kern="1200">
                  <a:ln>
                    <a:solidFill>
                      <a:schemeClr val="bg1">
                        <a:lumMod val="75000"/>
                        <a:lumOff val="25000"/>
                        <a:alpha val="10000"/>
                      </a:schemeClr>
                    </a:solidFill>
                  </a:ln>
                  <a:solidFill>
                    <a:schemeClr val="tx2"/>
                  </a:solidFill>
                  <a:effectLst>
                    <a:outerShdw blurRad="9525" dist="25400" dir="14640000" algn="tl" rotWithShape="0">
                      <a:schemeClr val="bg1">
                        <a:alpha val="30000"/>
                      </a:schemeClr>
                    </a:outerShdw>
                  </a:effectLst>
                  <a:latin typeface="Batang" panose="02030600000101010101" pitchFamily="18" charset="-127"/>
                  <a:ea typeface="Batang" panose="02030600000101010101" pitchFamily="18" charset="-127"/>
                  <a:cs typeface="Batang" panose="02030600000101010101" pitchFamily="18" charset="-127"/>
                </a:defRPr>
              </a:lvl1pPr>
              <a:lvl2pPr eaLnBrk="1" latinLnBrk="1" hangingPunct="1">
                <a:defRPr>
                  <a:solidFill>
                    <a:schemeClr val="tx2"/>
                  </a:solidFill>
                </a:defRPr>
              </a:lvl2pPr>
              <a:lvl3pPr eaLnBrk="1" latinLnBrk="1" hangingPunct="1">
                <a:defRPr>
                  <a:solidFill>
                    <a:schemeClr val="tx2"/>
                  </a:solidFill>
                </a:defRPr>
              </a:lvl3pPr>
              <a:lvl4pPr eaLnBrk="1" latinLnBrk="1" hangingPunct="1">
                <a:defRPr>
                  <a:solidFill>
                    <a:schemeClr val="tx2"/>
                  </a:solidFill>
                </a:defRPr>
              </a:lvl4pPr>
              <a:lvl5pPr eaLnBrk="1" latinLnBrk="1" hangingPunct="1">
                <a:defRPr>
                  <a:solidFill>
                    <a:schemeClr val="tx2"/>
                  </a:solidFill>
                </a:defRPr>
              </a:lvl5pPr>
              <a:lvl6pPr eaLnBrk="1" latinLnBrk="1" hangingPunct="1">
                <a:defRPr>
                  <a:solidFill>
                    <a:schemeClr val="tx2"/>
                  </a:solidFill>
                </a:defRPr>
              </a:lvl6pPr>
              <a:lvl7pPr eaLnBrk="1" latinLnBrk="1" hangingPunct="1">
                <a:defRPr>
                  <a:solidFill>
                    <a:schemeClr val="tx2"/>
                  </a:solidFill>
                </a:defRPr>
              </a:lvl7pPr>
              <a:lvl8pPr eaLnBrk="1" latinLnBrk="1" hangingPunct="1">
                <a:defRPr>
                  <a:solidFill>
                    <a:schemeClr val="tx2"/>
                  </a:solidFill>
                </a:defRPr>
              </a:lvl8pPr>
              <a:lvl9pPr eaLnBrk="1" latinLnBrk="1" hangingPunct="1">
                <a:defRPr>
                  <a:solidFill>
                    <a:schemeClr val="tx2"/>
                  </a:solidFill>
                </a:defRPr>
              </a:lvl9pPr>
            </a:lstStyle>
            <a:p>
              <a:pPr algn="l"/>
              <a:r>
                <a:rPr lang="ko-KR" altLang="en-US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블랙 </a:t>
              </a:r>
              <a:r>
                <a:rPr lang="en-US" altLang="ko-KR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(   </a:t>
              </a:r>
              <a:r>
                <a:rPr lang="ko-KR" altLang="en-US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핑크</a:t>
              </a:r>
              <a:r>
                <a:rPr lang="en-US" altLang="ko-KR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   )</a:t>
              </a:r>
              <a:endParaRPr lang="ko-KR" altLang="en-US" sz="2100" dirty="0">
                <a:solidFill>
                  <a:schemeClr val="tx1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endParaRPr>
            </a:p>
          </p:txBody>
        </p:sp>
        <p:pic>
          <p:nvPicPr>
            <p:cNvPr id="11" name="그림 10">
              <a:extLst>
                <a:ext uri="{FF2B5EF4-FFF2-40B4-BE49-F238E27FC236}">
                  <a16:creationId xmlns:a16="http://schemas.microsoft.com/office/drawing/2014/main" id="{20E1A835-2913-35D9-5D81-DBC9A029712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816815" y="1003319"/>
              <a:ext cx="2245415" cy="3050709"/>
            </a:xfrm>
            <a:prstGeom prst="rect">
              <a:avLst/>
            </a:prstGeom>
          </p:spPr>
        </p:pic>
      </p:grpSp>
      <p:sp>
        <p:nvSpPr>
          <p:cNvPr id="12" name="화살표: 위로 구부러짐 11">
            <a:extLst>
              <a:ext uri="{FF2B5EF4-FFF2-40B4-BE49-F238E27FC236}">
                <a16:creationId xmlns:a16="http://schemas.microsoft.com/office/drawing/2014/main" id="{9F817D84-17B2-D951-EB88-B0662D0F17C3}"/>
              </a:ext>
            </a:extLst>
          </p:cNvPr>
          <p:cNvSpPr/>
          <p:nvPr/>
        </p:nvSpPr>
        <p:spPr>
          <a:xfrm>
            <a:off x="2559345" y="3068811"/>
            <a:ext cx="758003" cy="300253"/>
          </a:xfrm>
          <a:prstGeom prst="curvedUp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>
              <a:solidFill>
                <a:schemeClr val="tx1"/>
              </a:solidFill>
            </a:endParaRPr>
          </a:p>
        </p:txBody>
      </p: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8C74A294-C947-F052-218E-F469143481B8}"/>
              </a:ext>
            </a:extLst>
          </p:cNvPr>
          <p:cNvGrpSpPr/>
          <p:nvPr/>
        </p:nvGrpSpPr>
        <p:grpSpPr>
          <a:xfrm>
            <a:off x="3319460" y="3751877"/>
            <a:ext cx="4861565" cy="1389875"/>
            <a:chOff x="2863098" y="3031378"/>
            <a:chExt cx="6482087" cy="1853167"/>
          </a:xfrm>
        </p:grpSpPr>
        <p:sp>
          <p:nvSpPr>
            <p:cNvPr id="14" name="제목 1">
              <a:extLst>
                <a:ext uri="{FF2B5EF4-FFF2-40B4-BE49-F238E27FC236}">
                  <a16:creationId xmlns:a16="http://schemas.microsoft.com/office/drawing/2014/main" id="{0D8D4BD9-11FB-7468-47D3-DFF0B2105F20}"/>
                </a:ext>
              </a:extLst>
            </p:cNvPr>
            <p:cNvSpPr txBox="1">
              <a:spLocks/>
            </p:cNvSpPr>
            <p:nvPr/>
          </p:nvSpPr>
          <p:spPr>
            <a:xfrm>
              <a:off x="2863098" y="3386409"/>
              <a:ext cx="6482087" cy="766439"/>
            </a:xfrm>
            <a:prstGeom prst="rect">
              <a:avLst/>
            </a:prstGeom>
            <a:effectLst>
              <a:outerShdw blurRad="25400" dir="17880000">
                <a:srgbClr val="000000">
                  <a:alpha val="46000"/>
                </a:srgbClr>
              </a:outerShdw>
            </a:effectLst>
          </p:spPr>
          <p:txBody>
            <a:bodyPr vert="horz" lIns="68580" tIns="34290" rIns="68580" bIns="34290" rtlCol="0" anchor="ctr">
              <a:normAutofit/>
            </a:bodyPr>
            <a:lstStyle>
              <a:lvl1pPr algn="ctr" defTabSz="457200" rtl="0" eaLnBrk="1" latinLnBrk="1" hangingPunct="1">
                <a:lnSpc>
                  <a:spcPct val="90000"/>
                </a:lnSpc>
                <a:spcBef>
                  <a:spcPct val="0"/>
                </a:spcBef>
                <a:buNone/>
                <a:defRPr sz="3200" kern="1200">
                  <a:ln>
                    <a:solidFill>
                      <a:schemeClr val="bg1">
                        <a:lumMod val="75000"/>
                        <a:lumOff val="25000"/>
                        <a:alpha val="10000"/>
                      </a:schemeClr>
                    </a:solidFill>
                  </a:ln>
                  <a:solidFill>
                    <a:schemeClr val="tx2"/>
                  </a:solidFill>
                  <a:effectLst>
                    <a:outerShdw blurRad="9525" dist="25400" dir="14640000" algn="tl" rotWithShape="0">
                      <a:schemeClr val="bg1">
                        <a:alpha val="30000"/>
                      </a:schemeClr>
                    </a:outerShdw>
                  </a:effectLst>
                  <a:latin typeface="Batang" panose="02030600000101010101" pitchFamily="18" charset="-127"/>
                  <a:ea typeface="Batang" panose="02030600000101010101" pitchFamily="18" charset="-127"/>
                  <a:cs typeface="Batang" panose="02030600000101010101" pitchFamily="18" charset="-127"/>
                </a:defRPr>
              </a:lvl1pPr>
              <a:lvl2pPr eaLnBrk="1" latinLnBrk="1" hangingPunct="1">
                <a:defRPr>
                  <a:solidFill>
                    <a:schemeClr val="tx2"/>
                  </a:solidFill>
                </a:defRPr>
              </a:lvl2pPr>
              <a:lvl3pPr eaLnBrk="1" latinLnBrk="1" hangingPunct="1">
                <a:defRPr>
                  <a:solidFill>
                    <a:schemeClr val="tx2"/>
                  </a:solidFill>
                </a:defRPr>
              </a:lvl3pPr>
              <a:lvl4pPr eaLnBrk="1" latinLnBrk="1" hangingPunct="1">
                <a:defRPr>
                  <a:solidFill>
                    <a:schemeClr val="tx2"/>
                  </a:solidFill>
                </a:defRPr>
              </a:lvl4pPr>
              <a:lvl5pPr eaLnBrk="1" latinLnBrk="1" hangingPunct="1">
                <a:defRPr>
                  <a:solidFill>
                    <a:schemeClr val="tx2"/>
                  </a:solidFill>
                </a:defRPr>
              </a:lvl5pPr>
              <a:lvl6pPr eaLnBrk="1" latinLnBrk="1" hangingPunct="1">
                <a:defRPr>
                  <a:solidFill>
                    <a:schemeClr val="tx2"/>
                  </a:solidFill>
                </a:defRPr>
              </a:lvl6pPr>
              <a:lvl7pPr eaLnBrk="1" latinLnBrk="1" hangingPunct="1">
                <a:defRPr>
                  <a:solidFill>
                    <a:schemeClr val="tx2"/>
                  </a:solidFill>
                </a:defRPr>
              </a:lvl7pPr>
              <a:lvl8pPr eaLnBrk="1" latinLnBrk="1" hangingPunct="1">
                <a:defRPr>
                  <a:solidFill>
                    <a:schemeClr val="tx2"/>
                  </a:solidFill>
                </a:defRPr>
              </a:lvl8pPr>
              <a:lvl9pPr eaLnBrk="1" latinLnBrk="1" hangingPunct="1">
                <a:defRPr>
                  <a:solidFill>
                    <a:schemeClr val="tx2"/>
                  </a:solidFill>
                </a:defRPr>
              </a:lvl9pPr>
            </a:lstStyle>
            <a:p>
              <a:pPr algn="l"/>
              <a:r>
                <a:rPr lang="ko-KR" altLang="en-US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블랙 </a:t>
              </a:r>
              <a:r>
                <a:rPr lang="en-US" altLang="ko-KR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(   </a:t>
              </a:r>
              <a:r>
                <a:rPr lang="ko-KR" altLang="en-US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커피</a:t>
              </a:r>
              <a:r>
                <a:rPr lang="en-US" altLang="ko-KR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   )</a:t>
              </a:r>
              <a:endParaRPr lang="ko-KR" altLang="en-US" sz="2100" dirty="0">
                <a:solidFill>
                  <a:schemeClr val="tx1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endParaRPr>
            </a:p>
          </p:txBody>
        </p:sp>
        <p:pic>
          <p:nvPicPr>
            <p:cNvPr id="15" name="그림 14">
              <a:extLst>
                <a:ext uri="{FF2B5EF4-FFF2-40B4-BE49-F238E27FC236}">
                  <a16:creationId xmlns:a16="http://schemas.microsoft.com/office/drawing/2014/main" id="{283A527B-1B23-7081-228C-351D5B790DD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842000" y="3031378"/>
              <a:ext cx="1906530" cy="1853167"/>
            </a:xfrm>
            <a:prstGeom prst="rect">
              <a:avLst/>
            </a:prstGeom>
          </p:spPr>
        </p:pic>
      </p:grp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8CB8FEAC-2DAC-73AA-796B-494D17313748}"/>
              </a:ext>
            </a:extLst>
          </p:cNvPr>
          <p:cNvGrpSpPr/>
          <p:nvPr/>
        </p:nvGrpSpPr>
        <p:grpSpPr>
          <a:xfrm>
            <a:off x="3309358" y="4735839"/>
            <a:ext cx="5873234" cy="1573481"/>
            <a:chOff x="2849630" y="4343328"/>
            <a:chExt cx="7830978" cy="2097974"/>
          </a:xfrm>
        </p:grpSpPr>
        <p:sp>
          <p:nvSpPr>
            <p:cNvPr id="17" name="제목 1">
              <a:extLst>
                <a:ext uri="{FF2B5EF4-FFF2-40B4-BE49-F238E27FC236}">
                  <a16:creationId xmlns:a16="http://schemas.microsoft.com/office/drawing/2014/main" id="{C9808973-FFA6-DF6A-0193-D1B8A5EC9FB0}"/>
                </a:ext>
              </a:extLst>
            </p:cNvPr>
            <p:cNvSpPr txBox="1">
              <a:spLocks/>
            </p:cNvSpPr>
            <p:nvPr/>
          </p:nvSpPr>
          <p:spPr>
            <a:xfrm>
              <a:off x="2849630" y="4343328"/>
              <a:ext cx="6482087" cy="766439"/>
            </a:xfrm>
            <a:prstGeom prst="rect">
              <a:avLst/>
            </a:prstGeom>
            <a:effectLst>
              <a:outerShdw blurRad="25400" dir="17880000">
                <a:srgbClr val="000000">
                  <a:alpha val="46000"/>
                </a:srgbClr>
              </a:outerShdw>
            </a:effectLst>
          </p:spPr>
          <p:txBody>
            <a:bodyPr vert="horz" lIns="68580" tIns="34290" rIns="68580" bIns="34290" rtlCol="0" anchor="ctr">
              <a:normAutofit/>
            </a:bodyPr>
            <a:lstStyle>
              <a:lvl1pPr algn="ctr" defTabSz="457200" rtl="0" eaLnBrk="1" latinLnBrk="1" hangingPunct="1">
                <a:lnSpc>
                  <a:spcPct val="90000"/>
                </a:lnSpc>
                <a:spcBef>
                  <a:spcPct val="0"/>
                </a:spcBef>
                <a:buNone/>
                <a:defRPr sz="3200" kern="1200">
                  <a:ln>
                    <a:solidFill>
                      <a:schemeClr val="bg1">
                        <a:lumMod val="75000"/>
                        <a:lumOff val="25000"/>
                        <a:alpha val="10000"/>
                      </a:schemeClr>
                    </a:solidFill>
                  </a:ln>
                  <a:solidFill>
                    <a:schemeClr val="tx2"/>
                  </a:solidFill>
                  <a:effectLst>
                    <a:outerShdw blurRad="9525" dist="25400" dir="14640000" algn="tl" rotWithShape="0">
                      <a:schemeClr val="bg1">
                        <a:alpha val="30000"/>
                      </a:schemeClr>
                    </a:outerShdw>
                  </a:effectLst>
                  <a:latin typeface="Batang" panose="02030600000101010101" pitchFamily="18" charset="-127"/>
                  <a:ea typeface="Batang" panose="02030600000101010101" pitchFamily="18" charset="-127"/>
                  <a:cs typeface="Batang" panose="02030600000101010101" pitchFamily="18" charset="-127"/>
                </a:defRPr>
              </a:lvl1pPr>
              <a:lvl2pPr eaLnBrk="1" latinLnBrk="1" hangingPunct="1">
                <a:defRPr>
                  <a:solidFill>
                    <a:schemeClr val="tx2"/>
                  </a:solidFill>
                </a:defRPr>
              </a:lvl2pPr>
              <a:lvl3pPr eaLnBrk="1" latinLnBrk="1" hangingPunct="1">
                <a:defRPr>
                  <a:solidFill>
                    <a:schemeClr val="tx2"/>
                  </a:solidFill>
                </a:defRPr>
              </a:lvl3pPr>
              <a:lvl4pPr eaLnBrk="1" latinLnBrk="1" hangingPunct="1">
                <a:defRPr>
                  <a:solidFill>
                    <a:schemeClr val="tx2"/>
                  </a:solidFill>
                </a:defRPr>
              </a:lvl4pPr>
              <a:lvl5pPr eaLnBrk="1" latinLnBrk="1" hangingPunct="1">
                <a:defRPr>
                  <a:solidFill>
                    <a:schemeClr val="tx2"/>
                  </a:solidFill>
                </a:defRPr>
              </a:lvl5pPr>
              <a:lvl6pPr eaLnBrk="1" latinLnBrk="1" hangingPunct="1">
                <a:defRPr>
                  <a:solidFill>
                    <a:schemeClr val="tx2"/>
                  </a:solidFill>
                </a:defRPr>
              </a:lvl6pPr>
              <a:lvl7pPr eaLnBrk="1" latinLnBrk="1" hangingPunct="1">
                <a:defRPr>
                  <a:solidFill>
                    <a:schemeClr val="tx2"/>
                  </a:solidFill>
                </a:defRPr>
              </a:lvl7pPr>
              <a:lvl8pPr eaLnBrk="1" latinLnBrk="1" hangingPunct="1">
                <a:defRPr>
                  <a:solidFill>
                    <a:schemeClr val="tx2"/>
                  </a:solidFill>
                </a:defRPr>
              </a:lvl8pPr>
              <a:lvl9pPr eaLnBrk="1" latinLnBrk="1" hangingPunct="1">
                <a:defRPr>
                  <a:solidFill>
                    <a:schemeClr val="tx2"/>
                  </a:solidFill>
                </a:defRPr>
              </a:lvl9pPr>
            </a:lstStyle>
            <a:p>
              <a:pPr algn="l"/>
              <a:r>
                <a:rPr lang="ko-KR" altLang="en-US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블랙 </a:t>
              </a:r>
              <a:r>
                <a:rPr lang="en-US" altLang="ko-KR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(   </a:t>
              </a:r>
              <a:r>
                <a:rPr lang="ko-KR" altLang="en-US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홀</a:t>
              </a:r>
              <a:r>
                <a:rPr lang="en-US" altLang="ko-KR" sz="21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   )</a:t>
              </a:r>
              <a:endParaRPr lang="ko-KR" altLang="en-US" sz="2100" dirty="0">
                <a:solidFill>
                  <a:schemeClr val="tx1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endParaRPr>
            </a:p>
          </p:txBody>
        </p:sp>
        <p:pic>
          <p:nvPicPr>
            <p:cNvPr id="18" name="그림 17">
              <a:extLst>
                <a:ext uri="{FF2B5EF4-FFF2-40B4-BE49-F238E27FC236}">
                  <a16:creationId xmlns:a16="http://schemas.microsoft.com/office/drawing/2014/main" id="{12ED243F-70AE-496C-682F-A2C3A7B757E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795265" y="4454168"/>
              <a:ext cx="3885343" cy="198713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1769766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90E2C1-BB1A-4FCC-4EBC-8B540F598F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EF241B0-03F6-4174-6351-DEA7C30228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42</a:t>
            </a:fld>
            <a:endParaRPr lang="en-US" altLang="ko-KR" noProof="0" dirty="0"/>
          </a:p>
        </p:txBody>
      </p: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913BA925-346A-92DA-54AD-5E1487C17764}"/>
              </a:ext>
            </a:extLst>
          </p:cNvPr>
          <p:cNvGrpSpPr/>
          <p:nvPr/>
        </p:nvGrpSpPr>
        <p:grpSpPr>
          <a:xfrm>
            <a:off x="4027821" y="2348883"/>
            <a:ext cx="3218720" cy="3810977"/>
            <a:chOff x="5190488" y="1060752"/>
            <a:chExt cx="3148402" cy="3159825"/>
          </a:xfrm>
        </p:grpSpPr>
        <p:sp>
          <p:nvSpPr>
            <p:cNvPr id="2" name="AutoShape 2" descr="숲 한가운데에 있는 형형색색의 나무들판">
              <a:extLst>
                <a:ext uri="{FF2B5EF4-FFF2-40B4-BE49-F238E27FC236}">
                  <a16:creationId xmlns:a16="http://schemas.microsoft.com/office/drawing/2014/main" id="{92ADEB6C-595F-D022-1FA7-A6F276B90DD4}"/>
                </a:ext>
              </a:extLst>
            </p:cNvPr>
            <p:cNvSpPr>
              <a:spLocks noChangeAspect="1" noChangeArrowheads="1"/>
            </p:cNvSpPr>
            <p:nvPr/>
          </p:nvSpPr>
          <p:spPr bwMode="auto">
            <a:xfrm>
              <a:off x="5942013" y="3276600"/>
              <a:ext cx="304800" cy="3048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pic>
          <p:nvPicPr>
            <p:cNvPr id="13" name="그림 12">
              <a:extLst>
                <a:ext uri="{FF2B5EF4-FFF2-40B4-BE49-F238E27FC236}">
                  <a16:creationId xmlns:a16="http://schemas.microsoft.com/office/drawing/2014/main" id="{418EE12F-0606-75E2-2B43-F3AFCA4558D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190488" y="3077522"/>
              <a:ext cx="3148402" cy="1143055"/>
            </a:xfrm>
            <a:prstGeom prst="rect">
              <a:avLst/>
            </a:prstGeom>
          </p:spPr>
        </p:pic>
        <p:pic>
          <p:nvPicPr>
            <p:cNvPr id="1032" name="Picture 8" descr="베이즈 정리(Bayes' Theorem)의 정의와 의미">
              <a:extLst>
                <a:ext uri="{FF2B5EF4-FFF2-40B4-BE49-F238E27FC236}">
                  <a16:creationId xmlns:a16="http://schemas.microsoft.com/office/drawing/2014/main" id="{B067FD7D-5954-1B2D-36F6-A25C17C1F93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90488" y="1060752"/>
              <a:ext cx="3148402" cy="20167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16" name="그림 15">
            <a:extLst>
              <a:ext uri="{FF2B5EF4-FFF2-40B4-BE49-F238E27FC236}">
                <a16:creationId xmlns:a16="http://schemas.microsoft.com/office/drawing/2014/main" id="{09C1E87A-9767-8287-7253-CF05F7BA0A5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13892" y="2348883"/>
            <a:ext cx="2736304" cy="381097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584390B-04B7-B557-EA80-3E403DB78D61}"/>
              </a:ext>
            </a:extLst>
          </p:cNvPr>
          <p:cNvSpPr txBox="1"/>
          <p:nvPr/>
        </p:nvSpPr>
        <p:spPr>
          <a:xfrm>
            <a:off x="1053852" y="938799"/>
            <a:ext cx="10301549" cy="9585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sz="2000" b="1" dirty="0">
                <a:latin typeface="Cambria" panose="02040503050406030204" pitchFamily="18" charset="0"/>
                <a:ea typeface="Cambria" panose="02040503050406030204" pitchFamily="18" charset="0"/>
              </a:rPr>
              <a:t>"</a:t>
            </a:r>
            <a:r>
              <a:rPr lang="ko-KR" altLang="en-US" sz="2000" b="1" dirty="0">
                <a:latin typeface="Cambria" panose="02040503050406030204" pitchFamily="18" charset="0"/>
                <a:ea typeface="LG Smart UI Light" panose="020B0300000101010101" pitchFamily="50" charset="-127"/>
              </a:rPr>
              <a:t>사실이 바뀌면</a:t>
            </a:r>
            <a:r>
              <a:rPr lang="en-US" altLang="ko-KR" sz="2000" b="1" dirty="0">
                <a:latin typeface="Cambria" panose="02040503050406030204" pitchFamily="18" charset="0"/>
                <a:ea typeface="Cambria" panose="02040503050406030204" pitchFamily="18" charset="0"/>
              </a:rPr>
              <a:t>, </a:t>
            </a:r>
            <a:r>
              <a:rPr lang="ko-KR" altLang="en-US" sz="2000" b="1" dirty="0">
                <a:latin typeface="Cambria" panose="02040503050406030204" pitchFamily="18" charset="0"/>
                <a:ea typeface="LG Smart UI Light" panose="020B0300000101010101" pitchFamily="50" charset="-127"/>
              </a:rPr>
              <a:t>나는 생각을 바꿉니다</a:t>
            </a:r>
            <a:r>
              <a:rPr lang="en-US" altLang="ko-KR" sz="2000" b="1" dirty="0">
                <a:latin typeface="Cambria" panose="02040503050406030204" pitchFamily="18" charset="0"/>
                <a:ea typeface="Cambria" panose="02040503050406030204" pitchFamily="18" charset="0"/>
              </a:rPr>
              <a:t>. </a:t>
            </a:r>
            <a:r>
              <a:rPr lang="ko-KR" altLang="en-US" sz="2000" b="1" dirty="0">
                <a:latin typeface="Cambria" panose="02040503050406030204" pitchFamily="18" charset="0"/>
                <a:ea typeface="LG Smart UI Light" panose="020B0300000101010101" pitchFamily="50" charset="-127"/>
              </a:rPr>
              <a:t>당신은 어떻게 하십니까</a:t>
            </a:r>
            <a:r>
              <a:rPr lang="en-US" altLang="ko-KR" sz="2000" b="1" dirty="0">
                <a:latin typeface="Cambria" panose="02040503050406030204" pitchFamily="18" charset="0"/>
                <a:ea typeface="Cambria" panose="02040503050406030204" pitchFamily="18" charset="0"/>
              </a:rPr>
              <a:t>?"</a:t>
            </a:r>
            <a:endParaRPr lang="ko-KR" altLang="en-US" sz="2000" dirty="0">
              <a:latin typeface="Cambria" panose="02040503050406030204" pitchFamily="18" charset="0"/>
              <a:ea typeface="LG Smart UI Light" panose="020B0300000101010101" pitchFamily="50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ko-KR" altLang="en-US" sz="2000" b="1" dirty="0">
                <a:latin typeface="Cambria" panose="02040503050406030204" pitchFamily="18" charset="0"/>
                <a:ea typeface="LG Smart UI Light" panose="020B0300000101010101" pitchFamily="50" charset="-127"/>
              </a:rPr>
              <a:t>“</a:t>
            </a:r>
            <a:r>
              <a:rPr lang="en-US" altLang="ko-KR" sz="2000" b="1" dirty="0">
                <a:latin typeface="Cambria" panose="02040503050406030204" pitchFamily="18" charset="0"/>
                <a:ea typeface="Cambria" panose="02040503050406030204" pitchFamily="18" charset="0"/>
              </a:rPr>
              <a:t>When the facts change, I change my mind. What do you do, sir?”   - Keynes, Economist</a:t>
            </a:r>
            <a:endParaRPr lang="en-US" altLang="ko-KR" sz="2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367635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7C5A24-82DF-449D-2B2D-95454CE203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4728C64F-9D89-54F0-37FA-27D8C00B3F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43</a:t>
            </a:fld>
            <a:endParaRPr lang="en-US" altLang="ko-KR" noProof="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0630866-87BA-AFD5-382F-50D5BE9390CE}"/>
              </a:ext>
            </a:extLst>
          </p:cNvPr>
          <p:cNvSpPr txBox="1"/>
          <p:nvPr/>
        </p:nvSpPr>
        <p:spPr>
          <a:xfrm>
            <a:off x="621804" y="980728"/>
            <a:ext cx="9361040" cy="1142877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+mj-ea"/>
                <a:ea typeface="+mj-ea"/>
                <a:cs typeface="맑은 고딕 Semilight" panose="020B0502040204020203" pitchFamily="50" charset="-127"/>
              </a:rPr>
              <a:t>동전</a:t>
            </a:r>
            <a:r>
              <a:rPr lang="en-US" altLang="ko-KR" sz="1600" dirty="0">
                <a:latin typeface="+mj-ea"/>
                <a:ea typeface="+mj-ea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+mj-ea"/>
                <a:ea typeface="+mj-ea"/>
                <a:cs typeface="맑은 고딕 Semilight" panose="020B0502040204020203" pitchFamily="50" charset="-127"/>
              </a:rPr>
              <a:t>던지기를</a:t>
            </a:r>
            <a:r>
              <a:rPr lang="en-US" altLang="ko-KR" sz="1600" dirty="0">
                <a:latin typeface="+mj-ea"/>
                <a:ea typeface="+mj-ea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 err="1">
                <a:latin typeface="+mj-ea"/>
                <a:ea typeface="+mj-ea"/>
                <a:cs typeface="맑은 고딕 Semilight" panose="020B0502040204020203" pitchFamily="50" charset="-127"/>
              </a:rPr>
              <a:t>모의실험하여</a:t>
            </a:r>
            <a:r>
              <a:rPr lang="ko-KR" altLang="en-US" sz="1600" dirty="0">
                <a:latin typeface="+mj-ea"/>
                <a:ea typeface="+mj-ea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+mj-ea"/>
                <a:ea typeface="+mj-ea"/>
              </a:rPr>
              <a:t>직접 실제 동전의 확률과 시행 횟수를 조절하면서 </a:t>
            </a:r>
            <a:r>
              <a:rPr lang="ko-KR" altLang="en-US" sz="1600" b="1" dirty="0">
                <a:latin typeface="+mj-ea"/>
                <a:ea typeface="+mj-ea"/>
              </a:rPr>
              <a:t>나의 믿음이 변하는</a:t>
            </a:r>
            <a:r>
              <a:rPr lang="ko-KR" altLang="en-US" sz="1600" dirty="0">
                <a:latin typeface="+mj-ea"/>
                <a:ea typeface="+mj-ea"/>
              </a:rPr>
              <a:t> 과정을 실시간으로 관찰할 수 있도록 </a:t>
            </a:r>
            <a:r>
              <a:rPr lang="en-US" altLang="ko-KR" sz="1600" dirty="0" err="1">
                <a:latin typeface="+mj-ea"/>
                <a:ea typeface="+mj-ea"/>
              </a:rPr>
              <a:t>gradio</a:t>
            </a:r>
            <a:r>
              <a:rPr lang="ko-KR" altLang="en-US" sz="1600" dirty="0">
                <a:latin typeface="+mj-ea"/>
                <a:ea typeface="+mj-ea"/>
              </a:rPr>
              <a:t> </a:t>
            </a:r>
            <a:r>
              <a:rPr lang="en-US" altLang="ko-KR" sz="1600" dirty="0">
                <a:latin typeface="+mj-ea"/>
                <a:ea typeface="+mj-ea"/>
              </a:rPr>
              <a:t>UI</a:t>
            </a:r>
            <a:r>
              <a:rPr lang="ko-KR" altLang="en-US" sz="1600" dirty="0">
                <a:latin typeface="+mj-ea"/>
                <a:ea typeface="+mj-ea"/>
              </a:rPr>
              <a:t>로 만들어 시뮬레이션하고</a:t>
            </a:r>
            <a:r>
              <a:rPr lang="en-US" altLang="ko-KR" sz="1600" dirty="0">
                <a:latin typeface="+mj-ea"/>
                <a:ea typeface="+mj-ea"/>
              </a:rPr>
              <a:t>,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+mj-ea"/>
                <a:ea typeface="+mj-ea"/>
              </a:rPr>
              <a:t>이러한 실험을 바탕으로</a:t>
            </a:r>
            <a:r>
              <a:rPr lang="en-US" altLang="ko-KR" sz="1600" dirty="0">
                <a:latin typeface="+mj-ea"/>
                <a:ea typeface="+mj-ea"/>
              </a:rPr>
              <a:t> </a:t>
            </a:r>
            <a:r>
              <a:rPr lang="ko-KR" altLang="en-US" sz="1600" dirty="0">
                <a:latin typeface="+mj-ea"/>
                <a:ea typeface="+mj-ea"/>
                <a:cs typeface="맑은 고딕 Semilight" panose="020B0502040204020203" pitchFamily="50" charset="-127"/>
              </a:rPr>
              <a:t>한강에</a:t>
            </a:r>
            <a:r>
              <a:rPr lang="en-US" altLang="ko-KR" sz="1600" dirty="0">
                <a:latin typeface="+mj-ea"/>
                <a:ea typeface="+mj-ea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+mj-ea"/>
                <a:ea typeface="+mj-ea"/>
                <a:cs typeface="맑은 고딕 Semilight" panose="020B0502040204020203" pitchFamily="50" charset="-127"/>
              </a:rPr>
              <a:t>가장 큰 물고기의 크기는 몇 </a:t>
            </a:r>
            <a:r>
              <a:rPr lang="en-US" altLang="ko-KR" sz="1600" dirty="0">
                <a:latin typeface="+mj-ea"/>
                <a:ea typeface="+mj-ea"/>
                <a:cs typeface="맑은 고딕 Semilight" panose="020B0502040204020203" pitchFamily="50" charset="-127"/>
              </a:rPr>
              <a:t>cm</a:t>
            </a:r>
            <a:r>
              <a:rPr lang="ko-KR" altLang="en-US" sz="1600" dirty="0">
                <a:latin typeface="+mj-ea"/>
                <a:ea typeface="+mj-ea"/>
                <a:cs typeface="맑은 고딕 Semilight" panose="020B0502040204020203" pitchFamily="50" charset="-127"/>
              </a:rPr>
              <a:t>라고 답해야 할까</a:t>
            </a:r>
            <a:r>
              <a:rPr lang="en-US" altLang="ko-KR" sz="1600" dirty="0">
                <a:latin typeface="+mj-ea"/>
                <a:ea typeface="+mj-ea"/>
                <a:cs typeface="맑은 고딕 Semilight" panose="020B0502040204020203" pitchFamily="50" charset="-127"/>
              </a:rPr>
              <a:t>?</a:t>
            </a:r>
            <a:endParaRPr lang="ko-KR" altLang="en-US" sz="1600" dirty="0">
              <a:latin typeface="+mj-ea"/>
              <a:ea typeface="+mj-ea"/>
              <a:cs typeface="맑은 고딕 Semilight" panose="020B0502040204020203" pitchFamily="50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4B4593E-7CFB-04F9-BFB4-4925595F0040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E597588D-E806-B02C-F459-1E6EE33CBD2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4052" y="2480096"/>
            <a:ext cx="6269971" cy="41172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825CCB96-6516-8B28-5A7F-87B5B80707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75407" y="26166"/>
            <a:ext cx="1877986" cy="12425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644707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C30008-E652-FD55-A1CF-7261BC14AA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845F44B-D853-EA00-45FD-0D2DE87EA5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44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64E74C1-BB80-2DC1-32A9-30194E495362}"/>
              </a:ext>
            </a:extLst>
          </p:cNvPr>
          <p:cNvSpPr txBox="1"/>
          <p:nvPr/>
        </p:nvSpPr>
        <p:spPr>
          <a:xfrm>
            <a:off x="765820" y="1196752"/>
            <a:ext cx="7416824" cy="482120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+mj-ea"/>
                <a:ea typeface="+mj-ea"/>
              </a:rPr>
              <a:t>지구의 나이가 </a:t>
            </a:r>
            <a:r>
              <a:rPr lang="en-US" altLang="ko-KR" sz="2000" dirty="0">
                <a:latin typeface="+mj-ea"/>
                <a:ea typeface="+mj-ea"/>
              </a:rPr>
              <a:t>45</a:t>
            </a:r>
            <a:r>
              <a:rPr lang="ko-KR" altLang="en-US" sz="2000" dirty="0">
                <a:latin typeface="+mj-ea"/>
                <a:ea typeface="+mj-ea"/>
              </a:rPr>
              <a:t>억 </a:t>
            </a:r>
            <a:r>
              <a:rPr lang="en-US" altLang="ko-KR" sz="2000" dirty="0">
                <a:latin typeface="+mj-ea"/>
                <a:ea typeface="+mj-ea"/>
              </a:rPr>
              <a:t>4</a:t>
            </a:r>
            <a:r>
              <a:rPr lang="ko-KR" altLang="en-US" sz="2000" dirty="0">
                <a:latin typeface="+mj-ea"/>
                <a:ea typeface="+mj-ea"/>
              </a:rPr>
              <a:t>천만년이라면</a:t>
            </a:r>
            <a:r>
              <a:rPr lang="en-US" altLang="ko-KR" sz="2000" dirty="0">
                <a:latin typeface="+mj-ea"/>
                <a:ea typeface="+mj-ea"/>
              </a:rPr>
              <a:t>, </a:t>
            </a:r>
            <a:r>
              <a:rPr lang="ko-KR" altLang="en-US" sz="2000" dirty="0">
                <a:latin typeface="+mj-ea"/>
                <a:ea typeface="+mj-ea"/>
              </a:rPr>
              <a:t>내일 해가 뜰 확률은</a:t>
            </a:r>
            <a:r>
              <a:rPr lang="en-US" altLang="ko-KR" sz="2000" dirty="0">
                <a:latin typeface="+mj-ea"/>
                <a:ea typeface="+mj-ea"/>
              </a:rPr>
              <a:t>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32D3492-9475-65D6-5F62-64413CD930A5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DC170792-96F2-75E9-8112-7A784CED41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25860" y="2210192"/>
            <a:ext cx="5655120" cy="36418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CC548AE-6F75-4DDA-684C-2BC854639F3E}"/>
              </a:ext>
            </a:extLst>
          </p:cNvPr>
          <p:cNvSpPr txBox="1"/>
          <p:nvPr/>
        </p:nvSpPr>
        <p:spPr>
          <a:xfrm>
            <a:off x="7174532" y="2210193"/>
            <a:ext cx="324036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dirty="0" err="1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Sunrise_problem</a:t>
            </a:r>
            <a:endParaRPr lang="ko-KR" altLang="en-US" sz="2400" dirty="0"/>
          </a:p>
        </p:txBody>
      </p:sp>
      <p:pic>
        <p:nvPicPr>
          <p:cNvPr id="5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33A450EB-4B72-5B57-CA6B-890A22B1A8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75407" y="26166"/>
            <a:ext cx="1877986" cy="12425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612076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C88151-C46B-CD5E-E821-A0F68F3A7D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0D6760EB-0648-59D8-3629-825719199C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45</a:t>
            </a:fld>
            <a:endParaRPr lang="en-US" altLang="ko-KR" noProof="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C93FFA3-F7AB-2DB1-F22A-1ECB6018AABD}"/>
                  </a:ext>
                </a:extLst>
              </p:cNvPr>
              <p:cNvSpPr txBox="1"/>
              <p:nvPr/>
            </p:nvSpPr>
            <p:spPr>
              <a:xfrm>
                <a:off x="5969877" y="1772816"/>
                <a:ext cx="5832648" cy="444660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lnSpc>
                    <a:spcPct val="20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1600" b="1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중앙 육각형 격자 </a:t>
                </a:r>
                <a:r>
                  <a:rPr lang="en-US" altLang="ko-KR" sz="1600" b="1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(Joint Distribution)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: 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두 변수가 동시에 나타나는 빈도이며 색이 진할수록 해당 데이터 포인트가 많이 몰려 있다는 뜻이며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결합 확률 </a:t>
                </a:r>
                <a14:m>
                  <m:oMath xmlns:m="http://schemas.openxmlformats.org/officeDocument/2006/math"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𝑷</m:t>
                    </m:r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(</m:t>
                    </m:r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𝑿</m:t>
                    </m:r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,</m:t>
                    </m:r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𝒀</m:t>
                    </m:r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)</m:t>
                    </m:r>
                  </m:oMath>
                </a14:m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가 높은 지점</a:t>
                </a:r>
                <a:endParaRPr lang="en-US" altLang="ko-KR" sz="16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285750" indent="-285750">
                  <a:lnSpc>
                    <a:spcPct val="200000"/>
                  </a:lnSpc>
                  <a:buFont typeface="Wingdings" panose="05000000000000000000" pitchFamily="2" charset="2"/>
                  <a:buChar char="v"/>
                </a:pPr>
                <a:endParaRPr lang="en-US" altLang="ko-KR" sz="16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285750" indent="-285750">
                  <a:lnSpc>
                    <a:spcPct val="20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1600" b="1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상단</a:t>
                </a:r>
                <a:r>
                  <a:rPr lang="en-US" altLang="ko-KR" sz="1600" b="1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/</a:t>
                </a:r>
                <a:r>
                  <a:rPr lang="ko-KR" altLang="en-US" sz="1600" b="1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우측 막대그래프 </a:t>
                </a:r>
                <a:r>
                  <a:rPr lang="en-US" altLang="ko-KR" sz="1600" b="1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(Marginal Distribution)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: 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각 변수 하나의 분포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주변 확률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인 </a:t>
                </a:r>
                <a14:m>
                  <m:oMath xmlns:m="http://schemas.openxmlformats.org/officeDocument/2006/math"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𝑷</m:t>
                    </m:r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(</m:t>
                    </m:r>
                    <m:r>
                      <a:rPr lang="en-US" altLang="ko-KR" sz="1600" b="1" i="1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𝑿</m:t>
                    </m:r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)</m:t>
                    </m:r>
                  </m:oMath>
                </a14:m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와</a:t>
                </a:r>
                <a14:m>
                  <m:oMath xmlns:m="http://schemas.openxmlformats.org/officeDocument/2006/math">
                    <m:r>
                      <a:rPr lang="en-US" altLang="ko-KR" sz="1600" b="0" i="0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 </m:t>
                    </m:r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𝑷</m:t>
                    </m:r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(</m:t>
                    </m:r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𝒀</m:t>
                    </m:r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)</m:t>
                    </m:r>
                  </m:oMath>
                </a14:m>
                <a:endParaRPr lang="en-US" altLang="ko-KR" sz="16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285750" indent="-285750">
                  <a:lnSpc>
                    <a:spcPct val="200000"/>
                  </a:lnSpc>
                  <a:buFont typeface="Wingdings" panose="05000000000000000000" pitchFamily="2" charset="2"/>
                  <a:buChar char="v"/>
                </a:pPr>
                <a:endParaRPr lang="en-US" altLang="ko-KR" sz="16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285750" indent="-285750">
                  <a:lnSpc>
                    <a:spcPct val="20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상단 막대는 부리 길이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𝑿</m:t>
                    </m:r>
                  </m:oMath>
                </a14:m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의 분포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우측 막대는 날개 길이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a:rPr lang="en-US" altLang="ko-KR" sz="16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𝒀</m:t>
                    </m:r>
                  </m:oMath>
                </a14:m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의 분포</a:t>
                </a:r>
                <a:endParaRPr lang="en-US" altLang="ko-KR" sz="16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C93FFA3-F7AB-2DB1-F22A-1ECB6018AA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69877" y="1772816"/>
                <a:ext cx="5832648" cy="4446602"/>
              </a:xfrm>
              <a:prstGeom prst="rect">
                <a:avLst/>
              </a:prstGeom>
              <a:blipFill>
                <a:blip r:embed="rId3"/>
                <a:stretch>
                  <a:fillRect l="-418" b="-82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50" name="Picture 2">
            <a:extLst>
              <a:ext uri="{FF2B5EF4-FFF2-40B4-BE49-F238E27FC236}">
                <a16:creationId xmlns:a16="http://schemas.microsoft.com/office/drawing/2014/main" id="{4D1BEF79-7545-09AC-1482-F1F72B45DA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1804" y="1772816"/>
            <a:ext cx="4857582" cy="48245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EA2A39A-1188-3272-3076-8B01A836614A}"/>
              </a:ext>
            </a:extLst>
          </p:cNvPr>
          <p:cNvSpPr txBox="1"/>
          <p:nvPr/>
        </p:nvSpPr>
        <p:spPr>
          <a:xfrm>
            <a:off x="532365" y="1465039"/>
            <a:ext cx="291458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err="1">
                <a:latin typeface="Britannic Bold" panose="020B0903060703020204" pitchFamily="34" charset="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hexbin_with</a:t>
            </a:r>
            <a:r>
              <a:rPr lang="en-US" altLang="ko-KR" sz="1400" dirty="0">
                <a:latin typeface="Britannic Bold" panose="020B0903060703020204" pitchFamily="34" charset="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marginal distribution.</a:t>
            </a:r>
            <a:endParaRPr lang="ko-KR" altLang="en-US" sz="1400" dirty="0">
              <a:latin typeface="Britannic Bold" panose="020B0903060703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05E9CAD-E07C-3779-E540-0EBB161CB89F}"/>
                  </a:ext>
                </a:extLst>
              </p:cNvPr>
              <p:cNvSpPr txBox="1"/>
              <p:nvPr/>
            </p:nvSpPr>
            <p:spPr>
              <a:xfrm>
                <a:off x="3214092" y="5229200"/>
                <a:ext cx="1027593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𝑷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(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𝑿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,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𝒀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)</m:t>
                      </m:r>
                    </m:oMath>
                  </m:oMathPara>
                </a14:m>
                <a:endParaRPr lang="ko-KR" altLang="en-US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05E9CAD-E07C-3779-E540-0EBB161CB8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14092" y="5229200"/>
                <a:ext cx="1027593" cy="369332"/>
              </a:xfrm>
              <a:prstGeom prst="rect">
                <a:avLst/>
              </a:prstGeom>
              <a:blipFill>
                <a:blip r:embed="rId6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146B1C5-A810-ADFB-3987-64C5E3225901}"/>
                  </a:ext>
                </a:extLst>
              </p:cNvPr>
              <p:cNvSpPr txBox="1"/>
              <p:nvPr/>
            </p:nvSpPr>
            <p:spPr>
              <a:xfrm>
                <a:off x="4798268" y="2267580"/>
                <a:ext cx="648072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𝑷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(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𝒀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)</m:t>
                      </m:r>
                    </m:oMath>
                  </m:oMathPara>
                </a14:m>
                <a:endParaRPr lang="ko-KR" altLang="en-US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146B1C5-A810-ADFB-3987-64C5E32259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98268" y="2267580"/>
                <a:ext cx="648072" cy="369332"/>
              </a:xfrm>
              <a:prstGeom prst="rect">
                <a:avLst/>
              </a:prstGeom>
              <a:blipFill>
                <a:blip r:embed="rId7"/>
                <a:stretch>
                  <a:fillRect r="-8491" b="-1147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788395A-7CDF-DA9D-FE70-9353060EBF3D}"/>
                  </a:ext>
                </a:extLst>
              </p:cNvPr>
              <p:cNvSpPr txBox="1"/>
              <p:nvPr/>
            </p:nvSpPr>
            <p:spPr>
              <a:xfrm>
                <a:off x="763770" y="1895927"/>
                <a:ext cx="79413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𝑷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(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𝑿</m:t>
                      </m:r>
                      <m:r>
                        <a:rPr lang="en-US" altLang="ko-KR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)</m:t>
                      </m:r>
                    </m:oMath>
                  </m:oMathPara>
                </a14:m>
                <a:endParaRPr lang="ko-KR" altLang="en-US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788395A-7CDF-DA9D-FE70-9353060EBF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3770" y="1895927"/>
                <a:ext cx="794138" cy="369332"/>
              </a:xfrm>
              <a:prstGeom prst="rect">
                <a:avLst/>
              </a:prstGeom>
              <a:blipFill>
                <a:blip r:embed="rId8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8DCA833E-B55B-A6F6-4B65-00A54D9DAF32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조건부</a:t>
            </a:r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확률</a:t>
            </a:r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(Conditional distributions) 1/2</a:t>
            </a:r>
            <a:endParaRPr lang="ko-KR" altLang="en-US" sz="3200" b="1" dirty="0"/>
          </a:p>
        </p:txBody>
      </p:sp>
    </p:spTree>
    <p:extLst>
      <p:ext uri="{BB962C8B-B14F-4D97-AF65-F5344CB8AC3E}">
        <p14:creationId xmlns:p14="http://schemas.microsoft.com/office/powerpoint/2010/main" val="16190749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A05F1E-F796-5B86-BB6D-1DE3E96BA4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이등변 삼각형 16">
            <a:extLst>
              <a:ext uri="{FF2B5EF4-FFF2-40B4-BE49-F238E27FC236}">
                <a16:creationId xmlns:a16="http://schemas.microsoft.com/office/drawing/2014/main" id="{36E39909-7DFD-09F1-3547-A6E5059E381B}"/>
              </a:ext>
            </a:extLst>
          </p:cNvPr>
          <p:cNvSpPr/>
          <p:nvPr/>
        </p:nvSpPr>
        <p:spPr>
          <a:xfrm>
            <a:off x="1413892" y="1617684"/>
            <a:ext cx="9361040" cy="947220"/>
          </a:xfrm>
          <a:prstGeom prst="triangl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26DD476-E7B1-A9F8-818B-592447BC5C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46</a:t>
            </a:fld>
            <a:endParaRPr lang="en-US" altLang="ko-KR" noProof="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20AC3C7-4124-E1BC-E58C-1975BFACDB04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조건부</a:t>
            </a:r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확률</a:t>
            </a:r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(Conditional distributions) 2/2</a:t>
            </a:r>
            <a:endParaRPr lang="ko-KR" altLang="en-US" sz="3200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C4832A0-F0BF-374A-D564-5BA5865EAE85}"/>
              </a:ext>
            </a:extLst>
          </p:cNvPr>
          <p:cNvSpPr txBox="1"/>
          <p:nvPr/>
        </p:nvSpPr>
        <p:spPr>
          <a:xfrm>
            <a:off x="338480" y="1005885"/>
            <a:ext cx="11588580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부리길이가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40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이하，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50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이상인 경우 날개의 길이에 대한 </a:t>
            </a:r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조건부확률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히스토그램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D644C37A-B7C1-A4D2-7E71-288B4BC39AB7}"/>
              </a:ext>
            </a:extLst>
          </p:cNvPr>
          <p:cNvGrpSpPr/>
          <p:nvPr/>
        </p:nvGrpSpPr>
        <p:grpSpPr>
          <a:xfrm>
            <a:off x="1413892" y="2564904"/>
            <a:ext cx="9361040" cy="3829876"/>
            <a:chOff x="755931" y="2060848"/>
            <a:chExt cx="10110835" cy="4136639"/>
          </a:xfrm>
        </p:grpSpPr>
        <p:pic>
          <p:nvPicPr>
            <p:cNvPr id="6146" name="Picture 2">
              <a:extLst>
                <a:ext uri="{FF2B5EF4-FFF2-40B4-BE49-F238E27FC236}">
                  <a16:creationId xmlns:a16="http://schemas.microsoft.com/office/drawing/2014/main" id="{C2A59E69-1EBF-6473-FA56-31829809BB5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55931" y="2060848"/>
              <a:ext cx="10110835" cy="413663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42532C33-E144-4DBB-494D-B9C3FFECC614}"/>
                    </a:ext>
                  </a:extLst>
                </p:cNvPr>
                <p:cNvSpPr txBox="1"/>
                <p:nvPr/>
              </p:nvSpPr>
              <p:spPr>
                <a:xfrm>
                  <a:off x="4111995" y="2530867"/>
                  <a:ext cx="2088232" cy="39891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ko-KR" sz="1800" b="1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𝑷</m:t>
                        </m:r>
                        <m:r>
                          <a:rPr lang="en-US" altLang="ko-KR" sz="1800" b="1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(</m:t>
                        </m:r>
                        <m:r>
                          <a:rPr lang="en-US" altLang="ko-KR" sz="1800" b="1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𝑿</m:t>
                        </m:r>
                        <m:r>
                          <a:rPr lang="en-US" altLang="ko-KR" sz="1800" b="1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|(</m:t>
                        </m:r>
                        <m:r>
                          <a:rPr lang="en-US" altLang="ko-KR" sz="1800" b="1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𝒀</m:t>
                        </m:r>
                        <m:r>
                          <a:rPr lang="en-US" altLang="ko-KR" sz="1800" b="1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&lt;</m:t>
                        </m:r>
                        <m:r>
                          <a:rPr lang="en-US" altLang="ko-KR" sz="1800" b="1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𝟒𝟎</m:t>
                        </m:r>
                        <m:r>
                          <a:rPr lang="en-US" altLang="ko-KR" sz="1800" b="1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)</m:t>
                        </m:r>
                      </m:oMath>
                    </m:oMathPara>
                  </a14:m>
                  <a:endParaRPr lang="ko-KR" altLang="en-US" b="1" dirty="0">
                    <a:solidFill>
                      <a:srgbClr val="00B050"/>
                    </a:solidFill>
                  </a:endParaRPr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42532C33-E144-4DBB-494D-B9C3FFECC61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11995" y="2530867"/>
                  <a:ext cx="2088232" cy="398915"/>
                </a:xfrm>
                <a:prstGeom prst="rect">
                  <a:avLst/>
                </a:prstGeom>
                <a:blipFill>
                  <a:blip r:embed="rId4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CCA0FC88-D65A-22FF-DF5B-54B988AEB752}"/>
                    </a:ext>
                  </a:extLst>
                </p:cNvPr>
                <p:cNvSpPr txBox="1"/>
                <p:nvPr/>
              </p:nvSpPr>
              <p:spPr>
                <a:xfrm>
                  <a:off x="6034588" y="2516286"/>
                  <a:ext cx="2088232" cy="39891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ko-KR" sz="18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𝑷</m:t>
                        </m:r>
                        <m:r>
                          <a:rPr lang="en-US" altLang="ko-KR" sz="18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(</m:t>
                        </m:r>
                        <m:r>
                          <a:rPr lang="en-US" altLang="ko-KR" sz="18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𝑿</m:t>
                        </m:r>
                        <m:r>
                          <a:rPr lang="en-US" altLang="ko-KR" sz="18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|(</m:t>
                        </m:r>
                        <m:r>
                          <a:rPr lang="en-US" altLang="ko-KR" sz="18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𝒀</m:t>
                        </m:r>
                        <m:r>
                          <a:rPr lang="en-US" altLang="ko-KR" sz="18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&gt;</m:t>
                        </m:r>
                        <m:r>
                          <a:rPr lang="en-US" altLang="ko-KR" sz="18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𝟒𝟎</m:t>
                        </m:r>
                        <m:r>
                          <a:rPr lang="en-US" altLang="ko-KR" sz="18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)</m:t>
                        </m:r>
                      </m:oMath>
                    </m:oMathPara>
                  </a14:m>
                  <a:endParaRPr lang="ko-KR" altLang="en-US" b="1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CCA0FC88-D65A-22FF-DF5B-54B988AEB75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34588" y="2516286"/>
                  <a:ext cx="2088232" cy="398915"/>
                </a:xfrm>
                <a:prstGeom prst="rect">
                  <a:avLst/>
                </a:prstGeom>
                <a:blipFill>
                  <a:blip r:embed="rId5"/>
                  <a:stretch>
                    <a:fillRect b="-11475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pic>
        <p:nvPicPr>
          <p:cNvPr id="10" name="그림 9">
            <a:extLst>
              <a:ext uri="{FF2B5EF4-FFF2-40B4-BE49-F238E27FC236}">
                <a16:creationId xmlns:a16="http://schemas.microsoft.com/office/drawing/2014/main" id="{B27ED658-D512-B508-1758-40CC52285BC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98837" y="1556792"/>
            <a:ext cx="3743847" cy="6954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7245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966E70-34EB-0C3F-F0E4-511E719A77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62C2CE0A-4F75-02C8-46D1-9E791D3482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47</a:t>
            </a:fld>
            <a:endParaRPr lang="en-US" altLang="ko-KR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1198F10-51EE-9A67-5F61-2A00C33E2DBA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조건부</a:t>
            </a:r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확률</a:t>
            </a:r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(Conditional distributions)</a:t>
            </a:r>
            <a:endParaRPr lang="ko-KR" altLang="en-US" sz="3200" b="1" dirty="0"/>
          </a:p>
        </p:txBody>
      </p:sp>
      <p:pic>
        <p:nvPicPr>
          <p:cNvPr id="2054" name="Picture 6">
            <a:extLst>
              <a:ext uri="{FF2B5EF4-FFF2-40B4-BE49-F238E27FC236}">
                <a16:creationId xmlns:a16="http://schemas.microsoft.com/office/drawing/2014/main" id="{E9A46731-E4C7-5727-B150-47F02419F0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98468" y="1678268"/>
            <a:ext cx="5363889" cy="46040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3148E4A-B3B0-586F-1DE8-E19CB2D4077C}"/>
              </a:ext>
            </a:extLst>
          </p:cNvPr>
          <p:cNvSpPr txBox="1"/>
          <p:nvPr/>
        </p:nvSpPr>
        <p:spPr>
          <a:xfrm>
            <a:off x="338479" y="908720"/>
            <a:ext cx="11623877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부리길이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(Bill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Length)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40mm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이하인 경우에서 날개길이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(Flipper Length)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조건부 확률밀도함수 시각화 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2060" name="Picture 12">
            <a:extLst>
              <a:ext uri="{FF2B5EF4-FFF2-40B4-BE49-F238E27FC236}">
                <a16:creationId xmlns:a16="http://schemas.microsoft.com/office/drawing/2014/main" id="{62F00511-FD76-49AB-7880-6A76D2E585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1836" y="1704469"/>
            <a:ext cx="5392706" cy="45778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359456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90FAF3-4CB9-BECF-483D-600C95920D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6EF1691-468D-099A-46B1-58B14A0314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48</a:t>
            </a:fld>
            <a:endParaRPr lang="en-US" altLang="ko-KR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EA352C2-66CD-CAE7-94E4-26FF0A683EB2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조건부</a:t>
            </a:r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확률</a:t>
            </a:r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(Conditional distributions)</a:t>
            </a:r>
            <a:endParaRPr lang="ko-KR" altLang="en-US" sz="3200" b="1" dirty="0"/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EA1AC3BD-6565-1884-E002-03A1A38BB7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5467" y="1820143"/>
            <a:ext cx="5303697" cy="45022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8" name="Picture 10">
            <a:extLst>
              <a:ext uri="{FF2B5EF4-FFF2-40B4-BE49-F238E27FC236}">
                <a16:creationId xmlns:a16="http://schemas.microsoft.com/office/drawing/2014/main" id="{5409503A-3995-715E-1826-7FC194EF1A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42484" y="1815326"/>
            <a:ext cx="5218067" cy="44681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EAF28AC-A607-8077-A231-1EF39363F518}"/>
              </a:ext>
            </a:extLst>
          </p:cNvPr>
          <p:cNvSpPr txBox="1"/>
          <p:nvPr/>
        </p:nvSpPr>
        <p:spPr>
          <a:xfrm>
            <a:off x="338480" y="908720"/>
            <a:ext cx="11588580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부리길이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(Bill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Length)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50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이상인 경우에서 날개길이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((Flipper Length)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 대한 조건부 확률밀도함수 시각화 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00228838-660D-2B1D-8DC8-86864290BE5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5467" y="1700808"/>
            <a:ext cx="5303696" cy="3168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005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A05F1E-F796-5B86-BB6D-1DE3E96BA4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26DD476-E7B1-A9F8-818B-592447BC5C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49</a:t>
            </a:fld>
            <a:endParaRPr lang="en-US" altLang="ko-KR" noProof="0" dirty="0"/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C2A59E69-1EBF-6473-FA56-31829809BB5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5931" y="1772816"/>
            <a:ext cx="10814847" cy="44246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20AC3C7-4124-E1BC-E58C-1975BFACDB04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조건부</a:t>
            </a:r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확률</a:t>
            </a:r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(Conditional distributions)</a:t>
            </a:r>
            <a:endParaRPr lang="ko-KR" altLang="en-US" sz="3200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C4832A0-F0BF-374A-D564-5BA5865EAE85}"/>
              </a:ext>
            </a:extLst>
          </p:cNvPr>
          <p:cNvSpPr txBox="1"/>
          <p:nvPr/>
        </p:nvSpPr>
        <p:spPr>
          <a:xfrm>
            <a:off x="338480" y="1005885"/>
            <a:ext cx="11588580" cy="454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부리길이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(Bill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Length)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40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50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이상인 경우 날개 길이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(Flipper Length)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 대한 조건부확률 히스토그램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3BB3ED63-FE5D-9994-B67A-770A8624D45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16228" y="2318650"/>
            <a:ext cx="1943021" cy="1494264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FFB7F972-34E1-4141-72BE-842F5F835B5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8468" y="2311708"/>
            <a:ext cx="2197140" cy="14942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96252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1F7F4F-4C66-5C79-57DA-B16A4F689A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16427ED6-85A8-D777-FF95-6E6E6E0B20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66048" y="2877923"/>
            <a:ext cx="6819001" cy="3575413"/>
          </a:xfrm>
          <a:prstGeom prst="rect">
            <a:avLst/>
          </a:prstGeom>
        </p:spPr>
      </p:pic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47D0E083-68EA-01E8-7806-632085656C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50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2309F8D-EFC5-817A-F173-BD0C07583ADB}"/>
              </a:ext>
            </a:extLst>
          </p:cNvPr>
          <p:cNvSpPr txBox="1"/>
          <p:nvPr/>
        </p:nvSpPr>
        <p:spPr>
          <a:xfrm>
            <a:off x="549796" y="986059"/>
            <a:ext cx="11233248" cy="1568186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매일 아침 출근시간에 지하철을 타는 남자가 금융 및 보험업에 종사할 확률을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구하라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통계청 자료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(KOSIS)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에 따르면 전체 종업원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(6,246,489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명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에서 금융 및 보험업에 종사자 수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(66,014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명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 :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사전확률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평균 넥타이 착용율은 금융업과 다른 업종 종사자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각각 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90%, 15%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라는 새로운 사실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Evidence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새로운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사실에 근거하여 이 남자의 금융 및 보험업에 종사할 사후확률은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AF36591-4C41-D85C-1F64-DE57588364EA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31F460A-5DE2-6573-C2AD-53241F59FD97}"/>
              </a:ext>
            </a:extLst>
          </p:cNvPr>
          <p:cNvSpPr txBox="1"/>
          <p:nvPr/>
        </p:nvSpPr>
        <p:spPr>
          <a:xfrm>
            <a:off x="2266048" y="4221088"/>
            <a:ext cx="170431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b="1" dirty="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산업별 종사자 수</a:t>
            </a:r>
            <a:endParaRPr lang="ko-KR" altLang="en-US" sz="1600" b="1" dirty="0"/>
          </a:p>
        </p:txBody>
      </p:sp>
      <p:pic>
        <p:nvPicPr>
          <p:cNvPr id="3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59B17EF7-974C-F17F-A3E1-3C07DADAC55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63887" y="26166"/>
            <a:ext cx="1389505" cy="9193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356146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687DCD-302D-9CE6-CF1A-29A1F798BD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4239A17B-2AF0-818F-A73D-451C46F569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51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566AA4D-FC6B-90BE-73F7-96601C63D0D7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</a:t>
            </a:r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DC163C18-E4BD-3852-BAA6-70931793CB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8065" y="1412776"/>
            <a:ext cx="5402622" cy="192603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8E7BB718-61FE-04FE-B2D1-43C39954AB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63887" y="26166"/>
            <a:ext cx="1389505" cy="9193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직사각형 4">
            <a:extLst>
              <a:ext uri="{FF2B5EF4-FFF2-40B4-BE49-F238E27FC236}">
                <a16:creationId xmlns:a16="http://schemas.microsoft.com/office/drawing/2014/main" id="{C361246A-9F8A-8504-DCC6-CDFC9CF6A864}"/>
              </a:ext>
            </a:extLst>
          </p:cNvPr>
          <p:cNvSpPr/>
          <p:nvPr/>
        </p:nvSpPr>
        <p:spPr>
          <a:xfrm>
            <a:off x="1125860" y="1418735"/>
            <a:ext cx="5184576" cy="457757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9CF1791C-BFD0-81F6-0238-53A019D300B3}"/>
              </a:ext>
            </a:extLst>
          </p:cNvPr>
          <p:cNvSpPr/>
          <p:nvPr/>
        </p:nvSpPr>
        <p:spPr>
          <a:xfrm>
            <a:off x="1125860" y="5561680"/>
            <a:ext cx="5184576" cy="45960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98FCDD9-2C91-94CC-01AB-D5583E086587}"/>
              </a:ext>
            </a:extLst>
          </p:cNvPr>
          <p:cNvSpPr txBox="1"/>
          <p:nvPr/>
        </p:nvSpPr>
        <p:spPr>
          <a:xfrm>
            <a:off x="4208748" y="1631541"/>
            <a:ext cx="17281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6,246,489</a:t>
            </a:r>
            <a:endParaRPr lang="ko-KR" altLang="en-US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7BCEFF2-63C9-7F4C-22C0-5CA67338FE38}"/>
              </a:ext>
            </a:extLst>
          </p:cNvPr>
          <p:cNvSpPr txBox="1"/>
          <p:nvPr/>
        </p:nvSpPr>
        <p:spPr>
          <a:xfrm>
            <a:off x="4582244" y="5579948"/>
            <a:ext cx="10081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66,014</a:t>
            </a:r>
            <a:endParaRPr lang="ko-KR" altLang="en-US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E9FBB397-009A-3A7A-BD3B-7CFE19F66409}"/>
              </a:ext>
            </a:extLst>
          </p:cNvPr>
          <p:cNvSpPr/>
          <p:nvPr/>
        </p:nvSpPr>
        <p:spPr>
          <a:xfrm>
            <a:off x="1125860" y="1412776"/>
            <a:ext cx="1215752" cy="4608512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B1889CA-535E-080C-37F6-7AF47C310362}"/>
              </a:ext>
            </a:extLst>
          </p:cNvPr>
          <p:cNvSpPr txBox="1"/>
          <p:nvPr/>
        </p:nvSpPr>
        <p:spPr>
          <a:xfrm>
            <a:off x="1197868" y="3140968"/>
            <a:ext cx="10081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>
                <a:solidFill>
                  <a:srgbClr val="00B0F0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986,484</a:t>
            </a:r>
            <a:endParaRPr lang="ko-KR" altLang="en-US" b="1" dirty="0">
              <a:solidFill>
                <a:srgbClr val="00B0F0"/>
              </a:solidFill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7005E66E-3339-AA81-D7A5-041A65FD4649}"/>
              </a:ext>
            </a:extLst>
          </p:cNvPr>
          <p:cNvSpPr/>
          <p:nvPr/>
        </p:nvSpPr>
        <p:spPr>
          <a:xfrm>
            <a:off x="1125860" y="5561680"/>
            <a:ext cx="1215752" cy="45960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3CA83E4-6418-DD70-4D5D-FA4A6F0B3052}"/>
              </a:ext>
            </a:extLst>
          </p:cNvPr>
          <p:cNvSpPr txBox="1"/>
          <p:nvPr/>
        </p:nvSpPr>
        <p:spPr>
          <a:xfrm>
            <a:off x="1413892" y="5579948"/>
            <a:ext cx="8640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>
                <a:solidFill>
                  <a:srgbClr val="00B0F0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59,413</a:t>
            </a:r>
            <a:endParaRPr lang="ko-KR" altLang="en-US" b="1" dirty="0">
              <a:solidFill>
                <a:srgbClr val="00B0F0"/>
              </a:solidFill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EE2807C-6FA0-58BD-494F-96F36B7A968B}"/>
              </a:ext>
            </a:extLst>
          </p:cNvPr>
          <p:cNvSpPr txBox="1"/>
          <p:nvPr/>
        </p:nvSpPr>
        <p:spPr>
          <a:xfrm>
            <a:off x="2355957" y="1631541"/>
            <a:ext cx="17281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총 사업자수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079D222-0C3A-B0EB-4FB1-D22EACF4B9ED}"/>
              </a:ext>
            </a:extLst>
          </p:cNvPr>
          <p:cNvSpPr txBox="1"/>
          <p:nvPr/>
        </p:nvSpPr>
        <p:spPr>
          <a:xfrm>
            <a:off x="2422004" y="5616096"/>
            <a:ext cx="17281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금융업</a:t>
            </a:r>
          </a:p>
        </p:txBody>
      </p:sp>
    </p:spTree>
    <p:extLst>
      <p:ext uri="{BB962C8B-B14F-4D97-AF65-F5344CB8AC3E}">
        <p14:creationId xmlns:p14="http://schemas.microsoft.com/office/powerpoint/2010/main" val="194637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8" grpId="0" animBg="1"/>
      <p:bldP spid="10" grpId="0"/>
      <p:bldP spid="12" grpId="0"/>
      <p:bldP spid="13" grpId="0" animBg="1"/>
      <p:bldP spid="14" grpId="0"/>
      <p:bldP spid="15" grpId="0" animBg="1"/>
      <p:bldP spid="16" grpId="0"/>
      <p:bldP spid="17" grpId="0"/>
      <p:bldP spid="18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7881D7-008B-5BB7-2B99-3CE16B6B29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F9934BEB-B65A-0C3E-6F5F-A71AC467F7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52</a:t>
            </a:fld>
            <a:endParaRPr lang="en-US" altLang="ko-KR" noProof="0" dirty="0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82065660-C3F0-0188-AF88-3B6D94519984}"/>
              </a:ext>
            </a:extLst>
          </p:cNvPr>
          <p:cNvSpPr/>
          <p:nvPr/>
        </p:nvSpPr>
        <p:spPr>
          <a:xfrm>
            <a:off x="333772" y="692696"/>
            <a:ext cx="11737304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en-US" sz="2000" dirty="0">
                <a:solidFill>
                  <a:srgbClr val="202124"/>
                </a:solidFill>
                <a:latin typeface="Arial" panose="020B0604020202020204" pitchFamily="34" charset="0"/>
              </a:rPr>
              <a:t>조건부 확률</a:t>
            </a:r>
            <a:r>
              <a:rPr lang="en-US" altLang="ko-KR" sz="2000" dirty="0">
                <a:solidFill>
                  <a:srgbClr val="202124"/>
                </a:solidFill>
                <a:latin typeface="Arial" panose="020B0604020202020204" pitchFamily="34" charset="0"/>
              </a:rPr>
              <a:t>(Conditional probability)</a:t>
            </a:r>
            <a:r>
              <a:rPr lang="ko-KR" altLang="en-US" sz="2000" dirty="0">
                <a:solidFill>
                  <a:srgbClr val="202124"/>
                </a:solidFill>
                <a:latin typeface="Arial" panose="020B0604020202020204" pitchFamily="34" charset="0"/>
              </a:rPr>
              <a:t>이란 </a:t>
            </a:r>
            <a:r>
              <a:rPr lang="ko-KR" altLang="en-US" sz="2000" dirty="0">
                <a:solidFill>
                  <a:srgbClr val="040C28"/>
                </a:solidFill>
                <a:latin typeface="Arial" panose="020B0604020202020204" pitchFamily="34" charset="0"/>
              </a:rPr>
              <a:t>어떤 사건이 일어났다는 전제하에 다른 사건이 일어날 확률</a:t>
            </a:r>
            <a:endParaRPr lang="ko-KR" altLang="en-US" sz="2000" dirty="0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5DB8B31E-DF4F-669C-CE91-BD80234C00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9836" y="1844824"/>
            <a:ext cx="5613632" cy="4248472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9BF3F7C1-F005-CAA5-0FEB-A2D1D5E772B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30716" y="1844824"/>
            <a:ext cx="2319519" cy="1340873"/>
          </a:xfrm>
          <a:prstGeom prst="rect">
            <a:avLst/>
          </a:prstGeom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C5B41141-90BA-EFEF-7DEC-3B8612D04043}"/>
              </a:ext>
            </a:extLst>
          </p:cNvPr>
          <p:cNvSpPr/>
          <p:nvPr/>
        </p:nvSpPr>
        <p:spPr>
          <a:xfrm>
            <a:off x="8797075" y="3284984"/>
            <a:ext cx="1608133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000" dirty="0">
                <a:solidFill>
                  <a:srgbClr val="040C28"/>
                </a:solidFill>
                <a:latin typeface="Arial" panose="020B0604020202020204" pitchFamily="34" charset="0"/>
              </a:rPr>
              <a:t>독립인</a:t>
            </a:r>
            <a:r>
              <a:rPr lang="en-US" altLang="ko-KR" sz="2000" dirty="0">
                <a:solidFill>
                  <a:srgbClr val="040C28"/>
                </a:solidFill>
                <a:latin typeface="Arial" panose="020B0604020202020204" pitchFamily="34" charset="0"/>
              </a:rPr>
              <a:t> </a:t>
            </a:r>
            <a:r>
              <a:rPr lang="ko-KR" altLang="en-US" sz="2000" dirty="0">
                <a:solidFill>
                  <a:srgbClr val="040C28"/>
                </a:solidFill>
                <a:latin typeface="Arial" panose="020B0604020202020204" pitchFamily="34" charset="0"/>
              </a:rPr>
              <a:t>경우</a:t>
            </a:r>
            <a:r>
              <a:rPr lang="en-US" altLang="ko-KR" sz="2000" dirty="0">
                <a:solidFill>
                  <a:srgbClr val="040C28"/>
                </a:solidFill>
                <a:latin typeface="Arial" panose="020B0604020202020204" pitchFamily="34" charset="0"/>
              </a:rPr>
              <a:t> </a:t>
            </a:r>
            <a:endParaRPr lang="ko-KR" altLang="en-US" sz="2000" dirty="0">
              <a:solidFill>
                <a:srgbClr val="040C28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543494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1DFAD1-646A-3732-0B7E-571B1C23FD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E059ED99-6F8A-3A9A-3B42-9713629E9F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53</a:t>
            </a:fld>
            <a:endParaRPr lang="en-US" altLang="ko-KR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3E24805-89AB-BFA8-8E48-AC47CAD1E931}"/>
              </a:ext>
            </a:extLst>
          </p:cNvPr>
          <p:cNvSpPr txBox="1"/>
          <p:nvPr/>
        </p:nvSpPr>
        <p:spPr>
          <a:xfrm>
            <a:off x="909836" y="843677"/>
            <a:ext cx="10225136" cy="8697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어떤 사람이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5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회 연속으로 카드의 색깔을 맞추었다면 그 사람이 초능력자라고 당신은 얼마나 믿는가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3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명의 친구 ‘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Stub’, ‘Freq’, ‘Bays’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가 초능력자라는 믿음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(credibility)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에 대해 확인해보자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BA007FE-1B99-2A83-C3DF-9542719965C8}"/>
                  </a:ext>
                </a:extLst>
              </p:cNvPr>
              <p:cNvSpPr txBox="1"/>
              <p:nvPr/>
            </p:nvSpPr>
            <p:spPr>
              <a:xfrm>
                <a:off x="909836" y="2006739"/>
                <a:ext cx="10297144" cy="420326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742950" lvl="1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en-US" altLang="ko-KR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Stub(</a:t>
                </a:r>
                <a:r>
                  <a:rPr lang="ko-KR" altLang="en-US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고집불통</a:t>
                </a:r>
                <a:r>
                  <a:rPr lang="en-US" altLang="ko-KR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)</a:t>
                </a:r>
                <a:r>
                  <a:rPr lang="ko-KR" altLang="en-US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는 너무 고집스럽고 </a:t>
                </a:r>
                <a:r>
                  <a:rPr lang="en-US" altLang="ko-KR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Freq(</a:t>
                </a:r>
                <a:r>
                  <a:rPr lang="ko-KR" altLang="en-US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빈도주의자</a:t>
                </a:r>
                <a:r>
                  <a:rPr lang="en-US" altLang="ko-KR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)</a:t>
                </a:r>
                <a:r>
                  <a:rPr lang="ko-KR" altLang="en-US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는 슈퍼맨의 존재를 너무 신봉하는 경향이 있다</a:t>
                </a:r>
                <a:r>
                  <a:rPr lang="en-US" altLang="ko-KR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.</a:t>
                </a:r>
              </a:p>
              <a:p>
                <a:pPr marL="1200150" lvl="2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Stub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은 세상에 초능력자는 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0.1%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만 존재한다는 사전확률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(Prior probability) 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만을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 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고수하며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 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누가 카드 색깔을 맞춘 사실에는 관심이 없고 여전히 초능력자일 확률은 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0.1%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라고 한다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. </a:t>
                </a:r>
              </a:p>
              <a:p>
                <a:pPr marL="1200150" lvl="2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Freq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는 가설이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 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맞다는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 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전제하에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 5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회 연속 맞출 확률인 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p-value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에만 관심이 있어 초능력자라면 전부 맞추겠지만 일반인이기에 운 좋게 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3.125% =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400">
                            <a:latin typeface="Cambria Math" panose="02040503050406030204" pitchFamily="18" charset="0"/>
                          </a:rPr>
                          <m:t>(</m:t>
                        </m:r>
                        <m:f>
                          <m:fPr>
                            <m:ctrlPr>
                              <a:rPr lang="en-US" altLang="ko-KR" sz="14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altLang="ko-KR" sz="140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altLang="ko-KR" sz="1400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  <m:r>
                          <a:rPr lang="en-US" altLang="ko-KR" sz="1400">
                            <a:latin typeface="Cambria Math" panose="02040503050406030204" pitchFamily="18" charset="0"/>
                          </a:rPr>
                          <m:t>) </m:t>
                        </m:r>
                      </m:e>
                      <m:sup>
                        <m:r>
                          <a:rPr lang="en-US" altLang="ko-KR" sz="1400">
                            <a:latin typeface="Cambria Math" panose="02040503050406030204" pitchFamily="18" charset="0"/>
                          </a:rPr>
                          <m:t>5</m:t>
                        </m:r>
                      </m:sup>
                    </m:sSup>
                  </m:oMath>
                </a14:m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로 맞추었을 뿐이라고 한다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. (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즉 이 사람은 저 사람이 초능력자일 확률을 직접 구하기보다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, "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일반인인데 운이 좋았을 확률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"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을 계산하여 가설을 기각할지 고민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)</a:t>
                </a:r>
              </a:p>
              <a:p>
                <a:pPr marL="742950" lvl="1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en-US" altLang="ko-KR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Bays</a:t>
                </a:r>
                <a:r>
                  <a:rPr lang="ko-KR" altLang="en-US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는 </a:t>
                </a:r>
                <a:r>
                  <a:rPr lang="en-US" altLang="ko-KR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5</a:t>
                </a:r>
                <a:r>
                  <a:rPr lang="ko-KR" altLang="en-US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개를 맞춘 사실을 전제로 초능력자일 확률적 믿음은 </a:t>
                </a:r>
                <a:r>
                  <a:rPr lang="en-US" altLang="ko-KR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3.1%</a:t>
                </a:r>
                <a:r>
                  <a:rPr lang="ko-KR" altLang="en-US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라고 한다</a:t>
                </a:r>
                <a:r>
                  <a:rPr lang="en-US" altLang="ko-KR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. </a:t>
                </a:r>
              </a:p>
              <a:p>
                <a:pPr marL="1200150" lvl="2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사전 믿음에 새로운 증거를 결합하여 사후 확률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(Posterior)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을 계산</a:t>
                </a:r>
                <a:endParaRPr lang="en-US" altLang="ko-KR" sz="1400" dirty="0"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  <a:p>
                <a:pPr marL="1200150" lvl="2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５개 색깔을 모두 맞춘 경우 ： 초능력자와 일반인이 맞춘 경우에서 초능력자가 맞출 비율</a:t>
                </a:r>
                <a:endParaRPr lang="en-US" altLang="ko-KR" sz="1400" dirty="0"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  <a:p>
                <a:pPr marL="1200150" lvl="2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베이지안은 확률을 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'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고정된 값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'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이 아니라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, 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새로운 데이터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(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증거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)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가 들어올 때마다 업데이트되는 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'</a:t>
                </a:r>
                <a:r>
                  <a:rPr lang="ko-KR" altLang="en-US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믿음의 정도</a:t>
                </a:r>
                <a:r>
                  <a:rPr lang="en-US" altLang="ko-KR" sz="14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’</a:t>
                </a:r>
              </a:p>
              <a:p>
                <a:pPr marL="1200150" lvl="2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endParaRPr lang="en-US" altLang="ko-KR" sz="1400" dirty="0"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  <a:p>
                <a:pPr marL="742950" lvl="1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당신은 어느 유형에 속하는가</a:t>
                </a:r>
                <a:r>
                  <a:rPr lang="en-US" altLang="ko-KR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? </a:t>
                </a:r>
                <a:r>
                  <a:rPr lang="ko-KR" altLang="en-US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통계학에서 </a:t>
                </a:r>
                <a:r>
                  <a:rPr lang="en-US" altLang="ko-KR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Frequentist</a:t>
                </a:r>
                <a:r>
                  <a:rPr lang="ko-KR" altLang="en-US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와 </a:t>
                </a:r>
                <a:r>
                  <a:rPr lang="en-US" altLang="ko-KR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Bayesian</a:t>
                </a:r>
                <a:r>
                  <a:rPr lang="ko-KR" altLang="en-US" sz="1600" dirty="0">
                    <a:latin typeface="맑은 고딕" panose="020B0503020000020004" pitchFamily="50" charset="-127"/>
                    <a:ea typeface="맑은 고딕" panose="020B0503020000020004" pitchFamily="50" charset="-127"/>
                  </a:rPr>
                  <a:t>을 설명하는 예제</a:t>
                </a:r>
                <a:endParaRPr lang="en-US" altLang="ko-KR" sz="1600" dirty="0">
                  <a:latin typeface="맑은 고딕" panose="020B0503020000020004" pitchFamily="50" charset="-127"/>
                  <a:ea typeface="맑은 고딕" panose="020B0503020000020004" pitchFamily="50" charset="-127"/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BA007FE-1B99-2A83-C3DF-9542719965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9836" y="2006739"/>
                <a:ext cx="10297144" cy="4203267"/>
              </a:xfrm>
              <a:prstGeom prst="rect">
                <a:avLst/>
              </a:prstGeom>
              <a:blipFill>
                <a:blip r:embed="rId3"/>
                <a:stretch>
                  <a:fillRect b="-87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Box 14">
            <a:extLst>
              <a:ext uri="{FF2B5EF4-FFF2-40B4-BE49-F238E27FC236}">
                <a16:creationId xmlns:a16="http://schemas.microsoft.com/office/drawing/2014/main" id="{728162EC-3788-6FC6-7A7D-82BE94197901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en-US" altLang="ko-KR" sz="3200" b="1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Baysians</a:t>
            </a:r>
            <a:endParaRPr lang="ko-KR" altLang="en-US" sz="3200" b="1" dirty="0"/>
          </a:p>
        </p:txBody>
      </p:sp>
    </p:spTree>
    <p:extLst>
      <p:ext uri="{BB962C8B-B14F-4D97-AF65-F5344CB8AC3E}">
        <p14:creationId xmlns:p14="http://schemas.microsoft.com/office/powerpoint/2010/main" val="1921076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F835FF-F462-BD3A-A6D7-F8BAE388A1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2BD444E2-86B9-DA4D-3177-ECBFB5D02E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54</a:t>
            </a:fld>
            <a:endParaRPr lang="en-US" altLang="ko-KR" noProof="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FDA6300-4484-FCA7-41F8-1FF7D48638BE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en-US" altLang="ko-KR" sz="3200" b="1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Baysians</a:t>
            </a:r>
            <a:endParaRPr lang="ko-KR" altLang="en-US" sz="3200" b="1" dirty="0"/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AACC77ED-DB08-8BAD-0896-EC0F1D9819A0}"/>
              </a:ext>
            </a:extLst>
          </p:cNvPr>
          <p:cNvGrpSpPr/>
          <p:nvPr/>
        </p:nvGrpSpPr>
        <p:grpSpPr>
          <a:xfrm>
            <a:off x="909836" y="972594"/>
            <a:ext cx="9695226" cy="5256584"/>
            <a:chOff x="1110500" y="827911"/>
            <a:chExt cx="8949570" cy="4852302"/>
          </a:xfrm>
        </p:grpSpPr>
        <p:pic>
          <p:nvPicPr>
            <p:cNvPr id="3" name="그림 2">
              <a:extLst>
                <a:ext uri="{FF2B5EF4-FFF2-40B4-BE49-F238E27FC236}">
                  <a16:creationId xmlns:a16="http://schemas.microsoft.com/office/drawing/2014/main" id="{ABD6CC51-5DBA-2191-A91F-88C40BE9CB0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110500" y="3683462"/>
              <a:ext cx="8944352" cy="1996751"/>
            </a:xfrm>
            <a:prstGeom prst="rect">
              <a:avLst/>
            </a:prstGeom>
          </p:spPr>
        </p:pic>
        <p:pic>
          <p:nvPicPr>
            <p:cNvPr id="14" name="그림 13">
              <a:extLst>
                <a:ext uri="{FF2B5EF4-FFF2-40B4-BE49-F238E27FC236}">
                  <a16:creationId xmlns:a16="http://schemas.microsoft.com/office/drawing/2014/main" id="{D5D54327-C77A-5451-64F4-89840B35ED6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110500" y="827911"/>
              <a:ext cx="8208912" cy="2855551"/>
            </a:xfrm>
            <a:prstGeom prst="rect">
              <a:avLst/>
            </a:prstGeom>
          </p:spPr>
        </p:pic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1601B954-8524-C070-811E-78EAC25F8E7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240806" y="827911"/>
              <a:ext cx="819264" cy="1971950"/>
            </a:xfrm>
            <a:prstGeom prst="rect">
              <a:avLst/>
            </a:prstGeom>
          </p:spPr>
        </p:pic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19E367A9-DFEF-D3E0-5C8B-960F4F0B1BE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239830" y="2074398"/>
              <a:ext cx="819264" cy="1971950"/>
            </a:xfrm>
            <a:prstGeom prst="rect">
              <a:avLst/>
            </a:prstGeom>
          </p:spPr>
        </p:pic>
      </p:grpSp>
      <p:pic>
        <p:nvPicPr>
          <p:cNvPr id="7" name="그림 6">
            <a:extLst>
              <a:ext uri="{FF2B5EF4-FFF2-40B4-BE49-F238E27FC236}">
                <a16:creationId xmlns:a16="http://schemas.microsoft.com/office/drawing/2014/main" id="{6165D0A7-3A95-42C5-3AD7-4923F492F07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78788" y="3472327"/>
            <a:ext cx="1069352" cy="1290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16026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3A6B71-FD27-B2CB-29F5-FAAED35A57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D1E3BF63-BCAE-6BD2-203D-377C36A26A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55</a:t>
            </a:fld>
            <a:endParaRPr lang="en-US" altLang="ko-KR" noProof="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AE3BCC0-CEFE-7769-66E8-E4106026EB31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en-US" altLang="ko-KR" sz="3200" b="1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Baysians</a:t>
            </a:r>
            <a:endParaRPr lang="ko-KR" altLang="en-US" sz="3200" b="1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CEA3EA40-0E30-CAB5-979E-6687D658AF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3812" y="938493"/>
            <a:ext cx="7201945" cy="1792112"/>
          </a:xfrm>
          <a:prstGeom prst="rect">
            <a:avLst/>
          </a:prstGeom>
        </p:spPr>
      </p:pic>
      <p:grpSp>
        <p:nvGrpSpPr>
          <p:cNvPr id="19" name="그룹 18">
            <a:extLst>
              <a:ext uri="{FF2B5EF4-FFF2-40B4-BE49-F238E27FC236}">
                <a16:creationId xmlns:a16="http://schemas.microsoft.com/office/drawing/2014/main" id="{C45ED5FF-25E1-AB6E-9374-FFB62E690BB2}"/>
              </a:ext>
            </a:extLst>
          </p:cNvPr>
          <p:cNvGrpSpPr/>
          <p:nvPr/>
        </p:nvGrpSpPr>
        <p:grpSpPr>
          <a:xfrm>
            <a:off x="3574131" y="2823674"/>
            <a:ext cx="4321625" cy="3773677"/>
            <a:chOff x="3646140" y="2884874"/>
            <a:chExt cx="4104456" cy="3607074"/>
          </a:xfrm>
        </p:grpSpPr>
        <p:pic>
          <p:nvPicPr>
            <p:cNvPr id="18" name="그림 17">
              <a:extLst>
                <a:ext uri="{FF2B5EF4-FFF2-40B4-BE49-F238E27FC236}">
                  <a16:creationId xmlns:a16="http://schemas.microsoft.com/office/drawing/2014/main" id="{C2B54CBD-3000-1060-8EB3-D1778036555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646140" y="3224323"/>
              <a:ext cx="4104456" cy="3267625"/>
            </a:xfrm>
            <a:prstGeom prst="rect">
              <a:avLst/>
            </a:prstGeom>
          </p:spPr>
        </p:pic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267B6115-5A74-898D-3944-829905F2F23B}"/>
                </a:ext>
              </a:extLst>
            </p:cNvPr>
            <p:cNvSpPr txBox="1"/>
            <p:nvPr/>
          </p:nvSpPr>
          <p:spPr>
            <a:xfrm>
              <a:off x="3646140" y="2884874"/>
              <a:ext cx="4104456" cy="400110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r>
                <a:rPr lang="en-US" altLang="ko-KR" sz="2000" b="1" dirty="0">
                  <a:hlinkClick r:id="rId5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Are you Bayesian or Frequentist?</a:t>
              </a:r>
              <a:endParaRPr lang="ko-KR" altLang="en-US" sz="2000" b="1" dirty="0"/>
            </a:p>
          </p:txBody>
        </p:sp>
      </p:grpSp>
      <p:sp>
        <p:nvSpPr>
          <p:cNvPr id="5" name="AutoShape 2" descr="  Frequentist vs. Bayesian">
            <a:extLst>
              <a:ext uri="{FF2B5EF4-FFF2-40B4-BE49-F238E27FC236}">
                <a16:creationId xmlns:a16="http://schemas.microsoft.com/office/drawing/2014/main" id="{EF5FDAAB-F500-7EC4-62FE-08D2F94C68B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2013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936045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538580-0708-FBCC-8A60-FE6EC69E65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039611B1-EB80-E8EA-E3BE-BE1B111B2D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56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A717C4E-2BA1-CB46-EEC2-4EB363A328B7}"/>
              </a:ext>
            </a:extLst>
          </p:cNvPr>
          <p:cNvSpPr txBox="1"/>
          <p:nvPr/>
        </p:nvSpPr>
        <p:spPr>
          <a:xfrm>
            <a:off x="765820" y="1196752"/>
            <a:ext cx="10339574" cy="1285288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엑셀과 </a:t>
            </a:r>
            <a:r>
              <a:rPr lang="en-US" altLang="ko-KR" dirty="0" err="1">
                <a:latin typeface="맑은 고딕" panose="020B0503020000020004" pitchFamily="50" charset="-127"/>
                <a:ea typeface="맑은 고딕" panose="020B0503020000020004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Naive_Bayes_classifier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모듈로 아래 데이터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정규분포를 가정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를 훈련데이터로 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height (feet)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가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6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일 경우 성별은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testing data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의 성별은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 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남성인지 여성인지 분류하라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781CB50-6FE4-C1B7-85CE-E17A5DA6272E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9A064202-E9C2-AC94-1FC5-D4EC13CA5CA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5820" y="2636912"/>
            <a:ext cx="4267570" cy="3635055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254619E8-5DE8-7A4B-BA6F-E4D2C3C2874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76859" y="2636912"/>
            <a:ext cx="4328535" cy="1394581"/>
          </a:xfrm>
          <a:prstGeom prst="rect">
            <a:avLst/>
          </a:prstGeom>
        </p:spPr>
      </p:pic>
      <p:sp>
        <p:nvSpPr>
          <p:cNvPr id="10" name="화살표: 오른쪽 9">
            <a:extLst>
              <a:ext uri="{FF2B5EF4-FFF2-40B4-BE49-F238E27FC236}">
                <a16:creationId xmlns:a16="http://schemas.microsoft.com/office/drawing/2014/main" id="{ED2A77A7-6C63-8D5E-A0A2-0DF4EFFDBF0A}"/>
              </a:ext>
            </a:extLst>
          </p:cNvPr>
          <p:cNvSpPr/>
          <p:nvPr/>
        </p:nvSpPr>
        <p:spPr>
          <a:xfrm>
            <a:off x="5869432" y="4489009"/>
            <a:ext cx="5049516" cy="1546891"/>
          </a:xfrm>
          <a:prstGeom prst="rightArrow">
            <a:avLst>
              <a:gd name="adj1" fmla="val 67118"/>
              <a:gd name="adj2" fmla="val 5000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Excell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scikit-learn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naïve bayes classifier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모듈로  </a:t>
            </a:r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성별을 각각 예측하고 비교하라</a:t>
            </a:r>
          </a:p>
        </p:txBody>
      </p:sp>
      <p:pic>
        <p:nvPicPr>
          <p:cNvPr id="3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944C3FAD-98B6-C1CC-BAEA-7ECF4587463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63887" y="26166"/>
            <a:ext cx="1389505" cy="9193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780468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8F03F1-E2A8-86D9-4A03-9C7FC7A6FC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299F1EFF-172D-6EB3-4D57-55EB96902D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57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E49CFCC-8A0B-F2DC-78E1-EBD24BD431AC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DCE9B437-586B-0BC4-8557-5CF4DC9A7D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249" y="1115154"/>
            <a:ext cx="4884581" cy="2546388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5A8D7291-019F-2B45-CF51-EA24A441DDA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6249" y="3650708"/>
            <a:ext cx="8696155" cy="2802628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AD76DC13-0067-2A30-103A-1CDB770A490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6894" y="3038940"/>
            <a:ext cx="5100962" cy="343628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4D68F726-7013-B76F-BE3D-93ABEA14FB5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11023" y="1983170"/>
            <a:ext cx="4648603" cy="1074513"/>
          </a:xfrm>
          <a:prstGeom prst="rect">
            <a:avLst/>
          </a:prstGeom>
        </p:spPr>
      </p:pic>
      <p:pic>
        <p:nvPicPr>
          <p:cNvPr id="3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D0446A3C-0C78-F583-9F72-68D1C1DF87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75407" y="26166"/>
            <a:ext cx="1877986" cy="12425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82987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178D40-FAF8-29DB-7F3A-0DA706D4EF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E3F4A6F-C4C1-C4F6-DF53-7D1ED5D1E1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58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86FBF63-9270-C535-65C1-46A8D37BD07A}"/>
              </a:ext>
            </a:extLst>
          </p:cNvPr>
          <p:cNvSpPr txBox="1"/>
          <p:nvPr/>
        </p:nvSpPr>
        <p:spPr>
          <a:xfrm>
            <a:off x="621804" y="1700808"/>
            <a:ext cx="11233248" cy="3224281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어느 대학가에 식당 </a:t>
            </a:r>
            <a:r>
              <a:rPr lang="ko-KR" altLang="ko-KR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A와</a:t>
            </a:r>
            <a:r>
              <a:rPr lang="ko-KR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식당 </a:t>
            </a:r>
            <a:r>
              <a:rPr lang="ko-KR" altLang="ko-KR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B가</a:t>
            </a:r>
            <a:r>
              <a:rPr lang="ko-KR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있습니다. 어느 날, 한 학생이 심한 식중독에 걸렸습니다. 이 학생은 어제 점심에 두 식당 중 한 곳에서 식사를 했습니다. 조사 결과 다음과 같은 통계 데이터가 확보되었습니다.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방문 확률: 이 학생은 평소 식당 </a:t>
            </a:r>
            <a:r>
              <a:rPr lang="ko-KR" altLang="ko-KR" sz="16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A를</a:t>
            </a:r>
            <a:r>
              <a:rPr lang="ko-KR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60%, 식당 </a:t>
            </a:r>
            <a:r>
              <a:rPr lang="ko-KR" altLang="ko-KR" sz="16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B를</a:t>
            </a:r>
            <a:r>
              <a:rPr lang="ko-KR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40%의 확률로 방문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식중독 발생률: 식당 </a:t>
            </a:r>
            <a:r>
              <a:rPr lang="ko-KR" altLang="ko-KR" sz="16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A에서</a:t>
            </a:r>
            <a:r>
              <a:rPr lang="ko-KR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식사한 사람이 식중독에 걸릴 확률은 1%(0.01)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식당 </a:t>
            </a:r>
            <a:r>
              <a:rPr lang="ko-KR" altLang="ko-KR" sz="16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B에서</a:t>
            </a:r>
            <a:r>
              <a:rPr lang="ko-KR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식사한 사람이 식중독에 걸릴 확률은 5%(0.05)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이 학생이 식중독에 걸렸을 때, 식당 </a:t>
            </a:r>
            <a:r>
              <a:rPr lang="ko-KR" altLang="ko-KR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B에서</a:t>
            </a:r>
            <a:r>
              <a:rPr lang="ko-KR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식사를 했을 확률은 얼마입니까?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B590ABA-84C7-AE0E-B8F3-41CDBD923362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</a:t>
            </a:r>
          </a:p>
        </p:txBody>
      </p:sp>
      <p:pic>
        <p:nvPicPr>
          <p:cNvPr id="6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8F74882C-CEA3-35B5-AE1D-20AF166772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75407" y="26166"/>
            <a:ext cx="1877986" cy="12425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259548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DB09BA-F6FF-6EB2-7A9D-1D071414D9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AF97D6E-E866-A1CB-F98A-72C9C5050B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59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4E46B08-E5AA-67CD-1EFC-C9D5B3711652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pic>
        <p:nvPicPr>
          <p:cNvPr id="6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321FB08F-9CA6-F65F-220D-2CA2F16BA9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75407" y="26166"/>
            <a:ext cx="1877986" cy="12425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8107D7F6-C29B-DD6B-1DE5-0CC99C633D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13892" y="1268761"/>
            <a:ext cx="3185853" cy="1712492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64C23D90-12D1-BD55-91BC-2844E3E386E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31921" y="1267096"/>
            <a:ext cx="4485504" cy="1714157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4382F778-FB31-3C35-FEA5-35F72B3A7A4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26867" y="4067833"/>
            <a:ext cx="4470577" cy="2023798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700E5B67-E8B8-A213-272F-F155893DE4B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66215" y="4067834"/>
            <a:ext cx="3951210" cy="2025462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24E14F34-EE84-A0BE-0A5E-8778B43BF960}"/>
              </a:ext>
            </a:extLst>
          </p:cNvPr>
          <p:cNvSpPr txBox="1"/>
          <p:nvPr/>
        </p:nvSpPr>
        <p:spPr>
          <a:xfrm>
            <a:off x="5806380" y="3707471"/>
            <a:ext cx="489654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식중독에 걸렸을 때, 그 원인이 식당 </a:t>
            </a:r>
            <a:r>
              <a:rPr lang="ko-KR" altLang="en-US" sz="16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B였을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확률</a:t>
            </a:r>
          </a:p>
        </p:txBody>
      </p:sp>
    </p:spTree>
    <p:extLst>
      <p:ext uri="{BB962C8B-B14F-4D97-AF65-F5344CB8AC3E}">
        <p14:creationId xmlns:p14="http://schemas.microsoft.com/office/powerpoint/2010/main" val="6030686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DED9F4-C5F3-CD85-C853-8377542087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0D45B113-8CB5-040D-DE1A-2D4127E65E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60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2FD9FC8-F9C2-78CD-B7EA-3FBF014A1E3A}"/>
              </a:ext>
            </a:extLst>
          </p:cNvPr>
          <p:cNvSpPr txBox="1"/>
          <p:nvPr/>
        </p:nvSpPr>
        <p:spPr>
          <a:xfrm>
            <a:off x="765820" y="1196752"/>
            <a:ext cx="10225136" cy="841321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동체가 손상되었는데도 귀환할 확률은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Survivorship bias</a:t>
            </a:r>
            <a:endParaRPr lang="en-US" altLang="ko-KR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실제 전투상황을 가정하여 여러 전문가와 같이 격추된 비행기 데이터를 모의실험한 결과 증거 데이터를 사용하라</a:t>
            </a:r>
            <a:endParaRPr lang="en-US" altLang="ko-KR" sz="16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8C48E73-6700-E57D-39E0-0BB7C83E0458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08B99A4-028F-D2F5-27B8-D8DFC915EBA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58108" y="2199146"/>
            <a:ext cx="4538788" cy="4281127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22EABA99-C9AC-6EFA-A206-7B58BDD2AFA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38628" y="2984317"/>
            <a:ext cx="4114765" cy="1514091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4C12D1DC-6944-0036-5AF1-42A767E809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3461" y="2199146"/>
            <a:ext cx="2810671" cy="25405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E694C621-CD35-2C99-C748-B3917DFD7EE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75407" y="26166"/>
            <a:ext cx="1877986" cy="12425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89D0E90-8B1F-F573-9B4F-82416D6B647E}"/>
              </a:ext>
            </a:extLst>
          </p:cNvPr>
          <p:cNvSpPr txBox="1"/>
          <p:nvPr/>
        </p:nvSpPr>
        <p:spPr>
          <a:xfrm>
            <a:off x="8920188" y="2499544"/>
            <a:ext cx="2283254" cy="4675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모의 실험 결과 자료</a:t>
            </a:r>
            <a:endParaRPr lang="en-US" altLang="ko-KR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BEE2F56-779C-D6F8-0A84-F5695FDF5C32}"/>
                  </a:ext>
                </a:extLst>
              </p:cNvPr>
              <p:cNvSpPr txBox="1"/>
              <p:nvPr/>
            </p:nvSpPr>
            <p:spPr>
              <a:xfrm>
                <a:off x="8932759" y="4959270"/>
                <a:ext cx="1933374" cy="31207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sz="14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𝑷</m:t>
                    </m:r>
                    <m:r>
                      <a:rPr lang="en-US" altLang="ko-KR" sz="14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(</m:t>
                    </m:r>
                    <m:r>
                      <a:rPr lang="ko-KR" altLang="en-US" sz="14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귀</m:t>
                    </m:r>
                    <m:r>
                      <a:rPr lang="ko-KR" altLang="en-US" sz="1400" b="1" i="1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환</m:t>
                    </m:r>
                    <m:r>
                      <a:rPr lang="en-US" altLang="ko-KR" sz="14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|</m:t>
                    </m:r>
                    <m:r>
                      <a:rPr lang="ko-KR" altLang="en-US" sz="14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동</m:t>
                    </m:r>
                    <m:r>
                      <a:rPr lang="ko-KR" altLang="en-US" sz="1400" b="1" i="1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체</m:t>
                    </m:r>
                    <m:r>
                      <a:rPr lang="ko-KR" altLang="en-US" sz="1400" b="1" i="1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손</m:t>
                    </m:r>
                    <m:r>
                      <a:rPr lang="ko-KR" altLang="en-US" sz="1400" b="1" i="1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상</m:t>
                    </m:r>
                    <m:r>
                      <a:rPr lang="en-US" altLang="ko-KR" sz="14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)</m:t>
                    </m:r>
                  </m:oMath>
                </a14:m>
                <a:r>
                  <a:rPr lang="ko-KR" altLang="en-US" sz="1400" b="1" dirty="0">
                    <a:solidFill>
                      <a:schemeClr val="tx1"/>
                    </a:solidFill>
                  </a:rPr>
                  <a:t> </a:t>
                </a:r>
                <a:r>
                  <a:rPr lang="en-US" altLang="ko-KR" sz="1400" b="1" dirty="0">
                    <a:solidFill>
                      <a:schemeClr val="tx1"/>
                    </a:solidFill>
                  </a:rPr>
                  <a:t>= ?</a:t>
                </a:r>
                <a:endParaRPr lang="ko-KR" altLang="en-US" sz="14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BEE2F56-779C-D6F8-0A84-F5695FDF5C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32759" y="4959270"/>
                <a:ext cx="1933374" cy="312073"/>
              </a:xfrm>
              <a:prstGeom prst="rect">
                <a:avLst/>
              </a:prstGeom>
              <a:blipFill>
                <a:blip r:embed="rId8"/>
                <a:stretch>
                  <a:fillRect t="-1961" b="-1960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887169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2A6959-3FDA-7BAB-FE1C-37C3843024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4C2CCF16-E4C8-B281-2560-EF8AC6BA6D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61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F61CD95-6DF8-C777-DD11-8433525A9632}"/>
              </a:ext>
            </a:extLst>
          </p:cNvPr>
          <p:cNvSpPr txBox="1"/>
          <p:nvPr/>
        </p:nvSpPr>
        <p:spPr>
          <a:xfrm>
            <a:off x="621804" y="1988840"/>
            <a:ext cx="11089232" cy="2116285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사전지식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도시의 택시 중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85%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는 녹색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15%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는 청색입니다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밤에 뺑소니 사고가 났고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한 목격자가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"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청색 택시였다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"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라고 증언했는데 목격자의 판별 정확도는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80%</a:t>
            </a:r>
          </a:p>
          <a:p>
            <a:pPr>
              <a:lnSpc>
                <a:spcPct val="150000"/>
              </a:lnSpc>
            </a:pP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질문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실제로 사고를 낸 택시가 청색일 확률은 얼마일까요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CAAF396-AAAE-5BAE-BFB3-B38F66CABDB6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</a:t>
            </a:r>
          </a:p>
        </p:txBody>
      </p:sp>
      <p:pic>
        <p:nvPicPr>
          <p:cNvPr id="3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93067AFA-8755-5368-A0AA-D8E7195854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75407" y="26166"/>
            <a:ext cx="1877986" cy="12425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489821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E1922A-B4E2-9B3B-8884-351418234F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2E88A9C1-D6C7-C3A5-77FA-2F21FA84EE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62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B17A3CA-C4A8-3A86-8700-9BE35E13CAAA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문제풀이</a:t>
            </a:r>
          </a:p>
        </p:txBody>
      </p:sp>
      <p:pic>
        <p:nvPicPr>
          <p:cNvPr id="3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3CBDCFB8-77BB-C6AF-4736-FC07CFB1CB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75407" y="26166"/>
            <a:ext cx="1877986" cy="12425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타원 6">
            <a:extLst>
              <a:ext uri="{FF2B5EF4-FFF2-40B4-BE49-F238E27FC236}">
                <a16:creationId xmlns:a16="http://schemas.microsoft.com/office/drawing/2014/main" id="{FCB38759-9120-8BCC-0CA6-3BC87B649AB6}"/>
              </a:ext>
            </a:extLst>
          </p:cNvPr>
          <p:cNvSpPr/>
          <p:nvPr/>
        </p:nvSpPr>
        <p:spPr>
          <a:xfrm>
            <a:off x="837828" y="3429000"/>
            <a:ext cx="432048" cy="43204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A8BA668F-32EB-AFEB-A7FE-F40B7612C911}"/>
              </a:ext>
            </a:extLst>
          </p:cNvPr>
          <p:cNvSpPr/>
          <p:nvPr/>
        </p:nvSpPr>
        <p:spPr>
          <a:xfrm>
            <a:off x="3572729" y="2204864"/>
            <a:ext cx="432048" cy="43204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66E9AFB1-718B-D08B-9DD6-9086D7049B63}"/>
              </a:ext>
            </a:extLst>
          </p:cNvPr>
          <p:cNvSpPr/>
          <p:nvPr/>
        </p:nvSpPr>
        <p:spPr>
          <a:xfrm>
            <a:off x="3572729" y="4797152"/>
            <a:ext cx="432048" cy="43204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FC4D389C-AA8A-BA3F-2F93-8D0F092A10A0}"/>
              </a:ext>
            </a:extLst>
          </p:cNvPr>
          <p:cNvSpPr/>
          <p:nvPr/>
        </p:nvSpPr>
        <p:spPr>
          <a:xfrm>
            <a:off x="6454452" y="2787459"/>
            <a:ext cx="432048" cy="43204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B76705E5-551A-E4DB-F803-A54E529A4A75}"/>
              </a:ext>
            </a:extLst>
          </p:cNvPr>
          <p:cNvSpPr/>
          <p:nvPr/>
        </p:nvSpPr>
        <p:spPr>
          <a:xfrm>
            <a:off x="6454452" y="1494581"/>
            <a:ext cx="432048" cy="43204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21B1FD1A-BCC3-C270-BBAF-7C1C525CB989}"/>
              </a:ext>
            </a:extLst>
          </p:cNvPr>
          <p:cNvSpPr/>
          <p:nvPr/>
        </p:nvSpPr>
        <p:spPr>
          <a:xfrm>
            <a:off x="6454452" y="4080337"/>
            <a:ext cx="432048" cy="43204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7265CD71-404D-B192-252B-34C63770A173}"/>
              </a:ext>
            </a:extLst>
          </p:cNvPr>
          <p:cNvSpPr/>
          <p:nvPr/>
        </p:nvSpPr>
        <p:spPr>
          <a:xfrm>
            <a:off x="6454452" y="5373216"/>
            <a:ext cx="432048" cy="43204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FA0BD02A-D9C9-6A66-C537-95FB5CA6DBE7}"/>
              </a:ext>
            </a:extLst>
          </p:cNvPr>
          <p:cNvCxnSpPr>
            <a:cxnSpLocks/>
            <a:stCxn id="7" idx="6"/>
            <a:endCxn id="8" idx="3"/>
          </p:cNvCxnSpPr>
          <p:nvPr/>
        </p:nvCxnSpPr>
        <p:spPr>
          <a:xfrm flipV="1">
            <a:off x="1269876" y="2573640"/>
            <a:ext cx="2366125" cy="107138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직선 연결선 17">
            <a:extLst>
              <a:ext uri="{FF2B5EF4-FFF2-40B4-BE49-F238E27FC236}">
                <a16:creationId xmlns:a16="http://schemas.microsoft.com/office/drawing/2014/main" id="{F70A6B3F-7B39-A78F-8983-B1F272AFD149}"/>
              </a:ext>
            </a:extLst>
          </p:cNvPr>
          <p:cNvCxnSpPr>
            <a:cxnSpLocks/>
            <a:stCxn id="7" idx="6"/>
            <a:endCxn id="10" idx="1"/>
          </p:cNvCxnSpPr>
          <p:nvPr/>
        </p:nvCxnSpPr>
        <p:spPr>
          <a:xfrm>
            <a:off x="1269876" y="3645024"/>
            <a:ext cx="2366125" cy="1215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직선 연결선 20">
            <a:extLst>
              <a:ext uri="{FF2B5EF4-FFF2-40B4-BE49-F238E27FC236}">
                <a16:creationId xmlns:a16="http://schemas.microsoft.com/office/drawing/2014/main" id="{0993C346-3702-BA97-CBF4-E1D6EED12883}"/>
              </a:ext>
            </a:extLst>
          </p:cNvPr>
          <p:cNvCxnSpPr>
            <a:cxnSpLocks/>
            <a:stCxn id="8" idx="6"/>
            <a:endCxn id="12" idx="2"/>
          </p:cNvCxnSpPr>
          <p:nvPr/>
        </p:nvCxnSpPr>
        <p:spPr>
          <a:xfrm flipV="1">
            <a:off x="4004777" y="1710605"/>
            <a:ext cx="2449675" cy="71028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C2329CB7-77EC-60BB-AC7A-27E06630659F}"/>
              </a:ext>
            </a:extLst>
          </p:cNvPr>
          <p:cNvCxnSpPr>
            <a:cxnSpLocks/>
            <a:stCxn id="8" idx="6"/>
            <a:endCxn id="11" idx="2"/>
          </p:cNvCxnSpPr>
          <p:nvPr/>
        </p:nvCxnSpPr>
        <p:spPr>
          <a:xfrm>
            <a:off x="4004777" y="2420888"/>
            <a:ext cx="2449675" cy="58259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연결선 27">
            <a:extLst>
              <a:ext uri="{FF2B5EF4-FFF2-40B4-BE49-F238E27FC236}">
                <a16:creationId xmlns:a16="http://schemas.microsoft.com/office/drawing/2014/main" id="{84EC6A33-A592-660D-0E92-BE7D25254A99}"/>
              </a:ext>
            </a:extLst>
          </p:cNvPr>
          <p:cNvCxnSpPr>
            <a:cxnSpLocks/>
            <a:stCxn id="10" idx="6"/>
            <a:endCxn id="13" idx="2"/>
          </p:cNvCxnSpPr>
          <p:nvPr/>
        </p:nvCxnSpPr>
        <p:spPr>
          <a:xfrm flipV="1">
            <a:off x="4004777" y="4296361"/>
            <a:ext cx="2449675" cy="7168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직선 연결선 30">
            <a:extLst>
              <a:ext uri="{FF2B5EF4-FFF2-40B4-BE49-F238E27FC236}">
                <a16:creationId xmlns:a16="http://schemas.microsoft.com/office/drawing/2014/main" id="{3366D91C-ACAE-C1DF-C835-B03ABC9A13CC}"/>
              </a:ext>
            </a:extLst>
          </p:cNvPr>
          <p:cNvCxnSpPr>
            <a:cxnSpLocks/>
            <a:stCxn id="10" idx="6"/>
            <a:endCxn id="14" idx="2"/>
          </p:cNvCxnSpPr>
          <p:nvPr/>
        </p:nvCxnSpPr>
        <p:spPr>
          <a:xfrm>
            <a:off x="4004777" y="5013176"/>
            <a:ext cx="2449675" cy="57606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8A09970E-1881-85BE-180C-F411CC2EC03D}"/>
              </a:ext>
            </a:extLst>
          </p:cNvPr>
          <p:cNvSpPr txBox="1"/>
          <p:nvPr/>
        </p:nvSpPr>
        <p:spPr>
          <a:xfrm>
            <a:off x="1401234" y="2577701"/>
            <a:ext cx="1955471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청색 택시 </a:t>
            </a:r>
            <a:r>
              <a:rPr lang="en-US" altLang="ko-KR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(15%)</a:t>
            </a:r>
            <a:endParaRPr lang="ko-KR" altLang="en-US" sz="15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BF2C161-ACFE-5430-2505-8EDF3E2F8AA8}"/>
              </a:ext>
            </a:extLst>
          </p:cNvPr>
          <p:cNvSpPr txBox="1"/>
          <p:nvPr/>
        </p:nvSpPr>
        <p:spPr>
          <a:xfrm>
            <a:off x="1401234" y="4484579"/>
            <a:ext cx="1955471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녹색 택시 </a:t>
            </a:r>
            <a:r>
              <a:rPr lang="en-US" altLang="ko-KR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(85%)</a:t>
            </a:r>
            <a:endParaRPr lang="ko-KR" altLang="en-US" sz="15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93FAF1A-2BA8-939A-E073-E0E171CF72D8}"/>
              </a:ext>
            </a:extLst>
          </p:cNvPr>
          <p:cNvSpPr txBox="1"/>
          <p:nvPr/>
        </p:nvSpPr>
        <p:spPr>
          <a:xfrm>
            <a:off x="4157816" y="1556792"/>
            <a:ext cx="2233364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정답을 말함 </a:t>
            </a:r>
            <a:r>
              <a:rPr lang="en-US" altLang="ko-KR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(80%)</a:t>
            </a:r>
            <a:endParaRPr lang="ko-KR" altLang="en-US" sz="15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63D6BFA-27A2-5569-7B53-2EF1DA57EAFC}"/>
              </a:ext>
            </a:extLst>
          </p:cNvPr>
          <p:cNvSpPr txBox="1"/>
          <p:nvPr/>
        </p:nvSpPr>
        <p:spPr>
          <a:xfrm>
            <a:off x="4157816" y="4149080"/>
            <a:ext cx="2233364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정답을 말함 </a:t>
            </a:r>
            <a:r>
              <a:rPr lang="en-US" altLang="ko-KR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(80%)</a:t>
            </a:r>
            <a:endParaRPr lang="ko-KR" altLang="en-US" sz="15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0E19FB1-4677-3261-DB55-1455EC7809EE}"/>
              </a:ext>
            </a:extLst>
          </p:cNvPr>
          <p:cNvSpPr txBox="1"/>
          <p:nvPr/>
        </p:nvSpPr>
        <p:spPr>
          <a:xfrm>
            <a:off x="4157816" y="5410091"/>
            <a:ext cx="2233364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오답을 말함 </a:t>
            </a:r>
            <a:r>
              <a:rPr lang="en-US" altLang="ko-KR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(20%)</a:t>
            </a:r>
            <a:endParaRPr lang="ko-KR" altLang="en-US" sz="15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DFADE8A-4C8D-B05C-311B-44D3AD84D628}"/>
              </a:ext>
            </a:extLst>
          </p:cNvPr>
          <p:cNvSpPr txBox="1"/>
          <p:nvPr/>
        </p:nvSpPr>
        <p:spPr>
          <a:xfrm>
            <a:off x="9118748" y="1556792"/>
            <a:ext cx="21602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12</a:t>
            </a:r>
            <a:r>
              <a:rPr lang="ko-KR" altLang="en-US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건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청색이라고 증언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52C845BC-2878-3F7D-C224-B0451A2516C3}"/>
              </a:ext>
            </a:extLst>
          </p:cNvPr>
          <p:cNvSpPr txBox="1"/>
          <p:nvPr/>
        </p:nvSpPr>
        <p:spPr>
          <a:xfrm>
            <a:off x="9118748" y="4125658"/>
            <a:ext cx="21602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68</a:t>
            </a:r>
            <a:r>
              <a:rPr lang="ko-KR" altLang="en-US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건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녹색이라고 증언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EF398D8-11A1-4FB6-A821-B931B5C47189}"/>
              </a:ext>
            </a:extLst>
          </p:cNvPr>
          <p:cNvSpPr txBox="1"/>
          <p:nvPr/>
        </p:nvSpPr>
        <p:spPr>
          <a:xfrm>
            <a:off x="9118748" y="2841225"/>
            <a:ext cx="21602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</a:t>
            </a:r>
            <a:r>
              <a:rPr lang="ko-KR" altLang="en-US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건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녹색이라고 증언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BFF4949-D289-6B6E-BA92-DEBC08BAD186}"/>
              </a:ext>
            </a:extLst>
          </p:cNvPr>
          <p:cNvSpPr txBox="1"/>
          <p:nvPr/>
        </p:nvSpPr>
        <p:spPr>
          <a:xfrm>
            <a:off x="9118748" y="5410091"/>
            <a:ext cx="21602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17</a:t>
            </a:r>
            <a:r>
              <a:rPr lang="ko-KR" altLang="en-US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건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청색이라고 증언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4434E597-2CEF-D231-F17A-C51165058B07}"/>
              </a:ext>
            </a:extLst>
          </p:cNvPr>
          <p:cNvSpPr txBox="1"/>
          <p:nvPr/>
        </p:nvSpPr>
        <p:spPr>
          <a:xfrm>
            <a:off x="4157816" y="2839048"/>
            <a:ext cx="2233364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오답을 말함 </a:t>
            </a:r>
            <a:r>
              <a:rPr lang="en-US" altLang="ko-KR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(20%)</a:t>
            </a:r>
            <a:endParaRPr lang="ko-KR" altLang="en-US" sz="15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D0C7841-BBD8-85BF-4160-40D3870EAEEF}"/>
              </a:ext>
            </a:extLst>
          </p:cNvPr>
          <p:cNvSpPr txBox="1"/>
          <p:nvPr/>
        </p:nvSpPr>
        <p:spPr>
          <a:xfrm>
            <a:off x="7174532" y="1556792"/>
            <a:ext cx="18722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0.15 * 0.80 = 0.12</a:t>
            </a:r>
            <a:endParaRPr lang="ko-KR" altLang="en-US" sz="14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5A5EB86-1741-06D6-C0A4-F0A188D92FBC}"/>
              </a:ext>
            </a:extLst>
          </p:cNvPr>
          <p:cNvSpPr txBox="1"/>
          <p:nvPr/>
        </p:nvSpPr>
        <p:spPr>
          <a:xfrm>
            <a:off x="7174532" y="5417784"/>
            <a:ext cx="18722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0.85 * 0.20 = 0.17</a:t>
            </a:r>
            <a:endParaRPr lang="ko-KR" altLang="en-US" sz="14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089E451-258A-B5E7-AD1A-39F3C9713EB2}"/>
              </a:ext>
            </a:extLst>
          </p:cNvPr>
          <p:cNvSpPr txBox="1"/>
          <p:nvPr/>
        </p:nvSpPr>
        <p:spPr>
          <a:xfrm>
            <a:off x="7174532" y="4130786"/>
            <a:ext cx="18722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0.85 * 0.80 = 0.68</a:t>
            </a:r>
            <a:endParaRPr lang="ko-KR" altLang="en-US" sz="14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BE1F854-6031-CCF4-E0FE-3927005C14E6}"/>
              </a:ext>
            </a:extLst>
          </p:cNvPr>
          <p:cNvSpPr txBox="1"/>
          <p:nvPr/>
        </p:nvSpPr>
        <p:spPr>
          <a:xfrm>
            <a:off x="7174532" y="2843789"/>
            <a:ext cx="18722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0.15 * 0.20 = 0.03</a:t>
            </a:r>
            <a:endParaRPr lang="ko-KR" altLang="en-US" sz="14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E625DFF8-FF3F-127A-0F04-D062DC1D19BD}"/>
              </a:ext>
            </a:extLst>
          </p:cNvPr>
          <p:cNvSpPr/>
          <p:nvPr/>
        </p:nvSpPr>
        <p:spPr>
          <a:xfrm>
            <a:off x="7174532" y="1412776"/>
            <a:ext cx="4320480" cy="636361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E377D7D5-3A1D-389C-A17A-EDD01D0FB378}"/>
              </a:ext>
            </a:extLst>
          </p:cNvPr>
          <p:cNvSpPr/>
          <p:nvPr/>
        </p:nvSpPr>
        <p:spPr>
          <a:xfrm>
            <a:off x="7174532" y="5245798"/>
            <a:ext cx="4320480" cy="636361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70964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3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9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38" grpId="0"/>
      <p:bldP spid="40" grpId="0"/>
      <p:bldP spid="42" grpId="0"/>
      <p:bldP spid="43" grpId="0"/>
      <p:bldP spid="45" grpId="0"/>
      <p:bldP spid="47" grpId="0"/>
      <p:bldP spid="48" grpId="0"/>
      <p:bldP spid="49" grpId="0"/>
      <p:bldP spid="50" grpId="0"/>
      <p:bldP spid="51" grpId="0"/>
      <p:bldP spid="52" grpId="0"/>
      <p:bldP spid="53" grpId="0"/>
      <p:bldP spid="54" grpId="0"/>
      <p:bldP spid="55" grpId="0"/>
      <p:bldP spid="57" grpId="0" animBg="1"/>
      <p:bldP spid="58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F0AFE3-9249-75D6-3038-AC8C61D68C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C9FA40D8-ACB6-10D4-2522-32F773F12B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63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EC1E131-6EC6-9AF6-8EE4-8FA35B3A69F2}"/>
              </a:ext>
            </a:extLst>
          </p:cNvPr>
          <p:cNvSpPr txBox="1"/>
          <p:nvPr/>
        </p:nvSpPr>
        <p:spPr>
          <a:xfrm>
            <a:off x="261764" y="1447168"/>
            <a:ext cx="6048672" cy="1983685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2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개 변수의 평균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분산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공분산 등을 변경하면서 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Bivariate plot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의 모양의 달라짐을 관찰하고 설명하라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두 변수의 상관관계를 구해보아라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BF9E8B3-FDAF-488B-031D-4CE2820ED709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0586649-46CA-F3B1-8F17-33D69D8831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85454" y="1437802"/>
            <a:ext cx="4749518" cy="45696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906F970-32DF-5B0F-5DC0-7AC4F98B635B}"/>
              </a:ext>
            </a:extLst>
          </p:cNvPr>
          <p:cNvSpPr txBox="1"/>
          <p:nvPr/>
        </p:nvSpPr>
        <p:spPr>
          <a:xfrm>
            <a:off x="6310436" y="1074222"/>
            <a:ext cx="344036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Bivariate plot with multiple elements</a:t>
            </a:r>
            <a:endParaRPr lang="ko-KR" altLang="en-US" sz="16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6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230A028A-4499-144A-F8F5-32D220A740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75407" y="26166"/>
            <a:ext cx="1877986" cy="12425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736826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A42CF9-0B29-1F2A-C07C-195B9C8550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12C86D94-E602-8C12-F77D-1B9D71268A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64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804C582-911B-3721-4146-DD084F2310D9}"/>
              </a:ext>
            </a:extLst>
          </p:cNvPr>
          <p:cNvSpPr txBox="1"/>
          <p:nvPr/>
        </p:nvSpPr>
        <p:spPr>
          <a:xfrm>
            <a:off x="278365" y="1478578"/>
            <a:ext cx="6048672" cy="4261231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초나라 양춘백설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陽春白雪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과 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Long-Tail Distribution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에 대해 주변의 실제 상황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유튜브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조회 수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에 대해 예를 들어라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아래 내용을 파이썬 코드로 모의실험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(simulation)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하여 설명하라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200000"/>
              </a:lnSpc>
            </a:pP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	1️⃣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유튜브 조회수 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Long-Tail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시뮬레이션</a:t>
            </a:r>
            <a:b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</a:b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	2️⃣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부의 불평등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(Pareto 80/20)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생성 실험 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(Pareto distribution)</a:t>
            </a:r>
            <a:b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</a:b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	3️⃣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네트워크 성장 모델 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</a:t>
            </a:r>
            <a:r>
              <a:rPr lang="en-US" altLang="ko-KR" sz="14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Barabási</a:t>
            </a:r>
            <a:r>
              <a:rPr lang="en-US" altLang="ko-KR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–Albert) </a:t>
            </a:r>
            <a:r>
              <a:rPr lang="ko-KR" altLang="en-US" sz="14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실험</a:t>
            </a:r>
            <a:endParaRPr lang="en-US" altLang="ko-KR" sz="14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Long-Tail Distribution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와 </a:t>
            </a:r>
            <a:r>
              <a:rPr lang="ko-KR" altLang="en-US" sz="16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머신러닝의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불균형 데이터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(Imbalanced data)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로 인한 학습의 어려움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A236DE6-5A9B-A7C4-4CE8-52877D8881F7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pic>
        <p:nvPicPr>
          <p:cNvPr id="1026" name="Picture 2" descr="A graph of a sharply sloped power-law distribution curve. The x-axis is items and the y-axis is popularity.">
            <a:extLst>
              <a:ext uri="{FF2B5EF4-FFF2-40B4-BE49-F238E27FC236}">
                <a16:creationId xmlns:a16="http://schemas.microsoft.com/office/drawing/2014/main" id="{D1F61AF9-2FB8-8DC0-D682-88FDE5BE0B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27037" y="1478578"/>
            <a:ext cx="5268949" cy="47361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021F9F6C-CAF0-1ACE-0E01-3ED6CD896E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75407" y="26166"/>
            <a:ext cx="1877986" cy="12425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731799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8C8E1E5-D16B-943F-24E2-0CF293C6D9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65</a:t>
            </a:fld>
            <a:endParaRPr lang="en-US" altLang="ko-KR" noProof="0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7134D2AA-A27B-7A54-4084-BC43A781A9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9756" y="1916832"/>
            <a:ext cx="5759331" cy="38824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0AE3E526-6D30-8BC9-EB0F-077965767B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69911" y="1916832"/>
            <a:ext cx="5976664" cy="38883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FFDC4E22-ECC3-116A-0A17-0DCCAC0C1D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75407" y="26166"/>
            <a:ext cx="1877986" cy="12425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7845D03-0AC9-7720-171E-EF713C8A8E4C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</p:spTree>
    <p:extLst>
      <p:ext uri="{BB962C8B-B14F-4D97-AF65-F5344CB8AC3E}">
        <p14:creationId xmlns:p14="http://schemas.microsoft.com/office/powerpoint/2010/main" val="959494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마케팅 16x9">
  <a:themeElements>
    <a:clrScheme name="Marketing_16x9">
      <a:dk1>
        <a:srgbClr val="404040"/>
      </a:dk1>
      <a:lt1>
        <a:sysClr val="window" lastClr="FFFFFF"/>
      </a:lt1>
      <a:dk2>
        <a:srgbClr val="000000"/>
      </a:dk2>
      <a:lt2>
        <a:srgbClr val="A1C1DE"/>
      </a:lt2>
      <a:accent1>
        <a:srgbClr val="39527B"/>
      </a:accent1>
      <a:accent2>
        <a:srgbClr val="528DC2"/>
      </a:accent2>
      <a:accent3>
        <a:srgbClr val="7EA939"/>
      </a:accent3>
      <a:accent4>
        <a:srgbClr val="30AEAB"/>
      </a:accent4>
      <a:accent5>
        <a:srgbClr val="31A962"/>
      </a:accent5>
      <a:accent6>
        <a:srgbClr val="78648E"/>
      </a:accent6>
      <a:hlink>
        <a:srgbClr val="7EA939"/>
      </a:hlink>
      <a:folHlink>
        <a:srgbClr val="7F7F7F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4400000" scaled="0"/>
          <a:tileRect/>
        </a:gra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7400000" scaled="0"/>
          <a:tileRect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13666154_TF02801084.potx" id="{B893C259-098E-47F8-8877-587E0721A18C}" vid="{F842517E-B3F6-4577-896B-5E1D47976B3A}"/>
    </a:ext>
  </a:extLst>
</a:theme>
</file>

<file path=ppt/theme/theme2.xml><?xml version="1.0" encoding="utf-8"?>
<a:theme xmlns:a="http://schemas.openxmlformats.org/drawingml/2006/main" name="Office 테마">
  <a:themeElements>
    <a:clrScheme name="Marketing_16x9">
      <a:dk1>
        <a:srgbClr val="404040"/>
      </a:dk1>
      <a:lt1>
        <a:sysClr val="window" lastClr="FFFFFF"/>
      </a:lt1>
      <a:dk2>
        <a:srgbClr val="000000"/>
      </a:dk2>
      <a:lt2>
        <a:srgbClr val="A1C1DE"/>
      </a:lt2>
      <a:accent1>
        <a:srgbClr val="39527B"/>
      </a:accent1>
      <a:accent2>
        <a:srgbClr val="528DC2"/>
      </a:accent2>
      <a:accent3>
        <a:srgbClr val="7EA939"/>
      </a:accent3>
      <a:accent4>
        <a:srgbClr val="30AEAB"/>
      </a:accent4>
      <a:accent5>
        <a:srgbClr val="31A962"/>
      </a:accent5>
      <a:accent6>
        <a:srgbClr val="78648E"/>
      </a:accent6>
      <a:hlink>
        <a:srgbClr val="7EA939"/>
      </a:hlink>
      <a:folHlink>
        <a:srgbClr val="7F7F7F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4400000" scaled="0"/>
          <a:tileRect/>
        </a:gra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7400000" scaled="0"/>
          <a:tileRect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Marketing_16x9">
      <a:dk1>
        <a:srgbClr val="404040"/>
      </a:dk1>
      <a:lt1>
        <a:sysClr val="window" lastClr="FFFFFF"/>
      </a:lt1>
      <a:dk2>
        <a:srgbClr val="000000"/>
      </a:dk2>
      <a:lt2>
        <a:srgbClr val="A1C1DE"/>
      </a:lt2>
      <a:accent1>
        <a:srgbClr val="39527B"/>
      </a:accent1>
      <a:accent2>
        <a:srgbClr val="528DC2"/>
      </a:accent2>
      <a:accent3>
        <a:srgbClr val="7EA939"/>
      </a:accent3>
      <a:accent4>
        <a:srgbClr val="30AEAB"/>
      </a:accent4>
      <a:accent5>
        <a:srgbClr val="31A962"/>
      </a:accent5>
      <a:accent6>
        <a:srgbClr val="78648E"/>
      </a:accent6>
      <a:hlink>
        <a:srgbClr val="7EA939"/>
      </a:hlink>
      <a:folHlink>
        <a:srgbClr val="7F7F7F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4400000" scaled="0"/>
          <a:tileRect/>
        </a:gra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7400000" scaled="0"/>
          <a:tileRect/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A3F7D94069FF64A86F7DFF56D60E3BE" ma:contentTypeVersion="6" ma:contentTypeDescription="Create a new document." ma:contentTypeScope="" ma:versionID="c32302c77d4085ecf495bdddb7f5e889">
  <xsd:schema xmlns:xsd="http://www.w3.org/2001/XMLSchema" xmlns:xs="http://www.w3.org/2001/XMLSchema" xmlns:p="http://schemas.microsoft.com/office/2006/metadata/properties" xmlns:ns2="a4f35948-e619-41b3-aa29-22878b09cfd2" xmlns:ns3="40262f94-9f35-4ac3-9a90-690165a166b7" targetNamespace="http://schemas.microsoft.com/office/2006/metadata/properties" ma:root="true" ma:fieldsID="4ab5ae46be95f9d0be6107e8200be7a2" ns2:_="" ns3:_="">
    <xsd:import namespace="a4f35948-e619-41b3-aa29-22878b09cfd2"/>
    <xsd:import namespace="40262f94-9f35-4ac3-9a90-690165a166b7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VSO_x0020_item_x0020_id" minOccurs="0"/>
                <xsd:element ref="ns3:Item_x0020_Details" minOccurs="0"/>
                <xsd:element ref="ns3:Template_x0020_details" minOccurs="0"/>
                <xsd:element ref="ns3:Assetid_x0020_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4f35948-e619-41b3-aa29-22878b09cfd2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description="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0262f94-9f35-4ac3-9a90-690165a166b7" elementFormDefault="qualified">
    <xsd:import namespace="http://schemas.microsoft.com/office/2006/documentManagement/types"/>
    <xsd:import namespace="http://schemas.microsoft.com/office/infopath/2007/PartnerControls"/>
    <xsd:element name="VSO_x0020_item_x0020_id" ma:index="10" nillable="true" ma:displayName="VSO item id" ma:description="Please add the bug number to refer to VSO items." ma:internalName="VSO_x0020_item_x0020_id">
      <xsd:simpleType>
        <xsd:restriction base="dms:Text">
          <xsd:maxLength value="255"/>
        </xsd:restriction>
      </xsd:simpleType>
    </xsd:element>
    <xsd:element name="Item_x0020_Details" ma:index="11" nillable="true" ma:displayName="Item Details" ma:internalName="Item_x0020_Details">
      <xsd:simpleType>
        <xsd:restriction base="dms:Note">
          <xsd:maxLength value="255"/>
        </xsd:restriction>
      </xsd:simpleType>
    </xsd:element>
    <xsd:element name="Template_x0020_details" ma:index="12" nillable="true" ma:displayName="Template details" ma:internalName="Template_x0020_details">
      <xsd:simpleType>
        <xsd:restriction base="dms:Text"/>
      </xsd:simpleType>
    </xsd:element>
    <xsd:element name="Assetid_x0020_" ma:index="13" nillable="true" ma:displayName="Assetid " ma:internalName="Assetid_x0020_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VSO_x0020_item_x0020_id xmlns="40262f94-9f35-4ac3-9a90-690165a166b7" xsi:nil="true"/>
    <Assetid_x0020_ xmlns="40262f94-9f35-4ac3-9a90-690165a166b7" xsi:nil="true"/>
    <Item_x0020_Details xmlns="40262f94-9f35-4ac3-9a90-690165a166b7" xsi:nil="true"/>
    <Template_x0020_details xmlns="40262f94-9f35-4ac3-9a90-690165a166b7" xsi:nil="true"/>
  </documentManagement>
</p:properties>
</file>

<file path=customXml/itemProps1.xml><?xml version="1.0" encoding="utf-8"?>
<ds:datastoreItem xmlns:ds="http://schemas.openxmlformats.org/officeDocument/2006/customXml" ds:itemID="{7F9B8BCC-BF24-4800-92E1-9F891BBB27E6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5CCB2C71-1ED8-4540-B003-293B5E75C71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4f35948-e619-41b3-aa29-22878b09cfd2"/>
    <ds:schemaRef ds:uri="40262f94-9f35-4ac3-9a90-690165a166b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50AACE6D-8EB6-447A-8DFD-C2C0C52916AC}">
  <ds:schemaRefs>
    <ds:schemaRef ds:uri="a4f35948-e619-41b3-aa29-22878b09cfd2"/>
    <ds:schemaRef ds:uri="http://purl.org/dc/elements/1.1/"/>
    <ds:schemaRef ds:uri="http://schemas.microsoft.com/office/infopath/2007/PartnerControls"/>
    <ds:schemaRef ds:uri="40262f94-9f35-4ac3-9a90-690165a166b7"/>
    <ds:schemaRef ds:uri="http://purl.org/dc/dcmitype/"/>
    <ds:schemaRef ds:uri="http://schemas.microsoft.com/office/2006/documentManagement/types"/>
    <ds:schemaRef ds:uri="http://schemas.microsoft.com/office/2006/metadata/properties"/>
    <ds:schemaRef ds:uri="http://schemas.openxmlformats.org/package/2006/metadata/core-properties"/>
    <ds:schemaRef ds:uri="http://www.w3.org/XML/1998/namespace"/>
    <ds:schemaRef ds:uri="http://purl.org/dc/terms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유리 건물 배경의 비즈니스 마케팅 프레젠테이션(와이드스크린)</Template>
  <TotalTime>1879</TotalTime>
  <Words>4118</Words>
  <Application>Microsoft Office PowerPoint</Application>
  <PresentationFormat>사용자 지정</PresentationFormat>
  <Paragraphs>587</Paragraphs>
  <Slides>65</Slides>
  <Notes>63</Notes>
  <HiddenSlides>0</HiddenSlides>
  <MMClips>0</MMClips>
  <ScaleCrop>false</ScaleCrop>
  <HeadingPairs>
    <vt:vector size="6" baseType="variant">
      <vt:variant>
        <vt:lpstr>사용한 글꼴</vt:lpstr>
      </vt:variant>
      <vt:variant>
        <vt:i4>14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65</vt:i4>
      </vt:variant>
    </vt:vector>
  </HeadingPairs>
  <TitlesOfParts>
    <vt:vector size="80" baseType="lpstr">
      <vt:lpstr>맑은 고딕</vt:lpstr>
      <vt:lpstr>맑은 고딕 Semilight</vt:lpstr>
      <vt:lpstr>한컴 말랑말랑 Bold</vt:lpstr>
      <vt:lpstr>휴먼모음T</vt:lpstr>
      <vt:lpstr>Arial</vt:lpstr>
      <vt:lpstr>Arial Narrow</vt:lpstr>
      <vt:lpstr>Britannic Bold</vt:lpstr>
      <vt:lpstr>Cambria</vt:lpstr>
      <vt:lpstr>Cambria Math</vt:lpstr>
      <vt:lpstr>Corbel</vt:lpstr>
      <vt:lpstr>PT Sans</vt:lpstr>
      <vt:lpstr>Roboto</vt:lpstr>
      <vt:lpstr>Times New Roman</vt:lpstr>
      <vt:lpstr>Wingdings</vt:lpstr>
      <vt:lpstr>마케팅 16x9</vt:lpstr>
      <vt:lpstr>확률론  - 머신러닝을 위한 -  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ADsP 특강   2024_Summer</dc:title>
  <dc:creator>조상구</dc:creator>
  <cp:lastModifiedBy>Sanggoo Cho</cp:lastModifiedBy>
  <cp:revision>89</cp:revision>
  <dcterms:created xsi:type="dcterms:W3CDTF">2024-06-03T06:10:16Z</dcterms:created>
  <dcterms:modified xsi:type="dcterms:W3CDTF">2026-04-01T00:00:40Z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nternalTags">
    <vt:lpwstr/>
  </property>
  <property fmtid="{D5CDD505-2E9C-101B-9397-08002B2CF9AE}" pid="3" name="ContentTypeId">
    <vt:lpwstr>0x010100AA3F7D94069FF64A86F7DFF56D60E3BE</vt:lpwstr>
  </property>
  <property fmtid="{D5CDD505-2E9C-101B-9397-08002B2CF9AE}" pid="4" name="FeatureTags">
    <vt:lpwstr/>
  </property>
  <property fmtid="{D5CDD505-2E9C-101B-9397-08002B2CF9AE}" pid="5" name="LocalizationTags">
    <vt:lpwstr/>
  </property>
  <property fmtid="{D5CDD505-2E9C-101B-9397-08002B2CF9AE}" pid="6" name="ScenarioTags">
    <vt:lpwstr/>
  </property>
  <property fmtid="{D5CDD505-2E9C-101B-9397-08002B2CF9AE}" pid="7" name="CampaignTags">
    <vt:lpwstr/>
  </property>
</Properties>
</file>