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61"/>
  </p:notesMasterIdLst>
  <p:handoutMasterIdLst>
    <p:handoutMasterId r:id="rId62"/>
  </p:handoutMasterIdLst>
  <p:sldIdLst>
    <p:sldId id="256" r:id="rId5"/>
    <p:sldId id="314" r:id="rId6"/>
    <p:sldId id="361" r:id="rId7"/>
    <p:sldId id="371" r:id="rId8"/>
    <p:sldId id="313" r:id="rId9"/>
    <p:sldId id="369" r:id="rId10"/>
    <p:sldId id="370" r:id="rId11"/>
    <p:sldId id="270" r:id="rId12"/>
    <p:sldId id="379" r:id="rId13"/>
    <p:sldId id="380" r:id="rId14"/>
    <p:sldId id="362" r:id="rId15"/>
    <p:sldId id="272" r:id="rId16"/>
    <p:sldId id="387" r:id="rId17"/>
    <p:sldId id="276" r:id="rId18"/>
    <p:sldId id="307" r:id="rId19"/>
    <p:sldId id="308" r:id="rId20"/>
    <p:sldId id="363" r:id="rId21"/>
    <p:sldId id="277" r:id="rId22"/>
    <p:sldId id="278" r:id="rId23"/>
    <p:sldId id="340" r:id="rId24"/>
    <p:sldId id="364" r:id="rId25"/>
    <p:sldId id="279" r:id="rId26"/>
    <p:sldId id="280" r:id="rId27"/>
    <p:sldId id="281" r:id="rId28"/>
    <p:sldId id="382" r:id="rId29"/>
    <p:sldId id="283" r:id="rId30"/>
    <p:sldId id="284" r:id="rId31"/>
    <p:sldId id="377" r:id="rId32"/>
    <p:sldId id="383" r:id="rId33"/>
    <p:sldId id="290" r:id="rId34"/>
    <p:sldId id="288" r:id="rId35"/>
    <p:sldId id="286" r:id="rId36"/>
    <p:sldId id="287" r:id="rId37"/>
    <p:sldId id="285" r:id="rId38"/>
    <p:sldId id="384" r:id="rId39"/>
    <p:sldId id="289" r:id="rId40"/>
    <p:sldId id="305" r:id="rId41"/>
    <p:sldId id="304" r:id="rId42"/>
    <p:sldId id="291" r:id="rId43"/>
    <p:sldId id="375" r:id="rId44"/>
    <p:sldId id="374" r:id="rId45"/>
    <p:sldId id="360" r:id="rId46"/>
    <p:sldId id="292" r:id="rId47"/>
    <p:sldId id="365" r:id="rId48"/>
    <p:sldId id="293" r:id="rId49"/>
    <p:sldId id="373" r:id="rId50"/>
    <p:sldId id="324" r:id="rId51"/>
    <p:sldId id="338" r:id="rId52"/>
    <p:sldId id="302" r:id="rId53"/>
    <p:sldId id="372" r:id="rId54"/>
    <p:sldId id="330" r:id="rId55"/>
    <p:sldId id="327" r:id="rId56"/>
    <p:sldId id="300" r:id="rId57"/>
    <p:sldId id="367" r:id="rId58"/>
    <p:sldId id="317" r:id="rId59"/>
    <p:sldId id="301" r:id="rId60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C4B1156A-380E-4F78-BDF5-A606A8083BF9}" styleName="보통 스타일 4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tableStyles" Target="tableStyles.xml"/><Relationship Id="rId5" Type="http://schemas.openxmlformats.org/officeDocument/2006/relationships/slide" Target="slides/slide1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2026-03-26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2026-03-26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A2A46-096E-01F3-4F5A-B103B0E19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76E9A7F-3EAA-AE59-A376-AA828E7C9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C318BF-8FC5-BDB6-D473-12D760F04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ACC461-529A-3A44-C6E7-DF119867C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64093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0AAC-DC71-22FD-567E-F9417987E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170311-34B3-38EB-1F92-F1F620954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4AC722-197F-E460-53F8-8EAA601A9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738FAA-B235-47FF-C58A-EBB0424113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29487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D8B2E-CE9B-332C-ECAC-6E96C9B66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FEE594-EB81-B9B3-43E1-8B5400E277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93C604-D67D-E9F0-3B80-8B31937C52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168C89-F771-0225-D12F-1F032598B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00287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8AD08-7835-CADF-5460-8361621FC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694997-EB59-9254-FAEE-BA6F8DAE4F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677949-6F43-2A0A-9390-AEF193365E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734CF9-D16D-0DDF-82DE-C615D3E564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27930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6209C-0183-4045-FDF0-C7DCBDA4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3F8734-82DB-BF23-C798-DD3B47DB4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E339CF-C307-706C-BF73-EAE540CE5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50BCB-255F-06D5-FC44-87040ECD5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793079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8D17-F7C6-2CCC-3C7C-0EF7F37A6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F20E2F-FA8D-1384-A711-C71590008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509E81-4322-1CFB-1958-7F9309183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8190D1-BF97-284F-1EA8-FBB823275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81304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36988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47D4D-C235-703F-B078-1CFBCF55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4D27E7-9F66-FECF-2412-630CACD27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D08BD3-9AE2-4B4F-7258-FA9C83A86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FB8F5-6BC3-3E55-9486-A39D975BF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134289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5C747-327C-CFAB-069C-0CF056E19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538D64-15DC-C38D-8311-7A4D71359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B74F02-157E-2E5D-678A-B6AFF21AD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898E22-6367-5850-D245-DDC5F8EFAC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285373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292161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3870D-84E1-38AA-3C68-EDE43CC94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E8751D2-1936-E56B-B71F-EA26AC4463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DE6D515-7AAD-CE0C-499A-154A1BB6C3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EB6B92-1997-8498-85E8-838E6970DD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85801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66658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5533-850A-7869-CA12-753FB705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1ED54A-5032-D0F7-63F4-AB6240734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A5B978-9327-65B4-CE69-6245BA60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B1688-95B3-3BA5-7585-18FE836ED6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783762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D2C4-EE41-28EE-C5C1-A243913D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966DF-079E-F20B-596D-7A0B51C66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2DA50D-E5B3-5033-2DBD-3561111B7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BC94A-BCEB-D884-4437-5D9E2C1DA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127389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229104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C31F2-4782-718A-5FB7-5A4FFB61F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4FDA506-7A48-AE3A-BD16-D68B5C02EA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6FADF75-C648-A546-56DE-41CE7ED060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076BB5-3086-D451-E3A1-8ADF2F0F67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9222992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FEA8-EC05-73F5-A0EE-A91BF981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6C3209-2357-5ACF-2202-D54B7D71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642F0-A7DB-6287-60F9-78806E4AE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3EDCE-8D13-18A3-1D4E-CF7160507F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51051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0A826-7FE2-3F7D-9283-FAF6D1305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448CFC-448A-2634-6548-6E7CE2607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6286E9-0EA3-AB3D-2263-D8DD3F483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A550C5-9CCC-0B92-3694-E327587CBB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038734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6513-788E-9B6B-E3D0-925981512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A7103B-96E7-F3D6-F7EC-588847105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D3D7AF-CB32-CC58-4B77-591465AF1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081571-C7DA-CBDE-F06D-01C763EFA8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54784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0EC47-9CD8-DDD5-55D5-6A5F0347C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401884-EDA3-A271-1C7E-4E8285FDA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7E2C4-3994-5C5F-CABE-D9AF20D5B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B9912-1704-9F51-F3D8-B86D2186D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928740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E90-FAFD-AE47-A6A5-531D881A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993C63-FB60-385C-14CA-73D0BB017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E839F2-E212-8AC2-F32C-6F9172D32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34C51-FD7A-5D59-88E9-AF826AE93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871019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25796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83883-22E2-74B0-638B-F1F6D6403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B8F7A6-7066-B0AB-DAD0-5C5710C6F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CBF5FB-FB93-E0CF-F82D-81443BA94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68B9AF-15EA-3736-58A8-36CA7A6D58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399332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2026-03-26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2026-03-26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2026-03-26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2026-03-26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2026-03-26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2026-03-26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2026-03-26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2026-03-26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2026-03-26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2026-03-26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2026-03-26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2026-03-26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m/dgu3MNjB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0.png"/><Relationship Id="rId4" Type="http://schemas.openxmlformats.org/officeDocument/2006/relationships/image" Target="../media/image4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5.png"/><Relationship Id="rId4" Type="http://schemas.openxmlformats.org/officeDocument/2006/relationships/image" Target="../media/image43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uggingface.co/learn/nlp-course/chapter1/4?fw=pt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png"/><Relationship Id="rId4" Type="http://schemas.openxmlformats.org/officeDocument/2006/relationships/image" Target="../media/image60.jpe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Sunrise_problem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7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hyperlink" Target="https://seaborn.pydata.org/examples/hexbin_marginals.html" TargetMode="External"/><Relationship Id="rId4" Type="http://schemas.openxmlformats.org/officeDocument/2006/relationships/image" Target="../media/image6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111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ko-KR" altLang="en-US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신은 주사위를 던진다</a:t>
            </a:r>
            <a:r>
              <a:rPr lang="en-US" altLang="ko-KR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793B876-0513-600B-A5D5-5AB86C280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987" y="1124744"/>
            <a:ext cx="7719453" cy="49685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9E74E-A16C-1718-57CD-D7D3F76F7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F6EAA2F-CBE2-932B-4F5D-1CF91899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6563F3-94EF-9491-D44B-803618076A71}"/>
              </a:ext>
            </a:extLst>
          </p:cNvPr>
          <p:cNvSpPr txBox="1"/>
          <p:nvPr/>
        </p:nvSpPr>
        <p:spPr>
          <a:xfrm>
            <a:off x="261764" y="1268760"/>
            <a:ext cx="11161240" cy="167937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던져서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나올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던져서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이하가 될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주사기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주사위의 합이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4569A8-2444-3755-61EB-DBEDF50AFA7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507499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333772" y="1124744"/>
            <a:ext cx="11161240" cy="342093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억의 상금이 걸린 게임이 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A, B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사람이 라운드마다 각각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50%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확률로 승패 결과가 있는 경우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누구나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번을 이기면 게임이 끝나게 된다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현재까지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번의 라운드에서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이겼다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A,B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각각 이길 확률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E4739-A87B-0562-0D6E-42C8155E0247}"/>
              </a:ext>
            </a:extLst>
          </p:cNvPr>
          <p:cNvSpPr txBox="1"/>
          <p:nvPr/>
        </p:nvSpPr>
        <p:spPr>
          <a:xfrm>
            <a:off x="464586" y="5615034"/>
            <a:ext cx="6113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002060"/>
                </a:solidFill>
                <a:latin typeface="+mj-ea"/>
                <a:ea typeface="+mj-ea"/>
              </a:rPr>
              <a:t>결합확률</a:t>
            </a:r>
            <a:r>
              <a:rPr lang="en-US" altLang="ko-KR" dirty="0">
                <a:solidFill>
                  <a:srgbClr val="002060"/>
                </a:solidFill>
                <a:latin typeface="+mj-ea"/>
                <a:ea typeface="+mj-ea"/>
              </a:rPr>
              <a:t>, </a:t>
            </a:r>
            <a:r>
              <a:rPr lang="ko-KR" altLang="en-US" dirty="0">
                <a:solidFill>
                  <a:srgbClr val="002060"/>
                </a:solidFill>
                <a:latin typeface="+mj-ea"/>
                <a:ea typeface="+mj-ea"/>
              </a:rPr>
              <a:t>동시확률을 이해하기 위한 문제</a:t>
            </a:r>
            <a:endParaRPr lang="ko-KR" altLang="en-US" dirty="0">
              <a:solidFill>
                <a:srgbClr val="002060"/>
              </a:solidFill>
            </a:endParaRPr>
          </a:p>
        </p:txBody>
      </p:sp>
      <p:pic>
        <p:nvPicPr>
          <p:cNvPr id="11" name="그래픽 10" descr="연필">
            <a:extLst>
              <a:ext uri="{FF2B5EF4-FFF2-40B4-BE49-F238E27FC236}">
                <a16:creationId xmlns:a16="http://schemas.microsoft.com/office/drawing/2014/main" id="{8550D6BA-66AF-CB61-0B13-5C584A2A1E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9492" y="4818856"/>
            <a:ext cx="707668" cy="707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CC3755-3917-B5AD-AC51-02A04E516082}"/>
              </a:ext>
            </a:extLst>
          </p:cNvPr>
          <p:cNvSpPr txBox="1"/>
          <p:nvPr/>
        </p:nvSpPr>
        <p:spPr>
          <a:xfrm>
            <a:off x="333772" y="1124744"/>
            <a:ext cx="5544616" cy="46439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Pascal(1623~1662)</a:t>
            </a:r>
          </a:p>
          <a:p>
            <a:pPr marL="742950" lvl="1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½ + ½*½ + ½*½*½ </a:t>
            </a:r>
          </a:p>
          <a:p>
            <a:pPr marL="742950" lvl="1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½*½*½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Ferma(1607~1665)</a:t>
            </a:r>
          </a:p>
          <a:p>
            <a:pPr marL="742950" lvl="1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AAA,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AAB, ABA, ABB, BAA, BAB, BBA, BBB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459" y="1132710"/>
            <a:ext cx="5475517" cy="474456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0956" y="1196752"/>
            <a:ext cx="966550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526459" y="5958610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/>
              <p:nvPr/>
            </p:nvSpPr>
            <p:spPr>
              <a:xfrm>
                <a:off x="1413892" y="1772816"/>
                <a:ext cx="8208912" cy="38710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dirty="0">
                    <a:latin typeface="+mj-ea"/>
                    <a:ea typeface="+mj-ea"/>
                  </a:rPr>
                  <a:t>✔ 실험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동전을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번 던짐</a:t>
                </a:r>
                <a:r>
                  <a:rPr lang="en-US" altLang="ko-KR" dirty="0">
                    <a:latin typeface="+mj-ea"/>
                    <a:ea typeface="+mj-ea"/>
                  </a:rPr>
                  <a:t>(</a:t>
                </a:r>
                <a:r>
                  <a:rPr lang="ko-KR" altLang="en-US" dirty="0">
                    <a:latin typeface="+mj-ea"/>
                    <a:ea typeface="+mj-ea"/>
                  </a:rPr>
                  <a:t>혹은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개를 동시에 던짐</a:t>
                </a:r>
                <a:r>
                  <a:rPr lang="en-US" altLang="ko-KR" dirty="0">
                    <a:latin typeface="+mj-ea"/>
                    <a:ea typeface="+mj-ea"/>
                  </a:rPr>
                  <a:t>)</a:t>
                </a:r>
                <a:endParaRPr lang="ko-KR" altLang="en-US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dirty="0">
                    <a:latin typeface="+mj-ea"/>
                    <a:ea typeface="+mj-ea"/>
                  </a:rPr>
                  <a:t>✔ 표본공간 </a:t>
                </a:r>
                <a:r>
                  <a:rPr lang="en-US" altLang="ko-KR" dirty="0">
                    <a:latin typeface="+mj-ea"/>
                    <a:ea typeface="+mj-ea"/>
                  </a:rPr>
                  <a:t>(Sample Space)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  <a:ea typeface="+mj-ea"/>
                      </a:rPr>
                      <m:t>𝑆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={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}</m:t>
                    </m:r>
                  </m:oMath>
                </a14:m>
                <a:endParaRPr lang="ko-KR" altLang="en-US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dirty="0">
                    <a:latin typeface="+mj-ea"/>
                    <a:ea typeface="+mj-ea"/>
                  </a:rPr>
                  <a:t>✔ 확률변수 정의</a:t>
                </a:r>
                <a:endParaRPr lang="en-US" altLang="ko-KR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확률변수는 </a:t>
                </a:r>
                <a:r>
                  <a:rPr lang="ko-KR" altLang="en-US" b="1" dirty="0">
                    <a:latin typeface="+mj-ea"/>
                    <a:ea typeface="+mj-ea"/>
                  </a:rPr>
                  <a:t>사건 → 숫자 값으로 매핑하는 함수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+mj-ea"/>
                    <a:ea typeface="+mj-ea"/>
                  </a:rPr>
                  <a:t>100</a:t>
                </a:r>
                <a:r>
                  <a:rPr lang="ko-KR" altLang="en-US" dirty="0">
                    <a:latin typeface="+mj-ea"/>
                    <a:ea typeface="+mj-ea"/>
                  </a:rPr>
                  <a:t>번 실험에서 나온 빈도를 확률변수로 설정</a:t>
                </a:r>
                <a:endParaRPr lang="en-US" altLang="ko-KR" dirty="0"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3892" y="1772816"/>
                <a:ext cx="8208912" cy="3871060"/>
              </a:xfrm>
              <a:prstGeom prst="rect">
                <a:avLst/>
              </a:prstGeom>
              <a:blipFill>
                <a:blip r:embed="rId3"/>
                <a:stretch>
                  <a:fillRect l="-668" b="-15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1AA2-7665-89C3-A8AC-74C2F1B4B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6AD45C6-4544-A375-0C8B-F71C226E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0AC118F-BF0C-2737-5E5C-6AA784F48F3F}"/>
              </a:ext>
            </a:extLst>
          </p:cNvPr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25924970"/>
                  </p:ext>
                </p:extLst>
              </p:nvPr>
            </p:nvGraphicFramePr>
            <p:xfrm>
              <a:off x="981844" y="2276872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표본</a:t>
                          </a:r>
                          <a:r>
                            <a:rPr lang="en-US" altLang="ko-KR" sz="2000" b="1" baseline="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ko-KR" altLang="en-US" sz="2000" b="1" baseline="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공간</a:t>
                          </a:r>
                          <a:endParaRPr lang="en-US" altLang="ko-KR" sz="2000" b="1" baseline="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baseline="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(Sample Space)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HH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HT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TH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TT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관측빈도</a:t>
                          </a:r>
                          <a:endParaRPr lang="en-US" altLang="ko-KR" sz="2000" b="1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(Frequency)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24</a:t>
                          </a:r>
                          <a:r>
                            <a:rPr lang="ko-KR" altLang="en-US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21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28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27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확률변수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2000" b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oMath>
                          </a14:m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en-US" altLang="ko-KR" sz="2000" b="1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빈도</a:t>
                          </a:r>
                          <a:r>
                            <a:rPr lang="en-US" altLang="ko-KR" sz="2000" b="1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=24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=21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b="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28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800" b="0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altLang="ko-KR" sz="1800" b="0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=28</m:t>
                              </m:r>
                            </m:oMath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=27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kern="12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확률 </a:t>
                          </a:r>
                          <a:endParaRPr lang="en-US" altLang="ko-KR" sz="2000" b="1" kern="12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2000" b="1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ko-KR" sz="2000" b="1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ko-KR" sz="2000" b="1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20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  <m:r>
                                      <a:rPr lang="en-US" altLang="ko-KR" sz="20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altLang="ko-KR" sz="20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en-US" altLang="ko-KR" sz="20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=24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24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=21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=28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28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=27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25924970"/>
                  </p:ext>
                </p:extLst>
              </p:nvPr>
            </p:nvGraphicFramePr>
            <p:xfrm>
              <a:off x="981844" y="2276872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표본</a:t>
                          </a:r>
                          <a:r>
                            <a:rPr lang="en-US" altLang="ko-KR" sz="2000" b="1" baseline="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ko-KR" altLang="en-US" sz="2000" b="1" baseline="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공간</a:t>
                          </a:r>
                          <a:endParaRPr lang="en-US" altLang="ko-KR" sz="2000" b="1" baseline="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baseline="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(Sample Space)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HH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HT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TH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TT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관측빈도</a:t>
                          </a:r>
                          <a:endParaRPr lang="en-US" altLang="ko-KR" sz="2000" b="1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(Frequency)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24</a:t>
                          </a:r>
                          <a:r>
                            <a:rPr lang="ko-KR" altLang="en-US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21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28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27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09677" r="-369399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09677" r="-309697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09677" r="-186275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09677" r="-101515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09677" r="-1515" b="-1298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41509" r="-369399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41509" r="-309697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41509" r="-186275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41509" r="-101515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41509" r="-1515" b="-125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49020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A1F99-A4EC-7F3F-934E-66005ED48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9D4F466-55C4-B16A-4029-996A9BC59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/>
              <p:nvPr/>
            </p:nvSpPr>
            <p:spPr>
              <a:xfrm>
                <a:off x="1917948" y="1453009"/>
                <a:ext cx="4392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𝑃𝑟𝑜𝑏𝑎𝑏𝑖𝑙𝑖𝑡𝑦</m:t>
                      </m:r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   =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7948" y="1453009"/>
                <a:ext cx="439248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/>
              <p:nvPr/>
            </p:nvSpPr>
            <p:spPr>
              <a:xfrm>
                <a:off x="6094412" y="1196752"/>
                <a:ext cx="2398340" cy="12203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4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4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4800" b="0" i="1" smtClean="0">
                            <a:latin typeface="Cambria Math" panose="02040503050406030204" pitchFamily="18" charset="0"/>
                          </a:rPr>
                          <m:t>𝑆𝑢𝑝𝑟𝑖𝑠𝑒</m:t>
                        </m:r>
                      </m:den>
                    </m:f>
                  </m:oMath>
                </a14:m>
                <a:r>
                  <a:rPr lang="en-US" altLang="ko-KR" sz="4800" dirty="0"/>
                  <a:t>   </a:t>
                </a:r>
                <a:endParaRPr lang="ko-KR" altLang="en-US" sz="4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2" y="1196752"/>
                <a:ext cx="2398340" cy="12203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얼굴이 그려진 공 무리">
            <a:extLst>
              <a:ext uri="{FF2B5EF4-FFF2-40B4-BE49-F238E27FC236}">
                <a16:creationId xmlns:a16="http://schemas.microsoft.com/office/drawing/2014/main" id="{6D98B705-2128-E698-C0F3-EF068395DC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3419" y="2852936"/>
            <a:ext cx="4392488" cy="2928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6264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vs 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 vs 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697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동전의 앞과 뒤면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주사위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카드의 종류 등은 수자가 양의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로 셀 수 있으면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 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(Discrete)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등은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형으로 연속되어 관측하지 못하면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	      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연속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3068960"/>
            <a:ext cx="6108314" cy="314141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440DC3E-0689-87B9-2317-7799DFC49C94}"/>
              </a:ext>
            </a:extLst>
          </p:cNvPr>
          <p:cNvSpPr txBox="1"/>
          <p:nvPr/>
        </p:nvSpPr>
        <p:spPr>
          <a:xfrm>
            <a:off x="8747167" y="4797152"/>
            <a:ext cx="1021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1.0</a:t>
            </a:r>
            <a:endParaRPr lang="ko-KR" alt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505CD0-B828-A721-138C-847AA8FFB2BC}"/>
              </a:ext>
            </a:extLst>
          </p:cNvPr>
          <p:cNvSpPr txBox="1"/>
          <p:nvPr/>
        </p:nvSpPr>
        <p:spPr>
          <a:xfrm>
            <a:off x="1800522" y="4797152"/>
            <a:ext cx="7809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1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0A1BE-5319-9B17-AC27-C21C5490B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B05A11E-C51B-54E0-6AE8-D2470373F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1757F0F-DCD9-2DCB-6113-CB0A8074D20D}"/>
              </a:ext>
            </a:extLst>
          </p:cNvPr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EC16F32-1436-4987-9DBA-9A41EB3CF136}"/>
              </a:ext>
            </a:extLst>
          </p:cNvPr>
          <p:cNvSpPr/>
          <p:nvPr/>
        </p:nvSpPr>
        <p:spPr>
          <a:xfrm>
            <a:off x="765820" y="1480069"/>
            <a:ext cx="10813564" cy="5749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당신의 정확한 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 실수형 변수는 알 수가 없다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CC9085-109A-009A-A979-332B07FAB49A}"/>
              </a:ext>
            </a:extLst>
          </p:cNvPr>
          <p:cNvSpPr txBox="1"/>
          <p:nvPr/>
        </p:nvSpPr>
        <p:spPr>
          <a:xfrm>
            <a:off x="1845940" y="2492896"/>
            <a:ext cx="12385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0.1</a:t>
            </a:r>
          </a:p>
          <a:p>
            <a:r>
              <a:rPr lang="en-US" altLang="ko-KR" sz="2400" dirty="0"/>
              <a:t>y = 0.2</a:t>
            </a:r>
          </a:p>
          <a:p>
            <a:r>
              <a:rPr lang="en-US" altLang="ko-KR" sz="2400" dirty="0"/>
              <a:t>Z</a:t>
            </a:r>
            <a:r>
              <a:rPr lang="ko-KR" altLang="en-US" sz="2400" dirty="0"/>
              <a:t> </a:t>
            </a:r>
            <a:r>
              <a:rPr lang="en-US" altLang="ko-KR" sz="2400" dirty="0"/>
              <a:t>=</a:t>
            </a:r>
            <a:r>
              <a:rPr lang="ko-KR" altLang="en-US" sz="2400" dirty="0"/>
              <a:t> </a:t>
            </a:r>
            <a:r>
              <a:rPr lang="en-US" altLang="ko-KR" sz="2400" dirty="0"/>
              <a:t>X</a:t>
            </a:r>
            <a:r>
              <a:rPr lang="ko-KR" altLang="en-US" sz="2400" dirty="0"/>
              <a:t> </a:t>
            </a:r>
            <a:r>
              <a:rPr lang="en-US" altLang="ko-KR" sz="2400" dirty="0"/>
              <a:t>+</a:t>
            </a:r>
            <a:r>
              <a:rPr lang="ko-KR" altLang="en-US" sz="2400" dirty="0"/>
              <a:t> </a:t>
            </a:r>
            <a:r>
              <a:rPr lang="en-US" altLang="ko-KR" sz="2400" dirty="0"/>
              <a:t>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57E4D-8854-5028-D6CD-1F0257DFA71A}"/>
              </a:ext>
            </a:extLst>
          </p:cNvPr>
          <p:cNvSpPr txBox="1"/>
          <p:nvPr/>
        </p:nvSpPr>
        <p:spPr>
          <a:xfrm>
            <a:off x="4822948" y="2564904"/>
            <a:ext cx="6096000" cy="73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print(0.1+0.2)</a:t>
            </a:r>
          </a:p>
          <a:p>
            <a:pPr>
              <a:lnSpc>
                <a:spcPts val="1575"/>
              </a:lnSpc>
              <a:buNone/>
            </a:pPr>
            <a:endParaRPr lang="en-US" altLang="ko-KR" sz="2400" dirty="0"/>
          </a:p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# 0.30000000000000004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68AD78-BD84-025B-68E3-977E3020D467}"/>
              </a:ext>
            </a:extLst>
          </p:cNvPr>
          <p:cNvSpPr txBox="1"/>
          <p:nvPr/>
        </p:nvSpPr>
        <p:spPr>
          <a:xfrm>
            <a:off x="5492575" y="3410072"/>
            <a:ext cx="6096000" cy="25317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소수점 아래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번째 자리에서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튀어나온 것을 볼 수 있습니다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자리 근처에서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비트가 표현할 수 있는 한계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정밀도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도달했음을 의미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10진수 0.3을 2진수로 변환하면 0.01001100110011...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처럼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무한 순환 소수가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되어서</a:t>
            </a:r>
            <a:endParaRPr lang="ko-KR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3956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764" y="1988840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31752" y="1846455"/>
            <a:ext cx="6048672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실제로 시간과 나이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(age)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존재하고 관측할 수 있는가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No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분에 버스를 탈 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No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1" y="2498610"/>
            <a:ext cx="5395189" cy="4040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7499" y="2498610"/>
            <a:ext cx="5303537" cy="403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2518F2-F2C5-B7F4-7D14-1EFF0BC5E3B6}"/>
              </a:ext>
            </a:extLst>
          </p:cNvPr>
          <p:cNvSpPr txBox="1"/>
          <p:nvPr/>
        </p:nvSpPr>
        <p:spPr>
          <a:xfrm>
            <a:off x="545028" y="1244332"/>
            <a:ext cx="11166008" cy="875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주사위의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합을 확률변수로 가정하여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확률질량함수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(Probability Mass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누적분포함수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(Cumulative Distribution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68FED-814B-0837-726E-1CD03044A571}"/>
              </a:ext>
            </a:extLst>
          </p:cNvPr>
          <p:cNvSpPr txBox="1"/>
          <p:nvPr/>
        </p:nvSpPr>
        <p:spPr>
          <a:xfrm>
            <a:off x="1269876" y="2780928"/>
            <a:ext cx="1512168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P(X=3)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P(X=4)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P(X=5)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P(X=6)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P(X=7) = 0.167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P(X=8)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P(X=9)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P(X=10)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P(X=11)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16035C-B9F4-DC4A-2764-D3E3D8BBA76B}"/>
              </a:ext>
            </a:extLst>
          </p:cNvPr>
          <p:cNvSpPr txBox="1"/>
          <p:nvPr/>
        </p:nvSpPr>
        <p:spPr>
          <a:xfrm>
            <a:off x="10157354" y="3854360"/>
            <a:ext cx="141712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2) = 0.028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3) = 0.083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4) = 0.167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5) = 0.278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6) = 0.417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7) = 0.583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8) = 0.722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9) = 0.833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10) = 0.917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11) = 0.972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12) = 1.000</a:t>
            </a:r>
          </a:p>
        </p:txBody>
      </p:sp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744AA534-5EFE-9429-2F64-20D093C87F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322" y="2420888"/>
            <a:ext cx="10824714" cy="3816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4684D3-3797-6450-5C1A-643E2674B164}"/>
              </a:ext>
            </a:extLst>
          </p:cNvPr>
          <p:cNvSpPr txBox="1"/>
          <p:nvPr/>
        </p:nvSpPr>
        <p:spPr>
          <a:xfrm>
            <a:off x="545028" y="1244332"/>
            <a:ext cx="11166008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sns.load_dataset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(“titanic“)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변수로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histogram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KDE=True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를 사용하여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확률밀도함수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(Probability density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누적분포함수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(Cumulative Distribution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347423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400168"/>
              </p:ext>
            </p:extLst>
          </p:nvPr>
        </p:nvGraphicFramePr>
        <p:xfrm>
          <a:off x="1557908" y="1916832"/>
          <a:ext cx="10153126" cy="18001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3352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450447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36986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5194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주사위 수자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4696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확률변수 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</a:t>
                      </a:r>
                      <a:r>
                        <a:rPr lang="en-US" altLang="ko-KR" sz="1600" b="0" baseline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 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8111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(Probability)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=1)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=2)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=3)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=4)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=5)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=6)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339" y="4091514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4091514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34" y="2135306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6406" y="3028888"/>
            <a:ext cx="5020376" cy="704948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C255BAE0-71B0-460B-6D36-535DEC231007}"/>
              </a:ext>
            </a:extLst>
          </p:cNvPr>
          <p:cNvGrpSpPr/>
          <p:nvPr/>
        </p:nvGrpSpPr>
        <p:grpSpPr>
          <a:xfrm>
            <a:off x="827586" y="1212123"/>
            <a:ext cx="5744136" cy="5144228"/>
            <a:chOff x="795052" y="1916832"/>
            <a:chExt cx="4438836" cy="3816424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5052" y="2204864"/>
              <a:ext cx="4438836" cy="3024336"/>
            </a:xfrm>
            <a:prstGeom prst="rect">
              <a:avLst/>
            </a:prstGeom>
          </p:spPr>
        </p:pic>
        <p:cxnSp>
          <p:nvCxnSpPr>
            <p:cNvPr id="12" name="직선 연결선 11"/>
            <p:cNvCxnSpPr/>
            <p:nvPr/>
          </p:nvCxnSpPr>
          <p:spPr>
            <a:xfrm>
              <a:off x="2710428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/>
            <p:cNvCxnSpPr/>
            <p:nvPr/>
          </p:nvCxnSpPr>
          <p:spPr>
            <a:xfrm>
              <a:off x="3790156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/>
            <p:cNvCxnSpPr/>
            <p:nvPr/>
          </p:nvCxnSpPr>
          <p:spPr>
            <a:xfrm>
              <a:off x="2735595" y="5517232"/>
              <a:ext cx="1008112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직사각형 18"/>
          <p:cNvSpPr/>
          <p:nvPr/>
        </p:nvSpPr>
        <p:spPr>
          <a:xfrm>
            <a:off x="837828" y="5939988"/>
            <a:ext cx="5872120" cy="338554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185)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-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135) = 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키가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135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185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이하인 확률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600" dirty="0">
              <a:solidFill>
                <a:srgbClr val="40404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5DB406-4AFF-BE7F-8019-A998F12969B0}"/>
              </a:ext>
            </a:extLst>
          </p:cNvPr>
          <p:cNvSpPr txBox="1"/>
          <p:nvPr/>
        </p:nvSpPr>
        <p:spPr>
          <a:xfrm>
            <a:off x="7081460" y="4288739"/>
            <a:ext cx="5094313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y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축의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Density(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확률밀도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확률의 의미인가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확률과 밀도는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다른가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밀도를 다 더하면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3B0B1-AC43-276B-0D54-6930E968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A7E9029-7CE6-C1E0-0D99-332796148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307B2-E487-A983-92DA-289CC6D0FD3B}"/>
              </a:ext>
            </a:extLst>
          </p:cNvPr>
          <p:cNvSpPr txBox="1"/>
          <p:nvPr/>
        </p:nvSpPr>
        <p:spPr>
          <a:xfrm>
            <a:off x="333771" y="989460"/>
            <a:ext cx="1137726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bins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따라 이산적인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분포 모양이 달라짐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연속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데이터로 가정하여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Gaussian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적용하여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무한한 실수에 대해 확률밀도를 예측함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80877-4248-8305-6897-65878F33FD87}"/>
              </a:ext>
            </a:extLst>
          </p:cNvPr>
          <p:cNvSpPr txBox="1"/>
          <p:nvPr/>
        </p:nvSpPr>
        <p:spPr>
          <a:xfrm>
            <a:off x="117748" y="260648"/>
            <a:ext cx="4824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히스토그램과</a:t>
            </a:r>
            <a:r>
              <a:rPr lang="en-US" altLang="ko-KR" sz="3200" b="1" dirty="0"/>
              <a:t> KDE</a:t>
            </a:r>
            <a:endParaRPr lang="ko-KR" altLang="en-US" sz="3200" b="1" dirty="0"/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9D2C2A6F-AA51-181B-2EE7-B31827536B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2" y="2286185"/>
            <a:ext cx="11321047" cy="3757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1956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4642D99-FBF5-AEFC-193D-20CA3131F1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788832"/>
              </p:ext>
            </p:extLst>
          </p:nvPr>
        </p:nvGraphicFramePr>
        <p:xfrm>
          <a:off x="1794470" y="3212976"/>
          <a:ext cx="8599884" cy="2743664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2263180">
                  <a:extLst>
                    <a:ext uri="{9D8B030D-6E8A-4147-A177-3AD203B41FA5}">
                      <a16:colId xmlns:a16="http://schemas.microsoft.com/office/drawing/2014/main" val="2796709864"/>
                    </a:ext>
                  </a:extLst>
                </a:gridCol>
                <a:gridCol w="6336704">
                  <a:extLst>
                    <a:ext uri="{9D8B030D-6E8A-4147-A177-3AD203B41FA5}">
                      <a16:colId xmlns:a16="http://schemas.microsoft.com/office/drawing/2014/main" val="2134139185"/>
                    </a:ext>
                  </a:extLst>
                </a:gridCol>
              </a:tblGrid>
              <a:tr h="25864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분류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주요 확률분포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573821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이산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Discrete)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베르누이분포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이항분포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음이항분포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초기하분포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Poisson(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포아송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</a:t>
                      </a:r>
                      <a:endParaRPr lang="ko-KR" alt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617388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Continuous)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균일분포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정규분포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카이제곱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t-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F-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 포함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), 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지수분포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베타분포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감마분포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7018236"/>
                  </a:ext>
                </a:extLst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id="{860F45A2-DF52-7961-5A68-876CC4DB03F7}"/>
              </a:ext>
            </a:extLst>
          </p:cNvPr>
          <p:cNvSpPr/>
          <p:nvPr/>
        </p:nvSpPr>
        <p:spPr>
          <a:xfrm>
            <a:off x="765819" y="1345637"/>
            <a:ext cx="10945217" cy="15787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확률분포를 안다는 것은 표본 그 자체를 넘어 표본을 통해 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이해하는 열쇠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표본의 데이터가 어떤 </a:t>
            </a:r>
            <a:r>
              <a:rPr lang="ko-KR" altLang="en-US" sz="1700" dirty="0" err="1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모수</a:t>
            </a:r>
            <a:r>
              <a:rPr lang="en-US" altLang="ko-KR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(Parameter), </a:t>
            </a: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예를 들어 정규분포라면 평균과 표준편차에 의해 정확히 식별 가능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확률분포를 알면 그 데이터를 통해 미래를 예측하거나 의사결정이 가능</a:t>
            </a:r>
            <a:endParaRPr lang="en-US" altLang="ko-KR" sz="17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보면 되겠네</a:t>
            </a:r>
            <a:r>
              <a:rPr lang="en-US" altLang="ko-KR" sz="1600" dirty="0">
                <a:latin typeface="Arial Narrow" panose="020B0606020202030204" pitchFamily="34" charset="0"/>
              </a:rPr>
              <a:t>.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A2AAA-395D-04DF-EB0A-F9B81D0FA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92229D-EE16-1E5B-90DF-46FC56A0F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CDE1B-C06C-0D19-2BBA-24EDD1B3F8FA}"/>
              </a:ext>
            </a:extLst>
          </p:cNvPr>
          <p:cNvSpPr txBox="1"/>
          <p:nvPr/>
        </p:nvSpPr>
        <p:spPr>
          <a:xfrm>
            <a:off x="765820" y="1196752"/>
            <a:ext cx="11233248" cy="151220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동전을 던져서 베르누이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시행과 이항분포</a:t>
            </a:r>
            <a:r>
              <a:rPr lang="en-US" altLang="ko-KR" sz="1600" dirty="0">
                <a:latin typeface="+mj-ea"/>
                <a:ea typeface="+mj-ea"/>
              </a:rPr>
              <a:t>(N=10</a:t>
            </a:r>
            <a:r>
              <a:rPr lang="ko-KR" altLang="en-US" sz="1600" dirty="0">
                <a:latin typeface="+mj-ea"/>
                <a:ea typeface="+mj-ea"/>
              </a:rPr>
              <a:t>화</a:t>
            </a:r>
            <a:r>
              <a:rPr lang="en-US" altLang="ko-KR" sz="1600" dirty="0">
                <a:latin typeface="+mj-ea"/>
                <a:ea typeface="+mj-ea"/>
              </a:rPr>
              <a:t>)</a:t>
            </a:r>
            <a:r>
              <a:rPr lang="ko-KR" altLang="en-US" sz="1600" dirty="0">
                <a:latin typeface="+mj-ea"/>
                <a:ea typeface="+mj-ea"/>
              </a:rPr>
              <a:t>를 파이썬 코드로 만들고 시각화하자</a:t>
            </a:r>
            <a:endParaRPr lang="en-US" altLang="ko-KR" sz="16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이항분포의 횟수를 </a:t>
            </a:r>
            <a:r>
              <a:rPr lang="en-US" altLang="ko-KR" sz="1600" dirty="0">
                <a:latin typeface="+mj-ea"/>
                <a:ea typeface="+mj-ea"/>
              </a:rPr>
              <a:t>100</a:t>
            </a:r>
            <a:r>
              <a:rPr lang="ko-KR" altLang="en-US" sz="1600" dirty="0">
                <a:latin typeface="+mj-ea"/>
                <a:ea typeface="+mj-ea"/>
              </a:rPr>
              <a:t>번 실험하면 어떤 그래프 모양이 되는지 토론하라</a:t>
            </a:r>
            <a:endParaRPr lang="en-US" altLang="ko-KR" sz="1600" dirty="0">
              <a:latin typeface="+mj-ea"/>
              <a:ea typeface="+mj-ea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</a:rPr>
              <a:t>from </a:t>
            </a:r>
            <a:r>
              <a:rPr lang="en-US" altLang="ko-KR" sz="1400" dirty="0" err="1">
                <a:latin typeface="+mj-ea"/>
                <a:ea typeface="+mj-ea"/>
              </a:rPr>
              <a:t>scipy.stats</a:t>
            </a:r>
            <a:r>
              <a:rPr lang="en-US" altLang="ko-KR" sz="1400" dirty="0">
                <a:latin typeface="+mj-ea"/>
                <a:ea typeface="+mj-ea"/>
              </a:rPr>
              <a:t> import </a:t>
            </a:r>
            <a:r>
              <a:rPr lang="en-US" altLang="ko-KR" sz="1400" dirty="0" err="1">
                <a:latin typeface="+mj-ea"/>
                <a:ea typeface="+mj-ea"/>
              </a:rPr>
              <a:t>binom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bernoulli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모듈을 사용하여 코딩과 시각화를 하라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동전의 찌그러져 있다면 앞면이 나올 확률이 </a:t>
            </a:r>
            <a:r>
              <a:rPr lang="en-US" altLang="ko-KR" sz="1600" dirty="0">
                <a:latin typeface="+mj-ea"/>
                <a:ea typeface="+mj-ea"/>
              </a:rPr>
              <a:t>0.7</a:t>
            </a:r>
            <a:r>
              <a:rPr lang="ko-KR" altLang="en-US" sz="1600" dirty="0">
                <a:latin typeface="+mj-ea"/>
                <a:ea typeface="+mj-ea"/>
              </a:rPr>
              <a:t>이고 뒷면은 </a:t>
            </a:r>
            <a:r>
              <a:rPr lang="en-US" altLang="ko-KR" sz="1600" dirty="0">
                <a:latin typeface="+mj-ea"/>
                <a:ea typeface="+mj-ea"/>
              </a:rPr>
              <a:t>0.3</a:t>
            </a:r>
            <a:r>
              <a:rPr lang="ko-KR" altLang="en-US" sz="1600" dirty="0" err="1">
                <a:latin typeface="+mj-ea"/>
                <a:ea typeface="+mj-ea"/>
              </a:rPr>
              <a:t>인경우</a:t>
            </a:r>
            <a:r>
              <a:rPr lang="ko-KR" altLang="en-US" sz="1600" dirty="0">
                <a:latin typeface="+mj-ea"/>
                <a:ea typeface="+mj-ea"/>
              </a:rPr>
              <a:t> 베르누이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이항분포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정규분포를 만들라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F8CBB-401C-02EA-2D8A-3655A2CB4CF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611C94A-5849-A344-CF5A-DADF35BD68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20" y="3140968"/>
            <a:ext cx="11233248" cy="3085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7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60235"/>
            <a:ext cx="8660268" cy="599611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4200" y="357204"/>
            <a:ext cx="1287365" cy="1602133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2133972" y="3096683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102524" y="959587"/>
            <a:ext cx="2736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000" b="1" dirty="0"/>
              <a:t> </a:t>
            </a:r>
            <a:r>
              <a:rPr lang="en-US" altLang="ko-KR" sz="2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GALTON BOARD</a:t>
            </a:r>
            <a:r>
              <a:rPr lang="ko-KR" altLang="en-US" sz="2000" b="1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7296" y="1480432"/>
            <a:ext cx="3820058" cy="505848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6DBC183-847F-AA14-7A37-BEF6DF137A1F}"/>
              </a:ext>
            </a:extLst>
          </p:cNvPr>
          <p:cNvSpPr/>
          <p:nvPr/>
        </p:nvSpPr>
        <p:spPr>
          <a:xfrm>
            <a:off x="261764" y="1760006"/>
            <a:ext cx="5832648" cy="1490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동영상에서 떨어지는 구슬</a:t>
            </a:r>
            <a:r>
              <a:rPr lang="en-US" altLang="ko-KR" sz="1600" b="1" dirty="0">
                <a:latin typeface="Arial Narrow" panose="020B0606020202030204" pitchFamily="34" charset="0"/>
              </a:rPr>
              <a:t>,</a:t>
            </a:r>
            <a:r>
              <a:rPr lang="ko-KR" altLang="en-US" sz="1600" b="1" dirty="0">
                <a:latin typeface="Arial Narrow" panose="020B0606020202030204" pitchFamily="34" charset="0"/>
              </a:rPr>
              <a:t> 고정된 구슬과 각 </a:t>
            </a:r>
            <a:r>
              <a:rPr lang="en-US" altLang="ko-KR" sz="1600" b="1" dirty="0">
                <a:latin typeface="Arial Narrow" panose="020B0606020202030204" pitchFamily="34" charset="0"/>
              </a:rPr>
              <a:t>Layer</a:t>
            </a:r>
            <a:r>
              <a:rPr lang="ko-KR" altLang="en-US" sz="1600" b="1" dirty="0">
                <a:latin typeface="Arial Narrow" panose="020B0606020202030204" pitchFamily="34" charset="0"/>
              </a:rPr>
              <a:t>의 의미를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베르누이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이항분포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정규분포를 그림에서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58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6277C-B59B-CF94-9FF4-C63DC4AE6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668DA3-DFBF-0862-F6CE-A061D146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5BCF6-C520-CBBD-FA85-6EBD5619CAE6}"/>
              </a:ext>
            </a:extLst>
          </p:cNvPr>
          <p:cNvSpPr txBox="1"/>
          <p:nvPr/>
        </p:nvSpPr>
        <p:spPr>
          <a:xfrm>
            <a:off x="485793" y="2065088"/>
            <a:ext cx="28762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geogebra_Galton</a:t>
            </a:r>
            <a:r>
              <a:rPr lang="en-US" altLang="ko-KR" sz="16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Board</a:t>
            </a:r>
            <a:endParaRPr lang="ko-KR" altLang="en-US" sz="1600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AB8CA67-0689-B3B2-BC44-161899058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96" y="2492896"/>
            <a:ext cx="4248472" cy="37195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0172FC-9D4E-FA46-6142-945B3B8D4296}"/>
              </a:ext>
            </a:extLst>
          </p:cNvPr>
          <p:cNvSpPr txBox="1"/>
          <p:nvPr/>
        </p:nvSpPr>
        <p:spPr>
          <a:xfrm>
            <a:off x="483969" y="990607"/>
            <a:ext cx="11508916" cy="78335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동전던지기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실험으로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설명하고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던지기 실험을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시각화하는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코드를 제시하라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동전을 한꺼번에 던지기 실험을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수행하고 그 합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(H:1, T:-1)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차감하는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실험과 동일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4E198F2-1890-5CC6-BFDE-0DB08DC4D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6340" y="2492896"/>
            <a:ext cx="5413592" cy="3660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6801BA-2725-9BA4-409C-426A6AF9CCE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23679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A544D-6B52-407A-3C50-AA730AD3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071C10-5F52-BBAE-A6FC-685EA26F5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C9FF561-0C8D-72AB-7311-E059B5B9E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166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196752"/>
            <a:ext cx="9939333" cy="392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2105444"/>
            <a:ext cx="10081120" cy="4250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91227" y="1537628"/>
            <a:ext cx="14173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 err="1">
                <a:latin typeface="+mj-ea"/>
                <a:ea typeface="+mj-ea"/>
              </a:rPr>
              <a:t>원자료</a:t>
            </a:r>
            <a:endParaRPr lang="en-US" altLang="ko-KR" sz="1400" dirty="0">
              <a:latin typeface="+mj-ea"/>
              <a:ea typeface="+mj-ea"/>
            </a:endParaRP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(</a:t>
            </a:r>
            <a:r>
              <a:rPr lang="en-US" altLang="ko-KR" sz="1400" dirty="0" err="1">
                <a:latin typeface="+mj-ea"/>
                <a:ea typeface="+mj-ea"/>
              </a:rPr>
              <a:t>Orignal</a:t>
            </a:r>
            <a:r>
              <a:rPr lang="en-US" altLang="ko-KR" sz="1400" dirty="0">
                <a:latin typeface="+mj-ea"/>
                <a:ea typeface="+mj-ea"/>
              </a:rPr>
              <a:t> Data)</a:t>
            </a:r>
            <a:endParaRPr lang="ko-KR" altLang="en-US" sz="1400" dirty="0">
              <a:latin typeface="+mj-ea"/>
              <a:ea typeface="+mj-ea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39603" y="1537628"/>
            <a:ext cx="1715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>
                <a:latin typeface="+mj-ea"/>
                <a:ea typeface="+mj-ea"/>
              </a:rPr>
              <a:t>평균중심화</a:t>
            </a:r>
            <a:endParaRPr lang="en-US" altLang="ko-KR" sz="1400" dirty="0">
              <a:latin typeface="+mj-ea"/>
              <a:ea typeface="+mj-ea"/>
            </a:endParaRP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(Mean Centering)</a:t>
            </a:r>
            <a:endParaRPr lang="ko-KR" altLang="en-US" sz="1400" dirty="0">
              <a:latin typeface="+mj-ea"/>
              <a:ea typeface="+mj-ea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023014" y="1537628"/>
            <a:ext cx="16866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latin typeface="+mj-ea"/>
                <a:ea typeface="+mj-ea"/>
              </a:rPr>
              <a:t>표준화</a:t>
            </a:r>
            <a:endParaRPr lang="en-US" altLang="ko-KR" sz="1400" dirty="0">
              <a:latin typeface="+mj-ea"/>
              <a:ea typeface="+mj-ea"/>
            </a:endParaRP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(Standardization)</a:t>
            </a:r>
            <a:endParaRPr lang="ko-KR" altLang="en-US" sz="1400" dirty="0">
              <a:latin typeface="+mj-ea"/>
              <a:ea typeface="+mj-ea"/>
            </a:endParaRPr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1870488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1860793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/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𝒁</m:t>
                      </m:r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=</m:t>
                      </m:r>
                      <m:f>
                        <m:fPr>
                          <m:ctrlP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</m:ctrlPr>
                        </m:fPr>
                        <m:num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𝑿</m:t>
                          </m:r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− </m:t>
                          </m:r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𝝁</m:t>
                          </m:r>
                        </m:num>
                        <m:den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𝝈</m:t>
                          </m:r>
                        </m:den>
                      </m:f>
                    </m:oMath>
                  </m:oMathPara>
                </a14:m>
                <a:endParaRPr lang="ko-KR" altLang="en-US" sz="3200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9B7F199-243F-FB77-27CA-BD6E566F6563}"/>
              </a:ext>
            </a:extLst>
          </p:cNvPr>
          <p:cNvSpPr txBox="1"/>
          <p:nvPr/>
        </p:nvSpPr>
        <p:spPr>
          <a:xfrm>
            <a:off x="693812" y="1050968"/>
            <a:ext cx="11233248" cy="41402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원자료를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Z-scores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변경하는 이유와 그 의미는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통계학적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관점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토론하자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ED210D-26A6-52A0-9E74-18213BC7D1F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sp>
        <p:nvSpPr>
          <p:cNvPr id="2" name="AutoShape 2" descr="namu 정규분포 그래프">
            <a:extLst>
              <a:ext uri="{FF2B5EF4-FFF2-40B4-BE49-F238E27FC236}">
                <a16:creationId xmlns:a16="http://schemas.microsoft.com/office/drawing/2014/main" id="{8100E4F9-58BE-FCDF-9643-B898BB4E30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174" name="Picture 6" descr="Standard Normal Distribution">
            <a:extLst>
              <a:ext uri="{FF2B5EF4-FFF2-40B4-BE49-F238E27FC236}">
                <a16:creationId xmlns:a16="http://schemas.microsoft.com/office/drawing/2014/main" id="{82401BFB-7A59-70FB-BD39-42358B1AC3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778" y="2890345"/>
            <a:ext cx="4854782" cy="3236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3C1574A-2083-149D-1617-DD49A96F71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1679" y="484060"/>
            <a:ext cx="5327146" cy="63739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FCB29F6-7ACB-719E-0596-580275F16440}"/>
              </a:ext>
            </a:extLst>
          </p:cNvPr>
          <p:cNvSpPr txBox="1"/>
          <p:nvPr/>
        </p:nvSpPr>
        <p:spPr>
          <a:xfrm>
            <a:off x="6477252" y="17749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b="1" dirty="0" err="1"/>
              <a:t>standard</a:t>
            </a:r>
            <a:r>
              <a:rPr lang="ko-KR" altLang="en-US" b="1" dirty="0"/>
              <a:t> </a:t>
            </a:r>
            <a:r>
              <a:rPr lang="ko-KR" altLang="en-US" b="1" dirty="0" err="1"/>
              <a:t>normal</a:t>
            </a:r>
            <a:r>
              <a:rPr lang="ko-KR" altLang="en-US" b="1" dirty="0"/>
              <a:t> </a:t>
            </a:r>
            <a:r>
              <a:rPr lang="ko-KR" altLang="en-US" b="1" dirty="0" err="1"/>
              <a:t>distribution</a:t>
            </a:r>
            <a:r>
              <a:rPr lang="ko-KR" altLang="en-US" b="1" dirty="0"/>
              <a:t> </a:t>
            </a:r>
            <a:r>
              <a:rPr lang="ko-KR" altLang="en-US" b="1" dirty="0" err="1"/>
              <a:t>table</a:t>
            </a:r>
            <a:endParaRPr lang="ko-KR" altLang="en-US" b="1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9FACC713-7FA0-ABC7-F8CA-F0B2DB15739A}"/>
              </a:ext>
            </a:extLst>
          </p:cNvPr>
          <p:cNvSpPr/>
          <p:nvPr/>
        </p:nvSpPr>
        <p:spPr>
          <a:xfrm>
            <a:off x="10126860" y="3720770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1A1B3D4-D3D4-6B5C-4612-B770DE9C11DE}"/>
                  </a:ext>
                </a:extLst>
              </p:cNvPr>
              <p:cNvSpPr txBox="1"/>
              <p:nvPr/>
            </p:nvSpPr>
            <p:spPr>
              <a:xfrm>
                <a:off x="9142707" y="4185441"/>
                <a:ext cx="2592288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≤1.96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=0.975</m:t>
                      </m:r>
                    </m:oMath>
                  </m:oMathPara>
                </a14:m>
                <a:endParaRPr lang="en-US" altLang="ko-KR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1.96</m:t>
                          </m:r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02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1A1B3D4-D3D4-6B5C-4612-B770DE9C11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2707" y="4185441"/>
                <a:ext cx="2592288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FFC89BCD-6C21-5ECB-89E6-59709A64FC25}"/>
              </a:ext>
            </a:extLst>
          </p:cNvPr>
          <p:cNvCxnSpPr/>
          <p:nvPr/>
        </p:nvCxnSpPr>
        <p:spPr>
          <a:xfrm flipH="1">
            <a:off x="7246540" y="3933056"/>
            <a:ext cx="2736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704C4712-AA68-E9EE-D006-FC3D93D2993D}"/>
              </a:ext>
            </a:extLst>
          </p:cNvPr>
          <p:cNvCxnSpPr>
            <a:cxnSpLocks/>
          </p:cNvCxnSpPr>
          <p:nvPr/>
        </p:nvCxnSpPr>
        <p:spPr>
          <a:xfrm flipV="1">
            <a:off x="10367271" y="692696"/>
            <a:ext cx="39237" cy="2926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DB02AE6-46A6-5020-40D1-1E60870D98C0}"/>
                  </a:ext>
                </a:extLst>
              </p:cNvPr>
              <p:cNvSpPr txBox="1"/>
              <p:nvPr/>
            </p:nvSpPr>
            <p:spPr>
              <a:xfrm>
                <a:off x="483968" y="990607"/>
                <a:ext cx="6258515" cy="949042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어떤 데이터의 표준화된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휴먼모음T" panose="02030504000101010101" pitchFamily="18" charset="-127"/>
                      </a:rPr>
                      <m:t>𝑍</m:t>
                    </m:r>
                    <m:r>
                      <a:rPr lang="en-US" altLang="ko-KR" sz="1600" i="1" smtClean="0">
                        <a:latin typeface="Cambria Math" panose="02040503050406030204" pitchFamily="18" charset="0"/>
                        <a:ea typeface="휴먼모음T" panose="02030504000101010101" pitchFamily="18" charset="-127"/>
                      </a:rPr>
                      <m:t>=</m:t>
                    </m:r>
                    <m:f>
                      <m:fPr>
                        <m:ctrlPr>
                          <a:rPr lang="en-US" altLang="ko-KR" sz="160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  <m:t>𝑋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  <m:t>− </m:t>
                        </m:r>
                        <m:r>
                          <a:rPr lang="ko-KR" altLang="en-US" sz="1600" b="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  <m:t>𝜇</m:t>
                        </m:r>
                      </m:num>
                      <m:den>
                        <m:r>
                          <a:rPr lang="ko-KR" altLang="en-US" sz="160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  <m:t>𝜎</m:t>
                        </m:r>
                      </m:den>
                    </m:f>
                  </m:oMath>
                </a14:m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의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값이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1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이면</a:t>
                </a:r>
                <a:endParaRPr lang="en-US" altLang="ko-KR" sz="16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−1&lt;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≤1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=0.68</m:t>
                    </m:r>
                  </m:oMath>
                </a14:m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인 산술식을 이해하고 설명하라  </a:t>
                </a:r>
                <a:endParaRPr lang="en-US" altLang="ko-KR" sz="16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DB02AE6-46A6-5020-40D1-1E60870D98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968" y="990607"/>
                <a:ext cx="6258515" cy="949042"/>
              </a:xfrm>
              <a:prstGeom prst="rect">
                <a:avLst/>
              </a:prstGeom>
              <a:blipFill>
                <a:blip r:embed="rId6"/>
                <a:stretch>
                  <a:fillRect l="-389" b="-64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22C4836A-363B-11F9-5002-2DA2D7F3C95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7597CAF6-839B-7F4C-3067-42DA45AD904F}"/>
              </a:ext>
            </a:extLst>
          </p:cNvPr>
          <p:cNvSpPr/>
          <p:nvPr/>
        </p:nvSpPr>
        <p:spPr>
          <a:xfrm>
            <a:off x="7102524" y="2276872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59B15FF4-9AE2-8A1A-3F82-DF0E73243719}"/>
              </a:ext>
            </a:extLst>
          </p:cNvPr>
          <p:cNvSpPr/>
          <p:nvPr/>
        </p:nvSpPr>
        <p:spPr>
          <a:xfrm>
            <a:off x="7102524" y="3933056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7EA42150-85FC-C96F-AAC1-8B2E16B5C0BF}"/>
              </a:ext>
            </a:extLst>
          </p:cNvPr>
          <p:cNvSpPr/>
          <p:nvPr/>
        </p:nvSpPr>
        <p:spPr>
          <a:xfrm>
            <a:off x="7102524" y="5589240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3763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0BB66-69EF-A0B0-CBB9-B8822DC6C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B03CD8A-A2C1-2814-4DDD-57270813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sp>
        <p:nvSpPr>
          <p:cNvPr id="2" name="AutoShape 2" descr="namu 정규분포 그래프">
            <a:extLst>
              <a:ext uri="{FF2B5EF4-FFF2-40B4-BE49-F238E27FC236}">
                <a16:creationId xmlns:a16="http://schemas.microsoft.com/office/drawing/2014/main" id="{E2BBECC8-1644-5C11-38E1-11E3B852644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070824B-4E91-6CD9-FE15-635BDB484E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679" y="484060"/>
            <a:ext cx="5327146" cy="63739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F1D2276-B0DE-1FEA-9BAD-667D0986E51C}"/>
              </a:ext>
            </a:extLst>
          </p:cNvPr>
          <p:cNvSpPr txBox="1"/>
          <p:nvPr/>
        </p:nvSpPr>
        <p:spPr>
          <a:xfrm>
            <a:off x="6477252" y="17749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b="1" dirty="0" err="1"/>
              <a:t>standard</a:t>
            </a:r>
            <a:r>
              <a:rPr lang="ko-KR" altLang="en-US" b="1" dirty="0"/>
              <a:t> </a:t>
            </a:r>
            <a:r>
              <a:rPr lang="ko-KR" altLang="en-US" b="1" dirty="0" err="1"/>
              <a:t>normal</a:t>
            </a:r>
            <a:r>
              <a:rPr lang="ko-KR" altLang="en-US" b="1" dirty="0"/>
              <a:t> </a:t>
            </a:r>
            <a:r>
              <a:rPr lang="ko-KR" altLang="en-US" b="1" dirty="0" err="1"/>
              <a:t>distribution</a:t>
            </a:r>
            <a:r>
              <a:rPr lang="ko-KR" altLang="en-US" b="1" dirty="0"/>
              <a:t> </a:t>
            </a:r>
            <a:r>
              <a:rPr lang="ko-KR" altLang="en-US" b="1" dirty="0" err="1"/>
              <a:t>table</a:t>
            </a:r>
            <a:endParaRPr lang="ko-KR" altLang="en-US" b="1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048B7CC-F5C2-AD32-7DDC-440B77951C50}"/>
              </a:ext>
            </a:extLst>
          </p:cNvPr>
          <p:cNvSpPr/>
          <p:nvPr/>
        </p:nvSpPr>
        <p:spPr>
          <a:xfrm>
            <a:off x="10126860" y="3720770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6601C4D-4150-EB00-AE52-61411ACE9B72}"/>
                  </a:ext>
                </a:extLst>
              </p:cNvPr>
              <p:cNvSpPr txBox="1"/>
              <p:nvPr/>
            </p:nvSpPr>
            <p:spPr>
              <a:xfrm>
                <a:off x="9142707" y="4185441"/>
                <a:ext cx="2592288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≤1.96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=0.975</m:t>
                      </m:r>
                    </m:oMath>
                  </m:oMathPara>
                </a14:m>
                <a:endParaRPr lang="en-US" altLang="ko-KR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1.96</m:t>
                          </m:r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02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6601C4D-4150-EB00-AE52-61411ACE9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2707" y="4185441"/>
                <a:ext cx="2592288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505E99C9-D22D-2547-249E-3016BA342003}"/>
              </a:ext>
            </a:extLst>
          </p:cNvPr>
          <p:cNvCxnSpPr/>
          <p:nvPr/>
        </p:nvCxnSpPr>
        <p:spPr>
          <a:xfrm flipH="1">
            <a:off x="7246540" y="3933056"/>
            <a:ext cx="2736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FB12B65B-0ACE-52B9-B78C-5AFCDFF01D22}"/>
              </a:ext>
            </a:extLst>
          </p:cNvPr>
          <p:cNvCxnSpPr>
            <a:cxnSpLocks/>
          </p:cNvCxnSpPr>
          <p:nvPr/>
        </p:nvCxnSpPr>
        <p:spPr>
          <a:xfrm flipV="1">
            <a:off x="10367271" y="692696"/>
            <a:ext cx="39237" cy="2926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E2FD785-6796-661F-D46F-BCC1B453FD18}"/>
                  </a:ext>
                </a:extLst>
              </p:cNvPr>
              <p:cNvSpPr txBox="1"/>
              <p:nvPr/>
            </p:nvSpPr>
            <p:spPr>
              <a:xfrm>
                <a:off x="493922" y="1553588"/>
                <a:ext cx="5796645" cy="424668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−1.96&lt;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≤1.96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=0.95</m:t>
                    </m:r>
                  </m:oMath>
                </a14:m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인 산술식을 이해하고 설명하라  </a:t>
                </a:r>
                <a:endParaRPr lang="en-US" altLang="ko-KR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E2FD785-6796-661F-D46F-BCC1B453FD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922" y="1553588"/>
                <a:ext cx="5796645" cy="424668"/>
              </a:xfrm>
              <a:prstGeom prst="rect">
                <a:avLst/>
              </a:prstGeom>
              <a:blipFill>
                <a:blip r:embed="rId5"/>
                <a:stretch>
                  <a:fillRect l="-421" b="-1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2AAB855E-575E-D648-5CC0-2E0387CC21B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16B003E2-1A6B-4E35-2F3B-5C9315D77702}"/>
              </a:ext>
            </a:extLst>
          </p:cNvPr>
          <p:cNvSpPr/>
          <p:nvPr/>
        </p:nvSpPr>
        <p:spPr>
          <a:xfrm>
            <a:off x="7102524" y="2276872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3658AF1-E681-8C43-D20D-C398BB55CAEA}"/>
              </a:ext>
            </a:extLst>
          </p:cNvPr>
          <p:cNvSpPr/>
          <p:nvPr/>
        </p:nvSpPr>
        <p:spPr>
          <a:xfrm>
            <a:off x="7102524" y="3933056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8D58422C-3A6E-F979-ED32-E899B09E0636}"/>
              </a:ext>
            </a:extLst>
          </p:cNvPr>
          <p:cNvSpPr/>
          <p:nvPr/>
        </p:nvSpPr>
        <p:spPr>
          <a:xfrm>
            <a:off x="7102524" y="5589240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218" name="Picture 2" descr="N(0,1) 95% cutoff values">
            <a:extLst>
              <a:ext uri="{FF2B5EF4-FFF2-40B4-BE49-F238E27FC236}">
                <a16:creationId xmlns:a16="http://schemas.microsoft.com/office/drawing/2014/main" id="{06CE734A-97FB-EA9D-812F-1548FAB0A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968" y="2555025"/>
            <a:ext cx="5796644" cy="3312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2556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268760"/>
            <a:ext cx="6048672" cy="426123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초나라 양춘백설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陽春白雪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주변의 실제 상황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조회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예를 들어라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내용을 파이썬 코드로 모의실험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(simulation)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하여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1️⃣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 조회수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시뮬레이션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2️⃣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부의 불평등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80/20)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 실험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distribution)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3️⃣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네트워크 성장 모델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Barabási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–Albert)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머신러닝의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불균형 데이터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(Imbalanced data)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인한 학습의 어려움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04C8A289-FF78-8BE3-9F6C-09D9D649AF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1713" y="1268760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4421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5094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832125"/>
            <a:ext cx="8856984" cy="510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F7E9-1FE7-2EBC-35C8-B2B2C621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7C678DC-E0FA-3ABC-B06D-0B4F099AF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2" y="2843639"/>
            <a:ext cx="12083779" cy="3512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8F40D37-F604-11F7-60C6-6208E65A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821057-03B1-184F-DD09-1DD99A12995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D5899-55B7-98D1-1DCB-BAF688C29F1D}"/>
              </a:ext>
            </a:extLst>
          </p:cNvPr>
          <p:cNvSpPr txBox="1"/>
          <p:nvPr/>
        </p:nvSpPr>
        <p:spPr>
          <a:xfrm>
            <a:off x="10486900" y="3296617"/>
            <a:ext cx="1512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Outliers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 튀어나옴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AA4235-19EA-715C-7139-7101D316FA54}"/>
              </a:ext>
            </a:extLst>
          </p:cNvPr>
          <p:cNvSpPr txBox="1"/>
          <p:nvPr/>
        </p:nvSpPr>
        <p:spPr>
          <a:xfrm>
            <a:off x="2449692" y="2442374"/>
            <a:ext cx="75774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모집단의 분포는 제 각각이지만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평균은 같은 언어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따른다”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C735DF-E00B-8759-15BA-EA8CC9109A32}"/>
              </a:ext>
            </a:extLst>
          </p:cNvPr>
          <p:cNvSpPr txBox="1"/>
          <p:nvPr/>
        </p:nvSpPr>
        <p:spPr>
          <a:xfrm>
            <a:off x="693812" y="3714057"/>
            <a:ext cx="2016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Uniform → </a:t>
            </a:r>
            <a:r>
              <a:rPr lang="ko-KR" altLang="en-US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평평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49BE78-8871-9D8E-A657-65BCF1973E2D}"/>
              </a:ext>
            </a:extLst>
          </p:cNvPr>
          <p:cNvSpPr txBox="1"/>
          <p:nvPr/>
        </p:nvSpPr>
        <p:spPr>
          <a:xfrm>
            <a:off x="3646140" y="3274699"/>
            <a:ext cx="25922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Skewed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한쪽으로 치우침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C7E706-DAE6-5266-8D86-3CF44CCF8B23}"/>
              </a:ext>
            </a:extLst>
          </p:cNvPr>
          <p:cNvSpPr txBox="1"/>
          <p:nvPr/>
        </p:nvSpPr>
        <p:spPr>
          <a:xfrm>
            <a:off x="7102524" y="3460581"/>
            <a:ext cx="2136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Heavy Tail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 꼬리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04DD40-BF9D-37F2-2E9B-FBAA331C9BD3}"/>
              </a:ext>
            </a:extLst>
          </p:cNvPr>
          <p:cNvSpPr txBox="1"/>
          <p:nvPr/>
        </p:nvSpPr>
        <p:spPr>
          <a:xfrm>
            <a:off x="483969" y="990607"/>
            <a:ext cx="11508916" cy="11644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왜 서로 다른 분포인데 결과는 같아지는가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이상치가 있어도 평균은 왜 안정적인가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딥러닝과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무슨 관계인가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A/B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데스트와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무슨 관계인가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경우를 바탕으로 다양한 예를 들어 중심극한정리를 적용하여 시각화하고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머신러닝과의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접목점도 시각화 하고 설명하는 보고서를 제출하라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211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A21B-0B46-FCE1-79D8-2485820A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9AAFB6A-2F92-0D94-43A3-5F5C7806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E5AA0-92F8-F123-B4E8-D4FA1D20838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A77B24-B972-3430-22FD-5B037A7CFCE0}"/>
              </a:ext>
            </a:extLst>
          </p:cNvPr>
          <p:cNvSpPr txBox="1"/>
          <p:nvPr/>
        </p:nvSpPr>
        <p:spPr>
          <a:xfrm>
            <a:off x="333772" y="1772816"/>
            <a:ext cx="5112569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Problem 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현실 데이터는 왜 어려운가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분포를 모른다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(uniform,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exponential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(abnormality, outliers)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존재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 아님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(skewed, heavy tail)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질문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“이런 데이터로 어떻게 분석과 학습을 할까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81EE9F-6901-C6DC-5EB0-FF4F18BEB070}"/>
              </a:ext>
            </a:extLst>
          </p:cNvPr>
          <p:cNvSpPr txBox="1"/>
          <p:nvPr/>
        </p:nvSpPr>
        <p:spPr>
          <a:xfrm>
            <a:off x="6382444" y="1772816"/>
            <a:ext cx="5090965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평균이 문제를 해결한다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개별 데이터 → 불규칙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→ 안정적 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핵심 메시지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“평균을 보면 질서가 보인다”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4065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746B46-6FD0-13D0-FF25-E75F16257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7794CA-12A4-DEAA-75BE-6CB405CE5401}"/>
              </a:ext>
            </a:extLst>
          </p:cNvPr>
          <p:cNvSpPr/>
          <p:nvPr/>
        </p:nvSpPr>
        <p:spPr>
          <a:xfrm>
            <a:off x="189756" y="338469"/>
            <a:ext cx="43380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표본의 모든 값은 확률변수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0BC407D-91E4-2891-A0B3-2A3233E7FA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561" y="2492895"/>
            <a:ext cx="10057417" cy="4026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F05895F-567B-D608-321D-5DAF5B5B6D20}"/>
              </a:ext>
            </a:extLst>
          </p:cNvPr>
          <p:cNvSpPr txBox="1"/>
          <p:nvPr/>
        </p:nvSpPr>
        <p:spPr>
          <a:xfrm>
            <a:off x="333772" y="1235759"/>
            <a:ext cx="11017224" cy="7951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("diamonds")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총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53,940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50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개씩 표본을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비복원추출하여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각 표본의 평균을 구하고 표본평균의 산술식의 의미를 생각하고 확률변수의 의미를 토론하라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64B235-9241-66EE-D823-F543DF70D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4624" y="2204864"/>
            <a:ext cx="3806372" cy="18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757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1515892"/>
            <a:ext cx="8568952" cy="4448777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333772" y="548680"/>
            <a:ext cx="11089232" cy="8759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주사위를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1,000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번을 던진 후 전체 주사위 합의 분포를 주사위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10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25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50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개로 </a:t>
            </a:r>
            <a:r>
              <a:rPr lang="ko-KR" altLang="en-US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시뮬레이션하라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42908E4-FB61-3909-CC29-E472642A4E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7838" y="5949280"/>
            <a:ext cx="8725045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이 분포에서 표본을 여러 번 뽑아 더하거나 평균을 내면, 표본의 개수(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n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)가 늘어남에 따라(2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dice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, 3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dice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, ..., 50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dice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 원래의 균등분포와는 전혀 다른 정규분포(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Normal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Distribution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)의 모양이 나타</a:t>
            </a:r>
            <a:r>
              <a:rPr kumimoji="0" lang="ko-K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남</a:t>
            </a: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36285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544522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3DF403-EEB4-C91B-32EE-23EFD899536D}"/>
              </a:ext>
            </a:extLst>
          </p:cNvPr>
          <p:cNvSpPr txBox="1">
            <a:spLocks/>
          </p:cNvSpPr>
          <p:nvPr/>
        </p:nvSpPr>
        <p:spPr>
          <a:xfrm>
            <a:off x="2159350" y="2540901"/>
            <a:ext cx="4861565" cy="5748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68580" tIns="34290" rIns="68580" bIns="3429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</a:t>
            </a:r>
            <a:r>
              <a:rPr lang="en-US" altLang="ko-KR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    ?     )</a:t>
            </a:r>
            <a:endParaRPr lang="ko-KR" altLang="en-US" sz="21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C74DF30-B848-CCCB-2DB9-DD0CA5B281F0}"/>
              </a:ext>
            </a:extLst>
          </p:cNvPr>
          <p:cNvGrpSpPr/>
          <p:nvPr/>
        </p:nvGrpSpPr>
        <p:grpSpPr>
          <a:xfrm>
            <a:off x="3317348" y="2164000"/>
            <a:ext cx="4861565" cy="2288032"/>
            <a:chOff x="2849632" y="1003319"/>
            <a:chExt cx="6482087" cy="3050709"/>
          </a:xfrm>
        </p:grpSpPr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C626DF26-B724-97BC-A10D-E431B47870AF}"/>
                </a:ext>
              </a:extLst>
            </p:cNvPr>
            <p:cNvSpPr txBox="1">
              <a:spLocks/>
            </p:cNvSpPr>
            <p:nvPr/>
          </p:nvSpPr>
          <p:spPr>
            <a:xfrm>
              <a:off x="2849632" y="2427345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0E1A835-2913-35D9-5D81-DBC9A0297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6815" y="1003319"/>
              <a:ext cx="2245415" cy="3050709"/>
            </a:xfrm>
            <a:prstGeom prst="rect">
              <a:avLst/>
            </a:prstGeom>
          </p:spPr>
        </p:pic>
      </p:grpSp>
      <p:sp>
        <p:nvSpPr>
          <p:cNvPr id="12" name="화살표: 위로 구부러짐 11">
            <a:extLst>
              <a:ext uri="{FF2B5EF4-FFF2-40B4-BE49-F238E27FC236}">
                <a16:creationId xmlns:a16="http://schemas.microsoft.com/office/drawing/2014/main" id="{9F817D84-17B2-D951-EB88-B0662D0F17C3}"/>
              </a:ext>
            </a:extLst>
          </p:cNvPr>
          <p:cNvSpPr/>
          <p:nvPr/>
        </p:nvSpPr>
        <p:spPr>
          <a:xfrm>
            <a:off x="2559345" y="3068811"/>
            <a:ext cx="758003" cy="300253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74A294-C947-F052-218E-F469143481B8}"/>
              </a:ext>
            </a:extLst>
          </p:cNvPr>
          <p:cNvGrpSpPr/>
          <p:nvPr/>
        </p:nvGrpSpPr>
        <p:grpSpPr>
          <a:xfrm>
            <a:off x="3319460" y="3751877"/>
            <a:ext cx="4861565" cy="1389875"/>
            <a:chOff x="2863098" y="3031378"/>
            <a:chExt cx="6482087" cy="1853167"/>
          </a:xfrm>
        </p:grpSpPr>
        <p:sp>
          <p:nvSpPr>
            <p:cNvPr id="14" name="제목 1">
              <a:extLst>
                <a:ext uri="{FF2B5EF4-FFF2-40B4-BE49-F238E27FC236}">
                  <a16:creationId xmlns:a16="http://schemas.microsoft.com/office/drawing/2014/main" id="{0D8D4BD9-11FB-7468-47D3-DFF0B2105F20}"/>
                </a:ext>
              </a:extLst>
            </p:cNvPr>
            <p:cNvSpPr txBox="1">
              <a:spLocks/>
            </p:cNvSpPr>
            <p:nvPr/>
          </p:nvSpPr>
          <p:spPr>
            <a:xfrm>
              <a:off x="2863098" y="3386409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커피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83A527B-1B23-7081-228C-351D5B790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2000" y="3031378"/>
              <a:ext cx="1906530" cy="1853167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B8FEAC-2DAC-73AA-796B-494D17313748}"/>
              </a:ext>
            </a:extLst>
          </p:cNvPr>
          <p:cNvGrpSpPr/>
          <p:nvPr/>
        </p:nvGrpSpPr>
        <p:grpSpPr>
          <a:xfrm>
            <a:off x="3309358" y="4735839"/>
            <a:ext cx="5873234" cy="1573481"/>
            <a:chOff x="2849630" y="4343328"/>
            <a:chExt cx="7830978" cy="2097974"/>
          </a:xfrm>
        </p:grpSpPr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C9808973-FFA6-DF6A-0193-D1B8A5EC9FB0}"/>
                </a:ext>
              </a:extLst>
            </p:cNvPr>
            <p:cNvSpPr txBox="1">
              <a:spLocks/>
            </p:cNvSpPr>
            <p:nvPr/>
          </p:nvSpPr>
          <p:spPr>
            <a:xfrm>
              <a:off x="2849630" y="4343328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2ED243F-70AE-496C-682F-A2C3A7B75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5265" y="4454168"/>
              <a:ext cx="3885343" cy="19871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F4F6B-F1E1-1CD6-2C34-31932F74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2E3B062-4F28-E4A2-1F59-68A245BFA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42E4621-F3BF-0DAE-7299-4F20CA6BA4AD}"/>
              </a:ext>
            </a:extLst>
          </p:cNvPr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519FC72-1027-1503-BEC9-C916F75BB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6021" y="1628800"/>
            <a:ext cx="8846887" cy="37693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007C2B-BA24-599C-99F0-96BD269B9A30}"/>
              </a:ext>
            </a:extLst>
          </p:cNvPr>
          <p:cNvSpPr txBox="1"/>
          <p:nvPr/>
        </p:nvSpPr>
        <p:spPr>
          <a:xfrm>
            <a:off x="1821512" y="5589240"/>
            <a:ext cx="51276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https://huggingface.co/learn/nlp-course/chapter1/4?fw=pt</a:t>
            </a:r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12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257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13BA925-346A-92DA-54AD-5E1487C17764}"/>
              </a:ext>
            </a:extLst>
          </p:cNvPr>
          <p:cNvGrpSpPr/>
          <p:nvPr/>
        </p:nvGrpSpPr>
        <p:grpSpPr>
          <a:xfrm>
            <a:off x="4027821" y="2348883"/>
            <a:ext cx="3218720" cy="3810977"/>
            <a:chOff x="5190488" y="1060752"/>
            <a:chExt cx="3148402" cy="3159825"/>
          </a:xfrm>
        </p:grpSpPr>
        <p:sp>
          <p:nvSpPr>
            <p:cNvPr id="2" name="AutoShape 2" descr="숲 한가운데에 있는 형형색색의 나무들판">
              <a:extLst>
                <a:ext uri="{FF2B5EF4-FFF2-40B4-BE49-F238E27FC236}">
                  <a16:creationId xmlns:a16="http://schemas.microsoft.com/office/drawing/2014/main" id="{92ADEB6C-595F-D022-1FA7-A6F276B90DD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5942013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418EE12F-0606-75E2-2B43-F3AFCA455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90488" y="3077522"/>
              <a:ext cx="3148402" cy="1143055"/>
            </a:xfrm>
            <a:prstGeom prst="rect">
              <a:avLst/>
            </a:prstGeom>
          </p:spPr>
        </p:pic>
        <p:pic>
          <p:nvPicPr>
            <p:cNvPr id="1032" name="Picture 8" descr="베이즈 정리(Bayes' Theorem)의 정의와 의미">
              <a:extLst>
                <a:ext uri="{FF2B5EF4-FFF2-40B4-BE49-F238E27FC236}">
                  <a16:creationId xmlns:a16="http://schemas.microsoft.com/office/drawing/2014/main" id="{B067FD7D-5954-1B2D-36F6-A25C17C1F9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0488" y="1060752"/>
              <a:ext cx="3148402" cy="20167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09C1E87A-9767-8287-7253-CF05F7BA0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892" y="2348883"/>
            <a:ext cx="2736304" cy="38109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84390B-04B7-B557-EA80-3E403DB78D61}"/>
              </a:ext>
            </a:extLst>
          </p:cNvPr>
          <p:cNvSpPr txBox="1"/>
          <p:nvPr/>
        </p:nvSpPr>
        <p:spPr>
          <a:xfrm>
            <a:off x="1053852" y="938799"/>
            <a:ext cx="10301549" cy="9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"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사실이 바뀌면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나는 생각을 바꿉니다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당신은 어떻게 하십니까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?"</a:t>
            </a:r>
            <a:endParaRPr lang="ko-KR" altLang="en-US" sz="2000" dirty="0">
              <a:latin typeface="Cambria" panose="02040503050406030204" pitchFamily="18" charset="0"/>
              <a:ea typeface="LG Smart UI Light" panose="020B0300000101010101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“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When the facts change, I change my mind. What do you do, sir?”   - Keynes, Economist</a:t>
            </a:r>
            <a:endParaRPr lang="en-US" altLang="ko-KR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6763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5A24-82DF-449D-2B2D-95454CE2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28C64F-9D89-54F0-37FA-27D8C00B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630866-87BA-AFD5-382F-50D5BE9390CE}"/>
              </a:ext>
            </a:extLst>
          </p:cNvPr>
          <p:cNvSpPr txBox="1"/>
          <p:nvPr/>
        </p:nvSpPr>
        <p:spPr>
          <a:xfrm>
            <a:off x="621804" y="980728"/>
            <a:ext cx="10957580" cy="11428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던지기를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+mj-ea"/>
                <a:ea typeface="+mj-ea"/>
                <a:cs typeface="맑은 고딕 Semilight" panose="020B0502040204020203" pitchFamily="50" charset="-127"/>
              </a:rPr>
              <a:t>모의실험하여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직접 실제 동전의 확률과 시행 횟수를 조절하면서 </a:t>
            </a:r>
            <a:r>
              <a:rPr lang="ko-KR" altLang="en-US" sz="1600" b="1" dirty="0">
                <a:latin typeface="+mj-ea"/>
                <a:ea typeface="+mj-ea"/>
              </a:rPr>
              <a:t>나의 믿음이 변하는</a:t>
            </a:r>
            <a:r>
              <a:rPr lang="ko-KR" altLang="en-US" sz="1600" dirty="0">
                <a:latin typeface="+mj-ea"/>
                <a:ea typeface="+mj-ea"/>
              </a:rPr>
              <a:t> 과정을 실시간으로 관찰할 수 있도록 </a:t>
            </a:r>
            <a:r>
              <a:rPr lang="en-US" altLang="ko-KR" sz="1600" dirty="0" err="1">
                <a:latin typeface="+mj-ea"/>
                <a:ea typeface="+mj-ea"/>
              </a:rPr>
              <a:t>gradio</a:t>
            </a:r>
            <a:r>
              <a:rPr lang="ko-KR" altLang="en-US" sz="1600" dirty="0">
                <a:latin typeface="+mj-ea"/>
                <a:ea typeface="+mj-ea"/>
              </a:rPr>
              <a:t> </a:t>
            </a:r>
            <a:r>
              <a:rPr lang="en-US" altLang="ko-KR" sz="1600" dirty="0">
                <a:latin typeface="+mj-ea"/>
                <a:ea typeface="+mj-ea"/>
              </a:rPr>
              <a:t>UI</a:t>
            </a:r>
            <a:r>
              <a:rPr lang="ko-KR" altLang="en-US" sz="1600" dirty="0">
                <a:latin typeface="+mj-ea"/>
                <a:ea typeface="+mj-ea"/>
              </a:rPr>
              <a:t>로 만들어 시뮬레이션하고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이러한 실험을 바탕으로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한강에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가장 큰 물고기의 크기는 몇 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cm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라고 답해야 할까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CC62203-0371-F9F6-8F12-C596F99957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2553534"/>
            <a:ext cx="8064896" cy="387902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4B4593E-7CFB-04F9-BFB4-4925595F004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64470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0008-E652-FD55-A1CF-7261BC14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845F44B-D853-EA00-45FD-0D2DE87EA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4E74C1-BB80-2DC1-32A9-30194E495362}"/>
              </a:ext>
            </a:extLst>
          </p:cNvPr>
          <p:cNvSpPr txBox="1"/>
          <p:nvPr/>
        </p:nvSpPr>
        <p:spPr>
          <a:xfrm>
            <a:off x="765820" y="1196752"/>
            <a:ext cx="11233248" cy="48212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+mj-ea"/>
                <a:ea typeface="+mj-ea"/>
              </a:rPr>
              <a:t>지구의 나이가 </a:t>
            </a:r>
            <a:r>
              <a:rPr lang="en-US" altLang="ko-KR" sz="2000" dirty="0">
                <a:latin typeface="+mj-ea"/>
                <a:ea typeface="+mj-ea"/>
              </a:rPr>
              <a:t>45</a:t>
            </a:r>
            <a:r>
              <a:rPr lang="ko-KR" altLang="en-US" sz="2000" dirty="0">
                <a:latin typeface="+mj-ea"/>
                <a:ea typeface="+mj-ea"/>
              </a:rPr>
              <a:t>억 </a:t>
            </a:r>
            <a:r>
              <a:rPr lang="en-US" altLang="ko-KR" sz="2000" dirty="0">
                <a:latin typeface="+mj-ea"/>
                <a:ea typeface="+mj-ea"/>
              </a:rPr>
              <a:t>4</a:t>
            </a:r>
            <a:r>
              <a:rPr lang="ko-KR" altLang="en-US" sz="2000" dirty="0">
                <a:latin typeface="+mj-ea"/>
                <a:ea typeface="+mj-ea"/>
              </a:rPr>
              <a:t>천만년이라면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내일 해가 뜰 확률은</a:t>
            </a:r>
            <a:r>
              <a:rPr lang="en-US" altLang="ko-KR" sz="2000" dirty="0">
                <a:latin typeface="+mj-ea"/>
                <a:ea typeface="+mj-ea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D3492-9475-65D6-5F62-64413CD930A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170792-96F2-75E9-8112-7A784CED4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860" y="2210192"/>
            <a:ext cx="5655120" cy="3641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C548AE-6F75-4DDA-684C-2BC854639F3E}"/>
              </a:ext>
            </a:extLst>
          </p:cNvPr>
          <p:cNvSpPr txBox="1"/>
          <p:nvPr/>
        </p:nvSpPr>
        <p:spPr>
          <a:xfrm>
            <a:off x="7174532" y="2210193"/>
            <a:ext cx="3240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Sunrise_problem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161207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881D7-008B-5BB7-2B99-3CE16B6B2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9934BEB-B65A-0C3E-6F5F-A71AC467F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2065660-C3F0-0188-AF88-3B6D94519984}"/>
              </a:ext>
            </a:extLst>
          </p:cNvPr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조건부 확률</a:t>
            </a:r>
            <a:r>
              <a:rPr lang="en-US" altLang="ko-KR" sz="2000" dirty="0">
                <a:solidFill>
                  <a:srgbClr val="202124"/>
                </a:solidFill>
                <a:latin typeface="Arial" panose="020B0604020202020204" pitchFamily="34" charset="0"/>
              </a:rPr>
              <a:t>(Conditional probability)</a:t>
            </a: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이란 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어떤 사건이 일어났다는 전제하에 다른 사건이 일어날 확률</a:t>
            </a:r>
            <a:endParaRPr lang="ko-KR" altLang="en-US" sz="20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DB8B31E-DF4F-669C-CE91-BD80234C0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844824"/>
            <a:ext cx="5613632" cy="424847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BF3F7C1-F005-CAA5-0FEB-A2D1D5E77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0716" y="1844824"/>
            <a:ext cx="2319519" cy="134087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C5B41141-90BA-EFEF-7DEC-3B8612D04043}"/>
              </a:ext>
            </a:extLst>
          </p:cNvPr>
          <p:cNvSpPr/>
          <p:nvPr/>
        </p:nvSpPr>
        <p:spPr>
          <a:xfrm>
            <a:off x="8797075" y="3284984"/>
            <a:ext cx="160813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독립인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경우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endParaRPr lang="ko-KR" altLang="en-US" sz="2000" dirty="0">
              <a:solidFill>
                <a:srgbClr val="040C2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4349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8151-C46B-CD5E-E821-A0F68F3A7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6760EB-0648-59D8-3629-825719199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/>
              <p:nvPr/>
            </p:nvSpPr>
            <p:spPr>
              <a:xfrm>
                <a:off x="5969877" y="1772816"/>
                <a:ext cx="5832648" cy="40023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중앙 육각형 격자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(Joint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변수가 동시에 나타나는 빈도이며 색이 진할수록 해당 데이터 포인트가 많이 몰려 있다는 뜻이며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결합 확률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,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높은 지점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/</a:t>
                </a: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막대그래프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(Marginal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변수 하나의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주변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와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  <m:r>
                      <a:rPr lang="ko-KR" altLang="en-US" sz="16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를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나타냅니다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 막대는 부리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막대는 날개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877" y="1772816"/>
                <a:ext cx="5832648" cy="4002314"/>
              </a:xfrm>
              <a:prstGeom prst="rect">
                <a:avLst/>
              </a:prstGeom>
              <a:blipFill>
                <a:blip r:embed="rId3"/>
                <a:stretch>
                  <a:fillRect l="-41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4D1BEF79-7545-09AC-1482-F1F72B45D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A2A39A-1188-3272-3076-8B01A836614A}"/>
              </a:ext>
            </a:extLst>
          </p:cNvPr>
          <p:cNvSpPr txBox="1"/>
          <p:nvPr/>
        </p:nvSpPr>
        <p:spPr>
          <a:xfrm>
            <a:off x="532365" y="1465039"/>
            <a:ext cx="29145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hexbin_with</a:t>
            </a:r>
            <a:r>
              <a:rPr lang="en-US" altLang="ko-KR" sz="1400" dirty="0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marginal distribution.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/>
              <p:nvPr/>
            </p:nvSpPr>
            <p:spPr>
              <a:xfrm>
                <a:off x="2782044" y="5229200"/>
                <a:ext cx="14596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,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044" y="5229200"/>
                <a:ext cx="1459641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/>
              <p:nvPr/>
            </p:nvSpPr>
            <p:spPr>
              <a:xfrm>
                <a:off x="4510236" y="2564904"/>
                <a:ext cx="14596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0236" y="2564904"/>
                <a:ext cx="1459641" cy="369332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/>
              <p:nvPr/>
            </p:nvSpPr>
            <p:spPr>
              <a:xfrm>
                <a:off x="532365" y="1895927"/>
                <a:ext cx="14596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365" y="1895927"/>
                <a:ext cx="1459641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DCA833E-B55B-A6F6-4B65-00A54D9DAF3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1/2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619074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5F1E-F796-5B86-BB6D-1DE3E96B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6DD476-E7B1-A9F8-818B-592447BC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2A59E69-1EBF-6473-FA56-31829809BB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931" y="2060848"/>
            <a:ext cx="10110835" cy="4136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0AC3C7-4124-E1BC-E58C-1975BFACDB0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2/2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4832A0-F0BF-374A-D564-5BA5865EAE85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경우에서 날개의 길이에 대한 조건부확률을 시각화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724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23411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경찰이 살인 사건 현장에서 희귀한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격자무늬 지문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발견했는데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 지문은 전체 인구의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0.1%/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만이 가지고 있음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경찰은 유력한 용의자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'A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씨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체포했고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검사 결과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씨 또한 이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격자무늬 지문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가지고 있음이 밝혀졌다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 사람이 범인일 확률은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9E7DC3-F439-12EB-B4E1-5C079270B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434" y="4149080"/>
            <a:ext cx="7460482" cy="1296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317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765820" y="1196752"/>
            <a:ext cx="11233248" cy="280281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사전지식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도시의 택시 중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85%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녹색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15%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청색입니다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밤에 뺑소니 사고가 났고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목격자가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청색 택시였다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증언했는데 목격자의 판별 정확도는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80%</a:t>
            </a:r>
          </a:p>
          <a:p>
            <a:pPr>
              <a:lnSpc>
                <a:spcPct val="150000"/>
              </a:lnSpc>
            </a:pP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질문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실제로 사고를 낸 택시가 청색일 확률은 얼마일까요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648982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4D8A3-0388-8113-D2CF-A0414DBC5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02F37FC-577D-E28A-0EF4-69CA6EF24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334FB6-54F8-A43B-EAFC-A8A9D54A3F02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Monty Hall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A6D30-646E-36BC-7791-0F150C5DE16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 descr="몬티홀 문제(Monty Hall problem)에 관하여 - 1편">
            <a:extLst>
              <a:ext uri="{FF2B5EF4-FFF2-40B4-BE49-F238E27FC236}">
                <a16:creationId xmlns:a16="http://schemas.microsoft.com/office/drawing/2014/main" id="{F51B7BC3-7A32-B8E7-FC5B-201CD206BD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4092" y="2544670"/>
            <a:ext cx="4765428" cy="3007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1438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1233248" cy="92916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는데도 귀환할 확률은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(Missing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from survivor ship)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식당에서 식중독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19" y="2481834"/>
            <a:ext cx="4494805" cy="423964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4452" y="2477246"/>
            <a:ext cx="4735865" cy="1742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1354</TotalTime>
  <Words>2327</Words>
  <Application>Microsoft Office PowerPoint</Application>
  <PresentationFormat>사용자 지정</PresentationFormat>
  <Paragraphs>411</Paragraphs>
  <Slides>56</Slides>
  <Notes>53</Notes>
  <HiddenSlides>0</HiddenSlides>
  <MMClips>0</MMClips>
  <ScaleCrop>false</ScaleCrop>
  <HeadingPairs>
    <vt:vector size="6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56</vt:i4>
      </vt:variant>
    </vt:vector>
  </HeadingPairs>
  <TitlesOfParts>
    <vt:vector size="71" baseType="lpstr">
      <vt:lpstr>맑은 고딕</vt:lpstr>
      <vt:lpstr>맑은 고딕 Semilight</vt:lpstr>
      <vt:lpstr>한컴 말랑말랑 Bold</vt:lpstr>
      <vt:lpstr>휴먼모음T</vt:lpstr>
      <vt:lpstr>Arial</vt:lpstr>
      <vt:lpstr>Arial Narrow</vt:lpstr>
      <vt:lpstr>Britannic Bold</vt:lpstr>
      <vt:lpstr>Cambria</vt:lpstr>
      <vt:lpstr>Cambria Math</vt:lpstr>
      <vt:lpstr>Corbel</vt:lpstr>
      <vt:lpstr>PT Sans</vt:lpstr>
      <vt:lpstr>Roboto</vt:lpstr>
      <vt:lpstr>Times New Roman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72</cp:revision>
  <dcterms:created xsi:type="dcterms:W3CDTF">2024-06-03T06:10:16Z</dcterms:created>
  <dcterms:modified xsi:type="dcterms:W3CDTF">2026-03-26T11:25:48Z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