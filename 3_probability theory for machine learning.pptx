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4"/>
  </p:notesMasterIdLst>
  <p:handoutMasterIdLst>
    <p:handoutMasterId r:id="rId65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271" r:id="rId14"/>
    <p:sldId id="273" r:id="rId15"/>
    <p:sldId id="362" r:id="rId16"/>
    <p:sldId id="272" r:id="rId17"/>
    <p:sldId id="276" r:id="rId18"/>
    <p:sldId id="306" r:id="rId19"/>
    <p:sldId id="307" r:id="rId20"/>
    <p:sldId id="303" r:id="rId21"/>
    <p:sldId id="309" r:id="rId22"/>
    <p:sldId id="310" r:id="rId23"/>
    <p:sldId id="311" r:id="rId24"/>
    <p:sldId id="312" r:id="rId25"/>
    <p:sldId id="316" r:id="rId26"/>
    <p:sldId id="308" r:id="rId27"/>
    <p:sldId id="299" r:id="rId28"/>
    <p:sldId id="363" r:id="rId29"/>
    <p:sldId id="277" r:id="rId30"/>
    <p:sldId id="364" r:id="rId31"/>
    <p:sldId id="275" r:id="rId32"/>
    <p:sldId id="279" r:id="rId33"/>
    <p:sldId id="278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8" r:id="rId42"/>
    <p:sldId id="305" r:id="rId43"/>
    <p:sldId id="304" r:id="rId44"/>
    <p:sldId id="287" r:id="rId45"/>
    <p:sldId id="289" r:id="rId46"/>
    <p:sldId id="290" r:id="rId47"/>
    <p:sldId id="291" r:id="rId48"/>
    <p:sldId id="376" r:id="rId49"/>
    <p:sldId id="374" r:id="rId50"/>
    <p:sldId id="375" r:id="rId51"/>
    <p:sldId id="292" r:id="rId52"/>
    <p:sldId id="377" r:id="rId53"/>
    <p:sldId id="365" r:id="rId54"/>
    <p:sldId id="293" r:id="rId55"/>
    <p:sldId id="373" r:id="rId56"/>
    <p:sldId id="372" r:id="rId57"/>
    <p:sldId id="300" r:id="rId58"/>
    <p:sldId id="368" r:id="rId59"/>
    <p:sldId id="367" r:id="rId60"/>
    <p:sldId id="317" r:id="rId61"/>
    <p:sldId id="301" r:id="rId62"/>
    <p:sldId id="378" r:id="rId63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29F0-A6E4-9F5C-5AE3-D348BAD0D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A5B226-E91B-313B-131C-57E413D69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6DFE73-6C55-E174-70A5-DBFB90DAB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0BF11-3E6B-84B2-1EED-5D580851B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657885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90768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E4FC8-DF45-68DE-E07C-905279D12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343B87-5DA0-7977-540C-B51C62739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605AAF-2704-E04C-5E2A-F989E8517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8E6FE-91CA-C690-5404-0CC1B7EBD2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5267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or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낮으면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4A1AA-AFAC-5B94-F8D9-A6749A05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C95ABE-C68C-407A-F518-6CC590BDC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588E66B-26D9-16A6-0DDF-04DD1A248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21" y="2348880"/>
            <a:ext cx="11206981" cy="368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58833F-8884-6B6A-15A2-EA9110DD53B5}"/>
              </a:ext>
            </a:extLst>
          </p:cNvPr>
          <p:cNvSpPr txBox="1"/>
          <p:nvPr/>
        </p:nvSpPr>
        <p:spPr>
          <a:xfrm>
            <a:off x="483969" y="990607"/>
            <a:ext cx="11508916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표본의 크기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(Batch size)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커질수록 학습이 안정될까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0098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서로 다른 분포인데 결과는 같아지는가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이상치가 있어도 평균은 왜 안정적인가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딥러닝과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데스트와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접목점도 시각화 하고 설명하는 보고서를 제출하라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515892"/>
            <a:ext cx="8568952" cy="444877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548680"/>
            <a:ext cx="11089232" cy="875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주사위를 </a:t>
            </a:r>
            <a:r>
              <a:rPr lang="en-US" altLang="ko-KR" b="1" dirty="0"/>
              <a:t>1,000</a:t>
            </a:r>
            <a:r>
              <a:rPr lang="ko-KR" altLang="en-US" b="1" dirty="0"/>
              <a:t>번을 던진 후 전체 주사위 합의 분포를 주사위 </a:t>
            </a:r>
            <a:r>
              <a:rPr lang="en-US" altLang="ko-KR" b="1" dirty="0"/>
              <a:t>1</a:t>
            </a:r>
            <a:r>
              <a:rPr lang="ko-KR" altLang="en-US" b="1" dirty="0"/>
              <a:t>개</a:t>
            </a:r>
            <a:r>
              <a:rPr lang="en-US" altLang="ko-KR" b="1" dirty="0"/>
              <a:t>, 2</a:t>
            </a:r>
            <a:r>
              <a:rPr lang="ko-KR" altLang="en-US" b="1" dirty="0"/>
              <a:t>개</a:t>
            </a:r>
            <a:r>
              <a:rPr lang="en-US" altLang="ko-KR" b="1" dirty="0"/>
              <a:t>, 3</a:t>
            </a:r>
            <a:r>
              <a:rPr lang="ko-KR" altLang="en-US" b="1" dirty="0"/>
              <a:t>개</a:t>
            </a:r>
            <a:r>
              <a:rPr lang="en-US" altLang="ko-KR" b="1" dirty="0"/>
              <a:t>, 10</a:t>
            </a:r>
            <a:r>
              <a:rPr lang="ko-KR" altLang="en-US" b="1" dirty="0"/>
              <a:t>개</a:t>
            </a:r>
            <a:r>
              <a:rPr lang="en-US" altLang="ko-KR" b="1" dirty="0"/>
              <a:t>, 25</a:t>
            </a:r>
            <a:r>
              <a:rPr lang="ko-KR" altLang="en-US" b="1" dirty="0"/>
              <a:t>개</a:t>
            </a:r>
            <a:r>
              <a:rPr lang="en-US" altLang="ko-KR" b="1" dirty="0"/>
              <a:t>, 50</a:t>
            </a:r>
            <a:r>
              <a:rPr lang="ko-KR" altLang="en-US" b="1" dirty="0"/>
              <a:t>개로 </a:t>
            </a:r>
            <a:r>
              <a:rPr lang="ko-KR" altLang="en-US" b="1" dirty="0" err="1"/>
              <a:t>시뮬레이션하라</a:t>
            </a:r>
            <a:endParaRPr lang="ko-KR" alt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2908E4-FB61-3909-CC29-E472642A4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838" y="6227058"/>
            <a:ext cx="872504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 분포에서 표본을 여러 번 뽑아 더하거나 평균을 내면, 표본의 개수(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)가 늘어남에 따라(2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3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..., 50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 원래의 균등분포와는 전혀 다른 정규분포(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Normal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Distribution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)의 모양이 나타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남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61205" y="2528860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2895377"/>
            <a:ext cx="3394663" cy="2972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동전던지기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실험으로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파이썬으로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시각화하는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코드를 제시하라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동전을 한꺼번에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수행하고 그 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(H:1, T:-1)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차감하는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실험과 동일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0476" y="2867414"/>
            <a:ext cx="4477488" cy="3027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7512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37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6D6D-FE7D-D1E6-6174-4578705A6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DAF3-C1C3-864E-A7BD-B00D0D209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0BC462CA-A817-CE20-4192-21E595BF0B5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495372-37BA-D0E6-CAB2-0D0CE5002089}"/>
              </a:ext>
            </a:extLst>
          </p:cNvPr>
          <p:cNvSpPr txBox="1"/>
          <p:nvPr/>
        </p:nvSpPr>
        <p:spPr>
          <a:xfrm>
            <a:off x="539248" y="817140"/>
            <a:ext cx="11233248" cy="19809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+mj-ea"/>
                <a:ea typeface="+mj-ea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10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명의 남녀 데이터를 참고하여 성별을 분류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+mj-ea"/>
              <a:ea typeface="+mj-ea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등의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feature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가 없다면 남녀 분류의 사전확률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(Prior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은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남성과 여성인 경우의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의 확률분포는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조건부 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(Conditional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이다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그렇다면 이러한 데이터를 관측하게 되면 남녀 분류의 사후확률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(Posterior probability)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을 구할 수 있게 된다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height(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６인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각각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6, 130, 8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654037-EF5F-6676-2845-DFE41CC609D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77BD4E4-D7A5-39FE-94C9-979CCE55C965}"/>
              </a:ext>
            </a:extLst>
          </p:cNvPr>
          <p:cNvGrpSpPr/>
          <p:nvPr/>
        </p:nvGrpSpPr>
        <p:grpSpPr>
          <a:xfrm>
            <a:off x="1053852" y="2959184"/>
            <a:ext cx="4320480" cy="3762292"/>
            <a:chOff x="1341884" y="2717025"/>
            <a:chExt cx="4703341" cy="4015112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A17A6C8-B135-8113-EE80-9F2B4DFBDDF6}"/>
                </a:ext>
              </a:extLst>
            </p:cNvPr>
            <p:cNvGrpSpPr/>
            <p:nvPr/>
          </p:nvGrpSpPr>
          <p:grpSpPr>
            <a:xfrm>
              <a:off x="1341884" y="2717025"/>
              <a:ext cx="4703341" cy="4015112"/>
              <a:chOff x="526975" y="2706363"/>
              <a:chExt cx="5495430" cy="4078675"/>
            </a:xfrm>
          </p:grpSpPr>
          <p:pic>
            <p:nvPicPr>
              <p:cNvPr id="22" name="Picture 4">
                <a:extLst>
                  <a:ext uri="{FF2B5EF4-FFF2-40B4-BE49-F238E27FC236}">
                    <a16:creationId xmlns:a16="http://schemas.microsoft.com/office/drawing/2014/main" id="{1AE2F6F5-FB5A-28B2-B7A7-93D12D6FF14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5416891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6">
                <a:extLst>
                  <a:ext uri="{FF2B5EF4-FFF2-40B4-BE49-F238E27FC236}">
                    <a16:creationId xmlns:a16="http://schemas.microsoft.com/office/drawing/2014/main" id="{9A113EA8-C2DF-E174-4482-C0C5EDD43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2706363"/>
                <a:ext cx="5495430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4" name="Picture 8">
                <a:extLst>
                  <a:ext uri="{FF2B5EF4-FFF2-40B4-BE49-F238E27FC236}">
                    <a16:creationId xmlns:a16="http://schemas.microsoft.com/office/drawing/2014/main" id="{C59FAC5E-D27B-D756-EDA2-328D311C37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4074510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순서도: 추출 13">
              <a:extLst>
                <a:ext uri="{FF2B5EF4-FFF2-40B4-BE49-F238E27FC236}">
                  <a16:creationId xmlns:a16="http://schemas.microsoft.com/office/drawing/2014/main" id="{94C1BE0B-CB82-8942-CF80-1F034704CFB6}"/>
                </a:ext>
              </a:extLst>
            </p:cNvPr>
            <p:cNvSpPr/>
            <p:nvPr/>
          </p:nvSpPr>
          <p:spPr>
            <a:xfrm>
              <a:off x="3529285" y="3614502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순서도: 추출 14">
              <a:extLst>
                <a:ext uri="{FF2B5EF4-FFF2-40B4-BE49-F238E27FC236}">
                  <a16:creationId xmlns:a16="http://schemas.microsoft.com/office/drawing/2014/main" id="{4BED69E3-5F45-38A1-E8E0-A35A7FBC62D5}"/>
                </a:ext>
              </a:extLst>
            </p:cNvPr>
            <p:cNvSpPr/>
            <p:nvPr/>
          </p:nvSpPr>
          <p:spPr>
            <a:xfrm>
              <a:off x="4294212" y="501317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순서도: 추출 15">
              <a:extLst>
                <a:ext uri="{FF2B5EF4-FFF2-40B4-BE49-F238E27FC236}">
                  <a16:creationId xmlns:a16="http://schemas.microsoft.com/office/drawing/2014/main" id="{2E20C516-282D-0365-5E24-FA0F495AB4F4}"/>
                </a:ext>
              </a:extLst>
            </p:cNvPr>
            <p:cNvSpPr/>
            <p:nvPr/>
          </p:nvSpPr>
          <p:spPr>
            <a:xfrm>
              <a:off x="3862164" y="625253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F64CCA-BA9F-9CE6-8D96-97143F06F3B5}"/>
              </a:ext>
            </a:extLst>
          </p:cNvPr>
          <p:cNvSpPr txBox="1"/>
          <p:nvPr/>
        </p:nvSpPr>
        <p:spPr>
          <a:xfrm>
            <a:off x="7379655" y="3939278"/>
            <a:ext cx="3539293" cy="886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사람의 성별 예측 값과 그 확률은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B3F1669-C37A-CFE4-9971-B8B87999A802}"/>
              </a:ext>
            </a:extLst>
          </p:cNvPr>
          <p:cNvCxnSpPr/>
          <p:nvPr/>
        </p:nvCxnSpPr>
        <p:spPr>
          <a:xfrm>
            <a:off x="5806380" y="4437112"/>
            <a:ext cx="14401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8363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1060</TotalTime>
  <Words>2255</Words>
  <Application>Microsoft Office PowerPoint</Application>
  <PresentationFormat>사용자 지정</PresentationFormat>
  <Paragraphs>401</Paragraphs>
  <Slides>59</Slides>
  <Notes>56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72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66</cp:revision>
  <dcterms:created xsi:type="dcterms:W3CDTF">2024-06-03T06:10:16Z</dcterms:created>
  <dcterms:modified xsi:type="dcterms:W3CDTF">2026-03-25T06:42:44Z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