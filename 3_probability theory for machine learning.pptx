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9"/>
  </p:notesMasterIdLst>
  <p:handoutMasterIdLst>
    <p:handoutMasterId r:id="rId70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1" r:id="rId11"/>
    <p:sldId id="380" r:id="rId12"/>
    <p:sldId id="379" r:id="rId13"/>
    <p:sldId id="362" r:id="rId14"/>
    <p:sldId id="272" r:id="rId15"/>
    <p:sldId id="410" r:id="rId16"/>
    <p:sldId id="403" r:id="rId17"/>
    <p:sldId id="387" r:id="rId18"/>
    <p:sldId id="276" r:id="rId19"/>
    <p:sldId id="307" r:id="rId20"/>
    <p:sldId id="308" r:id="rId21"/>
    <p:sldId id="340" r:id="rId22"/>
    <p:sldId id="363" r:id="rId23"/>
    <p:sldId id="277" r:id="rId24"/>
    <p:sldId id="278" r:id="rId25"/>
    <p:sldId id="364" r:id="rId26"/>
    <p:sldId id="279" r:id="rId27"/>
    <p:sldId id="409" r:id="rId28"/>
    <p:sldId id="280" r:id="rId29"/>
    <p:sldId id="412" r:id="rId30"/>
    <p:sldId id="284" r:id="rId31"/>
    <p:sldId id="377" r:id="rId32"/>
    <p:sldId id="382" r:id="rId33"/>
    <p:sldId id="395" r:id="rId34"/>
    <p:sldId id="283" r:id="rId35"/>
    <p:sldId id="383" r:id="rId36"/>
    <p:sldId id="288" r:id="rId37"/>
    <p:sldId id="289" r:id="rId38"/>
    <p:sldId id="413" r:id="rId39"/>
    <p:sldId id="286" r:id="rId40"/>
    <p:sldId id="287" r:id="rId41"/>
    <p:sldId id="291" r:id="rId42"/>
    <p:sldId id="375" r:id="rId43"/>
    <p:sldId id="374" r:id="rId44"/>
    <p:sldId id="365" r:id="rId45"/>
    <p:sldId id="293" r:id="rId46"/>
    <p:sldId id="324" r:id="rId47"/>
    <p:sldId id="338" r:id="rId48"/>
    <p:sldId id="406" r:id="rId49"/>
    <p:sldId id="330" r:id="rId50"/>
    <p:sldId id="407" r:id="rId51"/>
    <p:sldId id="389" r:id="rId52"/>
    <p:sldId id="401" r:id="rId53"/>
    <p:sldId id="367" r:id="rId54"/>
    <p:sldId id="402" r:id="rId55"/>
    <p:sldId id="405" r:id="rId56"/>
    <p:sldId id="397" r:id="rId57"/>
    <p:sldId id="399" r:id="rId58"/>
    <p:sldId id="301" r:id="rId59"/>
    <p:sldId id="404" r:id="rId60"/>
    <p:sldId id="388" r:id="rId61"/>
    <p:sldId id="398" r:id="rId62"/>
    <p:sldId id="390" r:id="rId63"/>
    <p:sldId id="391" r:id="rId64"/>
    <p:sldId id="400" r:id="rId65"/>
    <p:sldId id="305" r:id="rId66"/>
    <p:sldId id="394" r:id="rId67"/>
    <p:sldId id="304" r:id="rId68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64" d="100"/>
          <a:sy n="64" d="100"/>
        </p:scale>
        <p:origin x="3192" y="8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handoutMaster" Target="handoutMasters/handoutMaster1.xml"/><Relationship Id="rId75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2026-04-02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2026-04-02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4EDFD-50D0-FFC6-C7E6-6FB083521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BF405D-3F61-F72E-6EDA-8C06298DD4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F94725-6A25-1BC9-3F11-F8B07A06E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0AF7F-0422-2343-63D2-017A7AB7AE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62442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9D94-84CA-A7EF-195A-B720F2DF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89F605-83F1-96C0-E8A4-43D23F188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64E87F-6520-2A21-1C3A-FAEF58570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2C412-BE22-D3CF-3E28-0C725DC41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875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85730-3895-6A12-65CE-B1FD3295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6B37E9-4517-3A88-A2DE-21D4A3AC6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4ABD13-9438-A116-8745-7E8A9C93DC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5B4F2-A58A-9141-A89B-42BB54EB2E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87285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F428-71C5-38F9-C9C6-1867E7C8D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2F6592-97B6-7310-E9A4-B125BA68F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610512-C0DC-EFA8-DC74-7A81A17BC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C9174-DBDA-CEB5-6B2E-4FF0320A8B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86799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31985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8A203-9D89-5772-98E4-4931AF4D8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D35614-5A1F-964F-7548-A4833C508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12FC77-B01D-7C2A-6E5B-AC52770CE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C93FDB-67AF-B321-D5DD-20B9F50809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716343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2E2F2-3E59-A6ED-89F7-474F531FD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96518D-B7F9-22BE-B506-6685530C9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3734E8-139E-46C5-E787-096289EA3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879914-E3BB-D6BD-030C-90FE70F8AA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74541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EF4CE-A706-128C-507B-39B0F161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6170D2-5FC3-158A-6770-97BAC38A2D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429410-0503-5FB7-27EF-06FA66090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23591C-27CA-652E-ADE4-C07E18DFB9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672570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134A2-01A0-60F0-1ACE-F8FCB03CA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4B6B2D-08FA-53E5-41F4-EABF226FA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3693F2-B540-BB63-EC81-A71DF0842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4E956-4F78-9147-CE7B-2A6F133A83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727443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905779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8B73F-CC8A-57AE-A258-29D083B1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B8A4C-77FC-5715-5B9C-487379281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8368C0-8FB8-4E21-5CB8-7DDD7D2F2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D7BF6-CA60-8C78-2200-7F0A85ABF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355545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DA98C-AC6D-D045-3360-E5101100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B7DF42-103B-0A8E-1A5F-F34F28092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99A903-E5AD-2A02-4125-D59886AFF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EA7200-9482-F7B8-C538-EDAB68449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082726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488503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D46F-2A9E-75F5-A7EB-33B6DE9E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F9475-55EB-87E3-62AD-5EF464216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17FCEA-C875-5FDA-15D4-F0F44593C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2429F9-012C-795F-8AC7-4F9F7F18E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341856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13AD9-91B4-70C7-2656-14A5085A7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312053-789B-ABD5-54C9-101E4409CE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2D146F-CDEC-79AA-63DC-DBF423D83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BF8AB7-B950-496B-C190-B189149670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024195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872569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1943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535996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769716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D940-D9C7-60C4-EB5F-52831DD9A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6873B-009E-2D63-0475-FB90D74BB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2523D3-D7F8-1DA9-56E2-01BBB04E8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F54688-4066-BC66-8D8F-EE29C6555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20014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35232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7385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2026-04-02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2026-04-02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hyperlink" Target="https://www.youtube.com/watch?v=DfQH3o6dKss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19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neighbors/plot_kde_1d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hyperlink" Target="https://en.wikipedia.org/wiki/Bernoulli_distribution" TargetMode="Externa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7.png"/><Relationship Id="rId7" Type="http://schemas.microsoft.com/office/2007/relationships/hdphoto" Target="../media/hdphoto4.wdp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microsoft.com/office/2007/relationships/hdphoto" Target="../media/hdphoto3.wdp"/><Relationship Id="rId4" Type="http://schemas.openxmlformats.org/officeDocument/2006/relationships/image" Target="../media/image38.png"/><Relationship Id="rId9" Type="http://schemas.openxmlformats.org/officeDocument/2006/relationships/image" Target="../media/image4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5.wdp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9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microsoft.com/office/2007/relationships/hdphoto" Target="../media/hdphoto5.wdp"/><Relationship Id="rId4" Type="http://schemas.openxmlformats.org/officeDocument/2006/relationships/image" Target="../media/image5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7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jpe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530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0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74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74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660.png"/><Relationship Id="rId10" Type="http://schemas.openxmlformats.org/officeDocument/2006/relationships/image" Target="../media/image650.png"/><Relationship Id="rId4" Type="http://schemas.openxmlformats.org/officeDocument/2006/relationships/image" Target="../media/image630.png"/><Relationship Id="rId9" Type="http://schemas.openxmlformats.org/officeDocument/2006/relationships/image" Target="../media/image7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jpe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e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hyperlink" Target="https://en.wikipedia.org/wiki/Survivorship_bias" TargetMode="External"/><Relationship Id="rId7" Type="http://schemas.openxmlformats.org/officeDocument/2006/relationships/image" Target="../media/image70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jpe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70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GEFxFVESQXc" TargetMode="External"/><Relationship Id="rId4" Type="http://schemas.openxmlformats.org/officeDocument/2006/relationships/image" Target="../media/image100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jpeg"/><Relationship Id="rId4" Type="http://schemas.openxmlformats.org/officeDocument/2006/relationships/hyperlink" Target="https://seaborn.pydata.org/examples/layered_bivariate_plot.html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jpe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17ED819C-A92D-0523-A715-6D68E5DE878F}"/>
              </a:ext>
            </a:extLst>
          </p:cNvPr>
          <p:cNvGrpSpPr/>
          <p:nvPr/>
        </p:nvGrpSpPr>
        <p:grpSpPr>
          <a:xfrm>
            <a:off x="5106256" y="2887857"/>
            <a:ext cx="3004380" cy="3639325"/>
            <a:chOff x="3456989" y="836712"/>
            <a:chExt cx="4766522" cy="5877272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3F600781-8FD3-14FC-2693-76DE51BA184A}"/>
                </a:ext>
              </a:extLst>
            </p:cNvPr>
            <p:cNvGrpSpPr/>
            <p:nvPr/>
          </p:nvGrpSpPr>
          <p:grpSpPr>
            <a:xfrm>
              <a:off x="3461256" y="836712"/>
              <a:ext cx="4762255" cy="2951030"/>
              <a:chOff x="2368021" y="2035369"/>
              <a:chExt cx="4568717" cy="2243003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17B717E9-D47E-9023-371C-CD5D080106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2209340"/>
                <a:ext cx="2243002" cy="1895062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460927E5-5AAA-401A-AB29-B6758919B7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68021" y="2035369"/>
                <a:ext cx="2683596" cy="2241355"/>
              </a:xfrm>
              <a:prstGeom prst="rect">
                <a:avLst/>
              </a:prstGeom>
            </p:spPr>
          </p:pic>
        </p:grp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5367E98E-E69C-3E84-DA2A-EA6F257D172E}"/>
                </a:ext>
              </a:extLst>
            </p:cNvPr>
            <p:cNvGrpSpPr/>
            <p:nvPr/>
          </p:nvGrpSpPr>
          <p:grpSpPr>
            <a:xfrm>
              <a:off x="3456989" y="3694559"/>
              <a:ext cx="4763086" cy="3019425"/>
              <a:chOff x="2374321" y="4472205"/>
              <a:chExt cx="4562417" cy="2244651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B133F645-1E07-FE01-EAC0-5247662C3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74321" y="4472205"/>
                <a:ext cx="2721554" cy="2244509"/>
              </a:xfrm>
              <a:prstGeom prst="rect">
                <a:avLst/>
              </a:prstGeom>
            </p:spPr>
          </p:pic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AD976E4D-787C-E660-AE7C-0FC94D6D48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4647824"/>
                <a:ext cx="2243002" cy="189506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477788" y="1844824"/>
            <a:ext cx="10081120" cy="343203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2171074" y="1200842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+mj-ea"/>
                <a:ea typeface="+mj-ea"/>
              </a:rPr>
              <a:t>동시확률을 이해하기 위한 문제</a:t>
            </a:r>
            <a:endParaRPr lang="ko-KR" altLang="en-US" b="1" dirty="0"/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980" y="404664"/>
            <a:ext cx="707668" cy="707668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F655AF7-7D7C-7E65-E8E7-2DE0BF41E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/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Pascal(1623~1662)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경우의 수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tree</a:t>
                </a: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𝐵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½*½*½</a:t>
                </a:r>
                <a:endParaRPr lang="en-US" altLang="ko-KR" sz="1600" dirty="0">
                  <a:solidFill>
                    <a:srgbClr val="FF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𝐴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0070C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 + ½*½ + ½*½*½</a:t>
                </a:r>
                <a:r>
                  <a:rPr lang="en-US" altLang="ko-KR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</a:p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Ferma(1607~1665)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모든 경우의 수 나열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AAA,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AAB, ABA, ABB, BAA, BAB, BBA, BBB 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blipFill>
                <a:blip r:embed="rId3"/>
                <a:stretch>
                  <a:fillRect l="-770" b="-1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13" y="1132709"/>
            <a:ext cx="5907564" cy="51189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13028" y="1155103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429650" y="708505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F3D3E35-B97F-56A2-6930-A65C324260E6}"/>
              </a:ext>
            </a:extLst>
          </p:cNvPr>
          <p:cNvSpPr/>
          <p:nvPr/>
        </p:nvSpPr>
        <p:spPr>
          <a:xfrm rot="14528965">
            <a:off x="8197200" y="3075052"/>
            <a:ext cx="3920306" cy="7207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4F89812-095B-AA85-7CF8-594CCAD0AE00}"/>
              </a:ext>
            </a:extLst>
          </p:cNvPr>
          <p:cNvSpPr/>
          <p:nvPr/>
        </p:nvSpPr>
        <p:spPr>
          <a:xfrm rot="18566868">
            <a:off x="7317838" y="248184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BF7B28A-3998-42E5-40AA-50004FF5C8FD}"/>
              </a:ext>
            </a:extLst>
          </p:cNvPr>
          <p:cNvSpPr/>
          <p:nvPr/>
        </p:nvSpPr>
        <p:spPr>
          <a:xfrm rot="18566868">
            <a:off x="8089773" y="3836767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1C7E9D2-043A-C058-4DB4-3204ED484D69}"/>
              </a:ext>
            </a:extLst>
          </p:cNvPr>
          <p:cNvSpPr/>
          <p:nvPr/>
        </p:nvSpPr>
        <p:spPr>
          <a:xfrm rot="18566868">
            <a:off x="8770172" y="519062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FBDFD-A513-423F-E73F-8EF59F705A9D}"/>
              </a:ext>
            </a:extLst>
          </p:cNvPr>
          <p:cNvSpPr txBox="1"/>
          <p:nvPr/>
        </p:nvSpPr>
        <p:spPr>
          <a:xfrm>
            <a:off x="8298240" y="3273535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44FB1-AA3E-BF3A-E256-9C78DE82EEC4}"/>
              </a:ext>
            </a:extLst>
          </p:cNvPr>
          <p:cNvSpPr txBox="1"/>
          <p:nvPr/>
        </p:nvSpPr>
        <p:spPr>
          <a:xfrm>
            <a:off x="8923020" y="4608583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1C743-729D-10B5-C1B7-C561E7CDCBBE}"/>
              </a:ext>
            </a:extLst>
          </p:cNvPr>
          <p:cNvSpPr txBox="1"/>
          <p:nvPr/>
        </p:nvSpPr>
        <p:spPr>
          <a:xfrm>
            <a:off x="10270877" y="2636912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399BCC-0879-EA81-CD7B-866DA81127C1}"/>
              </a:ext>
            </a:extLst>
          </p:cNvPr>
          <p:cNvSpPr txBox="1"/>
          <p:nvPr/>
        </p:nvSpPr>
        <p:spPr>
          <a:xfrm>
            <a:off x="10736122" y="3563724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F9420A-87FA-2B3D-6FAC-4A3B7FFDC0E5}"/>
              </a:ext>
            </a:extLst>
          </p:cNvPr>
          <p:cNvSpPr txBox="1"/>
          <p:nvPr/>
        </p:nvSpPr>
        <p:spPr>
          <a:xfrm>
            <a:off x="11096162" y="4571836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1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확률실험</a:t>
                </a:r>
                <a:r>
                  <a:rPr lang="en-US" altLang="ko-KR" sz="2000" dirty="0">
                    <a:latin typeface="+mj-ea"/>
                    <a:ea typeface="+mj-ea"/>
                  </a:rPr>
                  <a:t>(Random Experiments)</a:t>
                </a:r>
                <a:r>
                  <a:rPr lang="ko-KR" altLang="en-US" sz="2000" dirty="0">
                    <a:latin typeface="+mj-ea"/>
                    <a:ea typeface="+mj-ea"/>
                  </a:rPr>
                  <a:t>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발생가능한 결과가 정해져 있는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000" dirty="0">
                    <a:latin typeface="+mj-ea"/>
                    <a:ea typeface="+mj-ea"/>
                  </a:rPr>
                  <a:t>(Sample Space) : </a:t>
                </a:r>
                <a:r>
                  <a:rPr lang="ko-KR" altLang="en-US" sz="2000" dirty="0">
                    <a:latin typeface="+mj-ea"/>
                    <a:ea typeface="+mj-ea"/>
                  </a:rPr>
                  <a:t>실험에서 발생하는 모든 경우의 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확률변수 정의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확률실험의 결과</a:t>
                </a:r>
                <a:r>
                  <a:rPr lang="en-US" altLang="ko-KR" sz="2000" dirty="0">
                    <a:latin typeface="+mj-ea"/>
                    <a:ea typeface="+mj-ea"/>
                  </a:rPr>
                  <a:t>(Event)</a:t>
                </a:r>
                <a:r>
                  <a:rPr lang="ko-KR" altLang="en-US" sz="2000" dirty="0">
                    <a:latin typeface="+mj-ea"/>
                    <a:ea typeface="+mj-ea"/>
                  </a:rPr>
                  <a:t>들을 실수로 변환해주는 함수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사건 → 숫자 값으로 매핑하는 함수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blipFill>
                <a:blip r:embed="rId3"/>
                <a:stretch>
                  <a:fillRect l="-596" b="-11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47546817-2FA8-9C89-8C56-9362F7FBF6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5273" y="2007697"/>
            <a:ext cx="6120680" cy="45013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2D3BE7-4C25-C85D-3506-419B0757094F}"/>
              </a:ext>
            </a:extLst>
          </p:cNvPr>
          <p:cNvSpPr txBox="1"/>
          <p:nvPr/>
        </p:nvSpPr>
        <p:spPr>
          <a:xfrm>
            <a:off x="693812" y="1052736"/>
            <a:ext cx="11089232" cy="141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500"/>
              </a:spcAft>
              <a:buNone/>
            </a:pPr>
            <a:r>
              <a:rPr lang="en-US" altLang="ko-KR" sz="2000" b="0" i="0" dirty="0">
                <a:solidFill>
                  <a:srgbClr val="20212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variable is a function from all possible outcomes to numerical quantities and it is used for defining probability functions.</a:t>
            </a:r>
            <a:b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400" dirty="0"/>
                  <a:t>   </a:t>
                </a:r>
                <a:endParaRPr lang="ko-KR" altLang="en-US" sz="4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608F7D0-B773-D11F-1994-D0C93D3D8818}"/>
              </a:ext>
            </a:extLst>
          </p:cNvPr>
          <p:cNvSpPr txBox="1"/>
          <p:nvPr/>
        </p:nvSpPr>
        <p:spPr>
          <a:xfrm>
            <a:off x="463614" y="1383666"/>
            <a:ext cx="9303206" cy="49449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500"/>
              </a:spcAft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포커와 로열 스트레이트 플러시 중에서 어느 것의 발생확률이 더 높은가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2E37D284-95E6-99C2-9F6F-D7E1D3297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9F4675-C598-E22C-0ADD-968BDBF9E3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48" y="2254450"/>
            <a:ext cx="2107146" cy="160659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994939-B9DA-EE07-6F21-48DD3B489C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4871" y="4357795"/>
            <a:ext cx="2057687" cy="17909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1AF42AA-30B7-7FCA-DE7B-4D819B567A40}"/>
              </a:ext>
            </a:extLst>
          </p:cNvPr>
          <p:cNvSpPr txBox="1"/>
          <p:nvPr/>
        </p:nvSpPr>
        <p:spPr>
          <a:xfrm>
            <a:off x="9425694" y="2480201"/>
            <a:ext cx="23573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(Four of a Kind - Aces)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D0D5AC-E76B-0B6F-4CD4-628F6CA2A116}"/>
              </a:ext>
            </a:extLst>
          </p:cNvPr>
          <p:cNvSpPr txBox="1"/>
          <p:nvPr/>
        </p:nvSpPr>
        <p:spPr>
          <a:xfrm>
            <a:off x="9437628" y="4360678"/>
            <a:ext cx="23983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로열 스트레이트 플러시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(Royal Straight Flush)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9FFA72-CDE0-1042-0553-40E2E4C25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B6AEA99-33A7-D646-75E2-8F12BBB0419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5645" r="-369399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5645" r="-309697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5645" r="-18627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5645" r="-10151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5645" r="-1515" b="-1298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8365" r="-369399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8365" r="-309697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8365" r="-18627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8365" r="-10151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8365" r="-1515" b="-12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484784"/>
            <a:ext cx="10926588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동전 던지기 실험에서 나온 앞면과 뒷면이 나온 순서의 쌍을 확률변수로 설정하고 확률을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확률변수의 확률이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¼(0.25)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아닌 이유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 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E365E-DCFF-96F3-298F-F5F247338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6324E70-6F84-6311-F6B2-1040987F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4A4A8F3-1193-4C29-9A0D-EA47EA38719C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0F7F8C68-98B9-D150-4485-D71247D99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945" y="2040962"/>
            <a:ext cx="10278028" cy="3836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019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504A3-11C6-A4B6-FEB7-9B521201F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A3193A-5C37-1295-0D77-79B1BC12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A5E54ED-270C-EBD6-7186-358A63F3796F}"/>
              </a:ext>
            </a:extLst>
          </p:cNvPr>
          <p:cNvSpPr/>
          <p:nvPr/>
        </p:nvSpPr>
        <p:spPr>
          <a:xfrm>
            <a:off x="765820" y="281951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Wave Particle Duality Explained</a:t>
            </a:r>
            <a:endParaRPr lang="en-US" altLang="ko-KR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3A2659-57A1-160B-7F71-392DA19F874D}"/>
              </a:ext>
            </a:extLst>
          </p:cNvPr>
          <p:cNvSpPr txBox="1"/>
          <p:nvPr/>
        </p:nvSpPr>
        <p:spPr>
          <a:xfrm>
            <a:off x="3718148" y="892402"/>
            <a:ext cx="36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Double Slit Experiment(</a:t>
            </a:r>
            <a:r>
              <a:rPr lang="ko-KR" altLang="en-US" sz="140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양자역학</a:t>
            </a:r>
            <a:r>
              <a:rPr lang="en-US" altLang="ko-KR" sz="140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85B315E-BBB3-6FA1-CBB0-3A782525DDC8}"/>
              </a:ext>
            </a:extLst>
          </p:cNvPr>
          <p:cNvGrpSpPr/>
          <p:nvPr/>
        </p:nvGrpSpPr>
        <p:grpSpPr>
          <a:xfrm>
            <a:off x="3786494" y="1239628"/>
            <a:ext cx="4258988" cy="5251467"/>
            <a:chOff x="3456989" y="836712"/>
            <a:chExt cx="4766522" cy="5877272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343D174-FA76-A565-AE83-817FFA5171E8}"/>
                </a:ext>
              </a:extLst>
            </p:cNvPr>
            <p:cNvGrpSpPr/>
            <p:nvPr/>
          </p:nvGrpSpPr>
          <p:grpSpPr>
            <a:xfrm>
              <a:off x="3461256" y="836712"/>
              <a:ext cx="4762255" cy="2951030"/>
              <a:chOff x="2368021" y="2035369"/>
              <a:chExt cx="4568717" cy="2243003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8C012A9E-82CB-2131-A251-48868C8EF4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2209340"/>
                <a:ext cx="2243002" cy="1895062"/>
              </a:xfrm>
              <a:prstGeom prst="rect">
                <a:avLst/>
              </a:prstGeom>
            </p:spPr>
          </p:pic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E00FED4F-7CA4-E1E2-4EE5-8A370BABCE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68021" y="2035369"/>
                <a:ext cx="2683596" cy="2241355"/>
              </a:xfrm>
              <a:prstGeom prst="rect">
                <a:avLst/>
              </a:prstGeom>
            </p:spPr>
          </p:pic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BBCB4992-A854-50D2-0597-925AFA91D501}"/>
                </a:ext>
              </a:extLst>
            </p:cNvPr>
            <p:cNvGrpSpPr/>
            <p:nvPr/>
          </p:nvGrpSpPr>
          <p:grpSpPr>
            <a:xfrm>
              <a:off x="3456989" y="3694559"/>
              <a:ext cx="4763086" cy="3019425"/>
              <a:chOff x="2374321" y="4472205"/>
              <a:chExt cx="4562417" cy="2244651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85251753-1FC5-E322-6D64-8C0D9885B7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74321" y="4472205"/>
                <a:ext cx="2721554" cy="2244509"/>
              </a:xfrm>
              <a:prstGeom prst="rect">
                <a:avLst/>
              </a:prstGeom>
            </p:spPr>
          </p:pic>
          <p:pic>
            <p:nvPicPr>
              <p:cNvPr id="14" name="그림 13">
                <a:extLst>
                  <a:ext uri="{FF2B5EF4-FFF2-40B4-BE49-F238E27FC236}">
                    <a16:creationId xmlns:a16="http://schemas.microsoft.com/office/drawing/2014/main" id="{1A9BBBF0-7385-7534-391D-655A4EB6B2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4867706" y="4647824"/>
                <a:ext cx="2243002" cy="1895062"/>
              </a:xfrm>
              <a:prstGeom prst="rect">
                <a:avLst/>
              </a:prstGeom>
            </p:spPr>
          </p:pic>
        </p:grp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A36015E5-2211-C3C8-0AC6-9F0E846C9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964369" y="2773371"/>
            <a:ext cx="3965901" cy="20396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A3D0142-B2BB-A8FB-44D8-614DF08C3313}"/>
              </a:ext>
            </a:extLst>
          </p:cNvPr>
          <p:cNvSpPr txBox="1"/>
          <p:nvPr/>
        </p:nvSpPr>
        <p:spPr>
          <a:xfrm>
            <a:off x="829757" y="2372397"/>
            <a:ext cx="1127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Laser</a:t>
            </a:r>
          </a:p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(Wave)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17A8BE-7028-9BD7-1E05-B77A85CFA83B}"/>
              </a:ext>
            </a:extLst>
          </p:cNvPr>
          <p:cNvSpPr txBox="1"/>
          <p:nvPr/>
        </p:nvSpPr>
        <p:spPr>
          <a:xfrm>
            <a:off x="795225" y="4036830"/>
            <a:ext cx="18878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Electron gun</a:t>
            </a:r>
          </a:p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(Particle)</a:t>
            </a:r>
            <a:endParaRPr lang="en-US" altLang="ko-KR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098" name="Picture 2" descr="schoolphysics ::Welcome::">
            <a:extLst>
              <a:ext uri="{FF2B5EF4-FFF2-40B4-BE49-F238E27FC236}">
                <a16:creationId xmlns:a16="http://schemas.microsoft.com/office/drawing/2014/main" id="{970AF06D-1B9B-E5E8-B7EF-AA9A644CD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176" y="4847310"/>
            <a:ext cx="2096303" cy="588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우주와 은하수 별 복고풍 스타일의 3d 그림에서 광속 줌 여행. 우주와 은하수 스타 복고풍 스타일의 3d 그림에서 광속 줌 여행.">
            <a:extLst>
              <a:ext uri="{FF2B5EF4-FFF2-40B4-BE49-F238E27FC236}">
                <a16:creationId xmlns:a16="http://schemas.microsoft.com/office/drawing/2014/main" id="{CBBB60F5-979B-B075-0424-7877AE3AA2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0835" y="1950798"/>
            <a:ext cx="823019" cy="1438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4414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5940" y="4553863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실수형 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(height)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C8450-EB6E-751C-CE3F-07709D4FB308}"/>
              </a:ext>
            </a:extLst>
          </p:cNvPr>
          <p:cNvSpPr txBox="1"/>
          <p:nvPr/>
        </p:nvSpPr>
        <p:spPr>
          <a:xfrm>
            <a:off x="837828" y="1844824"/>
            <a:ext cx="4536504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주사위를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던져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~ 6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나오는 빈도를 히스토그램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868BD-FAB2-A805-D17E-154EA0FDECCE}"/>
              </a:ext>
            </a:extLst>
          </p:cNvPr>
          <p:cNvSpPr txBox="1"/>
          <p:nvPr/>
        </p:nvSpPr>
        <p:spPr>
          <a:xfrm>
            <a:off x="8680520" y="5462005"/>
            <a:ext cx="13182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175.231…………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12" name="그래픽 11" descr="물음표 단색으로 채워진">
            <a:extLst>
              <a:ext uri="{FF2B5EF4-FFF2-40B4-BE49-F238E27FC236}">
                <a16:creationId xmlns:a16="http://schemas.microsoft.com/office/drawing/2014/main" id="{A9341DF1-1021-D53B-A9F0-6C5CADBED2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98668" y="5229200"/>
            <a:ext cx="465610" cy="46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9796" y="1268760"/>
            <a:ext cx="3173120" cy="4548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바탕으로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PMF, 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시각화하고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PDF(probability density function)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이산형 변수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fitting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왜 확률이 아닌가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그렇다면 확률은 무엇인가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확률은 특정 구간의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적분이다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92C1C3-7BD6-6C78-DD43-BC315F7BB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180" y="1268759"/>
            <a:ext cx="7200800" cy="510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34463F8-063B-AE3C-F94A-CE78D30AC6AF}"/>
              </a:ext>
            </a:extLst>
          </p:cNvPr>
          <p:cNvCxnSpPr/>
          <p:nvPr/>
        </p:nvCxnSpPr>
        <p:spPr>
          <a:xfrm flipV="1">
            <a:off x="618383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7C08847-DED1-FA39-1682-8BE3AAACBB0B}"/>
              </a:ext>
            </a:extLst>
          </p:cNvPr>
          <p:cNvCxnSpPr/>
          <p:nvPr/>
        </p:nvCxnSpPr>
        <p:spPr>
          <a:xfrm flipV="1">
            <a:off x="695850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/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/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6654FE7-FA3E-D7CA-1AA9-57AEAE41A356}"/>
              </a:ext>
            </a:extLst>
          </p:cNvPr>
          <p:cNvCxnSpPr/>
          <p:nvPr/>
        </p:nvCxnSpPr>
        <p:spPr>
          <a:xfrm flipV="1">
            <a:off x="6166420" y="1988840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783FDFE-90EB-3F74-8A5F-57245085A571}"/>
              </a:ext>
            </a:extLst>
          </p:cNvPr>
          <p:cNvCxnSpPr/>
          <p:nvPr/>
        </p:nvCxnSpPr>
        <p:spPr>
          <a:xfrm>
            <a:off x="6183838" y="4869160"/>
            <a:ext cx="7746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이산데이터를 연속데이터로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확률밀도함수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생성하고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(Unseen data)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확률밀도를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584478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D4DD41-5CA4-AFE6-2137-9A1AD55D735D}"/>
              </a:ext>
            </a:extLst>
          </p:cNvPr>
          <p:cNvSpPr txBox="1"/>
          <p:nvPr/>
        </p:nvSpPr>
        <p:spPr>
          <a:xfrm>
            <a:off x="621804" y="2286185"/>
            <a:ext cx="2966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1D Kernel Density Estimation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2811259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981844" y="1196752"/>
            <a:ext cx="10513168" cy="3033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실험에 대해 가능한 사건의 발생 확률을 제공하는 함수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표본공간의 확률분포를 안다는 것은 표본을 통해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모집단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이해하는 열쇠</a:t>
            </a:r>
            <a:endParaRPr lang="en-US" altLang="ko-KR" sz="2000" dirty="0">
              <a:solidFill>
                <a:srgbClr val="31313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예를 들어 표본의 데이터가 정규분포라면 </a:t>
            </a:r>
            <a:r>
              <a:rPr lang="ko-KR" altLang="en-US" sz="2000" dirty="0" err="1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모수</a:t>
            </a:r>
            <a:r>
              <a:rPr lang="en-US" altLang="ko-KR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의해 모집단을 식별 </a:t>
            </a:r>
            <a:endParaRPr lang="en-US" altLang="ko-KR" sz="2000" dirty="0">
              <a:solidFill>
                <a:srgbClr val="31313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확률분포를 알면 그 데이터를 통해 미래를 예측하거나 의사결정이 가능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5B90D-86E6-A35E-711F-56D42882C9B7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확률분포</a:t>
            </a:r>
            <a:r>
              <a:rPr lang="en-US" altLang="ko-KR" sz="3200" b="1" dirty="0"/>
              <a:t>(Probability Distribution)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D358E-0FD8-8D4D-55EB-747ABCD8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E4F2655-5364-03C5-86C1-05CA69A82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D75720-9674-05CA-5EC7-B72F51CE1346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확률분포</a:t>
            </a:r>
            <a:r>
              <a:rPr lang="en-US" altLang="ko-KR" sz="3200" b="1" dirty="0"/>
              <a:t>(Probability Distribution)</a:t>
            </a:r>
            <a:r>
              <a:rPr lang="ko-KR" altLang="en-US" sz="3200" b="1" dirty="0"/>
              <a:t> 종류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F536EE2-D653-2938-819F-44CC1ABF1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52" y="1177925"/>
            <a:ext cx="7343819" cy="5360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E0E119-95F5-EEB9-E625-9F6DB75AC222}"/>
              </a:ext>
            </a:extLst>
          </p:cNvPr>
          <p:cNvSpPr txBox="1"/>
          <p:nvPr/>
        </p:nvSpPr>
        <p:spPr>
          <a:xfrm>
            <a:off x="8542684" y="1916832"/>
            <a:ext cx="2459328" cy="24279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3EF43F-DE46-6F11-EA18-8A95D86D25AE}"/>
              </a:ext>
            </a:extLst>
          </p:cNvPr>
          <p:cNvSpPr txBox="1"/>
          <p:nvPr/>
        </p:nvSpPr>
        <p:spPr>
          <a:xfrm>
            <a:off x="1125860" y="6202462"/>
            <a:ext cx="134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Medium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405251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B7D8A94-DE93-FC11-E184-2F9DEC91E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9836" y="1078937"/>
                <a:ext cx="10081120" cy="137165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 번 시행에서 </a:t>
                </a:r>
                <a:r>
                  <a:rPr kumimoji="0" lang="ko-KR" altLang="ko-KR" sz="20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가지 결과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 나타남 (성공, 실패)</a:t>
                </a:r>
                <a:endParaRPr kumimoji="0" lang="en-US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성공의 확률(</a:t>
                </a:r>
                <a14:m>
                  <m:oMath xmlns:m="http://schemas.openxmlformats.org/officeDocument/2006/math"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)은 매 시행</a:t>
                </a:r>
                <a:r>
                  <a:rPr kumimoji="0" lang="en-US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때 마다 동일. 실패의 확률은 </a:t>
                </a:r>
                <a14:m>
                  <m:oMath xmlns:m="http://schemas.openxmlformats.org/officeDocument/2006/math"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𝑞</m:t>
                    </m:r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=1−</m:t>
                    </m:r>
                    <m:r>
                      <a:rPr kumimoji="0" lang="ko-KR" altLang="ko-KR" sz="2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kumimoji="0" lang="ko-KR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ko-KR" sz="20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독립시행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(어느 한 시행 결과가 다른 시행에 영향을 미치지 않음)</a:t>
                </a:r>
              </a:p>
            </p:txBody>
          </p:sp>
        </mc:Choice>
        <mc:Fallback xmlns="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B7D8A94-DE93-FC11-E184-2F9DEC91E9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09836" y="1078937"/>
                <a:ext cx="10081120" cy="1371658"/>
              </a:xfrm>
              <a:prstGeom prst="rect">
                <a:avLst/>
              </a:prstGeom>
              <a:blipFill>
                <a:blip r:embed="rId3"/>
                <a:stretch>
                  <a:fillRect b="-755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3BC42F7-E36A-B971-1F2A-E341466C6063}"/>
              </a:ext>
            </a:extLst>
          </p:cNvPr>
          <p:cNvSpPr txBox="1"/>
          <p:nvPr/>
        </p:nvSpPr>
        <p:spPr>
          <a:xfrm>
            <a:off x="117747" y="-27384"/>
            <a:ext cx="11161241" cy="931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3200" b="1" dirty="0"/>
              <a:t>베르누이 시행 (</a:t>
            </a:r>
            <a:r>
              <a:rPr lang="en-US" altLang="ko-KR" sz="3200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Bernoulli_distribution</a:t>
            </a:r>
            <a:r>
              <a:rPr lang="en-US" altLang="ko-KR" sz="3200" b="1" dirty="0"/>
              <a:t>)</a:t>
            </a:r>
            <a:endParaRPr lang="ko-KR" altLang="ko-KR" sz="3200" b="1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4EC9F19-01A1-8DA4-7CE5-9EE0D94F87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5550" y="3060957"/>
            <a:ext cx="5533154" cy="3463104"/>
          </a:xfrm>
          <a:prstGeom prst="rect">
            <a:avLst/>
          </a:prstGeom>
        </p:spPr>
      </p:pic>
      <p:sp>
        <p:nvSpPr>
          <p:cNvPr id="13" name="직사각형 12"/>
          <p:cNvSpPr/>
          <p:nvPr/>
        </p:nvSpPr>
        <p:spPr>
          <a:xfrm>
            <a:off x="2953587" y="2708920"/>
            <a:ext cx="494102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던져 앞면과 뒷면이 나온 회수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5EF03B-9957-A805-FF29-77609E29B133}"/>
                  </a:ext>
                </a:extLst>
              </p:cNvPr>
              <p:cNvSpPr txBox="1"/>
              <p:nvPr/>
            </p:nvSpPr>
            <p:spPr>
              <a:xfrm>
                <a:off x="4601968" y="3735701"/>
                <a:ext cx="14590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ko-KR" altLang="ko-KR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kumimoji="0" lang="en-US" altLang="ko-KR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5EF03B-9957-A805-FF29-77609E29B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1968" y="3735701"/>
                <a:ext cx="1459026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61D4FCA2-4212-B942-A676-C172067D23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5946" y="3108205"/>
            <a:ext cx="2743438" cy="104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DA910-1819-BD86-5671-925D1EC77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684187-74AE-ABB9-05E2-4BC14A4B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9DB984DF-1E2F-11D3-24BE-EF116A54E0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5820" y="1133938"/>
                <a:ext cx="10081120" cy="117929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742950" lvl="1" indent="-285750" eaLnBrk="0" fontAlgn="base" hangingPunct="0">
                  <a:lnSpc>
                    <a:spcPct val="20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kumimoji="0" lang="ko-KR" altLang="ko-KR" sz="20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번</a:t>
                </a: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베르누이 </a:t>
                </a:r>
                <a:r>
                  <a:rPr kumimoji="0" lang="ko-KR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시행에서 </a:t>
                </a: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성공횟수에 대한 분포</a:t>
                </a:r>
                <a:r>
                  <a:rPr kumimoji="0" lang="en-US" altLang="ko-KR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𝐵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𝑛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 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𝑝</m:t>
                    </m:r>
                    <m:r>
                      <a:rPr kumimoji="0" lang="en-US" altLang="ko-KR" sz="20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표현</a:t>
                </a:r>
                <a:endParaRPr kumimoji="0" lang="ko-KR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20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kumimoji="0" lang="ko-KR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확률질량함수</a:t>
                </a:r>
                <a:endParaRPr kumimoji="0" lang="ko-KR" altLang="ko-KR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9DB984DF-1E2F-11D3-24BE-EF116A54E0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5820" y="1133938"/>
                <a:ext cx="10081120" cy="1179297"/>
              </a:xfrm>
              <a:prstGeom prst="rect">
                <a:avLst/>
              </a:prstGeom>
              <a:blipFill>
                <a:blip r:embed="rId3"/>
                <a:stretch>
                  <a:fillRect b="-8808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7F0A4C8-BBDB-A173-5E91-10627155D5B8}"/>
              </a:ext>
            </a:extLst>
          </p:cNvPr>
          <p:cNvSpPr txBox="1"/>
          <p:nvPr/>
        </p:nvSpPr>
        <p:spPr>
          <a:xfrm>
            <a:off x="117748" y="-27384"/>
            <a:ext cx="6096000" cy="931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3200" b="1" dirty="0"/>
              <a:t>이항분포</a:t>
            </a:r>
            <a:r>
              <a:rPr lang="ko-KR" altLang="ko-KR" sz="3200" b="1" dirty="0"/>
              <a:t> (</a:t>
            </a:r>
            <a:r>
              <a:rPr lang="ko-KR" altLang="ko-KR" sz="3200" b="1" dirty="0" err="1"/>
              <a:t>B</a:t>
            </a:r>
            <a:r>
              <a:rPr lang="en-US" altLang="ko-KR" sz="3200" b="1" dirty="0" err="1"/>
              <a:t>inomial</a:t>
            </a:r>
            <a:r>
              <a:rPr lang="en-US" altLang="ko-KR" sz="3200" b="1" dirty="0"/>
              <a:t> Distribution</a:t>
            </a:r>
            <a:r>
              <a:rPr lang="ko-KR" altLang="ko-KR" sz="3200" b="1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CD1AED9-B871-711A-5DC9-5CD8802068B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20107" y="1772816"/>
            <a:ext cx="4246513" cy="78067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F28144B-84F0-E988-29DC-8B94A615A6EF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bg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66620" y="1797703"/>
            <a:ext cx="1767235" cy="71204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ED30526-A382-B96C-5933-28764E767D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1884" y="2952113"/>
            <a:ext cx="5450341" cy="3421739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29F6B3D-630B-8CEA-61E8-99A5F93B8B9B}"/>
              </a:ext>
            </a:extLst>
          </p:cNvPr>
          <p:cNvSpPr/>
          <p:nvPr/>
        </p:nvSpPr>
        <p:spPr>
          <a:xfrm>
            <a:off x="6958508" y="3209007"/>
            <a:ext cx="475970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던져서 앞면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성공확률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(0.5))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나올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확률변수로 분포를 그리면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시행을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수행해서 분포를 그리면</a:t>
            </a:r>
            <a:endParaRPr lang="ko-KR" altLang="en-US" sz="16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C4A17E7-1ADA-C2BB-CB2C-4EA7498386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4292" y="3573016"/>
            <a:ext cx="1506942" cy="51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303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6598468" y="980728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388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328592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D29AEC-24CA-8B11-B307-9A15642C8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1413892" y="2671939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3063354"/>
            <a:ext cx="3593215" cy="3145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9282851" cy="15220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동전던지기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설명하고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던지기 실험을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1490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수행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제시하라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동전을 한꺼번에 던지는 실험을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149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수행하고 그 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(H:1, T:-1)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차감하는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실험과 동일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6" y="3063354"/>
            <a:ext cx="4578635" cy="3096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F009EE-06A6-8A54-242C-B31D7E242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 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9BC2EC6-7AF8-33B1-DA19-1F4294107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1" y="1050968"/>
            <a:ext cx="9073009" cy="78335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8983" y="2174748"/>
            <a:ext cx="4917508" cy="4247317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numpy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as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np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as</a:t>
            </a:r>
            <a:r>
              <a:rPr lang="ko-KR" altLang="en-US" sz="1500" dirty="0">
                <a:latin typeface="Arial Narrow" panose="020B0606020202030204" pitchFamily="34" charset="0"/>
              </a:rPr>
              <a:t> </a:t>
            </a:r>
            <a:r>
              <a:rPr lang="ko-KR" altLang="en-US" sz="1500" dirty="0" err="1">
                <a:latin typeface="Arial Narrow" panose="020B0606020202030204" pitchFamily="34" charset="0"/>
              </a:rPr>
              <a:t>plt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500" b="1" dirty="0">
                <a:latin typeface="Arial Narrow" panose="020B0606020202030204" pitchFamily="34" charset="0"/>
              </a:rPr>
              <a:t>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norm</a:t>
            </a:r>
            <a:endParaRPr lang="ko-KR" altLang="en-US" sz="1500" b="1" dirty="0">
              <a:latin typeface="Arial Narrow" panose="020B0606020202030204" pitchFamily="34" charset="0"/>
            </a:endParaRPr>
          </a:p>
          <a:p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p</a:t>
            </a:r>
            <a:r>
              <a:rPr lang="ko-KR" altLang="en-US" sz="1500" dirty="0">
                <a:latin typeface="Arial Narrow" panose="020B0606020202030204" pitchFamily="34" charset="0"/>
              </a:rPr>
              <a:t>=0.</a:t>
            </a:r>
            <a:r>
              <a:rPr lang="en-US" altLang="ko-KR" sz="1500" dirty="0">
                <a:latin typeface="Arial Narrow" panose="020B0606020202030204" pitchFamily="34" charset="0"/>
              </a:rPr>
              <a:t>5</a:t>
            </a:r>
            <a:r>
              <a:rPr lang="ko-KR" altLang="en-US" sz="1500" dirty="0">
                <a:latin typeface="Arial Narrow" panose="020B0606020202030204" pitchFamily="34" charset="0"/>
              </a:rPr>
              <a:t>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500" b="1" dirty="0">
                <a:latin typeface="Arial Narrow" panose="020B0606020202030204" pitchFamily="34" charset="0"/>
              </a:rPr>
              <a:t> = 0.</a:t>
            </a:r>
            <a:r>
              <a:rPr lang="en-US" altLang="ko-KR" sz="1500" b="1" dirty="0">
                <a:latin typeface="Arial Narrow" panose="020B0606020202030204" pitchFamily="34" charset="0"/>
              </a:rPr>
              <a:t>5</a:t>
            </a:r>
            <a:endParaRPr lang="ko-KR" altLang="en-US" sz="1500" b="1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5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n</a:t>
            </a:r>
            <a:r>
              <a:rPr lang="ko-KR" altLang="en-US" sz="1500" dirty="0">
                <a:latin typeface="Arial Narrow" panose="020B0606020202030204" pitchFamily="34" charset="0"/>
              </a:rPr>
              <a:t>=10, </a:t>
            </a:r>
            <a:r>
              <a:rPr lang="ko-KR" altLang="en-US" sz="1500" dirty="0" err="1">
                <a:latin typeface="Arial Narrow" panose="020B0606020202030204" pitchFamily="34" charset="0"/>
              </a:rPr>
              <a:t>p</a:t>
            </a:r>
            <a:r>
              <a:rPr lang="ko-KR" altLang="en-US" sz="1500" dirty="0">
                <a:latin typeface="Arial Narrow" panose="020B0606020202030204" pitchFamily="34" charset="0"/>
              </a:rPr>
              <a:t>=0.5)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5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x_bin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500" dirty="0">
                <a:latin typeface="Arial Narrow" panose="020B0606020202030204" pitchFamily="34" charset="0"/>
              </a:rPr>
              <a:t>(0, </a:t>
            </a:r>
            <a:r>
              <a:rPr lang="ko-KR" altLang="en-US" sz="1500" dirty="0" err="1">
                <a:latin typeface="Arial Narrow" panose="020B0606020202030204" pitchFamily="34" charset="0"/>
              </a:rPr>
              <a:t>n_bin</a:t>
            </a:r>
            <a:r>
              <a:rPr lang="ko-KR" altLang="en-US" sz="15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5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500" dirty="0" err="1">
                <a:latin typeface="Arial Narrow" panose="020B0606020202030204" pitchFamily="34" charset="0"/>
              </a:rPr>
              <a:t>mu</a:t>
            </a:r>
            <a:r>
              <a:rPr lang="ko-KR" altLang="en-US" sz="1500" dirty="0">
                <a:latin typeface="Arial Narrow" panose="020B0606020202030204" pitchFamily="34" charset="0"/>
              </a:rPr>
              <a:t>=0, </a:t>
            </a:r>
            <a:r>
              <a:rPr lang="ko-KR" altLang="en-US" sz="1500" dirty="0" err="1">
                <a:latin typeface="Arial Narrow" panose="020B0606020202030204" pitchFamily="34" charset="0"/>
              </a:rPr>
              <a:t>sigma</a:t>
            </a:r>
            <a:r>
              <a:rPr lang="ko-KR" altLang="en-US" sz="1500" dirty="0">
                <a:latin typeface="Arial Narrow" panose="020B0606020202030204" pitchFamily="34" charset="0"/>
              </a:rPr>
              <a:t>=1) </a:t>
            </a:r>
            <a:r>
              <a:rPr lang="en-US" altLang="ko-KR" sz="1500" dirty="0">
                <a:latin typeface="Arial Narrow" panose="020B0606020202030204" pitchFamily="34" charset="0"/>
              </a:rPr>
              <a:t>: parameter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5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500" b="1" dirty="0">
                <a:latin typeface="Arial Narrow" panose="020B0606020202030204" pitchFamily="34" charset="0"/>
              </a:rPr>
              <a:t>(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500" b="1" dirty="0">
                <a:latin typeface="Arial Narrow" panose="020B0606020202030204" pitchFamily="34" charset="0"/>
              </a:rPr>
              <a:t>, 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500" b="1" dirty="0">
                <a:latin typeface="Arial Narrow" panose="020B0606020202030204" pitchFamily="34" charset="0"/>
              </a:rPr>
              <a:t>=</a:t>
            </a:r>
            <a:r>
              <a:rPr lang="ko-KR" altLang="en-US" sz="15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5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5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950396" y="2174748"/>
            <a:ext cx="5976663" cy="4478149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Arial Narrow" panose="020B0606020202030204" pitchFamily="34" charset="0"/>
              </a:rPr>
              <a:t>fig</a:t>
            </a:r>
            <a:r>
              <a:rPr lang="ko-KR" altLang="en-US" sz="1500" dirty="0">
                <a:latin typeface="Arial Narrow" panose="020B0606020202030204" pitchFamily="34" charset="0"/>
              </a:rPr>
              <a:t>, </a:t>
            </a:r>
            <a:r>
              <a:rPr lang="ko-KR" altLang="en-US" sz="1500" dirty="0" err="1">
                <a:latin typeface="Arial Narrow" panose="020B0606020202030204" pitchFamily="34" charset="0"/>
              </a:rPr>
              <a:t>axes</a:t>
            </a:r>
            <a:r>
              <a:rPr lang="ko-KR" altLang="en-US" sz="1500" dirty="0">
                <a:latin typeface="Arial Narrow" panose="020B0606020202030204" pitchFamily="34" charset="0"/>
              </a:rPr>
              <a:t> = </a:t>
            </a:r>
            <a:r>
              <a:rPr lang="ko-KR" altLang="en-US" sz="15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500" dirty="0">
                <a:latin typeface="Arial Narrow" panose="020B0606020202030204" pitchFamily="34" charset="0"/>
              </a:rPr>
              <a:t>(3, 2, </a:t>
            </a:r>
            <a:r>
              <a:rPr lang="ko-KR" altLang="en-US" sz="15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500" dirty="0">
                <a:latin typeface="Arial Narrow" panose="020B0606020202030204" pitchFamily="34" charset="0"/>
              </a:rPr>
              <a:t>=(1</a:t>
            </a:r>
            <a:r>
              <a:rPr lang="en-US" altLang="ko-KR" sz="1500" dirty="0">
                <a:latin typeface="Arial Narrow" panose="020B0606020202030204" pitchFamily="34" charset="0"/>
              </a:rPr>
              <a:t>0</a:t>
            </a:r>
            <a:r>
              <a:rPr lang="ko-KR" altLang="en-US" sz="1500" dirty="0">
                <a:latin typeface="Arial Narrow" panose="020B0606020202030204" pitchFamily="34" charset="0"/>
              </a:rPr>
              <a:t>, 1</a:t>
            </a:r>
            <a:r>
              <a:rPr lang="en-US" altLang="ko-KR" sz="1500" dirty="0">
                <a:latin typeface="Arial Narrow" panose="020B0606020202030204" pitchFamily="34" charset="0"/>
              </a:rPr>
              <a:t>0</a:t>
            </a:r>
            <a:r>
              <a:rPr lang="ko-KR" altLang="en-US" sz="15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500" dirty="0">
              <a:latin typeface="Arial Narrow" panose="020B0606020202030204" pitchFamily="34" charset="0"/>
            </a:endParaRP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5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color='</a:t>
            </a:r>
            <a:r>
              <a:rPr lang="en-US" altLang="ko-KR" sz="15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5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500" dirty="0">
                <a:latin typeface="Arial Narrow" panose="020B0606020202030204" pitchFamily="34" charset="0"/>
              </a:rPr>
              <a:t> PMF (p={</a:t>
            </a:r>
            <a:r>
              <a:rPr lang="en-US" altLang="ko-KR" sz="15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5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axes[0,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500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500" dirty="0">
                <a:latin typeface="Arial Narrow" panose="020B0606020202030204" pitchFamily="34" charset="0"/>
              </a:rPr>
              <a:t> PMF (n={</a:t>
            </a:r>
            <a:r>
              <a:rPr lang="en-US" altLang="ko-KR" sz="1500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dirty="0">
                <a:latin typeface="Arial Narrow" panose="020B0606020202030204" pitchFamily="34" charset="0"/>
              </a:rPr>
              <a:t>}, p={</a:t>
            </a:r>
            <a:r>
              <a:rPr lang="en-US" altLang="ko-KR" sz="1500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500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500" b="1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500" b="1" dirty="0">
                <a:latin typeface="Arial Narrow" panose="020B0606020202030204" pitchFamily="34" charset="0"/>
              </a:rPr>
              <a:t>)</a:t>
            </a:r>
            <a:r>
              <a:rPr lang="en-US" altLang="ko-KR" sz="15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axes[1,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5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500" dirty="0">
                <a:latin typeface="Arial Narrow" panose="020B0606020202030204" pitchFamily="34" charset="0"/>
              </a:rPr>
              <a:t>, color='</a:t>
            </a:r>
            <a:r>
              <a:rPr lang="en-US" altLang="ko-KR" sz="15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500" dirty="0">
                <a:latin typeface="Arial Narrow" panose="020B0606020202030204" pitchFamily="34" charset="0"/>
              </a:rPr>
              <a:t>', </a:t>
            </a:r>
            <a:r>
              <a:rPr lang="en-US" altLang="ko-KR" sz="1500" dirty="0" err="1">
                <a:latin typeface="Arial Narrow" panose="020B0606020202030204" pitchFamily="34" charset="0"/>
              </a:rPr>
              <a:t>lw</a:t>
            </a:r>
            <a:r>
              <a:rPr lang="en-US" altLang="ko-KR" sz="15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0].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</a:t>
            </a:r>
            <a:r>
              <a:rPr lang="en-US" altLang="ko-KR" sz="15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5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5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dirty="0">
                <a:latin typeface="Arial Narrow" panose="020B0606020202030204" pitchFamily="34" charset="0"/>
              </a:rPr>
              <a:t>, 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500" b="1" dirty="0">
                <a:latin typeface="Arial Narrow" panose="020B0606020202030204" pitchFamily="34" charset="0"/>
              </a:rPr>
              <a:t>(</a:t>
            </a:r>
            <a:r>
              <a:rPr lang="en-US" altLang="ko-KR" sz="15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5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5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500" dirty="0" err="1">
                <a:latin typeface="Arial Narrow" panose="020B0606020202030204" pitchFamily="34" charset="0"/>
              </a:rPr>
              <a:t>lw</a:t>
            </a:r>
            <a:r>
              <a:rPr lang="en-US" altLang="ko-KR" sz="15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500" dirty="0">
                <a:latin typeface="Arial Narrow" panose="020B0606020202030204" pitchFamily="34" charset="0"/>
              </a:rPr>
              <a:t>axes[2, 1].</a:t>
            </a:r>
            <a:r>
              <a:rPr lang="en-US" altLang="ko-KR" sz="15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500" dirty="0">
                <a:latin typeface="Arial Narrow" panose="020B0606020202030204" pitchFamily="34" charset="0"/>
              </a:rPr>
              <a:t>("Normal CDF")</a:t>
            </a:r>
            <a:endParaRPr lang="ko-KR" altLang="en-US" sz="1500" dirty="0">
              <a:latin typeface="Arial Narrow" panose="020B0606020202030204" pitchFamily="34" charset="0"/>
            </a:endParaRP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5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5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500" dirty="0">
                <a:latin typeface="Arial Narrow" panose="020B0606020202030204" pitchFamily="34" charset="0"/>
              </a:rPr>
              <a:t>()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1DEA8C8-216E-95AB-3B25-6F180F4F95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887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정규분포와 표준정규분포를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sp>
        <p:nvSpPr>
          <p:cNvPr id="2" name="AutoShape 2" descr="정규 분포 - 위키백과, 우리 모두의 백과사전">
            <a:extLst>
              <a:ext uri="{FF2B5EF4-FFF2-40B4-BE49-F238E27FC236}">
                <a16:creationId xmlns:a16="http://schemas.microsoft.com/office/drawing/2014/main" id="{B49CE699-1970-20F6-73A6-0FB2077D8A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28" name="Picture 4" descr="붉은 색은 표준정규분포">
            <a:extLst>
              <a:ext uri="{FF2B5EF4-FFF2-40B4-BE49-F238E27FC236}">
                <a16:creationId xmlns:a16="http://schemas.microsoft.com/office/drawing/2014/main" id="{4DA95171-E006-1105-F498-281BC73CD2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956" y="2564904"/>
            <a:ext cx="5518338" cy="352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확률밀도함수의 색과 같은 색">
            <a:extLst>
              <a:ext uri="{FF2B5EF4-FFF2-40B4-BE49-F238E27FC236}">
                <a16:creationId xmlns:a16="http://schemas.microsoft.com/office/drawing/2014/main" id="{860DD08D-A404-043D-43FE-553EE0B06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444" y="2564904"/>
            <a:ext cx="5518338" cy="352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D8539E0-E36E-53E5-892D-B42729139F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03076" y="2772544"/>
            <a:ext cx="1793501" cy="50405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4278C7-3CAD-ABD1-9F9B-EA4DC24CE93B}"/>
                  </a:ext>
                </a:extLst>
              </p:cNvPr>
              <p:cNvSpPr txBox="1"/>
              <p:nvPr/>
            </p:nvSpPr>
            <p:spPr>
              <a:xfrm>
                <a:off x="1413892" y="1169540"/>
                <a:ext cx="6096000" cy="87055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</a:pPr>
                <a14:m>
                  <m:oMath xmlns:m="http://schemas.openxmlformats.org/officeDocument/2006/math">
                    <m:r>
                      <a:rPr kumimoji="0" lang="ko-KR" altLang="en-US" b="1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𝝁</m:t>
                    </m:r>
                  </m:oMath>
                </a14:m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: 위치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모수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location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parameter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</a:pP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𝝈</m:t>
                    </m:r>
                  </m:oMath>
                </a14:m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: 척도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모수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scale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kumimoji="0" lang="ko-KR" altLang="ko-KR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parameter</a:t>
                </a:r>
                <a:r>
                  <a:rPr kumimoji="0" lang="ko-KR" altLang="ko-KR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kumimoji="0" lang="ko-KR" altLang="ko-KR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4278C7-3CAD-ABD1-9F9B-EA4DC24CE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3892" y="1169540"/>
                <a:ext cx="6096000" cy="870559"/>
              </a:xfrm>
              <a:prstGeom prst="rect">
                <a:avLst/>
              </a:prstGeom>
              <a:blipFill>
                <a:blip r:embed="rId7"/>
                <a:stretch>
                  <a:fillRect l="-700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64A1789D-CBA6-494A-7D0F-07DE39E0AC89}"/>
              </a:ext>
            </a:extLst>
          </p:cNvPr>
          <p:cNvSpPr txBox="1"/>
          <p:nvPr/>
        </p:nvSpPr>
        <p:spPr>
          <a:xfrm>
            <a:off x="117748" y="-27384"/>
            <a:ext cx="10225136" cy="920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가지 </a:t>
            </a:r>
            <a:r>
              <a:rPr lang="ko-KR" altLang="ko-KR" sz="32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모수</a:t>
            </a:r>
            <a:r>
              <a:rPr lang="en-US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(parameters)</a:t>
            </a:r>
            <a:r>
              <a:rPr lang="ko-KR" altLang="ko-KR" sz="32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따른 정규분포</a:t>
            </a:r>
          </a:p>
        </p:txBody>
      </p:sp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3120" y="1537628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원자료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Orignal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Data)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204346" y="1537628"/>
            <a:ext cx="180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평균중심화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(Mean Centering)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702313" y="1537628"/>
            <a:ext cx="17520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표준화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(Standardization)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3718148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390556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10546714" y="1436928"/>
                <a:ext cx="1497526" cy="668516"/>
              </a:xfrm>
              <a:prstGeom prst="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20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2000" b="1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6714" y="1436928"/>
                <a:ext cx="1497526" cy="66851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8928992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710AF8-D840-52D4-C7A2-447326300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8068" y="1172054"/>
            <a:ext cx="8199918" cy="5159599"/>
          </a:xfrm>
          <a:prstGeom prst="rect">
            <a:avLst/>
          </a:prstGeom>
        </p:spPr>
      </p:pic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7FB755-4DC4-8AAF-3365-6F7DF1B41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C2414-8A74-A50A-99C6-C88682A3DEB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785A30-2A10-B8B5-D614-B067538AA4E7}"/>
                  </a:ext>
                </a:extLst>
              </p:cNvPr>
              <p:cNvSpPr txBox="1"/>
              <p:nvPr/>
            </p:nvSpPr>
            <p:spPr>
              <a:xfrm>
                <a:off x="261764" y="1147356"/>
                <a:ext cx="3672408" cy="128605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≦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altLang="ko-KR" dirty="0">
                    <a:latin typeface="맑은 고딕" panose="020B0503020000020004" pitchFamily="50" charset="-127"/>
                  </a:rPr>
                  <a:t> = ?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  <m:r>
                          <a:rPr lang="en-US" altLang="ko-KR" smtClean="0">
                            <a:latin typeface="Cambria Math" panose="02040503050406030204" pitchFamily="18" charset="0"/>
                          </a:rPr>
                          <m:t>≦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</a:rPr>
                  <a:t>= ?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.58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≦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.58</m:t>
                        </m:r>
                      </m:e>
                    </m:d>
                  </m:oMath>
                </a14:m>
                <a:r>
                  <a:rPr lang="en-US" altLang="ko-KR" dirty="0">
                    <a:latin typeface="맑은 고딕" panose="020B0503020000020004" pitchFamily="50" charset="-127"/>
                  </a:rPr>
                  <a:t> = ?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785A30-2A10-B8B5-D614-B067538AA4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64" y="1147356"/>
                <a:ext cx="3672408" cy="1286058"/>
              </a:xfrm>
              <a:prstGeom prst="rect">
                <a:avLst/>
              </a:prstGeom>
              <a:blipFill>
                <a:blip r:embed="rId5"/>
                <a:stretch>
                  <a:fillRect l="-1163" b="-6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A6EAB66-B804-346C-D68E-C21D678B8A9F}"/>
              </a:ext>
            </a:extLst>
          </p:cNvPr>
          <p:cNvCxnSpPr/>
          <p:nvPr/>
        </p:nvCxnSpPr>
        <p:spPr>
          <a:xfrm>
            <a:off x="9289947" y="5337356"/>
            <a:ext cx="533129" cy="0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846FF-2C75-7EB9-F384-E16690ED5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E856447-2E7A-2825-18E6-80D7CC9FD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B0462-C14C-D682-4496-87CFB980365F}"/>
              </a:ext>
            </a:extLst>
          </p:cNvPr>
          <p:cNvSpPr txBox="1"/>
          <p:nvPr/>
        </p:nvSpPr>
        <p:spPr>
          <a:xfrm>
            <a:off x="117748" y="260648"/>
            <a:ext cx="74888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신뢰구간</a:t>
            </a:r>
            <a:r>
              <a:rPr lang="en-US" altLang="ko-KR" sz="3200" b="1" dirty="0"/>
              <a:t>(Confidence Interval)</a:t>
            </a:r>
            <a:endParaRPr lang="ko-KR" altLang="en-US" sz="3200" b="1" dirty="0"/>
          </a:p>
        </p:txBody>
      </p:sp>
      <p:pic>
        <p:nvPicPr>
          <p:cNvPr id="2050" name="Picture 2" descr="N(0,1) 95% cutoff values">
            <a:extLst>
              <a:ext uri="{FF2B5EF4-FFF2-40B4-BE49-F238E27FC236}">
                <a16:creationId xmlns:a16="http://schemas.microsoft.com/office/drawing/2014/main" id="{02C9E87C-0B29-12D8-55BE-8044943B30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1586630"/>
            <a:ext cx="8064896" cy="4608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66A9268-D201-FE8C-2B7C-1228A94D81CC}"/>
              </a:ext>
            </a:extLst>
          </p:cNvPr>
          <p:cNvSpPr txBox="1"/>
          <p:nvPr/>
        </p:nvSpPr>
        <p:spPr>
          <a:xfrm>
            <a:off x="1473351" y="5918143"/>
            <a:ext cx="24945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NORTHWESTERN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University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1250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F1554E9-3961-D2B2-C96C-0636C5587199}"/>
              </a:ext>
            </a:extLst>
          </p:cNvPr>
          <p:cNvPicPr>
            <a:picLocks noChangeAspect="1"/>
          </p:cNvPicPr>
          <p:nvPr/>
        </p:nvPicPr>
        <p:blipFill>
          <a:blip r:embed="rId4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29998" y="2385609"/>
            <a:ext cx="2848190" cy="800472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D318373-0A08-06B2-91BA-0A41D3474C11}"/>
              </a:ext>
            </a:extLst>
          </p:cNvPr>
          <p:cNvCxnSpPr/>
          <p:nvPr/>
        </p:nvCxnSpPr>
        <p:spPr>
          <a:xfrm>
            <a:off x="4222204" y="2780928"/>
            <a:ext cx="5040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93839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테스트와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78538E0-23E4-A86D-1292-242EEF100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E22FDCF-DC6C-3F46-ED1B-7A7098390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484238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261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936104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5CCB96-6516-8B28-5A7F-87B5B807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C3921-3021-A2F4-41DD-E491B58E6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ECD7C2C-546B-CF7F-95E2-45B41C17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60754B-67CB-90D7-5964-4967D16519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4C03BD1-6447-6817-9667-38649654BB2D}"/>
              </a:ext>
            </a:extLst>
          </p:cNvPr>
          <p:cNvGrpSpPr/>
          <p:nvPr/>
        </p:nvGrpSpPr>
        <p:grpSpPr>
          <a:xfrm>
            <a:off x="674731" y="1700809"/>
            <a:ext cx="5491689" cy="4655542"/>
            <a:chOff x="674731" y="1700808"/>
            <a:chExt cx="5161191" cy="4255855"/>
          </a:xfrm>
        </p:grpSpPr>
        <p:pic>
          <p:nvPicPr>
            <p:cNvPr id="5128" name="Picture 8" descr="img">
              <a:extLst>
                <a:ext uri="{FF2B5EF4-FFF2-40B4-BE49-F238E27FC236}">
                  <a16:creationId xmlns:a16="http://schemas.microsoft.com/office/drawing/2014/main" id="{75D943D4-565B-F046-7CFC-EA8B4D5FCB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8409" y="1700808"/>
              <a:ext cx="5147513" cy="2903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17B0180D-05D5-1FE4-B49F-0D42F72C2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4731" y="4509401"/>
              <a:ext cx="5161191" cy="1447262"/>
            </a:xfrm>
            <a:prstGeom prst="rect">
              <a:avLst/>
            </a:prstGeom>
          </p:spPr>
        </p:pic>
      </p:grpSp>
      <p:pic>
        <p:nvPicPr>
          <p:cNvPr id="5132" name="Picture 12" descr="How to Decipher False Positives (and Negatives) with Bayes' Theorem – The  Stats Ninja">
            <a:extLst>
              <a:ext uri="{FF2B5EF4-FFF2-40B4-BE49-F238E27FC236}">
                <a16:creationId xmlns:a16="http://schemas.microsoft.com/office/drawing/2014/main" id="{852883A4-4EC5-633C-C569-9305FEE7A3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1508" y="1700809"/>
            <a:ext cx="4787436" cy="2952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878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3446945" y="5208295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945" y="5208295"/>
                <a:ext cx="1027593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97A16-70FD-5F9C-82F2-BFBB18AD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1E0D05F-AB83-DCDF-6007-1D057B508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1500329-A5D7-F9B1-1F3C-BE517A639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DE6E5-2F8D-EE24-6061-C94F699F7675}"/>
                  </a:ext>
                </a:extLst>
              </p:cNvPr>
              <p:cNvSpPr txBox="1"/>
              <p:nvPr/>
            </p:nvSpPr>
            <p:spPr>
              <a:xfrm>
                <a:off x="3383414" y="5229200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DE6E5-2F8D-EE24-6061-C94F699F7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414" y="5229200"/>
                <a:ext cx="1027593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FE2885-AFF1-2062-4D1E-B7C732F82842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581A04-0990-6007-2C98-A6ACE0C5F247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F875AC9-947E-AE64-7E06-C31EC5893D0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A96610-0088-A1E2-DEA7-0B10C6C165A4}"/>
              </a:ext>
            </a:extLst>
          </p:cNvPr>
          <p:cNvSpPr/>
          <p:nvPr/>
        </p:nvSpPr>
        <p:spPr>
          <a:xfrm>
            <a:off x="1269876" y="2564904"/>
            <a:ext cx="1027593" cy="34563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D9FBC6A-B071-CD5C-374D-DA25EAF8FD1E}"/>
              </a:ext>
            </a:extLst>
          </p:cNvPr>
          <p:cNvSpPr/>
          <p:nvPr/>
        </p:nvSpPr>
        <p:spPr>
          <a:xfrm>
            <a:off x="3430116" y="2564904"/>
            <a:ext cx="1152128" cy="3456384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059F18F0-B3DE-7DB5-777C-97C03BD5A6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0229" y="2263731"/>
            <a:ext cx="6336108" cy="2592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36E2FBE8-2BCA-A291-3941-96F82417E54A}"/>
              </a:ext>
            </a:extLst>
          </p:cNvPr>
          <p:cNvSpPr/>
          <p:nvPr/>
        </p:nvSpPr>
        <p:spPr>
          <a:xfrm>
            <a:off x="5690229" y="2263731"/>
            <a:ext cx="3284503" cy="25922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70F7786-04E7-76CC-7447-9570B35EDDBA}"/>
              </a:ext>
            </a:extLst>
          </p:cNvPr>
          <p:cNvSpPr/>
          <p:nvPr/>
        </p:nvSpPr>
        <p:spPr>
          <a:xfrm>
            <a:off x="9022844" y="2263731"/>
            <a:ext cx="3003493" cy="259228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F6A536-A564-8934-6B25-CFA8F9AC8B34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빨강색 박스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713ED6-BB3B-3A3C-9AA4-942D897FD766}"/>
                  </a:ext>
                </a:extLst>
              </p:cNvPr>
              <p:cNvSpPr txBox="1"/>
              <p:nvPr/>
            </p:nvSpPr>
            <p:spPr>
              <a:xfrm>
                <a:off x="6565331" y="5017329"/>
                <a:ext cx="21116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</m:ctrlPr>
                        </m:dPr>
                        <m:e>
                          <m: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𝑿</m:t>
                          </m:r>
                        </m:e>
                      </m:d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&lt;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𝟒𝟎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713ED6-BB3B-3A3C-9AA4-942D897FD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31" y="5017329"/>
                <a:ext cx="2111696" cy="369332"/>
              </a:xfrm>
              <a:prstGeom prst="rect">
                <a:avLst/>
              </a:prstGeom>
              <a:blipFill>
                <a:blip r:embed="rId1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EB33B1-F482-301C-F5FF-F9CF2349DB08}"/>
                  </a:ext>
                </a:extLst>
              </p:cNvPr>
              <p:cNvSpPr txBox="1"/>
              <p:nvPr/>
            </p:nvSpPr>
            <p:spPr>
              <a:xfrm>
                <a:off x="9550796" y="5016250"/>
                <a:ext cx="21116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</m:ctrlPr>
                        </m:dPr>
                        <m:e>
                          <m: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𝑿</m:t>
                          </m:r>
                        </m:e>
                      </m:d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&gt;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𝟓𝟎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EB33B1-F482-301C-F5FF-F9CF2349D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0796" y="5016250"/>
                <a:ext cx="2111696" cy="369332"/>
              </a:xfrm>
              <a:prstGeom prst="rect">
                <a:avLst/>
              </a:prstGeom>
              <a:blipFill>
                <a:blip r:embed="rId11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5190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6048" y="2877923"/>
            <a:ext cx="6819001" cy="3575413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2266048" y="4221088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9B17EF7-974C-F17F-A3E1-3C07DADAC5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87DCD-302D-9CE6-CF1A-29A1F798B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239A17B-2AF0-818F-A73D-451C46F56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6AA4D-FC6B-90BE-73F7-96601C63D0D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C163C18-E4BD-3852-BAA6-70931793C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065" y="1412776"/>
            <a:ext cx="5402622" cy="19260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E7BB718-61FE-04FE-B2D1-43C39954A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361246A-9F8A-8504-DCC6-CDFC9CF6A864}"/>
              </a:ext>
            </a:extLst>
          </p:cNvPr>
          <p:cNvSpPr/>
          <p:nvPr/>
        </p:nvSpPr>
        <p:spPr>
          <a:xfrm>
            <a:off x="1125860" y="1418735"/>
            <a:ext cx="5184576" cy="45775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CF1791C-BFD0-81F6-0238-53A019D300B3}"/>
              </a:ext>
            </a:extLst>
          </p:cNvPr>
          <p:cNvSpPr/>
          <p:nvPr/>
        </p:nvSpPr>
        <p:spPr>
          <a:xfrm>
            <a:off x="1125860" y="5561680"/>
            <a:ext cx="5184576" cy="4596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8FCDD9-2C91-94CC-01AB-D5583E086587}"/>
              </a:ext>
            </a:extLst>
          </p:cNvPr>
          <p:cNvSpPr txBox="1"/>
          <p:nvPr/>
        </p:nvSpPr>
        <p:spPr>
          <a:xfrm>
            <a:off x="4208748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6,246,489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BCEFF2-63C9-7F4C-22C0-5CA67338FE38}"/>
              </a:ext>
            </a:extLst>
          </p:cNvPr>
          <p:cNvSpPr txBox="1"/>
          <p:nvPr/>
        </p:nvSpPr>
        <p:spPr>
          <a:xfrm>
            <a:off x="4582244" y="557994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66,014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FBB397-009A-3A7A-BD3B-7CFE19F66409}"/>
              </a:ext>
            </a:extLst>
          </p:cNvPr>
          <p:cNvSpPr/>
          <p:nvPr/>
        </p:nvSpPr>
        <p:spPr>
          <a:xfrm>
            <a:off x="1125860" y="1412776"/>
            <a:ext cx="1215752" cy="414890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889CA-535E-080C-37F6-7AF47C310362}"/>
              </a:ext>
            </a:extLst>
          </p:cNvPr>
          <p:cNvSpPr txBox="1"/>
          <p:nvPr/>
        </p:nvSpPr>
        <p:spPr>
          <a:xfrm>
            <a:off x="1197868" y="314096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927,071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05E66E-3339-AA81-D7A5-041A65FD4649}"/>
              </a:ext>
            </a:extLst>
          </p:cNvPr>
          <p:cNvSpPr/>
          <p:nvPr/>
        </p:nvSpPr>
        <p:spPr>
          <a:xfrm>
            <a:off x="1125860" y="5561680"/>
            <a:ext cx="1215752" cy="4596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CA83E4-6418-DD70-4D5D-FA4A6F0B3052}"/>
              </a:ext>
            </a:extLst>
          </p:cNvPr>
          <p:cNvSpPr txBox="1"/>
          <p:nvPr/>
        </p:nvSpPr>
        <p:spPr>
          <a:xfrm>
            <a:off x="1413892" y="5579948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59,413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2807C-6FA0-58BD-494F-96F36B7A968B}"/>
              </a:ext>
            </a:extLst>
          </p:cNvPr>
          <p:cNvSpPr txBox="1"/>
          <p:nvPr/>
        </p:nvSpPr>
        <p:spPr>
          <a:xfrm>
            <a:off x="2355957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사업자수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79D222-0C3A-B0EB-4FB1-D22EACF4B9ED}"/>
              </a:ext>
            </a:extLst>
          </p:cNvPr>
          <p:cNvSpPr txBox="1"/>
          <p:nvPr/>
        </p:nvSpPr>
        <p:spPr>
          <a:xfrm>
            <a:off x="2422004" y="5616096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금융업</a:t>
            </a:r>
          </a:p>
        </p:txBody>
      </p:sp>
    </p:spTree>
    <p:extLst>
      <p:ext uri="{BB962C8B-B14F-4D97-AF65-F5344CB8AC3E}">
        <p14:creationId xmlns:p14="http://schemas.microsoft.com/office/powerpoint/2010/main" val="19463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0" grpId="0"/>
      <p:bldP spid="12" grpId="0"/>
      <p:bldP spid="13" grpId="0" animBg="1"/>
      <p:bldP spid="14" grpId="0"/>
      <p:bldP spid="15" grpId="0" animBg="1"/>
      <p:bldP spid="16" grpId="0"/>
      <p:bldP spid="17" grpId="0"/>
      <p:bldP spid="1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621804" y="1988840"/>
            <a:ext cx="11089232" cy="21162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3067AFA-8755-5368-A0AA-D8E719585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482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1922A-B4E2-9B3B-8884-35141823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88A9C1-D6C7-C3A5-77FA-2F21FA84E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17A3CA-C4A8-3A86-8700-9BE35E13CAA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CBDCFB8-77BB-C6AF-4736-FC07CFB1C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FCB38759-9120-8BCC-0CA6-3BC87B649AB6}"/>
              </a:ext>
            </a:extLst>
          </p:cNvPr>
          <p:cNvSpPr/>
          <p:nvPr/>
        </p:nvSpPr>
        <p:spPr>
          <a:xfrm>
            <a:off x="837828" y="3501008"/>
            <a:ext cx="432048" cy="432048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8BA668F-32EB-AFEB-A7FE-F40B7612C911}"/>
              </a:ext>
            </a:extLst>
          </p:cNvPr>
          <p:cNvSpPr/>
          <p:nvPr/>
        </p:nvSpPr>
        <p:spPr>
          <a:xfrm>
            <a:off x="3572729" y="2276872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6E9AFB1-718B-D08B-9DD6-9086D7049B63}"/>
              </a:ext>
            </a:extLst>
          </p:cNvPr>
          <p:cNvSpPr/>
          <p:nvPr/>
        </p:nvSpPr>
        <p:spPr>
          <a:xfrm>
            <a:off x="3572729" y="4869160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C4D389C-AA8A-BA3F-2F93-8D0F092A10A0}"/>
              </a:ext>
            </a:extLst>
          </p:cNvPr>
          <p:cNvSpPr/>
          <p:nvPr/>
        </p:nvSpPr>
        <p:spPr>
          <a:xfrm>
            <a:off x="6454452" y="2859467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76705E5-551A-E4DB-F803-A54E529A4A75}"/>
              </a:ext>
            </a:extLst>
          </p:cNvPr>
          <p:cNvSpPr/>
          <p:nvPr/>
        </p:nvSpPr>
        <p:spPr>
          <a:xfrm>
            <a:off x="6454452" y="1566589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B1FD1A-BCC3-C270-BBAF-7C1C525CB989}"/>
              </a:ext>
            </a:extLst>
          </p:cNvPr>
          <p:cNvSpPr/>
          <p:nvPr/>
        </p:nvSpPr>
        <p:spPr>
          <a:xfrm>
            <a:off x="6454452" y="4152345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265CD71-404D-B192-252B-34C63770A173}"/>
              </a:ext>
            </a:extLst>
          </p:cNvPr>
          <p:cNvSpPr/>
          <p:nvPr/>
        </p:nvSpPr>
        <p:spPr>
          <a:xfrm>
            <a:off x="6454452" y="5445224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A0BD02A-D9C9-6A66-C537-95FB5CA6DBE7}"/>
              </a:ext>
            </a:extLst>
          </p:cNvPr>
          <p:cNvCxnSpPr>
            <a:cxnSpLocks/>
            <a:stCxn id="7" idx="6"/>
            <a:endCxn id="8" idx="3"/>
          </p:cNvCxnSpPr>
          <p:nvPr/>
        </p:nvCxnSpPr>
        <p:spPr>
          <a:xfrm flipV="1">
            <a:off x="1269876" y="2645648"/>
            <a:ext cx="2366125" cy="1071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70A6B3F-7B39-A78F-8983-B1F272AFD149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1269876" y="3717032"/>
            <a:ext cx="2366125" cy="1215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993C346-3702-BA97-CBF4-E1D6EED12883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004777" y="1782613"/>
            <a:ext cx="2449675" cy="7102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2329CB7-77EC-60BB-AC7A-27E06630659F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>
            <a:off x="4004777" y="2492896"/>
            <a:ext cx="2449675" cy="5825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4EC6A33-A592-660D-0E92-BE7D25254A99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 flipV="1">
            <a:off x="4004777" y="4368369"/>
            <a:ext cx="2449675" cy="71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3366D91C-ACAE-C1DF-C835-B03ABC9A13CC}"/>
              </a:ext>
            </a:extLst>
          </p:cNvPr>
          <p:cNvCxnSpPr>
            <a:cxnSpLocks/>
            <a:stCxn id="10" idx="6"/>
            <a:endCxn id="14" idx="2"/>
          </p:cNvCxnSpPr>
          <p:nvPr/>
        </p:nvCxnSpPr>
        <p:spPr>
          <a:xfrm>
            <a:off x="4004777" y="5085184"/>
            <a:ext cx="2449675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A09970E-1881-85BE-180C-F411CC2EC03D}"/>
              </a:ext>
            </a:extLst>
          </p:cNvPr>
          <p:cNvSpPr txBox="1"/>
          <p:nvPr/>
        </p:nvSpPr>
        <p:spPr>
          <a:xfrm>
            <a:off x="1401234" y="2649709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F2C161-ACFE-5430-2505-8EDF3E2F8AA8}"/>
              </a:ext>
            </a:extLst>
          </p:cNvPr>
          <p:cNvSpPr txBox="1"/>
          <p:nvPr/>
        </p:nvSpPr>
        <p:spPr>
          <a:xfrm>
            <a:off x="1401234" y="4556587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FAF1A-2BA8-939A-E073-E0E171CF72D8}"/>
              </a:ext>
            </a:extLst>
          </p:cNvPr>
          <p:cNvSpPr txBox="1"/>
          <p:nvPr/>
        </p:nvSpPr>
        <p:spPr>
          <a:xfrm>
            <a:off x="4157816" y="1628800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BFA-27A2-5569-7B53-2EF1DA57EAFC}"/>
              </a:ext>
            </a:extLst>
          </p:cNvPr>
          <p:cNvSpPr txBox="1"/>
          <p:nvPr/>
        </p:nvSpPr>
        <p:spPr>
          <a:xfrm>
            <a:off x="4157816" y="4221088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E19FB1-4677-3261-DB55-1455EC7809EE}"/>
              </a:ext>
            </a:extLst>
          </p:cNvPr>
          <p:cNvSpPr txBox="1"/>
          <p:nvPr/>
        </p:nvSpPr>
        <p:spPr>
          <a:xfrm>
            <a:off x="4157816" y="5482099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FADE8A-4C8D-B05C-311B-44D3AD84D628}"/>
              </a:ext>
            </a:extLst>
          </p:cNvPr>
          <p:cNvSpPr txBox="1"/>
          <p:nvPr/>
        </p:nvSpPr>
        <p:spPr>
          <a:xfrm>
            <a:off x="9118748" y="1628800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C845BC-2878-3F7D-C224-B0451A2516C3}"/>
              </a:ext>
            </a:extLst>
          </p:cNvPr>
          <p:cNvSpPr txBox="1"/>
          <p:nvPr/>
        </p:nvSpPr>
        <p:spPr>
          <a:xfrm>
            <a:off x="9118748" y="4197666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68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EF398D8-11A1-4FB6-A821-B931B5C47189}"/>
              </a:ext>
            </a:extLst>
          </p:cNvPr>
          <p:cNvSpPr txBox="1"/>
          <p:nvPr/>
        </p:nvSpPr>
        <p:spPr>
          <a:xfrm>
            <a:off x="9118748" y="2913233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FF4949-D289-6B6E-BA92-DEBC08BAD186}"/>
              </a:ext>
            </a:extLst>
          </p:cNvPr>
          <p:cNvSpPr txBox="1"/>
          <p:nvPr/>
        </p:nvSpPr>
        <p:spPr>
          <a:xfrm>
            <a:off x="9118748" y="5482099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34E597-2CEF-D231-F17A-C51165058B07}"/>
              </a:ext>
            </a:extLst>
          </p:cNvPr>
          <p:cNvSpPr txBox="1"/>
          <p:nvPr/>
        </p:nvSpPr>
        <p:spPr>
          <a:xfrm>
            <a:off x="4157816" y="2911056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0C7841-BBD8-85BF-4160-40D3870EAEEF}"/>
              </a:ext>
            </a:extLst>
          </p:cNvPr>
          <p:cNvSpPr txBox="1"/>
          <p:nvPr/>
        </p:nvSpPr>
        <p:spPr>
          <a:xfrm>
            <a:off x="7174532" y="1628800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0.80 = 0.12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A5EB86-1741-06D6-C0A4-F0A188D92FBC}"/>
              </a:ext>
            </a:extLst>
          </p:cNvPr>
          <p:cNvSpPr txBox="1"/>
          <p:nvPr/>
        </p:nvSpPr>
        <p:spPr>
          <a:xfrm>
            <a:off x="7174532" y="5489792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0.20 = 0.17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89E451-258A-B5E7-AD1A-39F3C9713EB2}"/>
              </a:ext>
            </a:extLst>
          </p:cNvPr>
          <p:cNvSpPr txBox="1"/>
          <p:nvPr/>
        </p:nvSpPr>
        <p:spPr>
          <a:xfrm>
            <a:off x="7174532" y="4202794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0.80 = 0.68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E1F854-6031-CCF4-E0FE-3927005C14E6}"/>
              </a:ext>
            </a:extLst>
          </p:cNvPr>
          <p:cNvSpPr txBox="1"/>
          <p:nvPr/>
        </p:nvSpPr>
        <p:spPr>
          <a:xfrm>
            <a:off x="7174532" y="2915797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0.20 = 0.03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625DFF8-FF3F-127A-0F04-D062DC1D19BD}"/>
              </a:ext>
            </a:extLst>
          </p:cNvPr>
          <p:cNvSpPr/>
          <p:nvPr/>
        </p:nvSpPr>
        <p:spPr>
          <a:xfrm>
            <a:off x="7174532" y="1484784"/>
            <a:ext cx="4320480" cy="63636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77D7D5-3A1D-389C-A17A-EDD01D0FB378}"/>
              </a:ext>
            </a:extLst>
          </p:cNvPr>
          <p:cNvSpPr/>
          <p:nvPr/>
        </p:nvSpPr>
        <p:spPr>
          <a:xfrm>
            <a:off x="7174532" y="5317806"/>
            <a:ext cx="4320480" cy="63636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37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38" grpId="0"/>
      <p:bldP spid="40" grpId="0"/>
      <p:bldP spid="42" grpId="0"/>
      <p:bldP spid="43" grpId="0"/>
      <p:bldP spid="45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7" grpId="0" animBg="1"/>
      <p:bldP spid="5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D032F-C180-E51F-B6F6-EED7B2A01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9E3E75D-A15C-F849-694C-CBB7698B4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8FE96-96FB-D223-D68F-1A0684C4E7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72DADA1-30EF-355E-BFE6-AA496EEE0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09B0668-6EF9-7583-E30A-3B662FD84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511" y="1628800"/>
            <a:ext cx="4996889" cy="45406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935C308-53F4-64FC-BAEC-E482FB6EF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8382" y="1628800"/>
            <a:ext cx="5882654" cy="452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903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621804" y="1700808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F74882C-CEA3-35B5-AE1D-20AF1667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090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09BA-F6FF-6EB2-7A9D-1D071414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F97D6E-E866-A1CB-F98A-72C9C5050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46B08-E5AA-67CD-1EFC-C9D5B3711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21FB08F-9CA6-F65F-220D-2CA2F16BA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07D7F6-C29B-DD6B-1DE5-0CC99C633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1268761"/>
            <a:ext cx="3185853" cy="171249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C23D90-12D1-BD55-91BC-2844E3E38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1921" y="1267096"/>
            <a:ext cx="4485504" cy="17141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382F778-FB31-3C35-FEA5-35F72B3A7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6867" y="4067833"/>
            <a:ext cx="4470577" cy="20237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00E5B67-E8B8-A213-272F-F155893DE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6215" y="4067834"/>
            <a:ext cx="3951210" cy="20254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14F34-EE84-A0BE-0A5E-8778B43BF960}"/>
              </a:ext>
            </a:extLst>
          </p:cNvPr>
          <p:cNvSpPr txBox="1"/>
          <p:nvPr/>
        </p:nvSpPr>
        <p:spPr>
          <a:xfrm>
            <a:off x="5806380" y="3707471"/>
            <a:ext cx="48965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식중독에 걸렸을 때, 그 원인이 식당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B였을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확률</a:t>
            </a:r>
          </a:p>
        </p:txBody>
      </p:sp>
    </p:spTree>
    <p:extLst>
      <p:ext uri="{BB962C8B-B14F-4D97-AF65-F5344CB8AC3E}">
        <p14:creationId xmlns:p14="http://schemas.microsoft.com/office/powerpoint/2010/main" val="3041034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0225136" cy="8413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 전투상황을 가정하여 여러 전문가와 같이 격추된 비행기 데이터를 모의실험한 결과 증거 데이터를 사용하라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108" y="2199146"/>
            <a:ext cx="4538788" cy="42811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628" y="2984317"/>
            <a:ext cx="4114765" cy="15140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61" y="2199146"/>
            <a:ext cx="2810671" cy="2540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94C621-CD35-2C99-C748-B3917DFD7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D0E90-8B1F-F573-9B4F-82416D6B647E}"/>
              </a:ext>
            </a:extLst>
          </p:cNvPr>
          <p:cNvSpPr txBox="1"/>
          <p:nvPr/>
        </p:nvSpPr>
        <p:spPr>
          <a:xfrm>
            <a:off x="8920188" y="2499544"/>
            <a:ext cx="2283254" cy="467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모의 실험 결과 자료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/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귀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환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|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동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체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손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상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4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400" b="1" dirty="0">
                    <a:solidFill>
                      <a:schemeClr val="tx1"/>
                    </a:solidFill>
                  </a:rPr>
                  <a:t>= ?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blipFill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84028-5201-06F9-1F7A-3C39BB55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4A6A9FF-A368-0C80-75AA-B198FD8BC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0204C7-5808-E924-0A93-9CD21F2968DA}"/>
              </a:ext>
            </a:extLst>
          </p:cNvPr>
          <p:cNvSpPr txBox="1"/>
          <p:nvPr/>
        </p:nvSpPr>
        <p:spPr>
          <a:xfrm>
            <a:off x="693812" y="836712"/>
            <a:ext cx="8928992" cy="1134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en-US" altLang="ko-KR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765821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엑셀과 </a:t>
            </a: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모듈로 아래 데이터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정규분포를 가정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남성인지 여성인지 분류하라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각각 예측하고 비교하라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44C3FAD-98B6-C1CC-BAEA-7ECF45874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43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0446A3C-0C78-F583-9F72-68D1C1DF8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27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/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고집불통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너무 고집스럽고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빈도주의자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슈퍼맨의 존재를 너무 신봉하는 경향이 있다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은 세상에 초능력자는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 존재한다는 사전확률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(Prior probability)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고수하며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누가 카드 색깔을 맞춘 사실에는 관심이 없고 여전히 초능력자일 확률은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가설이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맞다는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전제하에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5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회 연속 맞출 확률인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p-value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에만 관심이 있어 초능력자라면 전부 맞추겠지만 일반인이기에 운 좋게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3.125%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  <m:sup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로 맞추었을 뿐이라고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즉 이 사람은 저 사람이 초능력자일 확률을 직접 구하기보다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일반인인데 운이 좋았을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계산하여 가설을 기각할지 고민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Bays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5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개를 맞춘 사실을 전제로 초능력자일 확률적 믿음은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3.1%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사전 믿음에 새로운 증거를 결합하여 사후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(Posterior)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５개 색깔을 모두 맞춘 경우 ： 초능력자와 일반인이 맞춘 경우에서 초능력자가 맞출 비율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베이지안은 확률을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고정된 값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 아니라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새로운 데이터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증거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가 들어올 때마다 업데이트되는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믿음의 정도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’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당신은 어느 유형에 속하는가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?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통계학에서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Frequentist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Bayesian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설명하는 예제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blipFill>
                <a:blip r:embed="rId3"/>
                <a:stretch>
                  <a:fillRect b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517864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ACC77ED-DB08-8BAD-0896-EC0F1D9819A0}"/>
              </a:ext>
            </a:extLst>
          </p:cNvPr>
          <p:cNvGrpSpPr/>
          <p:nvPr/>
        </p:nvGrpSpPr>
        <p:grpSpPr>
          <a:xfrm>
            <a:off x="909836" y="972594"/>
            <a:ext cx="9695226" cy="5256584"/>
            <a:chOff x="1110500" y="827911"/>
            <a:chExt cx="8949570" cy="485230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D6CC51-5DBA-2191-A91F-88C40BE9C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500" y="3683462"/>
              <a:ext cx="8944352" cy="199675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5D54327-C77A-5451-64F4-89840B35E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0500" y="827911"/>
              <a:ext cx="8208912" cy="2855551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01B954-8524-C070-811E-78EAC25F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40806" y="827911"/>
              <a:ext cx="819264" cy="197195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9E367A9-DFEF-D3E0-5C8B-960F4F0B1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39830" y="2074398"/>
              <a:ext cx="819264" cy="197195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8788" y="3472327"/>
            <a:ext cx="1069352" cy="129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7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A6B71-FD27-B2CB-29F5-FAAED35A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1E3BF63-BCAE-6BD2-203D-377C36A2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E3BCC0-CEFE-7769-66E8-E4106026EB3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A3EA40-0E30-CAB5-979E-6687D658A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938493"/>
            <a:ext cx="7201945" cy="1792112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C45ED5FF-25E1-AB6E-9374-FFB62E690BB2}"/>
              </a:ext>
            </a:extLst>
          </p:cNvPr>
          <p:cNvGrpSpPr/>
          <p:nvPr/>
        </p:nvGrpSpPr>
        <p:grpSpPr>
          <a:xfrm>
            <a:off x="3574131" y="2823674"/>
            <a:ext cx="4321625" cy="3773677"/>
            <a:chOff x="3646140" y="2884874"/>
            <a:chExt cx="4104456" cy="3607074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C2B54CBD-3000-1060-8EB3-D17780365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46140" y="3224323"/>
              <a:ext cx="4104456" cy="326762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7B6115-5A74-898D-3944-829905F2F23B}"/>
                </a:ext>
              </a:extLst>
            </p:cNvPr>
            <p:cNvSpPr txBox="1"/>
            <p:nvPr/>
          </p:nvSpPr>
          <p:spPr>
            <a:xfrm>
              <a:off x="3646140" y="2884874"/>
              <a:ext cx="410445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2000" b="1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Are you Bayesian or Frequentist?</a:t>
              </a:r>
              <a:endParaRPr lang="ko-KR" altLang="en-US" sz="2000" b="1" dirty="0"/>
            </a:p>
          </p:txBody>
        </p:sp>
      </p:grpSp>
      <p:sp>
        <p:nvSpPr>
          <p:cNvPr id="5" name="AutoShape 2" descr="  Frequentist vs. Bayesian">
            <a:extLst>
              <a:ext uri="{FF2B5EF4-FFF2-40B4-BE49-F238E27FC236}">
                <a16:creationId xmlns:a16="http://schemas.microsoft.com/office/drawing/2014/main" id="{EF5FDAAB-F500-7EC4-62FE-08D2F94C68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657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447168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437802"/>
            <a:ext cx="4749518" cy="4569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1074222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30A028A-4499-144A-F8F5-32D220A740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4504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78365" y="1478578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037" y="1478578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1F9F6C-CAF0-1ACE-0E01-3ED6CD896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64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DC4E22-ECC3-116A-0A17-0DCCAC0C1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845D03-0AC9-7720-171E-EF713C8A8E4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091393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2345</TotalTime>
  <Words>3464</Words>
  <Application>Microsoft Office PowerPoint</Application>
  <PresentationFormat>사용자 지정</PresentationFormat>
  <Paragraphs>546</Paragraphs>
  <Slides>64</Slides>
  <Notes>62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8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99</cp:revision>
  <dcterms:created xsi:type="dcterms:W3CDTF">2024-06-03T06:10:16Z</dcterms:created>
  <dcterms:modified xsi:type="dcterms:W3CDTF">2026-04-02T12:43:46Z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