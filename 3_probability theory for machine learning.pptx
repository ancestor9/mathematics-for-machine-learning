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379" r:id="rId14"/>
    <p:sldId id="380" r:id="rId15"/>
    <p:sldId id="273" r:id="rId16"/>
    <p:sldId id="362" r:id="rId17"/>
    <p:sldId id="272" r:id="rId18"/>
    <p:sldId id="276" r:id="rId19"/>
    <p:sldId id="307" r:id="rId20"/>
    <p:sldId id="308" r:id="rId21"/>
    <p:sldId id="299" r:id="rId22"/>
    <p:sldId id="363" r:id="rId23"/>
    <p:sldId id="277" r:id="rId24"/>
    <p:sldId id="278" r:id="rId25"/>
    <p:sldId id="364" r:id="rId26"/>
    <p:sldId id="275" r:id="rId27"/>
    <p:sldId id="279" r:id="rId28"/>
    <p:sldId id="280" r:id="rId29"/>
    <p:sldId id="281" r:id="rId30"/>
    <p:sldId id="382" r:id="rId31"/>
    <p:sldId id="283" r:id="rId32"/>
    <p:sldId id="284" r:id="rId33"/>
    <p:sldId id="377" r:id="rId34"/>
    <p:sldId id="288" r:id="rId35"/>
    <p:sldId id="285" r:id="rId36"/>
    <p:sldId id="384" r:id="rId37"/>
    <p:sldId id="383" r:id="rId38"/>
    <p:sldId id="286" r:id="rId39"/>
    <p:sldId id="305" r:id="rId40"/>
    <p:sldId id="304" r:id="rId41"/>
    <p:sldId id="287" r:id="rId42"/>
    <p:sldId id="289" r:id="rId43"/>
    <p:sldId id="290" r:id="rId44"/>
    <p:sldId id="291" r:id="rId45"/>
    <p:sldId id="376" r:id="rId46"/>
    <p:sldId id="374" r:id="rId47"/>
    <p:sldId id="375" r:id="rId48"/>
    <p:sldId id="292" r:id="rId49"/>
    <p:sldId id="365" r:id="rId50"/>
    <p:sldId id="293" r:id="rId51"/>
    <p:sldId id="373" r:id="rId52"/>
    <p:sldId id="372" r:id="rId53"/>
    <p:sldId id="300" r:id="rId54"/>
    <p:sldId id="368" r:id="rId55"/>
    <p:sldId id="367" r:id="rId56"/>
    <p:sldId id="317" r:id="rId57"/>
    <p:sldId id="301" r:id="rId58"/>
    <p:sldId id="378" r:id="rId59"/>
    <p:sldId id="381" r:id="rId60"/>
    <p:sldId id="306" r:id="rId61"/>
    <p:sldId id="303" r:id="rId62"/>
    <p:sldId id="309" r:id="rId63"/>
    <p:sldId id="310" r:id="rId64"/>
    <p:sldId id="311" r:id="rId65"/>
    <p:sldId id="312" r:id="rId66"/>
    <p:sldId id="316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474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870D-84E1-38AA-3C68-EDE43CC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8751D2-1936-E56B-B71F-EA26AC446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E6D515-7AAD-CE0C-499A-154A1BB6C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B6B92-1997-8498-85E8-838E6970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5801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29F0-A6E4-9F5C-5AE3-D348BAD0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A5B226-E91B-313B-131C-57E413D6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6DFE73-6C55-E174-70A5-DBFB90DAB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0BF11-3E6B-84B2-1EED-5D580851B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65788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E4FC8-DF45-68DE-E07C-905279D1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343B87-5DA0-7977-540C-B51C62739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605AAF-2704-E04C-5E2A-F989E8517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8E6FE-91CA-C690-5404-0CC1B7EBD2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526780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697A-FF9B-E7BC-432D-9AAB56A9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08D4B3-30BE-FE0D-EC3E-720D76AA0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1C5791-DFA9-2C27-E262-93CAB88B4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7668DF-0CB7-198A-FCB6-875DD29972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96735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16117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149192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424289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66851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852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192168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993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나올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억의 상금이 걸린 게임이 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A, B </a:t>
            </a:r>
            <a:r>
              <a:rPr lang="ko-KR" altLang="en-US" dirty="0">
                <a:latin typeface="+mj-ea"/>
                <a:ea typeface="+mj-ea"/>
              </a:rPr>
              <a:t>두 사람이 라운드마다 각각 </a:t>
            </a:r>
            <a:r>
              <a:rPr lang="en-US" altLang="ko-KR" dirty="0">
                <a:latin typeface="+mj-ea"/>
                <a:ea typeface="+mj-ea"/>
              </a:rPr>
              <a:t>50% </a:t>
            </a:r>
            <a:r>
              <a:rPr lang="ko-KR" altLang="en-US" dirty="0">
                <a:latin typeface="+mj-ea"/>
                <a:ea typeface="+mj-ea"/>
              </a:rPr>
              <a:t>확률로 승패 결과가 있는 경우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누구나 </a:t>
            </a:r>
            <a:r>
              <a:rPr lang="en-US" altLang="ko-KR" dirty="0">
                <a:latin typeface="+mj-ea"/>
                <a:ea typeface="+mj-ea"/>
              </a:rPr>
              <a:t>6</a:t>
            </a:r>
            <a:r>
              <a:rPr lang="ko-KR" altLang="en-US" dirty="0">
                <a:latin typeface="+mj-ea"/>
                <a:ea typeface="+mj-ea"/>
              </a:rPr>
              <a:t>번을 이기면 게임이 끝나게 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현재까지 </a:t>
            </a:r>
            <a:r>
              <a:rPr lang="en-US" altLang="ko-KR" dirty="0">
                <a:latin typeface="+mj-ea"/>
                <a:ea typeface="+mj-ea"/>
              </a:rPr>
              <a:t>8</a:t>
            </a:r>
            <a:r>
              <a:rPr lang="ko-KR" altLang="en-US" dirty="0">
                <a:latin typeface="+mj-ea"/>
                <a:ea typeface="+mj-ea"/>
              </a:rPr>
              <a:t>번의 라운드에서 </a:t>
            </a:r>
            <a:r>
              <a:rPr lang="en-US" altLang="ko-KR" dirty="0">
                <a:latin typeface="+mj-ea"/>
                <a:ea typeface="+mj-ea"/>
              </a:rPr>
              <a:t>A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5</a:t>
            </a:r>
            <a:r>
              <a:rPr lang="ko-KR" altLang="en-US" dirty="0">
                <a:latin typeface="+mj-ea"/>
                <a:ea typeface="+mj-ea"/>
              </a:rPr>
              <a:t>번</a:t>
            </a:r>
            <a:r>
              <a:rPr lang="en-US" altLang="ko-KR" dirty="0">
                <a:latin typeface="+mj-ea"/>
                <a:ea typeface="+mj-ea"/>
              </a:rPr>
              <a:t>, B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번 이겼다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 상금을 각각 공평하게 나누려면 얼마씩 배분하여야 하는가</a:t>
            </a:r>
            <a:r>
              <a:rPr lang="en-US" altLang="ko-KR" dirty="0">
                <a:latin typeface="+mj-ea"/>
                <a:ea typeface="+mj-ea"/>
              </a:rPr>
              <a:t>? A,B</a:t>
            </a:r>
            <a:r>
              <a:rPr lang="ko-KR" altLang="en-US" dirty="0">
                <a:latin typeface="+mj-ea"/>
                <a:ea typeface="+mj-ea"/>
              </a:rPr>
              <a:t>가 각각 이길 확률</a:t>
            </a:r>
            <a:r>
              <a:rPr lang="en-US" altLang="ko-KR" dirty="0">
                <a:latin typeface="+mj-ea"/>
                <a:ea typeface="+mj-ea"/>
              </a:rPr>
              <a:t>?</a:t>
            </a:r>
            <a:r>
              <a:rPr lang="ko-KR" altLang="en-US" dirty="0">
                <a:latin typeface="+mj-ea"/>
                <a:ea typeface="+mj-ea"/>
              </a:rPr>
              <a:t> 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확률변수 정의</a:t>
                </a:r>
                <a:endParaRPr lang="en-US" altLang="ko-KR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b="1" dirty="0">
                    <a:latin typeface="+mj-ea"/>
                    <a:ea typeface="+mj-ea"/>
                  </a:rPr>
                  <a:t>사건 → 숫자 값으로 매핑하는 함수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+mj-ea"/>
                    <a:ea typeface="+mj-ea"/>
                  </a:rPr>
                  <a:t>100</a:t>
                </a:r>
                <a:r>
                  <a:rPr lang="ko-KR" altLang="en-US" dirty="0">
                    <a:latin typeface="+mj-ea"/>
                    <a:ea typeface="+mj-ea"/>
                  </a:rPr>
                  <a:t>번 실험에서 나온 빈도를 확률변수로 설정</a:t>
                </a:r>
                <a:endParaRPr lang="en-US" altLang="ko-KR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blipFill>
                <a:blip r:embed="rId3"/>
                <a:stretch>
                  <a:fillRect l="-668" b="-1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2000" b="1" kern="1200" smtClean="0">
                                  <a:solidFill>
                                    <a:schemeClr val="tx1"/>
                                  </a:solidFill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b="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=28</m:t>
                              </m:r>
                            </m:oMath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kern="12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2000" b="1" kern="12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</a:rPr>
                                  <m:t>(</m:t>
                                </m:r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𝑿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𝒙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00" r="-36939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05600" r="-30845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05600" r="-186798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05600" r="-100906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05600" r="-1212" b="-12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41772" r="-36939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41772" r="-30845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41772" r="-186798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41772" r="-100906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41772" r="-1212" b="-12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3123111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0774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endParaRPr lang="en-US" altLang="ko-KR" sz="20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표본조사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(Sampling)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표본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(Sample)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(Distribution)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를 알고 모집단의 실제 값을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:   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: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개 주사위의</a:t>
            </a:r>
            <a:r>
              <a:rPr lang="en-US" altLang="ko-KR" dirty="0"/>
              <a:t> </a:t>
            </a:r>
            <a:r>
              <a:rPr lang="ko-KR" altLang="en-US" dirty="0"/>
              <a:t>합을 확률변수로 가정하여 확률질량함수</a:t>
            </a:r>
            <a:r>
              <a:rPr lang="en-US" altLang="ko-KR" dirty="0"/>
              <a:t>(Probability Mass Function)</a:t>
            </a:r>
            <a:r>
              <a:rPr lang="ko-KR" altLang="en-US" dirty="0"/>
              <a:t>와 누적분포함수</a:t>
            </a:r>
            <a:r>
              <a:rPr lang="en-US" altLang="ko-KR" dirty="0"/>
              <a:t>(Cumulative Distribution Function)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sns.load_dataset</a:t>
            </a:r>
            <a:r>
              <a:rPr lang="en-US" altLang="ko-KR" dirty="0"/>
              <a:t>(“titanic“)</a:t>
            </a:r>
            <a:r>
              <a:rPr lang="ko-KR" altLang="en-US" dirty="0"/>
              <a:t>의 </a:t>
            </a:r>
            <a:r>
              <a:rPr lang="en-US" altLang="ko-KR" dirty="0"/>
              <a:t>age </a:t>
            </a:r>
            <a:r>
              <a:rPr lang="ko-KR" altLang="en-US" dirty="0"/>
              <a:t>변수로 </a:t>
            </a:r>
            <a:r>
              <a:rPr lang="en-US" altLang="ko-KR" dirty="0"/>
              <a:t>histogram</a:t>
            </a:r>
            <a:r>
              <a:rPr lang="ko-KR" altLang="en-US" dirty="0"/>
              <a:t>과 </a:t>
            </a:r>
            <a:r>
              <a:rPr lang="en-US" altLang="ko-KR" dirty="0"/>
              <a:t>KDE=True</a:t>
            </a:r>
            <a:r>
              <a:rPr lang="ko-KR" altLang="en-US" dirty="0"/>
              <a:t> 를 사용하여 확률밀도함수</a:t>
            </a:r>
            <a:r>
              <a:rPr lang="en-US" altLang="ko-KR" dirty="0"/>
              <a:t>(Probability density Function)</a:t>
            </a:r>
            <a:r>
              <a:rPr lang="ko-KR" altLang="en-US" dirty="0"/>
              <a:t>와 누적분포함수</a:t>
            </a:r>
            <a:r>
              <a:rPr lang="en-US" altLang="ko-KR" dirty="0"/>
              <a:t>(Cumulative Distribution Function)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만들고 토론하자 </a:t>
            </a:r>
            <a:endParaRPr lang="en-US" altLang="ko-K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D956D7C-E429-E79C-3B65-8528A351A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44" y="2636912"/>
            <a:ext cx="5400600" cy="3240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61205" y="2528860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2895377"/>
            <a:ext cx="3394663" cy="2972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동전던지기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실험으로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파이썬으로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시각화하는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코드를 제시하라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동전을 한꺼번에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수행하고 그 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(H:1, T:-1)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차감하는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실험과 동일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476" y="2867414"/>
            <a:ext cx="4477488" cy="302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042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원자료를 </a:t>
            </a:r>
            <a:r>
              <a:rPr lang="en-US" altLang="ko-KR" sz="1600" dirty="0">
                <a:latin typeface="+mj-ea"/>
                <a:ea typeface="+mj-ea"/>
              </a:rPr>
              <a:t>Z-scores</a:t>
            </a:r>
            <a:r>
              <a:rPr lang="ko-KR" altLang="en-US" sz="1600" dirty="0">
                <a:latin typeface="+mj-ea"/>
                <a:ea typeface="+mj-ea"/>
              </a:rPr>
              <a:t>로 변경하는 이유와 그 의미는</a:t>
            </a:r>
            <a:r>
              <a:rPr lang="en-US" altLang="ko-KR" sz="1600" dirty="0">
                <a:latin typeface="+mj-ea"/>
                <a:ea typeface="+mj-ea"/>
              </a:rPr>
              <a:t>? </a:t>
            </a:r>
            <a:r>
              <a:rPr lang="ko-KR" altLang="en-US" sz="1600" dirty="0">
                <a:latin typeface="+mj-ea"/>
                <a:ea typeface="+mj-ea"/>
              </a:rPr>
              <a:t>통계학적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 err="1">
                <a:latin typeface="+mj-ea"/>
                <a:ea typeface="+mj-ea"/>
              </a:rPr>
              <a:t>머신러닝</a:t>
            </a:r>
            <a:r>
              <a:rPr lang="ko-KR" altLang="en-US" sz="1600" dirty="0">
                <a:latin typeface="+mj-ea"/>
                <a:ea typeface="+mj-ea"/>
              </a:rPr>
              <a:t> 관점</a:t>
            </a:r>
            <a:r>
              <a:rPr lang="en-US" altLang="ko-KR" sz="1600" dirty="0">
                <a:latin typeface="+mj-ea"/>
                <a:ea typeface="+mj-ea"/>
              </a:rPr>
              <a:t>? </a:t>
            </a:r>
            <a:r>
              <a:rPr lang="ko-KR" altLang="en-US" sz="1600" dirty="0">
                <a:latin typeface="+mj-ea"/>
                <a:ea typeface="+mj-ea"/>
              </a:rPr>
              <a:t>토론하자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8100E4F9-58BE-FCDF-9643-B898BB4E30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174" name="Picture 6" descr="Standard Normal Distribution">
            <a:extLst>
              <a:ext uri="{FF2B5EF4-FFF2-40B4-BE49-F238E27FC236}">
                <a16:creationId xmlns:a16="http://schemas.microsoft.com/office/drawing/2014/main" id="{82401BFB-7A59-70FB-BD39-42358B1AC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78" y="2890345"/>
            <a:ext cx="4854782" cy="3236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3C1574A-2083-149D-1617-DD49A96F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CB29F6-7ACB-719E-0596-580275F16440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FACC713-7FA0-ABC7-F8CA-F0B2DB15739A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FC89BCD-6C21-5ECB-89E6-59709A64FC25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04C4712-AA68-E9EE-D006-FC3D93D2993D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/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어떤 데이터의 표준화된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𝑍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𝑋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−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𝜇</m:t>
                        </m:r>
                      </m:num>
                      <m:den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의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값이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1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이면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=0.68</m:t>
                    </m:r>
                  </m:oMath>
                </a14:m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인 산술식을 이해하고 설명하라  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blipFill>
                <a:blip r:embed="rId6"/>
                <a:stretch>
                  <a:fillRect l="-389" b="-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2C4836A-363B-11F9-5002-2DA2D7F3C95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97CAF6-839B-7F4C-3067-42DA45AD904F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59B15FF4-9AE2-8A1A-3F82-DF0E73243719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7EA42150-85FC-C96F-AAC1-8B2E16B5C0BF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0BB66-69EF-A0B0-CBB9-B8822DC6C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B03CD8A-A2C1-2814-4DDD-57270813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E2BBECC8-1644-5C11-38E1-11E3B85264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070824B-4E91-6CD9-FE15-635BDB484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1D2276-B0DE-1FEA-9BAD-667D0986E51C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048B7CC-F5C2-AD32-7DDC-440B77951C50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05E99C9-D22D-2547-249E-3016BA342003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B12B65B-0ACE-52B9-B78C-5AFCDFF01D22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/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어떤 데이터의 표준화된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𝑍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𝑋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−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𝜇</m:t>
                        </m:r>
                      </m:num>
                      <m:den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의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값이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1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이면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−1.96&lt;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≤1.96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인 산술식을 이해하고 설명하라  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blipFill>
                <a:blip r:embed="rId5"/>
                <a:stretch>
                  <a:fillRect l="-389" b="-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AAB855E-575E-D648-5CC0-2E0387CC21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B003E2-1A6B-4E35-2F3B-5C9315D77702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3658AF1-E681-8C43-D20D-C398BB55CAEA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8D58422C-3A6E-F979-ED32-E899B09E0636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218" name="Picture 2" descr="N(0,1) 95% cutoff values">
            <a:extLst>
              <a:ext uri="{FF2B5EF4-FFF2-40B4-BE49-F238E27FC236}">
                <a16:creationId xmlns:a16="http://schemas.microsoft.com/office/drawing/2014/main" id="{06CE734A-97FB-EA9D-812F-1548FAB0A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68" y="2555025"/>
            <a:ext cx="5796644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556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4A1AA-AFAC-5B94-F8D9-A6749A05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C95ABE-C68C-407A-F518-6CC590BD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588E66B-26D9-16A6-0DDF-04DD1A248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21" y="2348880"/>
            <a:ext cx="11206981" cy="36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58833F-8884-6B6A-15A2-EA9110DD53B5}"/>
              </a:ext>
            </a:extLst>
          </p:cNvPr>
          <p:cNvSpPr txBox="1"/>
          <p:nvPr/>
        </p:nvSpPr>
        <p:spPr>
          <a:xfrm>
            <a:off x="483969" y="990607"/>
            <a:ext cx="11508916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표본의 크기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(Batch size)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커질수록 학습이 안정될까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0098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서로 다른 분포인데 결과는 같아지는가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이상치가 있어도 평균은 왜 안정적인가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딥러닝과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데스트와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접목점도 시각화 하고 설명하는 보고서를 제출하라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주사위를 </a:t>
            </a:r>
            <a:r>
              <a:rPr lang="en-US" altLang="ko-KR" b="1" dirty="0"/>
              <a:t>1,000</a:t>
            </a:r>
            <a:r>
              <a:rPr lang="ko-KR" altLang="en-US" b="1" dirty="0"/>
              <a:t>번을 던진 후 전체 주사위 합의 분포를 주사위 </a:t>
            </a:r>
            <a:r>
              <a:rPr lang="en-US" altLang="ko-KR" b="1" dirty="0"/>
              <a:t>1</a:t>
            </a:r>
            <a:r>
              <a:rPr lang="ko-KR" altLang="en-US" b="1" dirty="0"/>
              <a:t>개</a:t>
            </a:r>
            <a:r>
              <a:rPr lang="en-US" altLang="ko-KR" b="1" dirty="0"/>
              <a:t>, 2</a:t>
            </a:r>
            <a:r>
              <a:rPr lang="ko-KR" altLang="en-US" b="1" dirty="0"/>
              <a:t>개</a:t>
            </a:r>
            <a:r>
              <a:rPr lang="en-US" altLang="ko-KR" b="1" dirty="0"/>
              <a:t>, 3</a:t>
            </a:r>
            <a:r>
              <a:rPr lang="ko-KR" altLang="en-US" b="1" dirty="0"/>
              <a:t>개</a:t>
            </a:r>
            <a:r>
              <a:rPr lang="en-US" altLang="ko-KR" b="1" dirty="0"/>
              <a:t>, 10</a:t>
            </a:r>
            <a:r>
              <a:rPr lang="ko-KR" altLang="en-US" b="1" dirty="0"/>
              <a:t>개</a:t>
            </a:r>
            <a:r>
              <a:rPr lang="en-US" altLang="ko-KR" b="1" dirty="0"/>
              <a:t>, 25</a:t>
            </a:r>
            <a:r>
              <a:rPr lang="ko-KR" altLang="en-US" b="1" dirty="0"/>
              <a:t>개</a:t>
            </a:r>
            <a:r>
              <a:rPr lang="en-US" altLang="ko-KR" b="1" dirty="0"/>
              <a:t>, 50</a:t>
            </a:r>
            <a:r>
              <a:rPr lang="ko-KR" altLang="en-US" b="1" dirty="0"/>
              <a:t>개로 </a:t>
            </a:r>
            <a:r>
              <a:rPr lang="ko-KR" altLang="en-US" b="1" dirty="0" err="1"/>
              <a:t>시뮬레이션하라</a:t>
            </a:r>
            <a:endParaRPr lang="ko-KR" alt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6227058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6D6D-FE7D-D1E6-6174-4578705A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DAF3-C1C3-864E-A7BD-B00D0D209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BC462CA-A817-CE20-4192-21E595BF0B5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495372-37BA-D0E6-CAB2-0D0CE5002089}"/>
              </a:ext>
            </a:extLst>
          </p:cNvPr>
          <p:cNvSpPr txBox="1"/>
          <p:nvPr/>
        </p:nvSpPr>
        <p:spPr>
          <a:xfrm>
            <a:off x="539248" y="817140"/>
            <a:ext cx="11233248" cy="19809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10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명의 남녀 데이터를 참고하여 성별을 분류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+mj-ea"/>
              <a:ea typeface="+mj-ea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등의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feature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가 없다면 남녀 분류의 사전확률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(Prior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은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남성과 여성인 경우의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의 확률분포는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조건부 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(Conditional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이다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그렇다면 이러한 데이터를 관측하게 되면 남녀 분류의 사후확률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(Posterior probability)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을 구할 수 있게 된다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height(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６인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각각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6, 130, 8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54037-EF5F-6676-2845-DFE41CC609D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77BD4E4-D7A5-39FE-94C9-979CCE55C965}"/>
              </a:ext>
            </a:extLst>
          </p:cNvPr>
          <p:cNvGrpSpPr/>
          <p:nvPr/>
        </p:nvGrpSpPr>
        <p:grpSpPr>
          <a:xfrm>
            <a:off x="1053852" y="2959184"/>
            <a:ext cx="4320480" cy="3762292"/>
            <a:chOff x="1341884" y="2717025"/>
            <a:chExt cx="4703341" cy="401511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A17A6C8-B135-8113-EE80-9F2B4DFBDDF6}"/>
                </a:ext>
              </a:extLst>
            </p:cNvPr>
            <p:cNvGrpSpPr/>
            <p:nvPr/>
          </p:nvGrpSpPr>
          <p:grpSpPr>
            <a:xfrm>
              <a:off x="1341884" y="2717025"/>
              <a:ext cx="4703341" cy="4015112"/>
              <a:chOff x="526975" y="2706363"/>
              <a:chExt cx="5495430" cy="4078675"/>
            </a:xfrm>
          </p:grpSpPr>
          <p:pic>
            <p:nvPicPr>
              <p:cNvPr id="22" name="Picture 4">
                <a:extLst>
                  <a:ext uri="{FF2B5EF4-FFF2-40B4-BE49-F238E27FC236}">
                    <a16:creationId xmlns:a16="http://schemas.microsoft.com/office/drawing/2014/main" id="{1AE2F6F5-FB5A-28B2-B7A7-93D12D6FF14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5416891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6">
                <a:extLst>
                  <a:ext uri="{FF2B5EF4-FFF2-40B4-BE49-F238E27FC236}">
                    <a16:creationId xmlns:a16="http://schemas.microsoft.com/office/drawing/2014/main" id="{9A113EA8-C2DF-E174-4482-C0C5EDD43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2706363"/>
                <a:ext cx="5495430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4" name="Picture 8">
                <a:extLst>
                  <a:ext uri="{FF2B5EF4-FFF2-40B4-BE49-F238E27FC236}">
                    <a16:creationId xmlns:a16="http://schemas.microsoft.com/office/drawing/2014/main" id="{C59FAC5E-D27B-D756-EDA2-328D311C37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4074510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순서도: 추출 13">
              <a:extLst>
                <a:ext uri="{FF2B5EF4-FFF2-40B4-BE49-F238E27FC236}">
                  <a16:creationId xmlns:a16="http://schemas.microsoft.com/office/drawing/2014/main" id="{94C1BE0B-CB82-8942-CF80-1F034704CFB6}"/>
                </a:ext>
              </a:extLst>
            </p:cNvPr>
            <p:cNvSpPr/>
            <p:nvPr/>
          </p:nvSpPr>
          <p:spPr>
            <a:xfrm>
              <a:off x="3529285" y="3614502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순서도: 추출 14">
              <a:extLst>
                <a:ext uri="{FF2B5EF4-FFF2-40B4-BE49-F238E27FC236}">
                  <a16:creationId xmlns:a16="http://schemas.microsoft.com/office/drawing/2014/main" id="{4BED69E3-5F45-38A1-E8E0-A35A7FBC62D5}"/>
                </a:ext>
              </a:extLst>
            </p:cNvPr>
            <p:cNvSpPr/>
            <p:nvPr/>
          </p:nvSpPr>
          <p:spPr>
            <a:xfrm>
              <a:off x="4294212" y="501317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순서도: 추출 15">
              <a:extLst>
                <a:ext uri="{FF2B5EF4-FFF2-40B4-BE49-F238E27FC236}">
                  <a16:creationId xmlns:a16="http://schemas.microsoft.com/office/drawing/2014/main" id="{2E20C516-282D-0365-5E24-FA0F495AB4F4}"/>
                </a:ext>
              </a:extLst>
            </p:cNvPr>
            <p:cNvSpPr/>
            <p:nvPr/>
          </p:nvSpPr>
          <p:spPr>
            <a:xfrm>
              <a:off x="3862164" y="625253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F64CCA-BA9F-9CE6-8D96-97143F06F3B5}"/>
              </a:ext>
            </a:extLst>
          </p:cNvPr>
          <p:cNvSpPr txBox="1"/>
          <p:nvPr/>
        </p:nvSpPr>
        <p:spPr>
          <a:xfrm>
            <a:off x="7379655" y="3939278"/>
            <a:ext cx="3539293" cy="886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사람의 성별 예측 값과 그 확률은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B3F1669-C37A-CFE4-9971-B8B87999A802}"/>
              </a:ext>
            </a:extLst>
          </p:cNvPr>
          <p:cNvCxnSpPr/>
          <p:nvPr/>
        </p:nvCxnSpPr>
        <p:spPr>
          <a:xfrm>
            <a:off x="5806380" y="4437112"/>
            <a:ext cx="14401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63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A2005-BDA4-DC77-95AD-6E564FDA7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70A408-2D72-D3B6-B575-50216A558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1160EE1-4311-92FB-0B78-A50DA2151A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89F1FA-6E01-5156-39C8-DFAE884C495C}"/>
              </a:ext>
            </a:extLst>
          </p:cNvPr>
          <p:cNvSpPr txBox="1"/>
          <p:nvPr/>
        </p:nvSpPr>
        <p:spPr>
          <a:xfrm>
            <a:off x="693812" y="1268760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/>
              <a:t>Appendix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65986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62324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62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040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245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553910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476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or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낮으면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0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1181</TotalTime>
  <Words>2537</Words>
  <Application>Microsoft Office PowerPoint</Application>
  <PresentationFormat>사용자 지정</PresentationFormat>
  <Paragraphs>437</Paragraphs>
  <Slides>63</Slides>
  <Notes>60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7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69</cp:revision>
  <dcterms:created xsi:type="dcterms:W3CDTF">2024-06-03T06:10:16Z</dcterms:created>
  <dcterms:modified xsi:type="dcterms:W3CDTF">2026-03-25T08:44:15Z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