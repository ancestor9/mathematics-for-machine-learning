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7"/>
  </p:notesMasterIdLst>
  <p:handoutMasterIdLst>
    <p:handoutMasterId r:id="rId68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03" r:id="rId16"/>
    <p:sldId id="387" r:id="rId17"/>
    <p:sldId id="276" r:id="rId18"/>
    <p:sldId id="307" r:id="rId19"/>
    <p:sldId id="308" r:id="rId20"/>
    <p:sldId id="340" r:id="rId21"/>
    <p:sldId id="363" r:id="rId22"/>
    <p:sldId id="277" r:id="rId23"/>
    <p:sldId id="278" r:id="rId24"/>
    <p:sldId id="364" r:id="rId25"/>
    <p:sldId id="279" r:id="rId26"/>
    <p:sldId id="284" r:id="rId27"/>
    <p:sldId id="377" r:id="rId28"/>
    <p:sldId id="280" r:id="rId29"/>
    <p:sldId id="281" r:id="rId30"/>
    <p:sldId id="382" r:id="rId31"/>
    <p:sldId id="395" r:id="rId32"/>
    <p:sldId id="283" r:id="rId33"/>
    <p:sldId id="383" r:id="rId34"/>
    <p:sldId id="288" r:id="rId35"/>
    <p:sldId id="290" r:id="rId36"/>
    <p:sldId id="289" r:id="rId37"/>
    <p:sldId id="286" r:id="rId38"/>
    <p:sldId id="287" r:id="rId39"/>
    <p:sldId id="291" r:id="rId40"/>
    <p:sldId id="375" r:id="rId41"/>
    <p:sldId id="374" r:id="rId42"/>
    <p:sldId id="365" r:id="rId43"/>
    <p:sldId id="293" r:id="rId44"/>
    <p:sldId id="324" r:id="rId45"/>
    <p:sldId id="338" r:id="rId46"/>
    <p:sldId id="406" r:id="rId47"/>
    <p:sldId id="330" r:id="rId48"/>
    <p:sldId id="407" r:id="rId49"/>
    <p:sldId id="389" r:id="rId50"/>
    <p:sldId id="401" r:id="rId51"/>
    <p:sldId id="367" r:id="rId52"/>
    <p:sldId id="402" r:id="rId53"/>
    <p:sldId id="405" r:id="rId54"/>
    <p:sldId id="397" r:id="rId55"/>
    <p:sldId id="399" r:id="rId56"/>
    <p:sldId id="301" r:id="rId57"/>
    <p:sldId id="388" r:id="rId58"/>
    <p:sldId id="404" r:id="rId59"/>
    <p:sldId id="398" r:id="rId60"/>
    <p:sldId id="390" r:id="rId61"/>
    <p:sldId id="391" r:id="rId62"/>
    <p:sldId id="400" r:id="rId63"/>
    <p:sldId id="305" r:id="rId64"/>
    <p:sldId id="394" r:id="rId65"/>
    <p:sldId id="304" r:id="rId66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554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commentAuthors" Target="commentAuthor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2026-04-02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31985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E2F2-3E59-A6ED-89F7-474F531FD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96518D-B7F9-22BE-B506-6685530C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734E8-139E-46C5-E787-096289EA3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879914-E3BB-D6BD-030C-90FE70F8AA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745415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F4CE-A706-128C-507B-39B0F161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6170D2-5FC3-158A-6770-97BAC38A2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429410-0503-5FB7-27EF-06FA66090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23591C-27CA-652E-ADE4-C07E18DFB9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7257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05779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35554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DA98C-AC6D-D045-3360-E5101100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B7DF42-103B-0A8E-1A5F-F34F28092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99A903-E5AD-2A02-4125-D59886AFF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EA7200-9482-F7B8-C538-EDAB68449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0827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488503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341856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872569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3AD9-91B4-70C7-2656-14A5085A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312053-789B-ABD5-54C9-101E4409C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2D146F-CDEC-79AA-63DC-DBF423D8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BF8AB7-B950-496B-C190-B18914967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024195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194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535996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76971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0144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35232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385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1.svg"/><Relationship Id="rId4" Type="http://schemas.openxmlformats.org/officeDocument/2006/relationships/image" Target="../media/image16.png"/><Relationship Id="rId9" Type="http://schemas.openxmlformats.org/officeDocument/2006/relationships/image" Target="../media/image20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530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0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63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6.png"/><Relationship Id="rId10" Type="http://schemas.openxmlformats.org/officeDocument/2006/relationships/image" Target="../media/image65.png"/><Relationship Id="rId4" Type="http://schemas.openxmlformats.org/officeDocument/2006/relationships/image" Target="../media/image630.png"/><Relationship Id="rId9" Type="http://schemas.openxmlformats.org/officeDocument/2006/relationships/image" Target="../media/image6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59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jpe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59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9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jpeg"/><Relationship Id="rId4" Type="http://schemas.openxmlformats.org/officeDocument/2006/relationships/hyperlink" Target="https://seaborn.pydata.org/examples/layered_bivariate_plot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jpe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343D174-FA76-A565-AE83-817FFA5171E8}"/>
              </a:ext>
            </a:extLst>
          </p:cNvPr>
          <p:cNvGrpSpPr/>
          <p:nvPr/>
        </p:nvGrpSpPr>
        <p:grpSpPr>
          <a:xfrm>
            <a:off x="3461256" y="836712"/>
            <a:ext cx="4762255" cy="2951030"/>
            <a:chOff x="2368021" y="2035369"/>
            <a:chExt cx="4568717" cy="224300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C012A9E-82CB-2131-A251-48868C8EF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2209340"/>
              <a:ext cx="2243002" cy="1895062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00FED4F-7CA4-E1E2-4EE5-8A370BABC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68021" y="2035369"/>
              <a:ext cx="2683596" cy="2241355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8402331" y="938589"/>
            <a:ext cx="2516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BCB4992-A854-50D2-0597-925AFA91D501}"/>
              </a:ext>
            </a:extLst>
          </p:cNvPr>
          <p:cNvGrpSpPr/>
          <p:nvPr/>
        </p:nvGrpSpPr>
        <p:grpSpPr>
          <a:xfrm>
            <a:off x="3456989" y="3694559"/>
            <a:ext cx="4763086" cy="3019425"/>
            <a:chOff x="2374321" y="4472205"/>
            <a:chExt cx="4562417" cy="224465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5251753-1FC5-E322-6D64-8C0D9885B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74321" y="4472205"/>
              <a:ext cx="2721554" cy="2244509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1A9BBBF0-7385-7534-391D-655A4EB6B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4647824"/>
              <a:ext cx="2243002" cy="1895062"/>
            </a:xfrm>
            <a:prstGeom prst="rect">
              <a:avLst/>
            </a:prstGeom>
          </p:spPr>
        </p:pic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707911" y="2909786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795225" y="1484784"/>
            <a:ext cx="1127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036830"/>
            <a:ext cx="1887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69" y="4591971"/>
            <a:ext cx="2564914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883" y="1574600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그래픽 22" descr="눈 단색으로 채워진">
            <a:extLst>
              <a:ext uri="{FF2B5EF4-FFF2-40B4-BE49-F238E27FC236}">
                <a16:creationId xmlns:a16="http://schemas.microsoft.com/office/drawing/2014/main" id="{5C08BA10-46C8-D726-64FC-E00593A699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723628" y="510688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20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확인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1" y="1050968"/>
            <a:ext cx="9073009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8983" y="2174748"/>
            <a:ext cx="4917508" cy="4247317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numpy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np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plt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</a:t>
            </a:r>
            <a:r>
              <a:rPr lang="en-US" altLang="ko-KR" sz="1500" dirty="0">
                <a:latin typeface="Arial Narrow" panose="020B0606020202030204" pitchFamily="34" charset="0"/>
              </a:rPr>
              <a:t>5</a:t>
            </a:r>
            <a:r>
              <a:rPr lang="ko-KR" altLang="en-US" sz="1500" dirty="0">
                <a:latin typeface="Arial Narrow" panose="020B0606020202030204" pitchFamily="34" charset="0"/>
              </a:rPr>
              <a:t>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 = 0.</a:t>
            </a:r>
            <a:r>
              <a:rPr lang="en-US" altLang="ko-KR" sz="1500" b="1" dirty="0">
                <a:latin typeface="Arial Narrow" panose="020B0606020202030204" pitchFamily="34" charset="0"/>
              </a:rPr>
              <a:t>5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5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n</a:t>
            </a:r>
            <a:r>
              <a:rPr lang="ko-KR" altLang="en-US" sz="1500" dirty="0">
                <a:latin typeface="Arial Narrow" panose="020B0606020202030204" pitchFamily="34" charset="0"/>
              </a:rPr>
              <a:t>=10, 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=0.5)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500" dirty="0">
                <a:latin typeface="Arial Narrow" panose="020B0606020202030204" pitchFamily="34" charset="0"/>
              </a:rPr>
              <a:t>(0, </a:t>
            </a:r>
            <a:r>
              <a:rPr lang="ko-KR" altLang="en-US" sz="1500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mu</a:t>
            </a:r>
            <a:r>
              <a:rPr lang="ko-KR" altLang="en-US" sz="1500" dirty="0">
                <a:latin typeface="Arial Narrow" panose="020B0606020202030204" pitchFamily="34" charset="0"/>
              </a:rPr>
              <a:t>=0, </a:t>
            </a:r>
            <a:r>
              <a:rPr lang="ko-KR" altLang="en-US" sz="1500" dirty="0" err="1">
                <a:latin typeface="Arial Narrow" panose="020B0606020202030204" pitchFamily="34" charset="0"/>
              </a:rPr>
              <a:t>sigma</a:t>
            </a:r>
            <a:r>
              <a:rPr lang="ko-KR" altLang="en-US" sz="1500" dirty="0">
                <a:latin typeface="Arial Narrow" panose="020B0606020202030204" pitchFamily="34" charset="0"/>
              </a:rPr>
              <a:t>=1)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5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950396" y="2174748"/>
            <a:ext cx="5976663" cy="4478149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fig</a:t>
            </a:r>
            <a:r>
              <a:rPr lang="ko-KR" altLang="en-US" sz="1500" dirty="0">
                <a:latin typeface="Arial Narrow" panose="020B0606020202030204" pitchFamily="34" charset="0"/>
              </a:rPr>
              <a:t>, </a:t>
            </a:r>
            <a:r>
              <a:rPr lang="ko-KR" altLang="en-US" sz="1500" dirty="0" err="1">
                <a:latin typeface="Arial Narrow" panose="020B0606020202030204" pitchFamily="34" charset="0"/>
              </a:rPr>
              <a:t>axes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500" dirty="0">
                <a:latin typeface="Arial Narrow" panose="020B0606020202030204" pitchFamily="34" charset="0"/>
              </a:rPr>
              <a:t>(3, 2, </a:t>
            </a:r>
            <a:r>
              <a:rPr lang="ko-KR" altLang="en-US" sz="15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500" dirty="0">
                <a:latin typeface="Arial Narrow" panose="020B0606020202030204" pitchFamily="34" charset="0"/>
              </a:rPr>
              <a:t>=(1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, 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500" dirty="0">
              <a:latin typeface="Arial Narrow" panose="020B0606020202030204" pitchFamily="34" charset="0"/>
            </a:endParaRP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5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500" dirty="0">
                <a:latin typeface="Arial Narrow" panose="020B0606020202030204" pitchFamily="34" charset="0"/>
              </a:rPr>
              <a:t> PMF (p={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500" dirty="0">
                <a:latin typeface="Arial Narrow" panose="020B0606020202030204" pitchFamily="34" charset="0"/>
              </a:rPr>
              <a:t> PMF (n={</a:t>
            </a:r>
            <a:r>
              <a:rPr lang="en-US" altLang="ko-KR" sz="1500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dirty="0">
                <a:latin typeface="Arial Narrow" panose="020B0606020202030204" pitchFamily="34" charset="0"/>
              </a:rPr>
              <a:t>}, 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500" dirty="0">
                <a:latin typeface="Arial Narrow" panose="020B0606020202030204" pitchFamily="34" charset="0"/>
              </a:rPr>
              <a:t>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5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("Normal CDF")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DEA8C8-216E-95AB-3B25-6F180F4F9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8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51152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92378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0345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700808"/>
            <a:ext cx="9939333" cy="3927050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3B6103-F76B-2993-97AF-547CED237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516" y="924551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3921-3021-A2F4-41DD-E491B58E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CD7C2C-546B-CF7F-95E2-45B41C17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0754B-67CB-90D7-5964-4967D16519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4C03BD1-6447-6817-9667-38649654BB2D}"/>
              </a:ext>
            </a:extLst>
          </p:cNvPr>
          <p:cNvGrpSpPr/>
          <p:nvPr/>
        </p:nvGrpSpPr>
        <p:grpSpPr>
          <a:xfrm>
            <a:off x="674731" y="1700809"/>
            <a:ext cx="4628281" cy="3816424"/>
            <a:chOff x="674731" y="1700808"/>
            <a:chExt cx="5161191" cy="4255855"/>
          </a:xfrm>
        </p:grpSpPr>
        <p:pic>
          <p:nvPicPr>
            <p:cNvPr id="5128" name="Picture 8" descr="img">
              <a:extLst>
                <a:ext uri="{FF2B5EF4-FFF2-40B4-BE49-F238E27FC236}">
                  <a16:creationId xmlns:a16="http://schemas.microsoft.com/office/drawing/2014/main" id="{75D943D4-565B-F046-7CFC-EA8B4D5FCB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409" y="1700808"/>
              <a:ext cx="5147513" cy="2903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7B0180D-05D5-1FE4-B49F-0D42F72C2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4731" y="4509401"/>
              <a:ext cx="5161191" cy="1447262"/>
            </a:xfrm>
            <a:prstGeom prst="rect">
              <a:avLst/>
            </a:prstGeom>
          </p:spPr>
        </p:pic>
      </p:grpSp>
      <p:pic>
        <p:nvPicPr>
          <p:cNvPr id="5132" name="Picture 12" descr="How to Decipher False Positives (and Negatives) with Bayes' Theorem – The  Stats Ninja">
            <a:extLst>
              <a:ext uri="{FF2B5EF4-FFF2-40B4-BE49-F238E27FC236}">
                <a16:creationId xmlns:a16="http://schemas.microsoft.com/office/drawing/2014/main" id="{852883A4-4EC5-633C-C569-9305FEE7A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1779" y="1700809"/>
            <a:ext cx="6191225" cy="3818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87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7A16-70FD-5F9C-82F2-BFBB18AD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1E0D05F-AB83-DCDF-6007-1D057B50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1500329-A5D7-F9B1-1F3C-BE517A639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/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FE2885-AFF1-2062-4D1E-B7C732F82842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581A04-0990-6007-2C98-A6ACE0C5F247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F875AC9-947E-AE64-7E06-C31EC5893D0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A96610-0088-A1E2-DEA7-0B10C6C165A4}"/>
              </a:ext>
            </a:extLst>
          </p:cNvPr>
          <p:cNvSpPr/>
          <p:nvPr/>
        </p:nvSpPr>
        <p:spPr>
          <a:xfrm>
            <a:off x="1269876" y="2564904"/>
            <a:ext cx="1027593" cy="34563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D9FBC6A-B071-CD5C-374D-DA25EAF8FD1E}"/>
              </a:ext>
            </a:extLst>
          </p:cNvPr>
          <p:cNvSpPr/>
          <p:nvPr/>
        </p:nvSpPr>
        <p:spPr>
          <a:xfrm>
            <a:off x="3430116" y="2564904"/>
            <a:ext cx="1152128" cy="345638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059F18F0-B3DE-7DB5-777C-97C03BD5A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0229" y="2263731"/>
            <a:ext cx="6336108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36E2FBE8-2BCA-A291-3941-96F82417E54A}"/>
              </a:ext>
            </a:extLst>
          </p:cNvPr>
          <p:cNvSpPr/>
          <p:nvPr/>
        </p:nvSpPr>
        <p:spPr>
          <a:xfrm>
            <a:off x="5690229" y="2263731"/>
            <a:ext cx="3284503" cy="25922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70F7786-04E7-76CC-7447-9570B35EDDBA}"/>
              </a:ext>
            </a:extLst>
          </p:cNvPr>
          <p:cNvSpPr/>
          <p:nvPr/>
        </p:nvSpPr>
        <p:spPr>
          <a:xfrm>
            <a:off x="9022844" y="2263731"/>
            <a:ext cx="3003493" cy="259228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F6A536-A564-8934-6B25-CFA8F9AC8B34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빨강색 박스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/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&lt;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𝟒𝟎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/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&gt;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𝟓𝟎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5190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14890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927,071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82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501008"/>
            <a:ext cx="432048" cy="43204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76872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869160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859467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566589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152345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445224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645648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717032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82613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92896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368369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85184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64970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556587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62880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22108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82099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628800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97666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913233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82099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911056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628800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89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20279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915797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84784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317806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37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032F-C180-E51F-B6F6-EED7B2A0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E3E75D-A15C-F849-694C-CBB7698B4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8FE96-96FB-D223-D68F-1A0684C4E7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72DADA1-30EF-355E-BFE6-AA496EEE0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09B0668-6EF9-7583-E30A-3B662FD84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11" y="1628800"/>
            <a:ext cx="4996889" cy="45406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935C308-53F4-64FC-BAEC-E482FB6EF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382" y="1628800"/>
            <a:ext cx="5882654" cy="452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0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90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304103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43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4028-5201-06F9-1F7A-3C39BB55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4A6A9FF-A368-0C80-75AA-B198FD8B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0204C7-5808-E924-0A93-9CD21F2968DA}"/>
              </a:ext>
            </a:extLst>
          </p:cNvPr>
          <p:cNvSpPr txBox="1"/>
          <p:nvPr/>
        </p:nvSpPr>
        <p:spPr>
          <a:xfrm>
            <a:off x="693812" y="836712"/>
            <a:ext cx="8928992" cy="1134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en-US" altLang="ko-KR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6582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7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17864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65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0913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2234</TotalTime>
  <Words>3365</Words>
  <Application>Microsoft Office PowerPoint</Application>
  <PresentationFormat>사용자 지정</PresentationFormat>
  <Paragraphs>532</Paragraphs>
  <Slides>62</Slides>
  <Notes>60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77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94</cp:revision>
  <dcterms:created xsi:type="dcterms:W3CDTF">2024-06-03T06:10:16Z</dcterms:created>
  <dcterms:modified xsi:type="dcterms:W3CDTF">2026-04-02T07:16:38Z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