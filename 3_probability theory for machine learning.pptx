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69"/>
  </p:notesMasterIdLst>
  <p:handoutMasterIdLst>
    <p:handoutMasterId r:id="rId70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1" r:id="rId11"/>
    <p:sldId id="380" r:id="rId12"/>
    <p:sldId id="379" r:id="rId13"/>
    <p:sldId id="362" r:id="rId14"/>
    <p:sldId id="272" r:id="rId15"/>
    <p:sldId id="403" r:id="rId16"/>
    <p:sldId id="387" r:id="rId17"/>
    <p:sldId id="276" r:id="rId18"/>
    <p:sldId id="307" r:id="rId19"/>
    <p:sldId id="308" r:id="rId20"/>
    <p:sldId id="340" r:id="rId21"/>
    <p:sldId id="363" r:id="rId22"/>
    <p:sldId id="277" r:id="rId23"/>
    <p:sldId id="278" r:id="rId24"/>
    <p:sldId id="364" r:id="rId25"/>
    <p:sldId id="279" r:id="rId26"/>
    <p:sldId id="284" r:id="rId27"/>
    <p:sldId id="377" r:id="rId28"/>
    <p:sldId id="280" r:id="rId29"/>
    <p:sldId id="281" r:id="rId30"/>
    <p:sldId id="382" r:id="rId31"/>
    <p:sldId id="283" r:id="rId32"/>
    <p:sldId id="383" r:id="rId33"/>
    <p:sldId id="288" r:id="rId34"/>
    <p:sldId id="290" r:id="rId35"/>
    <p:sldId id="289" r:id="rId36"/>
    <p:sldId id="286" r:id="rId37"/>
    <p:sldId id="287" r:id="rId38"/>
    <p:sldId id="393" r:id="rId39"/>
    <p:sldId id="395" r:id="rId40"/>
    <p:sldId id="396" r:id="rId41"/>
    <p:sldId id="291" r:id="rId42"/>
    <p:sldId id="375" r:id="rId43"/>
    <p:sldId id="374" r:id="rId44"/>
    <p:sldId id="365" r:id="rId45"/>
    <p:sldId id="293" r:id="rId46"/>
    <p:sldId id="324" r:id="rId47"/>
    <p:sldId id="338" r:id="rId48"/>
    <p:sldId id="330" r:id="rId49"/>
    <p:sldId id="407" r:id="rId50"/>
    <p:sldId id="406" r:id="rId51"/>
    <p:sldId id="389" r:id="rId52"/>
    <p:sldId id="401" r:id="rId53"/>
    <p:sldId id="367" r:id="rId54"/>
    <p:sldId id="402" r:id="rId55"/>
    <p:sldId id="405" r:id="rId56"/>
    <p:sldId id="397" r:id="rId57"/>
    <p:sldId id="399" r:id="rId58"/>
    <p:sldId id="301" r:id="rId59"/>
    <p:sldId id="388" r:id="rId60"/>
    <p:sldId id="404" r:id="rId61"/>
    <p:sldId id="398" r:id="rId62"/>
    <p:sldId id="390" r:id="rId63"/>
    <p:sldId id="391" r:id="rId64"/>
    <p:sldId id="400" r:id="rId65"/>
    <p:sldId id="305" r:id="rId66"/>
    <p:sldId id="394" r:id="rId67"/>
    <p:sldId id="304" r:id="rId6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78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handoutMaster" Target="handoutMasters/handoutMaster1.xml"/><Relationship Id="rId7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2026-04-02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9D94-84CA-A7EF-195A-B720F2DF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89F605-83F1-96C0-E8A4-43D23F188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64E87F-6520-2A21-1C3A-FAEF58570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2C412-BE22-D3CF-3E28-0C725DC41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8750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EF4CE-A706-128C-507B-39B0F161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6170D2-5FC3-158A-6770-97BAC38A2D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429410-0503-5FB7-27EF-06FA66090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23591C-27CA-652E-ADE4-C07E18DFB9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67257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2E2F2-3E59-A6ED-89F7-474F531FD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96518D-B7F9-22BE-B506-6685530C9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734E8-139E-46C5-E787-096289EA3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879914-E3BB-D6BD-030C-90FE70F8AA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74541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905779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355545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DA98C-AC6D-D045-3360-E5101100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B7DF42-103B-0A8E-1A5F-F34F28092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99A903-E5AD-2A02-4125-D59886AFF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EA7200-9482-F7B8-C538-EDAB68449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3082726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488503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341856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87256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13AD9-91B4-70C7-2656-14A5085A7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312053-789B-ABD5-54C9-101E4409CE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2D146F-CDEC-79AA-63DC-DBF423D8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BF8AB7-B950-496B-C190-B189149670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024195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1943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535996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76971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20014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35232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7385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2026-04-02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2026-04-02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11.png"/><Relationship Id="rId7" Type="http://schemas.microsoft.com/office/2007/relationships/hdphoto" Target="../media/hdphoto1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www.youtube.com/watch?v=DfQH3o6dKss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2.svg"/><Relationship Id="rId4" Type="http://schemas.openxmlformats.org/officeDocument/2006/relationships/image" Target="../media/image17.png"/><Relationship Id="rId9" Type="http://schemas.openxmlformats.org/officeDocument/2006/relationships/image" Target="../media/image21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eg"/><Relationship Id="rId4" Type="http://schemas.openxmlformats.org/officeDocument/2006/relationships/image" Target="../media/image40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jpe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30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61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6.png"/><Relationship Id="rId10" Type="http://schemas.openxmlformats.org/officeDocument/2006/relationships/image" Target="../media/image65.png"/><Relationship Id="rId4" Type="http://schemas.openxmlformats.org/officeDocument/2006/relationships/image" Target="../media/image63.png"/><Relationship Id="rId9" Type="http://schemas.openxmlformats.org/officeDocument/2006/relationships/image" Target="../media/image6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60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jpe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60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9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jpeg"/><Relationship Id="rId4" Type="http://schemas.openxmlformats.org/officeDocument/2006/relationships/hyperlink" Target="https://seaborn.pydata.org/examples/layered_bivariate_plot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jpe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477788" y="184482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2171074" y="1200842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동시확률을 이해하기 위한 문제</a:t>
            </a:r>
            <a:endParaRPr lang="ko-KR" altLang="en-US" b="1" dirty="0"/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980" y="404664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확률실험</a:t>
                </a:r>
                <a:r>
                  <a:rPr lang="en-US" altLang="ko-KR" sz="2000" dirty="0">
                    <a:latin typeface="+mj-ea"/>
                    <a:ea typeface="+mj-ea"/>
                  </a:rPr>
                  <a:t>(Random Experiments)</a:t>
                </a:r>
                <a:r>
                  <a:rPr lang="ko-KR" altLang="en-US" sz="2000" dirty="0">
                    <a:latin typeface="+mj-ea"/>
                    <a:ea typeface="+mj-ea"/>
                  </a:rPr>
                  <a:t>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발생가능한 결과가 정해져 있는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동전을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번 던짐</a:t>
                </a:r>
                <a:r>
                  <a:rPr lang="en-US" altLang="ko-KR" dirty="0">
                    <a:latin typeface="+mj-ea"/>
                    <a:ea typeface="+mj-ea"/>
                  </a:rPr>
                  <a:t>(</a:t>
                </a:r>
                <a:r>
                  <a:rPr lang="ko-KR" altLang="en-US" dirty="0">
                    <a:latin typeface="+mj-ea"/>
                    <a:ea typeface="+mj-ea"/>
                  </a:rPr>
                  <a:t>혹은 </a:t>
                </a:r>
                <a:r>
                  <a:rPr lang="en-US" altLang="ko-KR" dirty="0">
                    <a:latin typeface="+mj-ea"/>
                    <a:ea typeface="+mj-ea"/>
                  </a:rPr>
                  <a:t>2</a:t>
                </a:r>
                <a:r>
                  <a:rPr lang="ko-KR" altLang="en-US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dirty="0">
                    <a:latin typeface="+mj-ea"/>
                    <a:ea typeface="+mj-ea"/>
                  </a:rPr>
                  <a:t>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000" dirty="0">
                    <a:latin typeface="+mj-ea"/>
                    <a:ea typeface="+mj-ea"/>
                  </a:rPr>
                  <a:t>(Sample Space) : </a:t>
                </a:r>
                <a:r>
                  <a:rPr lang="ko-KR" altLang="en-US" sz="2000" dirty="0">
                    <a:latin typeface="+mj-ea"/>
                    <a:ea typeface="+mj-ea"/>
                  </a:rPr>
                  <a:t>실험에서 발생하는 모든 경우의 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endParaRPr lang="en-US" altLang="ko-KR" sz="20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000" dirty="0">
                    <a:latin typeface="+mj-ea"/>
                    <a:ea typeface="+mj-ea"/>
                  </a:rPr>
                  <a:t>✔ 확률변수 정의 </a:t>
                </a:r>
                <a:r>
                  <a:rPr lang="en-US" altLang="ko-KR" sz="2000" dirty="0">
                    <a:latin typeface="+mj-ea"/>
                    <a:ea typeface="+mj-ea"/>
                  </a:rPr>
                  <a:t>: </a:t>
                </a:r>
                <a:r>
                  <a:rPr lang="ko-KR" altLang="en-US" sz="2000" dirty="0">
                    <a:latin typeface="+mj-ea"/>
                    <a:ea typeface="+mj-ea"/>
                  </a:rPr>
                  <a:t>확률실험의 결과</a:t>
                </a:r>
                <a:r>
                  <a:rPr lang="en-US" altLang="ko-KR" sz="2000" dirty="0">
                    <a:latin typeface="+mj-ea"/>
                    <a:ea typeface="+mj-ea"/>
                  </a:rPr>
                  <a:t>(Event)</a:t>
                </a:r>
                <a:r>
                  <a:rPr lang="ko-KR" altLang="en-US" sz="2000" dirty="0">
                    <a:latin typeface="+mj-ea"/>
                    <a:ea typeface="+mj-ea"/>
                  </a:rPr>
                  <a:t>들을 실수로 변환해주는 함수</a:t>
                </a:r>
                <a:endParaRPr lang="en-US" altLang="ko-KR" sz="20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+mj-ea"/>
                    <a:ea typeface="+mj-ea"/>
                  </a:rPr>
                  <a:t>확률변수는 사건 → 숫자 값으로 매핑하는 함수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4248" y="1484784"/>
                <a:ext cx="10225136" cy="4732834"/>
              </a:xfrm>
              <a:prstGeom prst="rect">
                <a:avLst/>
              </a:prstGeom>
              <a:blipFill>
                <a:blip r:embed="rId3"/>
                <a:stretch>
                  <a:fillRect l="-596" b="-116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47546817-2FA8-9C89-8C56-9362F7FBF6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25273" y="2007697"/>
            <a:ext cx="6120680" cy="4501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2D3BE7-4C25-C85D-3506-419B0757094F}"/>
              </a:ext>
            </a:extLst>
          </p:cNvPr>
          <p:cNvSpPr txBox="1"/>
          <p:nvPr/>
        </p:nvSpPr>
        <p:spPr>
          <a:xfrm>
            <a:off x="693812" y="1052736"/>
            <a:ext cx="11089232" cy="141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500"/>
              </a:spcAft>
              <a:buNone/>
            </a:pPr>
            <a:r>
              <a:rPr lang="en-US" altLang="ko-KR" sz="2000" b="0" i="0" dirty="0">
                <a:solidFill>
                  <a:srgbClr val="202122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 variable is a function from all possible outcomes to numerical quantities and it is used for defining probability functions.</a:t>
            </a:r>
            <a:b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0" y="3400962"/>
                <a:ext cx="439248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4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400" dirty="0"/>
                  <a:t>   </a:t>
                </a:r>
                <a:endParaRPr lang="ko-KR" altLang="en-US" sz="4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204" y="3144705"/>
                <a:ext cx="2398340" cy="1126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608F7D0-B773-D11F-1994-D0C93D3D8818}"/>
              </a:ext>
            </a:extLst>
          </p:cNvPr>
          <p:cNvSpPr txBox="1"/>
          <p:nvPr/>
        </p:nvSpPr>
        <p:spPr>
          <a:xfrm>
            <a:off x="463614" y="1383666"/>
            <a:ext cx="9303206" cy="49449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500"/>
              </a:spcAft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포커와 로열 스트레이트 플러시 중에서 어느 것의 발생확률이 더 높은가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AutoShape 6">
            <a:extLst>
              <a:ext uri="{FF2B5EF4-FFF2-40B4-BE49-F238E27FC236}">
                <a16:creationId xmlns:a16="http://schemas.microsoft.com/office/drawing/2014/main" id="{2E37D284-95E6-99C2-9F6F-D7E1D3297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79F4675-C598-E22C-0ADD-968BDBF9E3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48" y="2254450"/>
            <a:ext cx="2107146" cy="160659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994939-B9DA-EE07-6F21-48DD3B489C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4871" y="4357795"/>
            <a:ext cx="2057687" cy="17909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1AF42AA-30B7-7FCA-DE7B-4D819B567A40}"/>
              </a:ext>
            </a:extLst>
          </p:cNvPr>
          <p:cNvSpPr txBox="1"/>
          <p:nvPr/>
        </p:nvSpPr>
        <p:spPr>
          <a:xfrm>
            <a:off x="9425694" y="2480201"/>
            <a:ext cx="23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에이스 포커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(Four of a Kind - Aces)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D0D5AC-E76B-0B6F-4CD4-628F6CA2A116}"/>
              </a:ext>
            </a:extLst>
          </p:cNvPr>
          <p:cNvSpPr txBox="1"/>
          <p:nvPr/>
        </p:nvSpPr>
        <p:spPr>
          <a:xfrm>
            <a:off x="9437628" y="4360678"/>
            <a:ext cx="23983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로열 스트레이트 플러시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(Royal Straight Flush)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9FFA72-CDE0-1042-0553-40E2E4C25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B6AEA99-33A7-D646-75E2-8F12BBB0419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5002338"/>
                  </p:ext>
                </p:extLst>
              </p:nvPr>
            </p:nvGraphicFramePr>
            <p:xfrm>
              <a:off x="981844" y="2636913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맑은 고딕 Semilight" panose="020B0502040204020203" pitchFamily="50" charset="-127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5645" r="-369399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5645" r="-309697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5645" r="-18627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5645" r="-101515" b="-1298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5645" r="-1515" b="-1298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8365" r="-369399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8365" r="-309697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8365" r="-18627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8365" r="-101515" b="-125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8365" r="-1515" b="-125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484784"/>
            <a:ext cx="10926588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동전 던지기 실험에서 나온 앞면과 뒷면이 나온 순서의 쌍을 확률변수로 설정하고 확률을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확률변수의 확률이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¼(0.25)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아닌 이유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504A3-11C6-A4B6-FEB7-9B521201F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A3193A-5C37-1295-0D77-79B1BC12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5E54ED-270C-EBD6-7186-358A63F3796F}"/>
              </a:ext>
            </a:extLst>
          </p:cNvPr>
          <p:cNvSpPr/>
          <p:nvPr/>
        </p:nvSpPr>
        <p:spPr>
          <a:xfrm>
            <a:off x="765820" y="281951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 Particle Duality Explained</a:t>
            </a:r>
            <a:endParaRPr lang="en-US" altLang="ko-KR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343D174-FA76-A565-AE83-817FFA5171E8}"/>
              </a:ext>
            </a:extLst>
          </p:cNvPr>
          <p:cNvGrpSpPr/>
          <p:nvPr/>
        </p:nvGrpSpPr>
        <p:grpSpPr>
          <a:xfrm>
            <a:off x="3461256" y="836712"/>
            <a:ext cx="4762255" cy="2951030"/>
            <a:chOff x="2368021" y="2035369"/>
            <a:chExt cx="4568717" cy="224300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C012A9E-82CB-2131-A251-48868C8EF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4867706" y="2209340"/>
              <a:ext cx="2243002" cy="1895062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00FED4F-7CA4-E1E2-4EE5-8A370BABC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68021" y="2035369"/>
              <a:ext cx="2683596" cy="2241355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13A2659-57A1-160B-7F71-392DA19F874D}"/>
              </a:ext>
            </a:extLst>
          </p:cNvPr>
          <p:cNvSpPr txBox="1"/>
          <p:nvPr/>
        </p:nvSpPr>
        <p:spPr>
          <a:xfrm>
            <a:off x="8402331" y="938589"/>
            <a:ext cx="25166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Double Slit Experiment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BBCB4992-A854-50D2-0597-925AFA91D501}"/>
              </a:ext>
            </a:extLst>
          </p:cNvPr>
          <p:cNvGrpSpPr/>
          <p:nvPr/>
        </p:nvGrpSpPr>
        <p:grpSpPr>
          <a:xfrm>
            <a:off x="3456989" y="3694559"/>
            <a:ext cx="4763086" cy="3019425"/>
            <a:chOff x="2374321" y="4472205"/>
            <a:chExt cx="4562417" cy="224465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85251753-1FC5-E322-6D64-8C0D9885B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74321" y="4472205"/>
              <a:ext cx="2721554" cy="2244509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1A9BBBF0-7385-7534-391D-655A4EB6B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4867706" y="4647824"/>
              <a:ext cx="2243002" cy="1895062"/>
            </a:xfrm>
            <a:prstGeom prst="rect">
              <a:avLst/>
            </a:prstGeom>
          </p:spPr>
        </p:pic>
      </p:grpSp>
      <p:pic>
        <p:nvPicPr>
          <p:cNvPr id="17" name="그림 16">
            <a:extLst>
              <a:ext uri="{FF2B5EF4-FFF2-40B4-BE49-F238E27FC236}">
                <a16:creationId xmlns:a16="http://schemas.microsoft.com/office/drawing/2014/main" id="{A36015E5-2211-C3C8-0AC6-9F0E846C9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707911" y="2909786"/>
            <a:ext cx="3965901" cy="20396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A3D0142-B2BB-A8FB-44D8-614DF08C3313}"/>
              </a:ext>
            </a:extLst>
          </p:cNvPr>
          <p:cNvSpPr txBox="1"/>
          <p:nvPr/>
        </p:nvSpPr>
        <p:spPr>
          <a:xfrm>
            <a:off x="795225" y="1484784"/>
            <a:ext cx="11277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Laser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17A8BE-7028-9BD7-1E05-B77A85CFA83B}"/>
              </a:ext>
            </a:extLst>
          </p:cNvPr>
          <p:cNvSpPr txBox="1"/>
          <p:nvPr/>
        </p:nvSpPr>
        <p:spPr>
          <a:xfrm>
            <a:off x="795225" y="4036830"/>
            <a:ext cx="18878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Electron gun</a:t>
            </a:r>
            <a:endParaRPr lang="en-US" altLang="ko-KR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098" name="Picture 2" descr="schoolphysics ::Welcome::">
            <a:extLst>
              <a:ext uri="{FF2B5EF4-FFF2-40B4-BE49-F238E27FC236}">
                <a16:creationId xmlns:a16="http://schemas.microsoft.com/office/drawing/2014/main" id="{970AF06D-1B9B-E5E8-B7EF-AA9A644CD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069" y="4591971"/>
            <a:ext cx="2564914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우주와 은하수 별 복고풍 스타일의 3d 그림에서 광속 줌 여행. 우주와 은하수 스타 복고풍 스타일의 3d 그림에서 광속 줌 여행.">
            <a:extLst>
              <a:ext uri="{FF2B5EF4-FFF2-40B4-BE49-F238E27FC236}">
                <a16:creationId xmlns:a16="http://schemas.microsoft.com/office/drawing/2014/main" id="{CBBB60F5-979B-B075-0424-7877AE3AA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883" y="1574600"/>
            <a:ext cx="823019" cy="143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그래픽 22" descr="눈 단색으로 채워진">
            <a:extLst>
              <a:ext uri="{FF2B5EF4-FFF2-40B4-BE49-F238E27FC236}">
                <a16:creationId xmlns:a16="http://schemas.microsoft.com/office/drawing/2014/main" id="{5C08BA10-46C8-D726-64FC-E00593A699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723628" y="510688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41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202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확인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51152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92378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0345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700808"/>
            <a:ext cx="9939333" cy="3927050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3B6103-F76B-2993-97AF-547CED237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0516" y="924551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92890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코드로 검증하고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AF80B28-3E90-86A4-B1C6-1ED933FEE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63B8586-B9BC-4B03-7921-F6CB2DF0B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945" y="5208295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97A16-70FD-5F9C-82F2-BFBB18AD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1E0D05F-AB83-DCDF-6007-1D057B508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1500329-A5D7-F9B1-1F3C-BE517A639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/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C4DE6E5-2F8D-EE24-6061-C94F699F76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414" y="5229200"/>
                <a:ext cx="1027593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FE2885-AFF1-2062-4D1E-B7C732F82842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581A04-0990-6007-2C98-A6ACE0C5F247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F875AC9-947E-AE64-7E06-C31EC5893D0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7A96610-0088-A1E2-DEA7-0B10C6C165A4}"/>
              </a:ext>
            </a:extLst>
          </p:cNvPr>
          <p:cNvSpPr/>
          <p:nvPr/>
        </p:nvSpPr>
        <p:spPr>
          <a:xfrm>
            <a:off x="1269876" y="2564904"/>
            <a:ext cx="1027593" cy="34563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D9FBC6A-B071-CD5C-374D-DA25EAF8FD1E}"/>
              </a:ext>
            </a:extLst>
          </p:cNvPr>
          <p:cNvSpPr/>
          <p:nvPr/>
        </p:nvSpPr>
        <p:spPr>
          <a:xfrm>
            <a:off x="3430116" y="2564904"/>
            <a:ext cx="1152128" cy="3456384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059F18F0-B3DE-7DB5-777C-97C03BD5A6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0229" y="2263731"/>
            <a:ext cx="6336108" cy="2592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36E2FBE8-2BCA-A291-3941-96F82417E54A}"/>
              </a:ext>
            </a:extLst>
          </p:cNvPr>
          <p:cNvSpPr/>
          <p:nvPr/>
        </p:nvSpPr>
        <p:spPr>
          <a:xfrm>
            <a:off x="5690229" y="2263731"/>
            <a:ext cx="3284503" cy="25922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70F7786-04E7-76CC-7447-9570B35EDDBA}"/>
              </a:ext>
            </a:extLst>
          </p:cNvPr>
          <p:cNvSpPr/>
          <p:nvPr/>
        </p:nvSpPr>
        <p:spPr>
          <a:xfrm>
            <a:off x="9022844" y="2263731"/>
            <a:ext cx="3003493" cy="259228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F6A536-A564-8934-6B25-CFA8F9AC8B34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빨강색 박스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/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&lt;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𝟒𝟎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713ED6-BB3B-3A3C-9AA4-942D897FD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31" y="5017329"/>
                <a:ext cx="2111696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/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d>
                        <m:dPr>
                          <m:endChr m:val="|"/>
                          <m:ctrlP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</m:ctrlPr>
                        </m:dPr>
                        <m:e>
                          <m:r>
                            <a:rPr lang="en-US" altLang="ko-KR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맑은 고딕 Semilight" panose="020B0502040204020203" pitchFamily="50" charset="-127"/>
                              <a:cs typeface="맑은 고딕 Semilight" panose="020B0502040204020203" pitchFamily="50" charset="-127"/>
                            </a:rPr>
                            <m:t>𝑿</m:t>
                          </m:r>
                        </m:e>
                      </m:d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&gt;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𝟓𝟎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EB33B1-F482-301C-F5FF-F9CF2349D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0796" y="5016250"/>
                <a:ext cx="2111696" cy="369332"/>
              </a:xfrm>
              <a:prstGeom prst="rect">
                <a:avLst/>
              </a:prstGeom>
              <a:blipFill>
                <a:blip r:embed="rId11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5190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C3921-3021-A2F4-41DD-E491B58E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CD7C2C-546B-CF7F-95E2-45B41C17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60754B-67CB-90D7-5964-4967D16519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4C03BD1-6447-6817-9667-38649654BB2D}"/>
              </a:ext>
            </a:extLst>
          </p:cNvPr>
          <p:cNvGrpSpPr/>
          <p:nvPr/>
        </p:nvGrpSpPr>
        <p:grpSpPr>
          <a:xfrm>
            <a:off x="674731" y="1700809"/>
            <a:ext cx="4628281" cy="3816424"/>
            <a:chOff x="674731" y="1700808"/>
            <a:chExt cx="5161191" cy="4255855"/>
          </a:xfrm>
        </p:grpSpPr>
        <p:pic>
          <p:nvPicPr>
            <p:cNvPr id="5128" name="Picture 8" descr="img">
              <a:extLst>
                <a:ext uri="{FF2B5EF4-FFF2-40B4-BE49-F238E27FC236}">
                  <a16:creationId xmlns:a16="http://schemas.microsoft.com/office/drawing/2014/main" id="{75D943D4-565B-F046-7CFC-EA8B4D5FCB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8409" y="1700808"/>
              <a:ext cx="5147513" cy="2903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17B0180D-05D5-1FE4-B49F-0D42F72C2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4731" y="4509401"/>
              <a:ext cx="5161191" cy="1447262"/>
            </a:xfrm>
            <a:prstGeom prst="rect">
              <a:avLst/>
            </a:prstGeom>
          </p:spPr>
        </p:pic>
      </p:grpSp>
      <p:pic>
        <p:nvPicPr>
          <p:cNvPr id="5132" name="Picture 12" descr="How to Decipher False Positives (and Negatives) with Bayes' Theorem – The  Stats Ninja">
            <a:extLst>
              <a:ext uri="{FF2B5EF4-FFF2-40B4-BE49-F238E27FC236}">
                <a16:creationId xmlns:a16="http://schemas.microsoft.com/office/drawing/2014/main" id="{852883A4-4EC5-633C-C569-9305FEE7A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1779" y="1700809"/>
            <a:ext cx="6191225" cy="3818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878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60851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986,484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82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501008"/>
            <a:ext cx="432048" cy="432048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76872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869160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859467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566589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152345"/>
            <a:ext cx="432048" cy="432048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445224"/>
            <a:ext cx="432048" cy="432048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645648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717032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82613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92896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368369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85184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64970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556587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62880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22108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82099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628800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97666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913233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82099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911056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628800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89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20279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915797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84784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317806"/>
            <a:ext cx="4320480" cy="636361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937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D032F-C180-E51F-B6F6-EED7B2A01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9E3E75D-A15C-F849-694C-CBB7698B4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8FE96-96FB-D223-D68F-1A0684C4E7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72DADA1-30EF-355E-BFE6-AA496EEE08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09B0668-6EF9-7583-E30A-3B662FD845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11" y="1628800"/>
            <a:ext cx="4996889" cy="45406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935C308-53F4-64FC-BAEC-E482FB6EF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382" y="1628800"/>
            <a:ext cx="5882654" cy="4525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0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90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304103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43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84028-5201-06F9-1F7A-3C39BB55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4A6A9FF-A368-0C80-75AA-B198FD8BC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0204C7-5808-E924-0A93-9CD21F2968DA}"/>
              </a:ext>
            </a:extLst>
          </p:cNvPr>
          <p:cNvSpPr txBox="1"/>
          <p:nvPr/>
        </p:nvSpPr>
        <p:spPr>
          <a:xfrm>
            <a:off x="693812" y="836712"/>
            <a:ext cx="8928992" cy="1134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en-US" altLang="ko-KR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765821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275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517864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7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657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64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091393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2229</TotalTime>
  <Words>4117</Words>
  <Application>Microsoft Office PowerPoint</Application>
  <PresentationFormat>사용자 지정</PresentationFormat>
  <Paragraphs>592</Paragraphs>
  <Slides>64</Slides>
  <Notes>62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9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93</cp:revision>
  <dcterms:created xsi:type="dcterms:W3CDTF">2024-06-03T06:10:16Z</dcterms:created>
  <dcterms:modified xsi:type="dcterms:W3CDTF">2026-04-02T07:00:58Z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