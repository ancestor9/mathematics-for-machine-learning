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8"/>
  </p:notesMasterIdLst>
  <p:handoutMasterIdLst>
    <p:handoutMasterId r:id="rId69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40" r:id="rId20"/>
    <p:sldId id="363" r:id="rId21"/>
    <p:sldId id="277" r:id="rId22"/>
    <p:sldId id="278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88" r:id="rId33"/>
    <p:sldId id="290" r:id="rId34"/>
    <p:sldId id="289" r:id="rId35"/>
    <p:sldId id="286" r:id="rId36"/>
    <p:sldId id="287" r:id="rId37"/>
    <p:sldId id="393" r:id="rId38"/>
    <p:sldId id="395" r:id="rId39"/>
    <p:sldId id="396" r:id="rId40"/>
    <p:sldId id="291" r:id="rId41"/>
    <p:sldId id="375" r:id="rId42"/>
    <p:sldId id="374" r:id="rId43"/>
    <p:sldId id="365" r:id="rId44"/>
    <p:sldId id="293" r:id="rId45"/>
    <p:sldId id="324" r:id="rId46"/>
    <p:sldId id="338" r:id="rId47"/>
    <p:sldId id="302" r:id="rId48"/>
    <p:sldId id="330" r:id="rId49"/>
    <p:sldId id="327" r:id="rId50"/>
    <p:sldId id="335" r:id="rId51"/>
    <p:sldId id="336" r:id="rId52"/>
    <p:sldId id="392" r:id="rId53"/>
    <p:sldId id="389" r:id="rId54"/>
    <p:sldId id="372" r:id="rId55"/>
    <p:sldId id="390" r:id="rId56"/>
    <p:sldId id="391" r:id="rId57"/>
    <p:sldId id="400" r:id="rId58"/>
    <p:sldId id="388" r:id="rId59"/>
    <p:sldId id="398" r:id="rId60"/>
    <p:sldId id="397" r:id="rId61"/>
    <p:sldId id="399" r:id="rId62"/>
    <p:sldId id="301" r:id="rId63"/>
    <p:sldId id="367" r:id="rId64"/>
    <p:sldId id="305" r:id="rId65"/>
    <p:sldId id="394" r:id="rId66"/>
    <p:sldId id="304" r:id="rId6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2026-03-31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2026-03-31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862470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19320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56250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43905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2026-03-31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jpeg"/><Relationship Id="rId4" Type="http://schemas.openxmlformats.org/officeDocument/2006/relationships/hyperlink" Target="https://en.wikipedia.org/wiki/Sunrise_problem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3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jpeg"/><Relationship Id="rId5" Type="http://schemas.openxmlformats.org/officeDocument/2006/relationships/image" Target="../media/image73.pn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jpe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jpeg"/><Relationship Id="rId4" Type="http://schemas.openxmlformats.org/officeDocument/2006/relationships/hyperlink" Target="https://seaborn.pydata.org/examples/layered_bivariate_plot.html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46439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Pascal(1623~1662)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 + ½*½ + ½*½*½ 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½*½*½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Ferma(1607~1665)</a:t>
            </a:r>
          </a:p>
          <a:p>
            <a:pPr marL="742950" lvl="1" indent="-285750">
              <a:lnSpc>
                <a:spcPct val="3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0956" y="1196752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동전을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번 던짐</a:t>
                </a:r>
                <a:r>
                  <a:rPr lang="en-US" altLang="ko-KR" sz="2000" dirty="0">
                    <a:latin typeface="+mj-ea"/>
                    <a:ea typeface="+mj-ea"/>
                  </a:rPr>
                  <a:t>(</a:t>
                </a:r>
                <a:r>
                  <a:rPr lang="ko-KR" altLang="en-US" sz="2000" dirty="0">
                    <a:latin typeface="+mj-ea"/>
                    <a:ea typeface="+mj-ea"/>
                  </a:rPr>
                  <a:t>혹은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sz="2000" dirty="0">
                    <a:latin typeface="+mj-ea"/>
                    <a:ea typeface="+mj-ea"/>
                  </a:rPr>
                  <a:t>)</a:t>
                </a:r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400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sz="2000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확률변수 정의</a:t>
                </a:r>
                <a:endParaRPr lang="en-US" altLang="ko-KR" sz="24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sz="2000" b="1" dirty="0">
                    <a:latin typeface="+mj-ea"/>
                    <a:ea typeface="+mj-ea"/>
                  </a:rPr>
                  <a:t>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blipFill>
                <a:blip r:embed="rId3"/>
                <a:stretch>
                  <a:fillRect l="-1114" b="-18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3200" r="-369399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3200" r="-309697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3200" r="-18627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3200" r="-10151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3200" r="-1515" b="-128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9873" r="-369399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9873" r="-309697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9873" r="-18627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9873" r="-10151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9873" r="-1515" b="-1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70080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+mj-ea"/>
                <a:ea typeface="+mj-ea"/>
              </a:rPr>
              <a:t>100</a:t>
            </a:r>
            <a:r>
              <a:rPr lang="ko-KR" altLang="en-US" sz="2000" dirty="0">
                <a:latin typeface="+mj-ea"/>
                <a:ea typeface="+mj-ea"/>
              </a:rPr>
              <a:t>번 실험에서 나온 빈도를 확률변수로 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92890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코드로 검증하고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AF80B28-3E90-86A4-B1C6-1ED933FEE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63B8586-B9BC-4B03-7921-F6CB2DF0B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7416824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3A450EB-4B72-5B57-CA6B-890A22B1A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36E39909-7DFD-09F1-3547-A6E5059E381B}"/>
              </a:ext>
            </a:extLst>
          </p:cNvPr>
          <p:cNvSpPr/>
          <p:nvPr/>
        </p:nvSpPr>
        <p:spPr>
          <a:xfrm>
            <a:off x="1413892" y="1617684"/>
            <a:ext cx="9361040" cy="94722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1413892" y="2564904"/>
            <a:ext cx="9361040" cy="3829876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blipFill>
                  <a:blip r:embed="rId5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B27ED658-D512-B508-1758-40CC52285B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8837" y="1556792"/>
            <a:ext cx="3743847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8468" y="1678268"/>
            <a:ext cx="5363889" cy="460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79" y="908720"/>
            <a:ext cx="1162387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40mm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836" y="1704469"/>
            <a:ext cx="5392706" cy="457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467" y="1820143"/>
            <a:ext cx="5303697" cy="450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484" y="1815326"/>
            <a:ext cx="5218067" cy="4468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((Flipper Length)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67" y="1700808"/>
            <a:ext cx="5303696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1772816"/>
            <a:ext cx="10814847" cy="442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228" y="2318650"/>
            <a:ext cx="1943021" cy="14942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468" y="2311708"/>
            <a:ext cx="2197140" cy="149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43" y="2877924"/>
            <a:ext cx="6264183" cy="328450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561735" y="4350899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850F4DC-D4C4-1CBD-43FE-3B1D5B65CC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0516" y="2877924"/>
            <a:ext cx="4752528" cy="169427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/>
                        </m:ctrlPr>
                      </m:sSupPr>
                      <m:e>
                        <m:r>
                          <a:rPr lang="en-US" altLang="ko-KR" sz="1400"/>
                          <m:t>(</m:t>
                        </m:r>
                        <m:f>
                          <m:fPr>
                            <m:ctrlPr>
                              <a:rPr lang="en-US" altLang="ko-KR" sz="1400"/>
                            </m:ctrlPr>
                          </m:fPr>
                          <m:num>
                            <m:r>
                              <a:rPr lang="en-US" altLang="ko-KR" sz="1400"/>
                              <m:t>1</m:t>
                            </m:r>
                          </m:num>
                          <m:den>
                            <m:r>
                              <a:rPr lang="en-US" altLang="ko-KR" sz="1400"/>
                              <m:t>2</m:t>
                            </m:r>
                          </m:den>
                        </m:f>
                        <m:r>
                          <a:rPr lang="en-US" altLang="ko-KR" sz="1400"/>
                          <m:t>)</m:t>
                        </m:r>
                        <m:r>
                          <a:rPr lang="en-US" altLang="ko-KR" sz="1400"/>
                          <m:t> </m:t>
                        </m:r>
                      </m:e>
                      <m:sup>
                        <m:r>
                          <a:rPr lang="en-US" altLang="ko-KR" sz="1400"/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360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29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595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603068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1824</TotalTime>
  <Words>4012</Words>
  <Application>Microsoft Office PowerPoint</Application>
  <PresentationFormat>사용자 지정</PresentationFormat>
  <Paragraphs>556</Paragraphs>
  <Slides>63</Slides>
  <Notes>61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8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85</cp:revision>
  <dcterms:created xsi:type="dcterms:W3CDTF">2024-06-03T06:10:16Z</dcterms:created>
  <dcterms:modified xsi:type="dcterms:W3CDTF">2026-03-31T07:39:25Z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