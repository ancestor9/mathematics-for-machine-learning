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5"/>
  </p:notesMasterIdLst>
  <p:handoutMasterIdLst>
    <p:handoutMasterId r:id="rId66"/>
  </p:handoutMasterIdLst>
  <p:sldIdLst>
    <p:sldId id="256" r:id="rId5"/>
    <p:sldId id="314" r:id="rId6"/>
    <p:sldId id="361" r:id="rId7"/>
    <p:sldId id="360" r:id="rId8"/>
    <p:sldId id="371" r:id="rId9"/>
    <p:sldId id="313" r:id="rId10"/>
    <p:sldId id="369" r:id="rId11"/>
    <p:sldId id="370" r:id="rId12"/>
    <p:sldId id="270" r:id="rId13"/>
    <p:sldId id="379" r:id="rId14"/>
    <p:sldId id="380" r:id="rId15"/>
    <p:sldId id="273" r:id="rId16"/>
    <p:sldId id="362" r:id="rId17"/>
    <p:sldId id="272" r:id="rId18"/>
    <p:sldId id="276" r:id="rId19"/>
    <p:sldId id="306" r:id="rId20"/>
    <p:sldId id="307" r:id="rId21"/>
    <p:sldId id="303" r:id="rId22"/>
    <p:sldId id="309" r:id="rId23"/>
    <p:sldId id="310" r:id="rId24"/>
    <p:sldId id="311" r:id="rId25"/>
    <p:sldId id="312" r:id="rId26"/>
    <p:sldId id="316" r:id="rId27"/>
    <p:sldId id="308" r:id="rId28"/>
    <p:sldId id="299" r:id="rId29"/>
    <p:sldId id="363" r:id="rId30"/>
    <p:sldId id="277" r:id="rId31"/>
    <p:sldId id="364" r:id="rId32"/>
    <p:sldId id="275" r:id="rId33"/>
    <p:sldId id="279" r:id="rId34"/>
    <p:sldId id="278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8" r:id="rId43"/>
    <p:sldId id="305" r:id="rId44"/>
    <p:sldId id="304" r:id="rId45"/>
    <p:sldId id="287" r:id="rId46"/>
    <p:sldId id="289" r:id="rId47"/>
    <p:sldId id="290" r:id="rId48"/>
    <p:sldId id="291" r:id="rId49"/>
    <p:sldId id="376" r:id="rId50"/>
    <p:sldId id="374" r:id="rId51"/>
    <p:sldId id="375" r:id="rId52"/>
    <p:sldId id="292" r:id="rId53"/>
    <p:sldId id="377" r:id="rId54"/>
    <p:sldId id="365" r:id="rId55"/>
    <p:sldId id="293" r:id="rId56"/>
    <p:sldId id="373" r:id="rId57"/>
    <p:sldId id="372" r:id="rId58"/>
    <p:sldId id="300" r:id="rId59"/>
    <p:sldId id="368" r:id="rId60"/>
    <p:sldId id="367" r:id="rId61"/>
    <p:sldId id="317" r:id="rId62"/>
    <p:sldId id="301" r:id="rId63"/>
    <p:sldId id="378" r:id="rId64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-11813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2026-03-25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A2A46-096E-01F3-4F5A-B103B0E19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76E9A7F-3EAA-AE59-A376-AA828E7C9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C318BF-8FC5-BDB6-D473-12D760F04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ACC461-529A-3A44-C6E7-DF119867C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64093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AAC-DC71-22FD-567E-F9417987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70311-34B3-38EB-1F92-F1F620954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4AC722-197F-E460-53F8-8EAA601A9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738FAA-B235-47FF-C58A-EBB0424113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487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8B2E-CE9B-332C-ECAC-6E96C9B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FEE594-EB81-B9B3-43E1-8B5400E27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3C604-D67D-E9F0-3B80-8B31937C5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168C89-F771-0225-D12F-1F032598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0287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3557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B7FC-E2D0-DB9D-3756-8AB327117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9A1CA5-2D7A-A065-73C6-014CA1AD1A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E8B974-8872-EACB-53AD-8FBAF245AB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438BAC-3FEA-A5AB-83B2-0849471A21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761925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00CF6-5920-0CA6-3F8E-4850E12E7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A7576B-A27F-3199-150D-042D26DF7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8642E0-0FB1-797D-CF35-4685A4F278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CA476-B9CA-43B9-2413-0B0B9C902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86993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05E63-A183-1C57-974D-F76ABC5AF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FF3AA1-E3EE-970D-F440-E030D26D7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E2F409-9F5B-7A50-BA35-321510B4E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7FAF3B-8B17-5685-DF3B-DA15093D2C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03288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756F7-E313-A6F3-9D3A-ACD09FE9B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9F812C-E674-BA17-5EB0-B3A76C44E5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25E0EB-8D28-8EFD-B525-E8A6E815E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979DA1-EA29-36B5-34E9-5FEB8C390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54629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60413-F5A8-585F-2275-1E7A943E1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BADD07-D324-3C0E-E1C5-F02F19BD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3934B8-39C6-4267-3F2A-22734AB77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805EAA-3A32-3084-63A2-F512E0B536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46459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C45E9-E1F5-B9BE-691C-57348341D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018331-D45B-5866-6D13-7712ABE15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03AE31-B135-DF83-161D-65DA11877C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3EBEE0-D778-0150-3509-2101749903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3769447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22411-9270-E6DB-FEBE-D46F8926B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56ED2C-BF78-CEC5-FBBC-5DC4A6079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7732F5-3792-F895-162D-C2AD0B405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85A7E7-5426-4348-9A86-EB4EE25819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83981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2366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276516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292161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66658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129F0-A6E4-9F5C-5AE3-D348BAD0D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A5B226-E91B-313B-131C-57E413D69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6DFE73-6C55-E174-70A5-DBFB90DAB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30BF11-3E6B-84B2-1EED-5D580851B1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657885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229104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8907686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C31F2-4782-718A-5FB7-5A4FFB61F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4FDA506-7A48-AE3A-BD16-D68B5C02E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FADF75-C648-A546-56DE-41CE7ED060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076BB5-3086-D451-E3A1-8ADF2F0F67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9222992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6513-788E-9B6B-E3D0-925981512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A7103B-96E7-F3D6-F7EC-588847105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D3D7AF-CB32-CC58-4B77-591465AF1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081571-C7DA-CBDE-F06D-01C763EFA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54784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EFE3-73D3-9DD8-CC0B-02DAD6F54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A6AB7A-4F1A-F373-9342-044F29B94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3DE742-A51D-C802-AC73-A63F1B1AB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FCA30D-1800-86C7-F3CD-65794497F9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684473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83883-22E2-74B0-638B-F1F6D6403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B8F7A6-7066-B0AB-DAD0-5C5710C6F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CBF5FB-FB93-E0CF-F82D-81443BA94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68B9AF-15EA-3736-58A8-36CA7A6D58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399332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E4FC8-DF45-68DE-E07C-905279D12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2343B87-5DA0-7977-540C-B51C62739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605AAF-2704-E04C-5E2A-F989E85175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8E6FE-91CA-C690-5404-0CC1B7EBD2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052678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2026-03-25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2026-03-25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uggingface.co/learn/nlp-course/chapter1/4?fw=pt" TargetMode="Externa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aive_Bayes_classifier" TargetMode="Externa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779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신은 주사위를 던진다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확률과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놀라움은 반비례한다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746B46-6FD0-13D0-FF25-E75F1625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7794CA-12A4-DEAA-75BE-6CB405CE5401}"/>
              </a:ext>
            </a:extLst>
          </p:cNvPr>
          <p:cNvSpPr/>
          <p:nvPr/>
        </p:nvSpPr>
        <p:spPr>
          <a:xfrm>
            <a:off x="189756" y="338469"/>
            <a:ext cx="43380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표본의 모든 값은 확률변수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0BC407D-91E4-2891-A0B3-2A3233E7FA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561" y="2492895"/>
            <a:ext cx="10057417" cy="4026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F05895F-567B-D608-321D-5DAF5B5B6D20}"/>
              </a:ext>
            </a:extLst>
          </p:cNvPr>
          <p:cNvSpPr txBox="1"/>
          <p:nvPr/>
        </p:nvSpPr>
        <p:spPr>
          <a:xfrm>
            <a:off x="333772" y="1235759"/>
            <a:ext cx="11017224" cy="7951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("diamonds")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변수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총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53,940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50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개씩 표본을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비복원추출하여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각 표본의 평균을 구하고 표본평균의 산술식의 의미를 생각하고 확률변수의 의미를 토론하라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64B235-9241-66EE-D823-F543DF70D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4624" y="2204864"/>
            <a:ext cx="3806372" cy="18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961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793B876-0513-600B-A5D5-5AB86C280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87" y="1124744"/>
            <a:ext cx="7719453" cy="49685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9E74E-A16C-1718-57CD-D7D3F76F7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F6EAA2F-CBE2-932B-4F5D-1CF91899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6563F3-94EF-9491-D44B-803618076A71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던져서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나올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던져서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4569A8-2444-3755-61EB-DBEDF50AFA7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07499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333772" y="1124744"/>
            <a:ext cx="11161240" cy="342093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+mj-ea"/>
                <a:ea typeface="+mj-ea"/>
              </a:rPr>
              <a:t>1</a:t>
            </a:r>
            <a:r>
              <a:rPr lang="ko-KR" altLang="en-US" dirty="0">
                <a:latin typeface="+mj-ea"/>
                <a:ea typeface="+mj-ea"/>
              </a:rPr>
              <a:t>억의 상금이 걸린 게임이 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+mj-ea"/>
                <a:ea typeface="+mj-ea"/>
              </a:rPr>
              <a:t>A, B </a:t>
            </a:r>
            <a:r>
              <a:rPr lang="ko-KR" altLang="en-US" dirty="0">
                <a:latin typeface="+mj-ea"/>
                <a:ea typeface="+mj-ea"/>
              </a:rPr>
              <a:t>두 사람이 라운드마다 각각 </a:t>
            </a:r>
            <a:r>
              <a:rPr lang="en-US" altLang="ko-KR" dirty="0">
                <a:latin typeface="+mj-ea"/>
                <a:ea typeface="+mj-ea"/>
              </a:rPr>
              <a:t>50% </a:t>
            </a:r>
            <a:r>
              <a:rPr lang="ko-KR" altLang="en-US" dirty="0">
                <a:latin typeface="+mj-ea"/>
                <a:ea typeface="+mj-ea"/>
              </a:rPr>
              <a:t>확률로 승패 결과가 있는 경우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누구나 </a:t>
            </a:r>
            <a:r>
              <a:rPr lang="en-US" altLang="ko-KR" dirty="0">
                <a:latin typeface="+mj-ea"/>
                <a:ea typeface="+mj-ea"/>
              </a:rPr>
              <a:t>6</a:t>
            </a:r>
            <a:r>
              <a:rPr lang="ko-KR" altLang="en-US" dirty="0">
                <a:latin typeface="+mj-ea"/>
                <a:ea typeface="+mj-ea"/>
              </a:rPr>
              <a:t>번을 이기면 게임이 끝나게 된다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현재까지 </a:t>
            </a:r>
            <a:r>
              <a:rPr lang="en-US" altLang="ko-KR" dirty="0">
                <a:latin typeface="+mj-ea"/>
                <a:ea typeface="+mj-ea"/>
              </a:rPr>
              <a:t>8</a:t>
            </a:r>
            <a:r>
              <a:rPr lang="ko-KR" altLang="en-US" dirty="0">
                <a:latin typeface="+mj-ea"/>
                <a:ea typeface="+mj-ea"/>
              </a:rPr>
              <a:t>번의 라운드에서 </a:t>
            </a:r>
            <a:r>
              <a:rPr lang="en-US" altLang="ko-KR" dirty="0">
                <a:latin typeface="+mj-ea"/>
                <a:ea typeface="+mj-ea"/>
              </a:rPr>
              <a:t>A</a:t>
            </a:r>
            <a:r>
              <a:rPr lang="ko-KR" altLang="en-US" dirty="0">
                <a:latin typeface="+mj-ea"/>
                <a:ea typeface="+mj-ea"/>
              </a:rPr>
              <a:t>는 </a:t>
            </a:r>
            <a:r>
              <a:rPr lang="en-US" altLang="ko-KR" dirty="0">
                <a:latin typeface="+mj-ea"/>
                <a:ea typeface="+mj-ea"/>
              </a:rPr>
              <a:t>5</a:t>
            </a:r>
            <a:r>
              <a:rPr lang="ko-KR" altLang="en-US" dirty="0">
                <a:latin typeface="+mj-ea"/>
                <a:ea typeface="+mj-ea"/>
              </a:rPr>
              <a:t>번</a:t>
            </a:r>
            <a:r>
              <a:rPr lang="en-US" altLang="ko-KR" dirty="0">
                <a:latin typeface="+mj-ea"/>
                <a:ea typeface="+mj-ea"/>
              </a:rPr>
              <a:t>, B</a:t>
            </a:r>
            <a:r>
              <a:rPr lang="ko-KR" altLang="en-US" dirty="0">
                <a:latin typeface="+mj-ea"/>
                <a:ea typeface="+mj-ea"/>
              </a:rPr>
              <a:t>는 </a:t>
            </a:r>
            <a:r>
              <a:rPr lang="en-US" altLang="ko-KR" dirty="0">
                <a:latin typeface="+mj-ea"/>
                <a:ea typeface="+mj-ea"/>
              </a:rPr>
              <a:t>3</a:t>
            </a:r>
            <a:r>
              <a:rPr lang="ko-KR" altLang="en-US" dirty="0">
                <a:latin typeface="+mj-ea"/>
                <a:ea typeface="+mj-ea"/>
              </a:rPr>
              <a:t>번 이겼다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+mj-ea"/>
                <a:ea typeface="+mj-ea"/>
              </a:rPr>
              <a:t>1</a:t>
            </a:r>
            <a:r>
              <a:rPr lang="ko-KR" altLang="en-US" dirty="0">
                <a:latin typeface="+mj-ea"/>
                <a:ea typeface="+mj-ea"/>
              </a:rPr>
              <a:t>억 상금을 각각 공평하게 나누려면 얼마씩 배분하여야 하는가</a:t>
            </a:r>
            <a:r>
              <a:rPr lang="en-US" altLang="ko-KR" dirty="0">
                <a:latin typeface="+mj-ea"/>
                <a:ea typeface="+mj-ea"/>
              </a:rPr>
              <a:t>? A,B</a:t>
            </a:r>
            <a:r>
              <a:rPr lang="ko-KR" altLang="en-US" dirty="0">
                <a:latin typeface="+mj-ea"/>
                <a:ea typeface="+mj-ea"/>
              </a:rPr>
              <a:t>가 각각 이길 확률</a:t>
            </a:r>
            <a:r>
              <a:rPr lang="en-US" altLang="ko-KR" dirty="0">
                <a:latin typeface="+mj-ea"/>
                <a:ea typeface="+mj-ea"/>
              </a:rPr>
              <a:t>?</a:t>
            </a:r>
            <a:r>
              <a:rPr lang="ko-KR" altLang="en-US" dirty="0">
                <a:latin typeface="+mj-ea"/>
                <a:ea typeface="+mj-ea"/>
              </a:rPr>
              <a:t> </a:t>
            </a:r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E4739-A87B-0562-0D6E-42C8155E0247}"/>
              </a:ext>
            </a:extLst>
          </p:cNvPr>
          <p:cNvSpPr txBox="1"/>
          <p:nvPr/>
        </p:nvSpPr>
        <p:spPr>
          <a:xfrm>
            <a:off x="464586" y="5615034"/>
            <a:ext cx="6113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결합확률</a:t>
            </a:r>
            <a:r>
              <a:rPr lang="en-US" altLang="ko-KR" dirty="0">
                <a:solidFill>
                  <a:srgbClr val="002060"/>
                </a:solidFill>
                <a:latin typeface="+mj-ea"/>
                <a:ea typeface="+mj-ea"/>
              </a:rPr>
              <a:t>, </a:t>
            </a:r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동시확률을 이해하기 위한 문제</a:t>
            </a:r>
            <a:endParaRPr lang="ko-KR" altLang="en-US" dirty="0">
              <a:solidFill>
                <a:srgbClr val="002060"/>
              </a:solidFill>
            </a:endParaRPr>
          </a:p>
        </p:txBody>
      </p:sp>
      <p:pic>
        <p:nvPicPr>
          <p:cNvPr id="11" name="그래픽 10" descr="연필">
            <a:extLst>
              <a:ext uri="{FF2B5EF4-FFF2-40B4-BE49-F238E27FC236}">
                <a16:creationId xmlns:a16="http://schemas.microsoft.com/office/drawing/2014/main" id="{8550D6BA-66AF-CB61-0B13-5C584A2A1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9492" y="4818856"/>
            <a:ext cx="707668" cy="70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CC3755-3917-B5AD-AC51-02A04E516082}"/>
              </a:ext>
            </a:extLst>
          </p:cNvPr>
          <p:cNvSpPr txBox="1"/>
          <p:nvPr/>
        </p:nvSpPr>
        <p:spPr>
          <a:xfrm>
            <a:off x="333772" y="1124744"/>
            <a:ext cx="5544616" cy="338047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Pascal(1623~1662)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 + ½*½ + ½*½*½ 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½*½*½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Ferma(1607~1665)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AAA,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AAB, ABA, ABB, BAA, BAB, BBA, BBB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459" y="1132710"/>
            <a:ext cx="5475517" cy="474456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9770" y="1196752"/>
            <a:ext cx="1552206" cy="1850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8032C4B-915A-9F44-4FA5-B998EDC18D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6100" y="4505221"/>
            <a:ext cx="1193308" cy="1512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526459" y="5958610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/>
              <p:nvPr/>
            </p:nvSpPr>
            <p:spPr>
              <a:xfrm>
                <a:off x="1413892" y="1772816"/>
                <a:ext cx="8208912" cy="38710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dirty="0">
                    <a:latin typeface="+mj-ea"/>
                    <a:ea typeface="+mj-ea"/>
                  </a:rPr>
                  <a:t>✔ 실험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동전을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번 던짐</a:t>
                </a:r>
                <a:r>
                  <a:rPr lang="en-US" altLang="ko-KR" dirty="0">
                    <a:latin typeface="+mj-ea"/>
                    <a:ea typeface="+mj-ea"/>
                  </a:rPr>
                  <a:t>(</a:t>
                </a:r>
                <a:r>
                  <a:rPr lang="ko-KR" altLang="en-US" dirty="0">
                    <a:latin typeface="+mj-ea"/>
                    <a:ea typeface="+mj-ea"/>
                  </a:rPr>
                  <a:t>혹은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개를 동시에 던짐</a:t>
                </a:r>
                <a:r>
                  <a:rPr lang="en-US" altLang="ko-KR" dirty="0">
                    <a:latin typeface="+mj-ea"/>
                    <a:ea typeface="+mj-ea"/>
                  </a:rPr>
                  <a:t>)</a:t>
                </a:r>
                <a:endParaRPr lang="ko-KR" altLang="en-US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dirty="0">
                    <a:latin typeface="+mj-ea"/>
                    <a:ea typeface="+mj-ea"/>
                  </a:rPr>
                  <a:t>✔ 표본공간 </a:t>
                </a:r>
                <a:r>
                  <a:rPr lang="en-US" altLang="ko-KR" dirty="0">
                    <a:latin typeface="+mj-ea"/>
                    <a:ea typeface="+mj-ea"/>
                  </a:rPr>
                  <a:t>(Sample Space)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  <a:ea typeface="+mj-ea"/>
                      </a:rPr>
                      <m:t>𝑆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={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}</m:t>
                    </m:r>
                  </m:oMath>
                </a14:m>
                <a:endParaRPr lang="ko-KR" altLang="en-US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dirty="0">
                    <a:latin typeface="+mj-ea"/>
                    <a:ea typeface="+mj-ea"/>
                  </a:rPr>
                  <a:t>✔ 확률변수 정의</a:t>
                </a:r>
                <a:endParaRPr lang="en-US" altLang="ko-KR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확률변수는 </a:t>
                </a:r>
                <a:r>
                  <a:rPr lang="ko-KR" altLang="en-US" b="1" dirty="0">
                    <a:latin typeface="+mj-ea"/>
                    <a:ea typeface="+mj-ea"/>
                  </a:rPr>
                  <a:t>사건 → 숫자 값으로 매핑하는 함수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+mj-ea"/>
                    <a:ea typeface="+mj-ea"/>
                  </a:rPr>
                  <a:t>100</a:t>
                </a:r>
                <a:r>
                  <a:rPr lang="ko-KR" altLang="en-US" dirty="0">
                    <a:latin typeface="+mj-ea"/>
                    <a:ea typeface="+mj-ea"/>
                  </a:rPr>
                  <a:t>번 실험에서 나온 빈도를 확률변수로 설정</a:t>
                </a:r>
                <a:endParaRPr lang="en-US" altLang="ko-KR" dirty="0"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3892" y="1772816"/>
                <a:ext cx="8208912" cy="3871060"/>
              </a:xfrm>
              <a:prstGeom prst="rect">
                <a:avLst/>
              </a:prstGeom>
              <a:blipFill>
                <a:blip r:embed="rId3"/>
                <a:stretch>
                  <a:fillRect l="-668" b="-15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1AA2-7665-89C3-A8AC-74C2F1B4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AD45C6-4544-A375-0C8B-F71C226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AC118F-BF0C-2737-5E5C-6AA784F48F3F}"/>
              </a:ext>
            </a:extLst>
          </p:cNvPr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3754196"/>
                  </p:ext>
                </p:extLst>
              </p:nvPr>
            </p:nvGraphicFramePr>
            <p:xfrm>
              <a:off x="1197868" y="2852936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2000" b="1" baseline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2000" b="1" baseline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HH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HT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TH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TT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24</a:t>
                          </a:r>
                          <a:r>
                            <a:rPr lang="ko-KR" altLang="en-US" sz="2800" dirty="0">
                              <a:solidFill>
                                <a:schemeClr val="tx1"/>
                              </a:solidFill>
                            </a:rPr>
                            <a:t>회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21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28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27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확률변수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2000" b="1" kern="1200" smtClean="0">
                                  <a:solidFill>
                                    <a:schemeClr val="tx1"/>
                                  </a:solidFill>
                                </a:rPr>
                                <m:t>𝑿</m:t>
                              </m:r>
                            </m:oMath>
                          </a14:m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n-US" altLang="ko-KR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빈도</a:t>
                          </a:r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=24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=21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b="0" dirty="0">
                              <a:solidFill>
                                <a:schemeClr val="tx1"/>
                              </a:solidFill>
                            </a:rPr>
                            <a:t>28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0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altLang="ko-KR" sz="1800" b="0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=28</m:t>
                              </m:r>
                            </m:oMath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=27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kern="12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확률 </a:t>
                          </a:r>
                          <a:endParaRPr lang="en-US" altLang="ko-KR" sz="2000" b="1" kern="12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2000" b="1" kern="1200" smtClean="0">
                                    <a:solidFill>
                                      <a:schemeClr val="tx1"/>
                                    </a:solidFill>
                                  </a:rPr>
                                  <m:t>(</m:t>
                                </m:r>
                                <m:r>
                                  <a:rPr lang="en-US" altLang="ko-KR" sz="2000" b="1" kern="1200" smtClean="0">
                                    <a:solidFill>
                                      <a:schemeClr val="tx1"/>
                                    </a:solidFill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𝑿</m:t>
                                    </m:r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=</m:t>
                                    </m:r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𝒙</m:t>
                                    </m:r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)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=24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=21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2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=28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2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=27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2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3754196"/>
                  </p:ext>
                </p:extLst>
              </p:nvPr>
            </p:nvGraphicFramePr>
            <p:xfrm>
              <a:off x="1197868" y="2852936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2000" b="1" baseline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2000" b="1" baseline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HH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HT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TH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TT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24</a:t>
                          </a:r>
                          <a:r>
                            <a:rPr lang="ko-KR" altLang="en-US" sz="2800" dirty="0">
                              <a:solidFill>
                                <a:schemeClr val="tx1"/>
                              </a:solidFill>
                            </a:rPr>
                            <a:t>회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21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28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27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5600" r="-369399" b="-12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0876" t="-205600" r="-308459" b="-12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6067" t="-205600" r="-186798" b="-12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8429" t="-205600" r="-100906" b="-12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697" t="-205600" r="-1212" b="-12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41772" r="-369399" b="-12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0876" t="-241772" r="-308459" b="-12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6067" t="-241772" r="-186798" b="-12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8429" t="-241772" r="-100906" b="-12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697" t="-241772" r="-1212" b="-12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902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1F99-A4EC-7F3F-934E-66005ED4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9D4F466-55C4-B16A-4029-996A9BC5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/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𝑃𝑟𝑜𝑏𝑎𝑏𝑖𝑙𝑖𝑡𝑦</m:t>
                      </m:r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   =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/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4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𝑆𝑢𝑝𝑟𝑖𝑠𝑒</m:t>
                        </m:r>
                      </m:den>
                    </m:f>
                  </m:oMath>
                </a14:m>
                <a:r>
                  <a:rPr lang="en-US" altLang="ko-KR" sz="4800" dirty="0"/>
                  <a:t>   </a:t>
                </a:r>
                <a:endParaRPr lang="ko-KR" altLang="en-US" sz="48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얼굴이 그려진 공 무리">
            <a:extLst>
              <a:ext uri="{FF2B5EF4-FFF2-40B4-BE49-F238E27FC236}">
                <a16:creationId xmlns:a16="http://schemas.microsoft.com/office/drawing/2014/main" id="{6D98B705-2128-E698-C0F3-EF068395D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020" y="3123111"/>
            <a:ext cx="4392488" cy="2928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6264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9168" y="1843950"/>
            <a:ext cx="11017224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분포를 알 수 있다면 모든 것을 알 수 있다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우리는 모집단의 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나이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소득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등등의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parameter)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분포를 전수조사를 하지 않으면 알 수가 없기 때문에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Sampling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을 통해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Sample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확률변수의 분포를 알고 모집단의 확률변수를 추정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(Inference)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할 뿐이다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따라서 확률 분포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(Probability Distribution of 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종류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?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D557313-FC0D-740B-56FB-FCDB49BCBF61}"/>
              </a:ext>
            </a:extLst>
          </p:cNvPr>
          <p:cNvSpPr/>
          <p:nvPr/>
        </p:nvSpPr>
        <p:spPr>
          <a:xfrm>
            <a:off x="765820" y="764704"/>
            <a:ext cx="398538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확률변수를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모두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알려면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</p:spTree>
    <p:extLst>
      <p:ext uri="{BB962C8B-B14F-4D97-AF65-F5344CB8AC3E}">
        <p14:creationId xmlns:p14="http://schemas.microsoft.com/office/powerpoint/2010/main" val="2486728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형 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74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동전의 앞과 뒤면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카드의 종류 등은 수자가 양의 정수로 셀 수 있으면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(Discrete,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離散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몸무게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시간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나이 등은 연속되어 관측하지 못하면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	</a:t>
            </a:r>
            <a:r>
              <a:rPr lang="ko-KR" altLang="en-US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연속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(Continuous,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連續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2852936"/>
            <a:ext cx="6934801" cy="3566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764" y="1988840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29275" y="2128500"/>
            <a:ext cx="60486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실제로 시간과 나이</a:t>
            </a:r>
            <a:r>
              <a:rPr lang="en-US" altLang="ko-KR" sz="1600" dirty="0"/>
              <a:t>(age)</a:t>
            </a:r>
            <a:r>
              <a:rPr lang="ko-KR" altLang="en-US" sz="1600" dirty="0"/>
              <a:t>는 존재하고 관측할 수 있는가</a:t>
            </a:r>
            <a:r>
              <a:rPr lang="en-US" altLang="ko-KR" sz="1600" dirty="0"/>
              <a:t>? No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/>
              <a:t>1</a:t>
            </a:r>
            <a:r>
              <a:rPr lang="ko-KR" altLang="en-US" sz="1600" dirty="0"/>
              <a:t>시</a:t>
            </a:r>
            <a:r>
              <a:rPr lang="en-US" altLang="ko-KR" sz="1600" dirty="0"/>
              <a:t>10</a:t>
            </a:r>
            <a:r>
              <a:rPr lang="ko-KR" altLang="en-US" sz="1600" dirty="0"/>
              <a:t>분에 버스를 탈 확률은</a:t>
            </a:r>
            <a:r>
              <a:rPr lang="en-US" altLang="ko-KR" sz="1600" dirty="0"/>
              <a:t>? </a:t>
            </a:r>
            <a:r>
              <a:rPr lang="ko-KR" altLang="en-US" sz="1600" dirty="0"/>
              <a:t> </a:t>
            </a:r>
            <a:r>
              <a:rPr lang="en-US" altLang="ko-KR" sz="1600" dirty="0"/>
              <a:t>No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8D918-8BCD-4EBB-F52D-33E99BB3C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8014A3B-E05C-E16C-694A-3329F7D3E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4DB3DE-4AE5-6516-34E6-E1AE5629E858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134609-F5D1-B602-90AB-5C18E527F48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81341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4ED5F4-1C31-1FD4-F302-EAB4A56707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88" y="1035446"/>
            <a:ext cx="11133062" cy="2520280"/>
          </a:xfrm>
          <a:prstGeom prst="rect">
            <a:avLst/>
          </a:prstGeom>
        </p:spPr>
      </p:pic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8709" y="3895604"/>
            <a:ext cx="3612002" cy="2853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3658" y="3890051"/>
            <a:ext cx="3528392" cy="2831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C0CDE06-E314-A126-4F17-CAACB24A86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151" y="3895604"/>
            <a:ext cx="1310754" cy="21947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F59C48F-849A-7E71-1840-89EEB34D78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4767" y="3895404"/>
            <a:ext cx="1508891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5BBAE-FFE3-2677-8A21-7FF742C91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E3B10F-0B9A-C967-A286-C4EE00119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5AA3EE-1640-1C9A-ED1B-40A28CF70D13}"/>
              </a:ext>
            </a:extLst>
          </p:cNvPr>
          <p:cNvSpPr txBox="1"/>
          <p:nvPr/>
        </p:nvSpPr>
        <p:spPr>
          <a:xfrm>
            <a:off x="261764" y="1268760"/>
            <a:ext cx="11161240" cy="11253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확률변수를 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(Height)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 가정하고 당신의 키의 확률을 구하라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밀도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(density)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잴 수 있는가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6DD9AE-E24D-E2F0-6A63-F8A55D75E0B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E986AD7-3E7B-5919-60EE-F74CB4116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2924944"/>
            <a:ext cx="4937358" cy="28083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63746ED-F49D-BDFF-E16A-9CEA0E945F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356" y="2924944"/>
            <a:ext cx="4801594" cy="2808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957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96E5B-1A28-3E3C-99D5-65BF6F82E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D783AFE-83D0-3344-C4F2-E7B40207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/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히스토그램과 확률밀도함수 관계를 설명하라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상식적으로 이해하지 마라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확률밀도는 직접 측정되는 값이 아니라 확률을 이용해 계산되는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비율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개념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미분 값으로 존재하지 않는 값이다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  <a:endParaRPr lang="ko-KR" altLang="en-US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6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func>
                            <m:func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fName>
                            <m:e/>
                          </m:func>
                        </m:e>
                        <m:lim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ko-KR" altLang="en-US" sz="160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ko-KR" sz="1600">
                              <a:latin typeface="Cambria Math" panose="02040503050406030204" pitchFamily="18" charset="0"/>
                            </a:rPr>
                            <m:t>0</m:t>
                          </m:r>
                        </m:lim>
                      </m:limLow>
                      <m:f>
                        <m:f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ko-KR" altLang="en-US" sz="1600" dirty="0"/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면적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,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밀도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높이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blipFill>
                <a:blip r:embed="rId3"/>
                <a:stretch>
                  <a:fillRect l="-218"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4B46042-8D95-9C25-0AB5-B8CC2ED30D73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6A6584D-678B-00D4-793F-7C3C72BCAC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189" y="2996952"/>
            <a:ext cx="4811395" cy="35302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7E6A1CD-1241-5345-77CB-DDF545F413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242" y="2980767"/>
            <a:ext cx="4355615" cy="3530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9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A786C-8452-461E-DB54-7B13E230C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0BF5E10-4D5D-0E3D-AAD9-533E3BC32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EC001F-94A0-9406-88DB-65BB35B0FF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AAFA978D-4556-7909-45B1-FF0CCC1DCA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7588" y="3109192"/>
            <a:ext cx="10414892" cy="2555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C7951D-D81F-F753-1AB0-EC313649BA77}"/>
              </a:ext>
            </a:extLst>
          </p:cNvPr>
          <p:cNvSpPr txBox="1"/>
          <p:nvPr/>
        </p:nvSpPr>
        <p:spPr>
          <a:xfrm>
            <a:off x="418144" y="845423"/>
            <a:ext cx="11508916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“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total_bill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”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변수를 기준으로 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bandwidths = [1, 2, 4, 8, 12]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인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경우 히스토그램을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변수도 다양한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바탕으로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1319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8F8B4-D898-4FE3-C256-2D663CCE4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EF20291-B8E6-441E-E52B-A382EE578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AC7B0E-D0AF-23E6-20B5-63656A6721A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F896D0-9A5A-8596-29E5-AD843E2F5D09}"/>
              </a:ext>
            </a:extLst>
          </p:cNvPr>
          <p:cNvSpPr txBox="1"/>
          <p:nvPr/>
        </p:nvSpPr>
        <p:spPr>
          <a:xfrm>
            <a:off x="418144" y="845423"/>
            <a:ext cx="11508916" cy="225004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어떤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모집단을 가장 잘 보여주고 있는가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토론하고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solution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제시하라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방법을 참고하라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수식 기반 규칙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(Freedman–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Diaconis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Scott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Monte Carlo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방식 시뮬레이션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FE64D0E2-0FF0-7906-8CC6-F3EC0DCC9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2470" y="3667118"/>
            <a:ext cx="3876068" cy="2570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43FE636D-D3F6-E7E3-E6AF-0D5FC550E0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2437" y="3667118"/>
            <a:ext cx="3876068" cy="2602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D0028F-DA36-E744-8355-A4846CDE9604}"/>
              </a:ext>
            </a:extLst>
          </p:cNvPr>
          <p:cNvSpPr txBox="1"/>
          <p:nvPr/>
        </p:nvSpPr>
        <p:spPr>
          <a:xfrm>
            <a:off x="921355" y="3148823"/>
            <a:ext cx="3577362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5ADB6-5579-DB33-7D74-E88D42FCE7DB}"/>
              </a:ext>
            </a:extLst>
          </p:cNvPr>
          <p:cNvSpPr txBox="1"/>
          <p:nvPr/>
        </p:nvSpPr>
        <p:spPr>
          <a:xfrm>
            <a:off x="5878388" y="3082306"/>
            <a:ext cx="3357458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646236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EC05-258B-CBA8-ABB9-5342CFFBE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12CB4BE-311D-239F-DDBF-C0F05B43A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A6E16-2EC6-295A-B539-93B34BEAE9C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E4215A-8A70-CB54-9D21-BDC8122C59E5}"/>
              </a:ext>
            </a:extLst>
          </p:cNvPr>
          <p:cNvSpPr txBox="1"/>
          <p:nvPr/>
        </p:nvSpPr>
        <p:spPr>
          <a:xfrm>
            <a:off x="418144" y="845423"/>
            <a:ext cx="5100204" cy="563558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Histogram(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오른쪽 그림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은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에서 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 곡선의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데이터의 특성을 기반으로 자동으로 계산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기본적으로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Scott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규칙이나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Silverman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규칙과 같은 방법을 사용하여 최적의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추정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따라서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코드에서 특정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값이 명시적으로 설정된 것이 아니라 데이터에 따라 동적으로 결정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유효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2.9590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=10,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다양한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시각화해 보아라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! (50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개로 하면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B9874A61-F8FF-3079-13C6-EA0B1C784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392" y="812885"/>
            <a:ext cx="4329516" cy="3505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97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42611-A7A1-851B-91E1-7E4CA8E8C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8F7825-2356-BD5A-6BF7-BE241161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1E4E40-9920-95E4-3C23-5F78B603D3F1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196B66-0F0F-AD72-6FA0-ED4F393E91B5}"/>
              </a:ext>
            </a:extLst>
          </p:cNvPr>
          <p:cNvSpPr txBox="1"/>
          <p:nvPr/>
        </p:nvSpPr>
        <p:spPr>
          <a:xfrm>
            <a:off x="375958" y="980728"/>
            <a:ext cx="11436908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데이터의 총 매출액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600" dirty="0" err="1"/>
              <a:t>total_bill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=?,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분산과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편향을 토론하고 발표하라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높으면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or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낮으면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분산과 편향은 각각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어떤가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(Hyperparameter Tuning)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3A8957B-8DE1-416B-BAB3-7711697A7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3742" y="2395911"/>
            <a:ext cx="9976464" cy="3960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41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6CD7EF-0328-6311-76C9-0EC2001BF1CA}"/>
              </a:ext>
            </a:extLst>
          </p:cNvPr>
          <p:cNvSpPr txBox="1"/>
          <p:nvPr/>
        </p:nvSpPr>
        <p:spPr>
          <a:xfrm>
            <a:off x="261764" y="1268760"/>
            <a:ext cx="11161240" cy="51815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확률밀도함수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=PDF(Probability Density Function)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누적확률밀도함수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=CDF(Cumulative Distribution Function)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70F50A4-825A-ABD9-B68B-EDE2FC2A6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1988840"/>
            <a:ext cx="9537318" cy="446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31791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키와 몸무게 등 무한한 실수 값을 값으로 하는 확률변수의 연속확률밀도 함수인가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당신의 키를 확률로 구할 수 있는가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Likelihood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설명하라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연속확률밀도 함수의 밀도의 의미와 이산확률질량 함수의 질량의 의미를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양자 역학의 빛의 파동설과 입자설에 대해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280407"/>
              </p:ext>
            </p:extLst>
          </p:nvPr>
        </p:nvGraphicFramePr>
        <p:xfrm>
          <a:off x="1557908" y="1916832"/>
          <a:ext cx="9073008" cy="104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확률변수 </a:t>
                      </a:r>
                      <a:r>
                        <a:rPr lang="en-US" altLang="ko-KR" sz="1600" dirty="0"/>
                        <a:t>X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</a:t>
                      </a:r>
                      <a:r>
                        <a:rPr lang="en-US" altLang="ko-KR" sz="1600" baseline="0" dirty="0"/>
                        <a:t> 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 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</a:t>
                      </a:r>
                      <a:r>
                        <a:rPr lang="en-US" altLang="ko-KR" sz="1600" dirty="0"/>
                        <a:t>(Probability)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=1)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=2)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=3)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898" y="3356992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3356992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1026" name="Picture 2" descr="Statistics in Marketing - Discrete Probability Distributions |  Bernard-ML&lt;a/b&gt;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044" y="1516959"/>
            <a:ext cx="6949367" cy="4839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765820" y="764704"/>
            <a:ext cx="598118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Distribution))</a:t>
            </a:r>
          </a:p>
        </p:txBody>
      </p:sp>
    </p:spTree>
    <p:extLst>
      <p:ext uri="{BB962C8B-B14F-4D97-AF65-F5344CB8AC3E}">
        <p14:creationId xmlns:p14="http://schemas.microsoft.com/office/powerpoint/2010/main" val="3005557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092" y="1099103"/>
            <a:ext cx="6542088" cy="5439810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052" y="2204864"/>
            <a:ext cx="4438836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137" y="2204864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202" y="4005064"/>
            <a:ext cx="5020376" cy="704948"/>
          </a:xfrm>
          <a:prstGeom prst="rect">
            <a:avLst/>
          </a:prstGeom>
        </p:spPr>
      </p:pic>
      <p:cxnSp>
        <p:nvCxnSpPr>
          <p:cNvPr id="12" name="직선 연결선 11"/>
          <p:cNvCxnSpPr/>
          <p:nvPr/>
        </p:nvCxnSpPr>
        <p:spPr>
          <a:xfrm>
            <a:off x="2710428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/>
        </p:nvCxnSpPr>
        <p:spPr>
          <a:xfrm>
            <a:off x="3790156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/>
          <p:nvPr/>
        </p:nvCxnSpPr>
        <p:spPr>
          <a:xfrm>
            <a:off x="2735595" y="5517232"/>
            <a:ext cx="100811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/>
          <p:cNvSpPr/>
          <p:nvPr/>
        </p:nvSpPr>
        <p:spPr>
          <a:xfrm>
            <a:off x="971151" y="5836622"/>
            <a:ext cx="56380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185)</a:t>
            </a:r>
            <a:r>
              <a:rPr lang="en-US" altLang="ko-KR" dirty="0">
                <a:latin typeface="Arial Narrow" panose="020B0606020202030204" pitchFamily="34" charset="0"/>
              </a:rPr>
              <a:t> -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135) = 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키가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 135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이상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185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이하인 확률</a:t>
            </a:r>
            <a:r>
              <a:rPr lang="en-US" altLang="ko-KR" dirty="0">
                <a:latin typeface="Arial Narrow" panose="020B0606020202030204" pitchFamily="34" charset="0"/>
              </a:rPr>
              <a:t> </a:t>
            </a:r>
            <a:endParaRPr lang="ko-KR" altLang="en-US" dirty="0">
              <a:solidFill>
                <a:srgbClr val="404040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보면 되겠네</a:t>
            </a:r>
            <a:r>
              <a:rPr lang="en-US" altLang="ko-KR" sz="1600" dirty="0">
                <a:latin typeface="Arial Narrow" panose="020B0606020202030204" pitchFamily="34" charset="0"/>
              </a:rPr>
              <a:t>.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1628800"/>
            <a:ext cx="7776864" cy="343507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669" y="1552313"/>
            <a:ext cx="8497486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816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60235"/>
            <a:ext cx="8660268" cy="599611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772" y="2492896"/>
            <a:ext cx="2049193" cy="2550232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262764" y="5094885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-apple-system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-apple-system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102524" y="959587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7296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832648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763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80" y="1529702"/>
            <a:ext cx="10929188" cy="46085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05980" y="645665"/>
            <a:ext cx="15878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 err="1"/>
              <a:t>원자료</a:t>
            </a:r>
            <a:endParaRPr lang="en-US" altLang="ko-KR" b="1" dirty="0"/>
          </a:p>
          <a:p>
            <a:pPr algn="ctr"/>
            <a:r>
              <a:rPr lang="en-US" altLang="ko-KR" b="1" dirty="0"/>
              <a:t>(</a:t>
            </a:r>
            <a:r>
              <a:rPr lang="en-US" altLang="ko-KR" b="1" dirty="0" err="1"/>
              <a:t>Orignal</a:t>
            </a:r>
            <a:r>
              <a:rPr lang="en-US" altLang="ko-KR" b="1" dirty="0"/>
              <a:t> Data)</a:t>
            </a:r>
            <a:endParaRPr lang="ko-KR" altLang="en-US" b="1" dirty="0"/>
          </a:p>
        </p:txBody>
      </p:sp>
      <p:sp>
        <p:nvSpPr>
          <p:cNvPr id="7" name="TextBox 6"/>
          <p:cNvSpPr txBox="1"/>
          <p:nvPr/>
        </p:nvSpPr>
        <p:spPr>
          <a:xfrm>
            <a:off x="5446340" y="645665"/>
            <a:ext cx="1902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/>
              <a:t>평균중심화</a:t>
            </a:r>
            <a:endParaRPr lang="en-US" altLang="ko-KR" b="1" dirty="0"/>
          </a:p>
          <a:p>
            <a:pPr algn="ctr"/>
            <a:r>
              <a:rPr lang="en-US" altLang="ko-KR" b="1" dirty="0"/>
              <a:t>(Mean Centering)</a:t>
            </a:r>
            <a:endParaRPr lang="ko-KR" altLang="en-US" b="1" dirty="0"/>
          </a:p>
        </p:txBody>
      </p:sp>
      <p:sp>
        <p:nvSpPr>
          <p:cNvPr id="9" name="TextBox 8"/>
          <p:cNvSpPr txBox="1"/>
          <p:nvPr/>
        </p:nvSpPr>
        <p:spPr>
          <a:xfrm>
            <a:off x="8902724" y="645665"/>
            <a:ext cx="1927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표준화</a:t>
            </a:r>
            <a:endParaRPr lang="en-US" altLang="ko-KR" b="1" dirty="0"/>
          </a:p>
          <a:p>
            <a:pPr algn="ctr"/>
            <a:r>
              <a:rPr lang="en-US" altLang="ko-KR" b="1" dirty="0"/>
              <a:t>(Standardization)</a:t>
            </a:r>
            <a:endParaRPr lang="ko-KR" altLang="en-US" b="1" dirty="0"/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978525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968830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268760"/>
            <a:ext cx="6048672" cy="47039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초나라 양춘백설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/>
              <a:t>陽春白雪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과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주변의 실제 상황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조회 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예를 들어라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 내용을 파이썬 코드로 모의실험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(simulation)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하여 설명하라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1️⃣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 조회수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시뮬레이션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2️⃣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부의 불평등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80/20)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생성 실험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distribution)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3️⃣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네트워크 성장 모델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Barabási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–Albert)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머신러닝의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불균형 데이터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(Imbalanced data)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인한 학습의 어려움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04C8A289-FF78-8BE3-9F6C-09D9D649AF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435" y="1268760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4421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5094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196752"/>
            <a:ext cx="9939333" cy="392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2125"/>
            <a:ext cx="8856984" cy="510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4A1AA-AFAC-5B94-F8D9-A6749A05C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9C95ABE-C68C-407A-F518-6CC590BDC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588E66B-26D9-16A6-0DDF-04DD1A248D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921" y="2348880"/>
            <a:ext cx="11206981" cy="3688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58833F-8884-6B6A-15A2-EA9110DD53B5}"/>
              </a:ext>
            </a:extLst>
          </p:cNvPr>
          <p:cNvSpPr txBox="1"/>
          <p:nvPr/>
        </p:nvSpPr>
        <p:spPr>
          <a:xfrm>
            <a:off x="483969" y="990607"/>
            <a:ext cx="11508916" cy="4675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왜 표본의 크기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(Batch size)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커질수록 학습이 안정될까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950098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Problem 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현실 데이터는 왜 어려운가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분포를 모른다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(uniform,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exponential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(abnormality, outliers)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 아님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질문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평균이 문제를 해결한다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핵심 메시지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“평균을 보면 질서가 보인다”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11508916" cy="11644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왜 서로 다른 분포인데 결과는 같아지는가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이상치가 있어도 평균은 왜 안정적인가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이게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머신러닝과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딥러닝과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무슨 관계인가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이게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A/B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데스트와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무슨 관계인가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 경우를 바탕으로 다양한 예를 들어 중심극한정리를 적용하여 시각화하고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머신러닝과의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접목점도 시각화 하고 설명하는 보고서를 제출하라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515892"/>
            <a:ext cx="8568952" cy="4448777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33772" y="548680"/>
            <a:ext cx="11089232" cy="8759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주사위를 </a:t>
            </a:r>
            <a:r>
              <a:rPr lang="en-US" altLang="ko-KR" b="1" dirty="0"/>
              <a:t>1,000</a:t>
            </a:r>
            <a:r>
              <a:rPr lang="ko-KR" altLang="en-US" b="1" dirty="0"/>
              <a:t>번을 던진 후 전체 주사위 합의 분포를 주사위 </a:t>
            </a:r>
            <a:r>
              <a:rPr lang="en-US" altLang="ko-KR" b="1" dirty="0"/>
              <a:t>1</a:t>
            </a:r>
            <a:r>
              <a:rPr lang="ko-KR" altLang="en-US" b="1" dirty="0"/>
              <a:t>개</a:t>
            </a:r>
            <a:r>
              <a:rPr lang="en-US" altLang="ko-KR" b="1" dirty="0"/>
              <a:t>, 2</a:t>
            </a:r>
            <a:r>
              <a:rPr lang="ko-KR" altLang="en-US" b="1" dirty="0"/>
              <a:t>개</a:t>
            </a:r>
            <a:r>
              <a:rPr lang="en-US" altLang="ko-KR" b="1" dirty="0"/>
              <a:t>, 3</a:t>
            </a:r>
            <a:r>
              <a:rPr lang="ko-KR" altLang="en-US" b="1" dirty="0"/>
              <a:t>개</a:t>
            </a:r>
            <a:r>
              <a:rPr lang="en-US" altLang="ko-KR" b="1" dirty="0"/>
              <a:t>, 10</a:t>
            </a:r>
            <a:r>
              <a:rPr lang="ko-KR" altLang="en-US" b="1" dirty="0"/>
              <a:t>개</a:t>
            </a:r>
            <a:r>
              <a:rPr lang="en-US" altLang="ko-KR" b="1" dirty="0"/>
              <a:t>, 25</a:t>
            </a:r>
            <a:r>
              <a:rPr lang="ko-KR" altLang="en-US" b="1" dirty="0"/>
              <a:t>개</a:t>
            </a:r>
            <a:r>
              <a:rPr lang="en-US" altLang="ko-KR" b="1" dirty="0"/>
              <a:t>, 50</a:t>
            </a:r>
            <a:r>
              <a:rPr lang="ko-KR" altLang="en-US" b="1" dirty="0"/>
              <a:t>개로 </a:t>
            </a:r>
            <a:r>
              <a:rPr lang="ko-KR" altLang="en-US" b="1" dirty="0" err="1"/>
              <a:t>시뮬레이션하라</a:t>
            </a:r>
            <a:endParaRPr lang="ko-KR" altLang="en-US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2908E4-FB61-3909-CC29-E472642A4E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7838" y="6227058"/>
            <a:ext cx="8725045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이 분포에서 표본을 여러 번 뽑아 더하거나 평균을 내면, 표본의 개수(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)가 늘어남에 따라(2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dice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3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dice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..., 50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dice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 원래의 균등분포와는 전혀 다른 정규분포(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Normal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Distribution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)의 모양이 나타</a:t>
            </a: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남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6285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1461205" y="2528860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5900" y="2895377"/>
            <a:ext cx="3394663" cy="297201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11508916" cy="7951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1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동전던지기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실험으로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설명하고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(10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 던지기 실험을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1490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회 수행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파이썬으로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시각화하는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코드를 제시하라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동전을 한꺼번에 던지기 실험을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149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회 수행하고 그 합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(H:1, T:-1)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차감하는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실험과 동일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0476" y="2867414"/>
            <a:ext cx="4477488" cy="3027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7512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F4F6B-F1E1-1CD6-2C34-31932F74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2E3B062-4F28-E4A2-1F59-68A245BFA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42E4621-F3BF-0DAE-7299-4F20CA6BA4AD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519FC72-1027-1503-BEC9-C916F75B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337" y="1628800"/>
            <a:ext cx="8846887" cy="37693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007C2B-BA24-599C-99F0-96BD269B9A30}"/>
              </a:ext>
            </a:extLst>
          </p:cNvPr>
          <p:cNvSpPr txBox="1"/>
          <p:nvPr/>
        </p:nvSpPr>
        <p:spPr>
          <a:xfrm>
            <a:off x="1821512" y="5589240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257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881D7-008B-5BB7-2B99-3CE16B6B2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9934BEB-B65A-0C3E-6F5F-A71AC467F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2065660-C3F0-0188-AF88-3B6D94519984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0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DB8B31E-DF4F-669C-CE91-BD80234C0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844824"/>
            <a:ext cx="5613632" cy="424847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BF3F7C1-F005-CAA5-0FEB-A2D1D5E77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716" y="1844824"/>
            <a:ext cx="2319519" cy="134087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C5B41141-90BA-EFEF-7DEC-3B8612D04043}"/>
              </a:ext>
            </a:extLst>
          </p:cNvPr>
          <p:cNvSpPr/>
          <p:nvPr/>
        </p:nvSpPr>
        <p:spPr>
          <a:xfrm>
            <a:off x="8797075" y="3284984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349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18941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경찰이 살인 사건 현장에서 희귀한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발견했는데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지문은 전체 인구의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0.1%/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만이 가지고 있음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경찰은 유력한 용의자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체포했고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검사 결과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 또한 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가지고 있음이 밝혀졌다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사람이 범인일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9E7DC3-F439-12EB-B4E1-5C079270B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044" y="3645024"/>
            <a:ext cx="5570703" cy="96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317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6E8C-3047-0470-498D-41421A6D3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FBDF0A5-F981-006E-020D-906837F04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A43B7-5508-E688-5359-700A342EC58F}"/>
              </a:ext>
            </a:extLst>
          </p:cNvPr>
          <p:cNvSpPr txBox="1"/>
          <p:nvPr/>
        </p:nvSpPr>
        <p:spPr>
          <a:xfrm>
            <a:off x="765820" y="1196752"/>
            <a:ext cx="11233248" cy="327134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홍길동이란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학생은 </a:t>
            </a: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ADsP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시험문제에 대해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알고 있다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홍길동이란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학생이 실수할 확률은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문제당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정도는 산만해서 틀린다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ADsP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지 선다형 문제로 찍어서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맞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출 확률은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¼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 학생이 문제를 맞출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 학생이 문제를 틀릴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홍길동이 문제를 맞혔다면</a:t>
            </a:r>
            <a:r>
              <a:rPr lang="en-US" altLang="ko-KR" sz="2000" dirty="0"/>
              <a:t>, </a:t>
            </a:r>
            <a:r>
              <a:rPr lang="ko-KR" altLang="en-US" sz="2000" dirty="0"/>
              <a:t>그가 실제로 알고 풀었을 확률은</a:t>
            </a:r>
            <a:r>
              <a:rPr lang="en-US" altLang="ko-KR" sz="2000" dirty="0"/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홍길동이 문제를 틀렸다면</a:t>
            </a:r>
            <a:r>
              <a:rPr lang="en-US" altLang="ko-KR" sz="2000" dirty="0"/>
              <a:t>, </a:t>
            </a:r>
            <a:r>
              <a:rPr lang="ko-KR" altLang="en-US" sz="2000" dirty="0"/>
              <a:t>그가 실제로 알고도 틀렸을 확률</a:t>
            </a:r>
            <a:r>
              <a:rPr lang="en-US" altLang="ko-KR" sz="2000" dirty="0"/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2B289C-E8B8-C97D-4CD8-61207F7E273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428882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765820" y="1196752"/>
            <a:ext cx="11233248" cy="143250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사전지식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도시의 택시 중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녹색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15%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청색입니다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밤에 뺑소니 사고가 났고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한 목격자가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청색 택시였다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라고 증언했는데 목격자의 판별 정확도는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질문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실제로 사고를 낸 택시가 청색일 확률은 얼마일까요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4D8A3-0388-8113-D2CF-A0414DBC5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02F37FC-577D-E28A-0EF4-69CA6EF24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334FB6-54F8-A43B-EAFC-A8A9D54A3F02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Monty Hall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A6D30-646E-36BC-7791-0F150C5DE16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641438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1233248" cy="92916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는데도 귀환할 확률은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(Missing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from survivor ship)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식당에서 식중독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19" y="2481834"/>
            <a:ext cx="4494805" cy="423964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4452" y="2477246"/>
            <a:ext cx="4735865" cy="174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D6D6D-FE7D-D1E6-6174-4578705A6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B10DAF3-C1C3-864E-A7BD-B00D0D209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60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>
            <a:extLst>
              <a:ext uri="{FF2B5EF4-FFF2-40B4-BE49-F238E27FC236}">
                <a16:creationId xmlns:a16="http://schemas.microsoft.com/office/drawing/2014/main" id="{0BC462CA-A817-CE20-4192-21E595BF0B5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495372-37BA-D0E6-CAB2-0D0CE5002089}"/>
              </a:ext>
            </a:extLst>
          </p:cNvPr>
          <p:cNvSpPr txBox="1"/>
          <p:nvPr/>
        </p:nvSpPr>
        <p:spPr>
          <a:xfrm>
            <a:off x="539248" y="817140"/>
            <a:ext cx="11233248" cy="198099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+mj-ea"/>
                <a:ea typeface="+mj-ea"/>
                <a:cs typeface="Microsoft Sans Serif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의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10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명의 남녀 데이터를 참고하여 성별을 분류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(classification)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하라</a:t>
            </a:r>
            <a:endParaRPr lang="en-US" altLang="ko-KR" sz="1400" dirty="0">
              <a:latin typeface="+mj-ea"/>
              <a:ea typeface="+mj-ea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height,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weight,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foot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size 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등의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feature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가 없다면 남녀 분류의 사전확률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(Prior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probability)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은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남성과 여성인 경우의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height,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weight,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foot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size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의 확률분포는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조건부 확률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(Conditional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probability)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이다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그렇다면 이러한 데이터를 관측하게 되면 남녀 분류의 사후확률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(Posterior probability)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을 구할 수 있게 된다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height(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키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)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가 ６인 경우는 성별은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height,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weight,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foot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size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가 각각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6, 130, 8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인 경우는 성별은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654037-EF5F-6676-2845-DFE41CC609D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677BD4E4-D7A5-39FE-94C9-979CCE55C965}"/>
              </a:ext>
            </a:extLst>
          </p:cNvPr>
          <p:cNvGrpSpPr/>
          <p:nvPr/>
        </p:nvGrpSpPr>
        <p:grpSpPr>
          <a:xfrm>
            <a:off x="1053852" y="2959184"/>
            <a:ext cx="4320480" cy="3762292"/>
            <a:chOff x="1341884" y="2717025"/>
            <a:chExt cx="4703341" cy="4015112"/>
          </a:xfrm>
        </p:grpSpPr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4A17A6C8-B135-8113-EE80-9F2B4DFBDDF6}"/>
                </a:ext>
              </a:extLst>
            </p:cNvPr>
            <p:cNvGrpSpPr/>
            <p:nvPr/>
          </p:nvGrpSpPr>
          <p:grpSpPr>
            <a:xfrm>
              <a:off x="1341884" y="2717025"/>
              <a:ext cx="4703341" cy="4015112"/>
              <a:chOff x="526975" y="2706363"/>
              <a:chExt cx="5495430" cy="4078675"/>
            </a:xfrm>
          </p:grpSpPr>
          <p:pic>
            <p:nvPicPr>
              <p:cNvPr id="22" name="Picture 4">
                <a:extLst>
                  <a:ext uri="{FF2B5EF4-FFF2-40B4-BE49-F238E27FC236}">
                    <a16:creationId xmlns:a16="http://schemas.microsoft.com/office/drawing/2014/main" id="{1AE2F6F5-FB5A-28B2-B7A7-93D12D6FF14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6975" y="5416891"/>
                <a:ext cx="5490318" cy="13681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" name="Picture 6">
                <a:extLst>
                  <a:ext uri="{FF2B5EF4-FFF2-40B4-BE49-F238E27FC236}">
                    <a16:creationId xmlns:a16="http://schemas.microsoft.com/office/drawing/2014/main" id="{9A113EA8-C2DF-E174-4482-C0C5EDD4351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6975" y="2706363"/>
                <a:ext cx="5495430" cy="13681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4" name="Picture 8">
                <a:extLst>
                  <a:ext uri="{FF2B5EF4-FFF2-40B4-BE49-F238E27FC236}">
                    <a16:creationId xmlns:a16="http://schemas.microsoft.com/office/drawing/2014/main" id="{C59FAC5E-D27B-D756-EDA2-328D311C37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6975" y="4074510"/>
                <a:ext cx="5490318" cy="13681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4" name="순서도: 추출 13">
              <a:extLst>
                <a:ext uri="{FF2B5EF4-FFF2-40B4-BE49-F238E27FC236}">
                  <a16:creationId xmlns:a16="http://schemas.microsoft.com/office/drawing/2014/main" id="{94C1BE0B-CB82-8942-CF80-1F034704CFB6}"/>
                </a:ext>
              </a:extLst>
            </p:cNvPr>
            <p:cNvSpPr/>
            <p:nvPr/>
          </p:nvSpPr>
          <p:spPr>
            <a:xfrm>
              <a:off x="3529285" y="3614502"/>
              <a:ext cx="162082" cy="207630"/>
            </a:xfrm>
            <a:prstGeom prst="flowChartExtract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순서도: 추출 14">
              <a:extLst>
                <a:ext uri="{FF2B5EF4-FFF2-40B4-BE49-F238E27FC236}">
                  <a16:creationId xmlns:a16="http://schemas.microsoft.com/office/drawing/2014/main" id="{4BED69E3-5F45-38A1-E8E0-A35A7FBC62D5}"/>
                </a:ext>
              </a:extLst>
            </p:cNvPr>
            <p:cNvSpPr/>
            <p:nvPr/>
          </p:nvSpPr>
          <p:spPr>
            <a:xfrm>
              <a:off x="4294212" y="5013176"/>
              <a:ext cx="162082" cy="207630"/>
            </a:xfrm>
            <a:prstGeom prst="flowChartExtract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순서도: 추출 15">
              <a:extLst>
                <a:ext uri="{FF2B5EF4-FFF2-40B4-BE49-F238E27FC236}">
                  <a16:creationId xmlns:a16="http://schemas.microsoft.com/office/drawing/2014/main" id="{2E20C516-282D-0365-5E24-FA0F495AB4F4}"/>
                </a:ext>
              </a:extLst>
            </p:cNvPr>
            <p:cNvSpPr/>
            <p:nvPr/>
          </p:nvSpPr>
          <p:spPr>
            <a:xfrm>
              <a:off x="3862164" y="6252536"/>
              <a:ext cx="162082" cy="207630"/>
            </a:xfrm>
            <a:prstGeom prst="flowChartExtract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19F64CCA-BA9F-9CE6-8D96-97143F06F3B5}"/>
              </a:ext>
            </a:extLst>
          </p:cNvPr>
          <p:cNvSpPr txBox="1"/>
          <p:nvPr/>
        </p:nvSpPr>
        <p:spPr>
          <a:xfrm>
            <a:off x="7379655" y="3939278"/>
            <a:ext cx="3539293" cy="886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키가 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5.65,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몸무게가 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160.45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발의 크기가 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7.88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인 사람의 성별 예측 값과 그 확률은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</a:t>
            </a: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0B3F1669-C37A-CFE4-9971-B8B87999A802}"/>
              </a:ext>
            </a:extLst>
          </p:cNvPr>
          <p:cNvCxnSpPr/>
          <p:nvPr/>
        </p:nvCxnSpPr>
        <p:spPr>
          <a:xfrm>
            <a:off x="5806380" y="4437112"/>
            <a:ext cx="144016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8363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1100</TotalTime>
  <Words>2177</Words>
  <Application>Microsoft Office PowerPoint</Application>
  <PresentationFormat>사용자 지정</PresentationFormat>
  <Paragraphs>387</Paragraphs>
  <Slides>60</Slides>
  <Notes>57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74" baseType="lpstr">
      <vt:lpstr>-apple-system</vt:lpstr>
      <vt:lpstr>맑은 고딕</vt:lpstr>
      <vt:lpstr>한컴 말랑말랑 Bold</vt:lpstr>
      <vt:lpstr>휴먼모음T</vt:lpstr>
      <vt:lpstr>Arial</vt:lpstr>
      <vt:lpstr>Arial Narrow</vt:lpstr>
      <vt:lpstr>Cambria Math</vt:lpstr>
      <vt:lpstr>Corbel</vt:lpstr>
      <vt:lpstr>Microsoft Sans Serif</vt:lpstr>
      <vt:lpstr>PT Sans</vt:lpstr>
      <vt:lpstr>Roboto</vt:lpstr>
      <vt:lpstr>Times New Roman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67</cp:revision>
  <dcterms:created xsi:type="dcterms:W3CDTF">2024-06-03T06:10:16Z</dcterms:created>
  <dcterms:modified xsi:type="dcterms:W3CDTF">2026-03-25T07:23:14Z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