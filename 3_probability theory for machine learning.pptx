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9" r:id="rId11"/>
    <p:sldId id="371" r:id="rId12"/>
    <p:sldId id="380" r:id="rId13"/>
    <p:sldId id="362" r:id="rId14"/>
    <p:sldId id="272" r:id="rId15"/>
    <p:sldId id="387" r:id="rId16"/>
    <p:sldId id="276" r:id="rId17"/>
    <p:sldId id="307" r:id="rId18"/>
    <p:sldId id="308" r:id="rId19"/>
    <p:sldId id="340" r:id="rId20"/>
    <p:sldId id="363" r:id="rId21"/>
    <p:sldId id="277" r:id="rId22"/>
    <p:sldId id="278" r:id="rId23"/>
    <p:sldId id="364" r:id="rId24"/>
    <p:sldId id="279" r:id="rId25"/>
    <p:sldId id="284" r:id="rId26"/>
    <p:sldId id="377" r:id="rId27"/>
    <p:sldId id="280" r:id="rId28"/>
    <p:sldId id="281" r:id="rId29"/>
    <p:sldId id="382" r:id="rId30"/>
    <p:sldId id="283" r:id="rId31"/>
    <p:sldId id="383" r:id="rId32"/>
    <p:sldId id="290" r:id="rId33"/>
    <p:sldId id="288" r:id="rId34"/>
    <p:sldId id="286" r:id="rId35"/>
    <p:sldId id="287" r:id="rId36"/>
    <p:sldId id="289" r:id="rId37"/>
    <p:sldId id="393" r:id="rId38"/>
    <p:sldId id="395" r:id="rId39"/>
    <p:sldId id="396" r:id="rId40"/>
    <p:sldId id="291" r:id="rId41"/>
    <p:sldId id="375" r:id="rId42"/>
    <p:sldId id="374" r:id="rId43"/>
    <p:sldId id="365" r:id="rId44"/>
    <p:sldId id="293" r:id="rId45"/>
    <p:sldId id="324" r:id="rId46"/>
    <p:sldId id="338" r:id="rId47"/>
    <p:sldId id="302" r:id="rId48"/>
    <p:sldId id="330" r:id="rId49"/>
    <p:sldId id="327" r:id="rId50"/>
    <p:sldId id="335" r:id="rId51"/>
    <p:sldId id="336" r:id="rId52"/>
    <p:sldId id="392" r:id="rId53"/>
    <p:sldId id="389" r:id="rId54"/>
    <p:sldId id="372" r:id="rId55"/>
    <p:sldId id="390" r:id="rId56"/>
    <p:sldId id="391" r:id="rId57"/>
    <p:sldId id="388" r:id="rId58"/>
    <p:sldId id="398" r:id="rId59"/>
    <p:sldId id="397" r:id="rId60"/>
    <p:sldId id="301" r:id="rId61"/>
    <p:sldId id="367" r:id="rId62"/>
    <p:sldId id="305" r:id="rId63"/>
    <p:sldId id="394" r:id="rId64"/>
    <p:sldId id="304" r:id="rId6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10958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commentAuthors" Target="commentAuthors.xml"/><Relationship Id="rId7" Type="http://schemas.openxmlformats.org/officeDocument/2006/relationships/slide" Target="slides/slide3.xml"/><Relationship Id="rId71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424546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3874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02006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1932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56250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26406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9781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53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5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rvivorship_bias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layered_bivariate_plot.html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342093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46439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Pascal(1623~1662)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 + ½*½ + ½*½*½ 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½*½*½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Ferma(1607~1665)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0956" y="1196752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동전을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번 던짐</a:t>
                </a:r>
                <a:r>
                  <a:rPr lang="en-US" altLang="ko-KR" sz="2000" dirty="0">
                    <a:latin typeface="+mj-ea"/>
                    <a:ea typeface="+mj-ea"/>
                  </a:rPr>
                  <a:t>(</a:t>
                </a:r>
                <a:r>
                  <a:rPr lang="ko-KR" altLang="en-US" sz="2000" dirty="0">
                    <a:latin typeface="+mj-ea"/>
                    <a:ea typeface="+mj-ea"/>
                  </a:rPr>
                  <a:t>혹은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sz="2000" dirty="0">
                    <a:latin typeface="+mj-ea"/>
                    <a:ea typeface="+mj-ea"/>
                  </a:rPr>
                  <a:t>)</a:t>
                </a:r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400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sz="2000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확률변수 정의</a:t>
                </a:r>
                <a:endParaRPr lang="en-US" altLang="ko-KR" sz="24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sz="2000" b="1" dirty="0">
                    <a:latin typeface="+mj-ea"/>
                    <a:ea typeface="+mj-ea"/>
                  </a:rPr>
                  <a:t>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blipFill>
                <a:blip r:embed="rId3"/>
                <a:stretch>
                  <a:fillRect l="-1114" b="-18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3200" r="-369399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3200" r="-309697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3200" r="-18627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3200" r="-10151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3200" r="-1515" b="-1288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9873" r="-369399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9873" r="-309697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9873" r="-18627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9873" r="-10151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9873" r="-1515" b="-1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70080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+mj-ea"/>
                <a:ea typeface="+mj-ea"/>
              </a:rPr>
              <a:t>100</a:t>
            </a:r>
            <a:r>
              <a:rPr lang="ko-KR" altLang="en-US" sz="2000" dirty="0">
                <a:latin typeface="+mj-ea"/>
                <a:ea typeface="+mj-ea"/>
              </a:rPr>
              <a:t>번 실험에서 나온 빈도를 확률변수로 설정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419" y="2852936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40DC3E-0689-87B9-2317-7799DFC49C94}"/>
              </a:ext>
            </a:extLst>
          </p:cNvPr>
          <p:cNvSpPr txBox="1"/>
          <p:nvPr/>
        </p:nvSpPr>
        <p:spPr>
          <a:xfrm>
            <a:off x="8747167" y="4797152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1.0</a:t>
            </a:r>
            <a:endParaRPr lang="ko-KR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05CD0-B828-A721-138C-847AA8FFB2BC}"/>
              </a:ext>
            </a:extLst>
          </p:cNvPr>
          <p:cNvSpPr txBox="1"/>
          <p:nvPr/>
        </p:nvSpPr>
        <p:spPr>
          <a:xfrm>
            <a:off x="1800522" y="4797152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시간과 나이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(age)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744AA534-5EFE-9429-2F64-20D093C87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322" y="2420888"/>
            <a:ext cx="10824714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5028" y="1244332"/>
            <a:ext cx="11166008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density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91227" y="1537628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latin typeface="+mj-ea"/>
                <a:ea typeface="+mj-ea"/>
              </a:rPr>
              <a:t>원자료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en-US" altLang="ko-KR" sz="1400" dirty="0" err="1">
                <a:latin typeface="+mj-ea"/>
                <a:ea typeface="+mj-ea"/>
              </a:rPr>
              <a:t>Orignal</a:t>
            </a:r>
            <a:r>
              <a:rPr lang="en-US" altLang="ko-KR" sz="1400" dirty="0">
                <a:latin typeface="+mj-ea"/>
                <a:ea typeface="+mj-ea"/>
              </a:rPr>
              <a:t> Data)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39603" y="1537628"/>
            <a:ext cx="1715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+mj-ea"/>
                <a:ea typeface="+mj-ea"/>
              </a:rPr>
              <a:t>평균중심화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(Mean Centering)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23014" y="1537628"/>
            <a:ext cx="1686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표준화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(Standardization)</a:t>
            </a:r>
            <a:endParaRPr lang="ko-KR" altLang="en-US" sz="1400" dirty="0">
              <a:latin typeface="+mj-ea"/>
              <a:ea typeface="+mj-ea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11233248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데스트와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1095758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히스코그램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44C37A-B7C1-A4D2-7E71-288B4BC39AB7}"/>
              </a:ext>
            </a:extLst>
          </p:cNvPr>
          <p:cNvGrpSpPr/>
          <p:nvPr/>
        </p:nvGrpSpPr>
        <p:grpSpPr>
          <a:xfrm>
            <a:off x="765820" y="2435393"/>
            <a:ext cx="10110835" cy="4136639"/>
            <a:chOff x="755931" y="2060848"/>
            <a:chExt cx="10110835" cy="4136639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2A59E69-1EBF-6473-FA56-31829809B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931" y="2060848"/>
              <a:ext cx="10110835" cy="4136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/>
                <p:nvPr/>
              </p:nvSpPr>
              <p:spPr>
                <a:xfrm>
                  <a:off x="1557908" y="2924178"/>
                  <a:ext cx="20882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&lt;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))</m:t>
                        </m:r>
                      </m:oMath>
                    </m:oMathPara>
                  </a14:m>
                  <a:endParaRPr lang="ko-KR" altLang="en-US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7908" y="2924178"/>
                  <a:ext cx="2088232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/>
                <p:nvPr/>
              </p:nvSpPr>
              <p:spPr>
                <a:xfrm>
                  <a:off x="6132770" y="2901766"/>
                  <a:ext cx="20882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&gt;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))</m:t>
                        </m:r>
                      </m:oMath>
                    </m:oMathPara>
                  </a14:m>
                  <a:endParaRPr lang="ko-KR" alt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32770" y="2901766"/>
                  <a:ext cx="20882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3815CCEA-7444-F36E-2520-2865020490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4692" y="1668676"/>
            <a:ext cx="3444538" cy="61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460" y="1616461"/>
            <a:ext cx="5435897" cy="466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이하인 경우에서 날개의 길이에 대한 조건부확률을 확률밀도함수로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2" y="1643014"/>
            <a:ext cx="5465100" cy="46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63" y="1632195"/>
            <a:ext cx="5525102" cy="469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54" y="1628800"/>
            <a:ext cx="5435897" cy="465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598" y="1538862"/>
            <a:ext cx="5123628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각각의 경우에서 날개 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조건부확률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849" y="2574157"/>
            <a:ext cx="1816536" cy="139699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700" y="2564904"/>
            <a:ext cx="2054114" cy="139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625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43" y="2877924"/>
            <a:ext cx="6264183" cy="328450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561735" y="4350899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850F4DC-D4C4-1CBD-43FE-3B1D5B65CC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0516" y="2877924"/>
            <a:ext cx="4752528" cy="169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A007FE-1B99-2A83-C3DF-9542719965C8}"/>
              </a:ext>
            </a:extLst>
          </p:cNvPr>
          <p:cNvSpPr txBox="1"/>
          <p:nvPr/>
        </p:nvSpPr>
        <p:spPr>
          <a:xfrm>
            <a:off x="837828" y="2298234"/>
            <a:ext cx="10873208" cy="1160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은 세상에 초능력자는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 존재한다고 믿기에 카드 색깔을 맞춘 사실에는 관심이 없고 여전히 초능력자일 확률은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초능력자라면 전부 맞추겠지만 일반인이기에 운 좋게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3.125%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맞추었을 뿐이라고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5D54327-C77A-5451-64F4-89840B35E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3522831"/>
            <a:ext cx="8208912" cy="28555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210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B11E6-C23C-2326-3EE3-EFA4F76CF5DF}"/>
              </a:ext>
            </a:extLst>
          </p:cNvPr>
          <p:cNvSpPr txBox="1"/>
          <p:nvPr/>
        </p:nvSpPr>
        <p:spPr>
          <a:xfrm>
            <a:off x="333772" y="1024001"/>
            <a:ext cx="11809312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너무 고집스럽고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슈퍼맨의 존재를 너무 신봉하는 경향이 있지만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Bays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이 사람은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개를 맞춘 사실을 전제로 초능력자일 확률적 믿음은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５개 색깔을 모두 맞춘 경우 ： 초능력자와 일반인이 맞춘 경우에서 초능력자가 맞출 비율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어느 유형에 속하는가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Frequentist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Bayesian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설명하는 예제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베이지안은 확률을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고정된 값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아니라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들어올 때마다 업데이트되는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믿음의 정도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’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D6CC51-5DBA-2191-A91F-88C40BE9C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500" y="3279510"/>
            <a:ext cx="9967824" cy="222523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7354" y="3437385"/>
            <a:ext cx="822808" cy="992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60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아래 데이터를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정규분포를 가정하여 조건부확률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예측하라</a:t>
            </a:r>
          </a:p>
        </p:txBody>
      </p:sp>
    </p:spTree>
    <p:extLst>
      <p:ext uri="{BB962C8B-B14F-4D97-AF65-F5344CB8AC3E}">
        <p14:creationId xmlns:p14="http://schemas.microsoft.com/office/powerpoint/2010/main" val="97804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6ADD50B-6B81-8692-793F-3772238F3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894" y="678349"/>
            <a:ext cx="5530236" cy="131997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98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765820" y="1196752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2595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244" y="1714153"/>
            <a:ext cx="3775370" cy="35610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684" y="4683320"/>
            <a:ext cx="3775370" cy="138920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102" y="1714152"/>
            <a:ext cx="3939657" cy="3561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280281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293785"/>
            <a:ext cx="5138154" cy="4943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930206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368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61764" y="1268760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713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317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94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1591</TotalTime>
  <Words>3856</Words>
  <Application>Microsoft Office PowerPoint</Application>
  <PresentationFormat>사용자 지정</PresentationFormat>
  <Paragraphs>535</Paragraphs>
  <Slides>61</Slides>
  <Notes>59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6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83</cp:revision>
  <dcterms:created xsi:type="dcterms:W3CDTF">2024-06-03T06:10:16Z</dcterms:created>
  <dcterms:modified xsi:type="dcterms:W3CDTF">2026-03-27T13:45:16Z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