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324" r:id="rId6"/>
    <p:sldId id="326" r:id="rId7"/>
    <p:sldId id="329" r:id="rId8"/>
    <p:sldId id="308" r:id="rId9"/>
    <p:sldId id="330" r:id="rId10"/>
    <p:sldId id="331" r:id="rId11"/>
    <p:sldId id="327" r:id="rId12"/>
    <p:sldId id="328" r:id="rId13"/>
    <p:sldId id="332" r:id="rId14"/>
    <p:sldId id="270" r:id="rId15"/>
    <p:sldId id="334" r:id="rId16"/>
    <p:sldId id="333" r:id="rId17"/>
    <p:sldId id="313" r:id="rId18"/>
    <p:sldId id="310" r:id="rId19"/>
    <p:sldId id="311" r:id="rId20"/>
    <p:sldId id="312" r:id="rId21"/>
    <p:sldId id="314" r:id="rId22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60"/>
  </p:normalViewPr>
  <p:slideViewPr>
    <p:cSldViewPr>
      <p:cViewPr varScale="1">
        <p:scale>
          <a:sx n="85" d="100"/>
          <a:sy n="85" d="100"/>
        </p:scale>
        <p:origin x="883" y="58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33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2026-03-20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8F37-DCD9-3001-E354-B3A6D1C1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D4E07-A396-E1F7-0919-72AF00F19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E06E1-13C1-3C32-46CB-92506A498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BFDC5-8668-119F-E940-FF2F60314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7571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F81B-CB31-7520-3EE7-553AF467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91870D-CD75-0D49-61BE-5E9670316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407D5D-B6CF-0255-CFC3-2D0990AEB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7FF11-BC9D-81CC-28FB-6E8527DCB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1216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1111-0F2C-72CD-1A8C-DE20D134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D0A8F7-D3A7-3B77-DA76-D13BEAE2D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0989BA-EE78-7BC1-B768-664079BC9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5AB258-08B6-57BF-2449-3EC2E44E8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251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EC47-9CD8-DDD5-55D5-6A5F0347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401884-EDA3-A271-1C7E-4E8285FDA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D7E2C4-3994-5C5F-CABE-D9AF20D5B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3B9912-1704-9F51-F3D8-B86D2186D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9287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CDCA-6759-158B-FF35-AF6DE089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3944C0-1525-8E80-31F9-84E93B491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DCD89-100B-5F15-9D63-96D442C6E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D52EE5-4C62-D3FF-3EEA-65CD47D0D9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5659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1E90-FAFD-AE47-A6A5-531D881A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993C63-FB60-385C-14CA-73D0BB017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E839F2-E212-8AC2-F32C-6F9172D32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134C51-FD7A-5D59-88E9-AF826AE93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8710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1C92-92CB-6BE8-4DA6-052441C6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CDCE9D-CF12-F6D3-37E2-0B82EF8C6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FEB9-C7EF-D5D2-7C18-BC3EB5695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D5893-CE19-500D-2558-5CF1341FC5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1137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E576F-1D01-3984-7371-93D37058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6FBFDE-1441-1A58-B6CF-124A0B8D3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C1F405-621A-0C48-99FD-416192F57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09E8A-9401-0798-4930-F922ADFBE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555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0D87D-17A6-9E3E-F9D9-AA8ED3B44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17F3C4-094D-0782-2A84-5153DF6BC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5B08AE-B15A-DBDA-62FA-019223FA3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6B754-A92A-CA6A-D941-D6E4E4C14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83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68EC-F2DC-26A8-D8E8-8A5DA29E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F9880A-1140-0FAA-D484-DC44C6A24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CE6730-D7DF-5F69-282A-BB7C916AD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E3FBA-3D16-082D-CFFC-413BA1B40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986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3BBD-A9D1-EAD0-4ABD-EF3EE595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41FB98-6E70-56DE-D99C-6C67CCB16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1D7A4F-F09B-9B32-85C0-40088E9A5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C65BD-8C7A-8503-3490-EB8170B09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9537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A194A-847B-6F14-07F2-38D05F416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567891-8706-81FD-F2D9-2CC0D70E4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21A2CA-7CA6-CB34-3461-8A5A650C9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08AB1B-9C0A-3FA6-14A1-50D9AF282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29156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7E520-FF7F-20A8-E377-78305AF9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AE50F1-693B-0691-2048-B3C5FAFE5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21687F-E7B6-0FDE-EB52-8F958A348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CF5345-3860-C129-6BFC-83F6901FF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85861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38D4-2033-D269-92E2-472DD489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FF330B-E197-FC28-0494-06EAABC3F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58F670-6DD6-E601-1D5C-5E78E0C02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9EA6E-ACE1-35DA-C0A0-227592EE1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4031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2026-03-20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2026-03-20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2026-03-20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2026-03-20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2026-03-20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2026-03-20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2026-03-20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2026-03-20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2026-03-20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2026-03-20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seaborn.pydata.org/examples/joint_histogram.html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born.pydata.org/examples/hexbin_marginals.html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seaborn.pydata.org/examples/scatterplot_matrix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born.pydata.org/examples/hexbin_marginals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eaborn.pydata.org/examples/joint_kde.html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born.pydata.org/examples/joint_kde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born.pydata.org/examples/multiple_regression.html" TargetMode="External"/><Relationship Id="rId5" Type="http://schemas.openxmlformats.org/officeDocument/2006/relationships/image" Target="../media/image20.png"/><Relationship Id="rId4" Type="http://schemas.openxmlformats.org/officeDocument/2006/relationships/hyperlink" Target="https://seaborn.pydata.org/examples/multiple_bivariate_kde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kaggle.com/code/shakedzy/alone-in-the-woods-using-theil-s-u-for-surviva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cestor9/data/blob/main/customers.csv" TargetMode="Externa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통계와 확률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/>
              <a:t>확률론에 들어가기 </a:t>
            </a:r>
            <a:r>
              <a:rPr lang="en-US" altLang="ko-KR" sz="2400" b="1" dirty="0"/>
              <a:t>-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en-US" altLang="ko-KR" dirty="0"/>
          </a:p>
        </p:txBody>
      </p:sp>
      <p:pic>
        <p:nvPicPr>
          <p:cNvPr id="1028" name="Picture 4" descr="깊은 생각에 잠긴 남자의 청동 조각상">
            <a:extLst>
              <a:ext uri="{FF2B5EF4-FFF2-40B4-BE49-F238E27FC236}">
                <a16:creationId xmlns:a16="http://schemas.microsoft.com/office/drawing/2014/main" id="{4757FD16-A7E9-1C5E-9D31-B9438F456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22206E1-D9B3-1443-9A14-8F8C599535EA}"/>
              </a:ext>
            </a:extLst>
          </p:cNvPr>
          <p:cNvGrpSpPr/>
          <p:nvPr/>
        </p:nvGrpSpPr>
        <p:grpSpPr>
          <a:xfrm>
            <a:off x="977438" y="1844824"/>
            <a:ext cx="10233947" cy="3384376"/>
            <a:chOff x="468977" y="1268760"/>
            <a:chExt cx="11242060" cy="3744416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13BA925-346A-92DA-54AD-5E1487C17764}"/>
                </a:ext>
              </a:extLst>
            </p:cNvPr>
            <p:cNvGrpSpPr/>
            <p:nvPr/>
          </p:nvGrpSpPr>
          <p:grpSpPr>
            <a:xfrm>
              <a:off x="468977" y="1268760"/>
              <a:ext cx="11242060" cy="3744416"/>
              <a:chOff x="-1551175" y="1390154"/>
              <a:chExt cx="9890065" cy="2830423"/>
            </a:xfrm>
          </p:grpSpPr>
          <p:sp>
            <p:nvSpPr>
              <p:cNvPr id="2" name="AutoShape 2" descr="숲 한가운데에 있는 형형색색의 나무들판">
                <a:extLst>
                  <a:ext uri="{FF2B5EF4-FFF2-40B4-BE49-F238E27FC236}">
                    <a16:creationId xmlns:a16="http://schemas.microsoft.com/office/drawing/2014/main" id="{92ADEB6C-595F-D022-1FA7-A6F276B90D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42013" y="3276600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A7DE69F3-CDFE-C669-D1BA-FDE0CCD5E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51175" y="1390154"/>
                <a:ext cx="4608510" cy="2830423"/>
              </a:xfrm>
              <a:prstGeom prst="rect">
                <a:avLst/>
              </a:prstGeom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418EE12F-0606-75E2-2B43-F3AFCA4558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62365" y="3077522"/>
                <a:ext cx="2676525" cy="1143055"/>
              </a:xfrm>
              <a:prstGeom prst="rect">
                <a:avLst/>
              </a:prstGeom>
            </p:spPr>
          </p:pic>
          <p:pic>
            <p:nvPicPr>
              <p:cNvPr id="1032" name="Picture 8" descr="베이즈 정리(Bayes' Theorem)의 정의와 의미">
                <a:extLst>
                  <a:ext uri="{FF2B5EF4-FFF2-40B4-BE49-F238E27FC236}">
                    <a16:creationId xmlns:a16="http://schemas.microsoft.com/office/drawing/2014/main" id="{B067FD7D-5954-1B2D-36F6-A25C17C1F9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62365" y="1390154"/>
                <a:ext cx="2676525" cy="17145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09C1E87A-9767-8287-7253-CF05F7BA0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07481" y="1268760"/>
              <a:ext cx="3020609" cy="37444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0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99DDB-CF71-2269-C86C-A0C6B66D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480F933-025B-964F-DC78-EB0567125B9F}"/>
              </a:ext>
            </a:extLst>
          </p:cNvPr>
          <p:cNvSpPr/>
          <p:nvPr/>
        </p:nvSpPr>
        <p:spPr>
          <a:xfrm>
            <a:off x="549796" y="189005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B865C5A-AC22-903F-65DE-B0B66C8E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442AF8-60A9-DCE2-F679-9A9DD6247034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52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38B9-4195-271B-F272-05A2536DA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FA146E-6A35-D140-39B9-7BE9A5FE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21179-F9A4-0781-E59A-8482B8B0AAB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Joint &amp; marginal histograms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AF047A-324A-5D47-FF11-216D60B123AB}"/>
              </a:ext>
            </a:extLst>
          </p:cNvPr>
          <p:cNvSpPr txBox="1"/>
          <p:nvPr/>
        </p:nvSpPr>
        <p:spPr>
          <a:xfrm>
            <a:off x="338480" y="1005885"/>
            <a:ext cx="11588580" cy="419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천문학자들이 외계 행성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(Exoplanets)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발견한 기록 데이터를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발견년도와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태양계로 부터의 거리를 시각화를 해석하라  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DDB8136B-12C4-CB2C-48F8-C520F1709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20" y="2233055"/>
            <a:ext cx="4394499" cy="436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1311A97-5308-C590-3D6E-7D50680CC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338" y="2139024"/>
            <a:ext cx="2407280" cy="189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F3AA0C-6A6D-099B-EE5F-974060402A4F}"/>
              </a:ext>
            </a:extLst>
          </p:cNvPr>
          <p:cNvSpPr txBox="1"/>
          <p:nvPr/>
        </p:nvSpPr>
        <p:spPr>
          <a:xfrm>
            <a:off x="7891557" y="1831247"/>
            <a:ext cx="2321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</a:rPr>
              <a:t>sns.histplot</a:t>
            </a:r>
            <a:r>
              <a:rPr lang="en-US" altLang="ko-KR" sz="1400" dirty="0">
                <a:latin typeface="Britannic Bold" panose="020B0903060703020204" pitchFamily="34" charset="0"/>
              </a:rPr>
              <a:t>(discrete=True)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C4989-4E1E-D890-423E-B6FB7D38B1AB}"/>
              </a:ext>
            </a:extLst>
          </p:cNvPr>
          <p:cNvSpPr txBox="1"/>
          <p:nvPr/>
        </p:nvSpPr>
        <p:spPr>
          <a:xfrm>
            <a:off x="909836" y="1873014"/>
            <a:ext cx="1489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joint_histogram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6D913-0B01-E354-6F96-A7108311FCC1}"/>
              </a:ext>
            </a:extLst>
          </p:cNvPr>
          <p:cNvSpPr txBox="1"/>
          <p:nvPr/>
        </p:nvSpPr>
        <p:spPr>
          <a:xfrm>
            <a:off x="7888209" y="4345492"/>
            <a:ext cx="2937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</a:rPr>
              <a:t>g.ax_joint.set</a:t>
            </a:r>
            <a:r>
              <a:rPr lang="en-US" altLang="ko-KR" sz="1400" dirty="0">
                <a:latin typeface="Britannic Bold" panose="020B0903060703020204" pitchFamily="34" charset="0"/>
              </a:rPr>
              <a:t>(</a:t>
            </a:r>
            <a:r>
              <a:rPr lang="en-US" altLang="ko-KR" sz="1400" dirty="0" err="1">
                <a:latin typeface="Britannic Bold" panose="020B0903060703020204" pitchFamily="34" charset="0"/>
              </a:rPr>
              <a:t>yscale</a:t>
            </a:r>
            <a:r>
              <a:rPr lang="en-US" altLang="ko-KR" sz="1400" dirty="0">
                <a:latin typeface="Britannic Bold" panose="020B0903060703020204" pitchFamily="34" charset="0"/>
              </a:rPr>
              <a:t>="log")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A634B299-49D6-52DE-08AC-3B5F6FDBB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464" y="4653136"/>
            <a:ext cx="2439718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093A3CA7-10F6-B4D7-2B88-086C54CAC0FB}"/>
              </a:ext>
            </a:extLst>
          </p:cNvPr>
          <p:cNvCxnSpPr>
            <a:cxnSpLocks/>
            <a:endCxn id="4100" idx="1"/>
          </p:cNvCxnSpPr>
          <p:nvPr/>
        </p:nvCxnSpPr>
        <p:spPr>
          <a:xfrm>
            <a:off x="4150196" y="2420888"/>
            <a:ext cx="3764142" cy="6675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C8F46F1F-8EEB-CFD0-59E5-180DB3842FE3}"/>
              </a:ext>
            </a:extLst>
          </p:cNvPr>
          <p:cNvCxnSpPr>
            <a:cxnSpLocks/>
          </p:cNvCxnSpPr>
          <p:nvPr/>
        </p:nvCxnSpPr>
        <p:spPr>
          <a:xfrm>
            <a:off x="5014292" y="4751382"/>
            <a:ext cx="2873917" cy="11007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04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7DCE2-17C1-A611-9B45-2FD6CF81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6F4523-1057-C68A-630F-8E420669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6F71B-9CAC-A913-6B18-46452EB8146D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Pairplot</a:t>
            </a:r>
            <a:endParaRPr lang="ko-KR" altLang="en-US" sz="32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55F8382-6E2B-3DFF-600B-F2EEAAA5E5BD}"/>
              </a:ext>
            </a:extLst>
          </p:cNvPr>
          <p:cNvGrpSpPr/>
          <p:nvPr/>
        </p:nvGrpSpPr>
        <p:grpSpPr>
          <a:xfrm>
            <a:off x="981844" y="2060848"/>
            <a:ext cx="9509954" cy="4586834"/>
            <a:chOff x="400882" y="992214"/>
            <a:chExt cx="11980731" cy="5778537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252B00A0-9CCA-2DC8-5D52-7E4F521D40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709" y="1447580"/>
              <a:ext cx="6005581" cy="5301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65E5745-C1E2-1D24-BB69-4BED482DBA8C}"/>
                </a:ext>
              </a:extLst>
            </p:cNvPr>
            <p:cNvSpPr/>
            <p:nvPr/>
          </p:nvSpPr>
          <p:spPr>
            <a:xfrm>
              <a:off x="693812" y="3861048"/>
              <a:ext cx="1534064" cy="138922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7037C7-933E-A3A7-A4E6-1C0B5AD00A6E}"/>
                </a:ext>
              </a:extLst>
            </p:cNvPr>
            <p:cNvSpPr txBox="1"/>
            <p:nvPr/>
          </p:nvSpPr>
          <p:spPr>
            <a:xfrm>
              <a:off x="400882" y="992214"/>
              <a:ext cx="3271960" cy="387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sns.pairplot</a:t>
              </a:r>
              <a:r>
                <a:rPr lang="en-US" altLang="ko-KR" sz="1400" dirty="0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(</a:t>
              </a:r>
              <a:r>
                <a:rPr lang="en-US" altLang="ko-KR" sz="1400" dirty="0" err="1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df</a:t>
              </a:r>
              <a:r>
                <a:rPr lang="en-US" altLang="ko-KR" sz="1400" dirty="0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, hue="species")</a:t>
              </a:r>
              <a:endParaRPr lang="ko-KR" altLang="en-US" sz="1400" dirty="0">
                <a:latin typeface="Britannic Bold" panose="020B0903060703020204" pitchFamily="34" charset="0"/>
              </a:endParaRP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B1653977-6636-3D04-4EB3-D5CE03EBD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6714" y="3946040"/>
              <a:ext cx="2844059" cy="2824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연결선: 구부러짐 6">
              <a:extLst>
                <a:ext uri="{FF2B5EF4-FFF2-40B4-BE49-F238E27FC236}">
                  <a16:creationId xmlns:a16="http://schemas.microsoft.com/office/drawing/2014/main" id="{B7A2B3B0-A523-FF6A-4790-9BDBEAAF94BC}"/>
                </a:ext>
              </a:extLst>
            </p:cNvPr>
            <p:cNvCxnSpPr>
              <a:cxnSpLocks/>
              <a:stCxn id="4" idx="3"/>
              <a:endCxn id="3074" idx="1"/>
            </p:cNvCxnSpPr>
            <p:nvPr/>
          </p:nvCxnSpPr>
          <p:spPr>
            <a:xfrm>
              <a:off x="2227875" y="4555660"/>
              <a:ext cx="7258839" cy="802736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D26FBB-56B4-174A-C25B-F243F7986FA7}"/>
                </a:ext>
              </a:extLst>
            </p:cNvPr>
            <p:cNvSpPr txBox="1"/>
            <p:nvPr/>
          </p:nvSpPr>
          <p:spPr>
            <a:xfrm>
              <a:off x="9377926" y="3572127"/>
              <a:ext cx="2005747" cy="387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rtl="0">
                <a:defRPr lang="ko-kr"/>
              </a:defPPr>
              <a:lvl1pPr>
                <a:defRPr sz="1400">
                  <a:latin typeface="Britannic Bold" panose="020B0903060703020204" pitchFamily="34" charset="0"/>
                </a:defRPr>
              </a:lvl1pPr>
            </a:lstStyle>
            <a:p>
              <a:r>
                <a:rPr lang="en-US" altLang="ko-KR" dirty="0" err="1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hexbin_marginals</a:t>
              </a:r>
              <a:endParaRPr lang="ko-KR" altLang="en-US" dirty="0"/>
            </a:p>
          </p:txBody>
        </p:sp>
        <p:pic>
          <p:nvPicPr>
            <p:cNvPr id="3078" name="Picture 6">
              <a:extLst>
                <a:ext uri="{FF2B5EF4-FFF2-40B4-BE49-F238E27FC236}">
                  <a16:creationId xmlns:a16="http://schemas.microsoft.com/office/drawing/2014/main" id="{156B5172-BB88-2485-4909-5859E68013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6714" y="1159732"/>
              <a:ext cx="2894899" cy="2287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C2931DD-8ED4-5AEF-DBB8-05B6F017A1E1}"/>
                </a:ext>
              </a:extLst>
            </p:cNvPr>
            <p:cNvSpPr/>
            <p:nvPr/>
          </p:nvSpPr>
          <p:spPr>
            <a:xfrm>
              <a:off x="693812" y="1401540"/>
              <a:ext cx="1534063" cy="13892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cxnSp>
          <p:nvCxnSpPr>
            <p:cNvPr id="17" name="연결선: 구부러짐 16">
              <a:extLst>
                <a:ext uri="{FF2B5EF4-FFF2-40B4-BE49-F238E27FC236}">
                  <a16:creationId xmlns:a16="http://schemas.microsoft.com/office/drawing/2014/main" id="{67D18B30-DE1B-E4AC-6DF9-B05D6302466D}"/>
                </a:ext>
              </a:extLst>
            </p:cNvPr>
            <p:cNvCxnSpPr>
              <a:cxnSpLocks/>
              <a:stCxn id="16" idx="3"/>
              <a:endCxn id="3078" idx="1"/>
            </p:cNvCxnSpPr>
            <p:nvPr/>
          </p:nvCxnSpPr>
          <p:spPr>
            <a:xfrm>
              <a:off x="2227875" y="2096150"/>
              <a:ext cx="7258839" cy="207215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AED1783-FAA9-B437-9357-5DA25F9E09DD}"/>
              </a:ext>
            </a:extLst>
          </p:cNvPr>
          <p:cNvSpPr txBox="1"/>
          <p:nvPr/>
        </p:nvSpPr>
        <p:spPr>
          <a:xfrm>
            <a:off x="338480" y="1005885"/>
            <a:ext cx="1158858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Hexbin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species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구분없이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전체 부리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(bill)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대한 데이터 분포이고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plot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species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조건으로 하는 데이터 분포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조건부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분포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막대그래프나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곡선의 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Likelihood(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098E6B-8CCB-8548-00BD-D91394A409B5}"/>
              </a:ext>
            </a:extLst>
          </p:cNvPr>
          <p:cNvSpPr txBox="1"/>
          <p:nvPr/>
        </p:nvSpPr>
        <p:spPr>
          <a:xfrm>
            <a:off x="8107558" y="1912267"/>
            <a:ext cx="252335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dirty="0" err="1">
                <a:latin typeface="Britannic Bold" panose="020B0903060703020204" pitchFamily="34" charset="0"/>
              </a:rPr>
              <a:t>sns.kdeplot</a:t>
            </a:r>
            <a:r>
              <a:rPr lang="en-US" altLang="ko-KR" sz="1400" dirty="0">
                <a:latin typeface="Britannic Bold" panose="020B0903060703020204" pitchFamily="34" charset="0"/>
              </a:rPr>
              <a:t>(hue="species“)</a:t>
            </a:r>
          </a:p>
        </p:txBody>
      </p:sp>
    </p:spTree>
    <p:extLst>
      <p:ext uri="{BB962C8B-B14F-4D97-AF65-F5344CB8AC3E}">
        <p14:creationId xmlns:p14="http://schemas.microsoft.com/office/powerpoint/2010/main" val="410558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8151-C46B-CD5E-E821-A0F68F3A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6760EB-0648-59D8-3629-82571919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8D6A8-703D-996C-3882-67E139AAAB2E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Hexbin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plot with marginal distributions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3FFA3-F7AB-2DB1-F22A-1ECB6018AABD}"/>
              </a:ext>
            </a:extLst>
          </p:cNvPr>
          <p:cNvSpPr txBox="1"/>
          <p:nvPr/>
        </p:nvSpPr>
        <p:spPr>
          <a:xfrm>
            <a:off x="6094412" y="1772816"/>
            <a:ext cx="5832648" cy="3039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중앙 육각형 격자 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(Joint Distribution)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변수가 동시에 나타나는 빈도이며 색이 진할수록 해당 데이터 포인트가 많이 몰려 있다는 뜻이며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결합 확률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P(X, Y)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높은 지점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상단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우측 막대그래프 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(Marginal Distribution)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변수 하나의 분포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주변 확률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P(X)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P(Y)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나타냅니다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상단 막대는 부리 길이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분포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우측 막대는 날개 길이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(Y)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분포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1BEF79-7545-09AC-1482-F1F72B45D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" y="1772816"/>
            <a:ext cx="4857582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A2A39A-1188-3272-3076-8B01A836614A}"/>
              </a:ext>
            </a:extLst>
          </p:cNvPr>
          <p:cNvSpPr txBox="1"/>
          <p:nvPr/>
        </p:nvSpPr>
        <p:spPr>
          <a:xfrm>
            <a:off x="532365" y="1465039"/>
            <a:ext cx="1643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hexbin_marginals</a:t>
            </a:r>
            <a:r>
              <a:rPr lang="en-US" altLang="ko-KR" sz="1400" dirty="0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07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8E4F1-FED3-9C83-19AF-9E59E4C9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0488456-27E5-BF62-A9E2-DF222DCF85D5}"/>
              </a:ext>
            </a:extLst>
          </p:cNvPr>
          <p:cNvSpPr/>
          <p:nvPr/>
        </p:nvSpPr>
        <p:spPr>
          <a:xfrm>
            <a:off x="549796" y="2538126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35E3C63-50ED-8E84-C8E2-9646A70A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95F424-19FC-3256-E8D0-D757E895DBDB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399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05F1E-F796-5B86-BB6D-1DE3E96B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6DD476-E7B1-A9F8-818B-592447BC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2A59E69-1EBF-6473-FA56-31829809B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304" y="2331026"/>
            <a:ext cx="9450462" cy="386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0AC3C7-4124-E1BC-E58C-1975BFACDB0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832A0-F0BF-374A-D564-5BA5865EAE85}"/>
              </a:ext>
            </a:extLst>
          </p:cNvPr>
          <p:cNvSpPr txBox="1"/>
          <p:nvPr/>
        </p:nvSpPr>
        <p:spPr>
          <a:xfrm>
            <a:off x="338480" y="1005885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펭귄발의 길이에 대한 조건부확률을 시각화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72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7798-07DC-FE7E-30AA-DA0A29AE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B41B6C-9F4C-8B94-632A-0CD19CF4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4D0546E-7EC7-6550-655B-10A712E59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484" y="2276872"/>
            <a:ext cx="4107421" cy="407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6B46261-9E5E-793B-1508-B6A487126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927" y="2275344"/>
            <a:ext cx="4107421" cy="407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9B8E04-000F-5C87-7A56-5BE6CF433C28}"/>
              </a:ext>
            </a:extLst>
          </p:cNvPr>
          <p:cNvSpPr txBox="1"/>
          <p:nvPr/>
        </p:nvSpPr>
        <p:spPr>
          <a:xfrm>
            <a:off x="1383587" y="1906012"/>
            <a:ext cx="25298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 kernel density estimate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0E21B-638F-5751-E709-85C0F8E75B6C}"/>
              </a:ext>
            </a:extLst>
          </p:cNvPr>
          <p:cNvSpPr txBox="1"/>
          <p:nvPr/>
        </p:nvSpPr>
        <p:spPr>
          <a:xfrm>
            <a:off x="6598468" y="1906012"/>
            <a:ext cx="3791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 kernel density estimate</a:t>
            </a:r>
            <a:r>
              <a:rPr lang="en-US" altLang="ko-KR" sz="1400" dirty="0">
                <a:latin typeface="Britannic Bold" panose="020B0903060703020204" pitchFamily="34" charset="0"/>
              </a:rPr>
              <a:t>(hue =“species”)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DBAD1-9294-DC49-5057-2D5162AB55EE}"/>
              </a:ext>
            </a:extLst>
          </p:cNvPr>
          <p:cNvSpPr txBox="1"/>
          <p:nvPr/>
        </p:nvSpPr>
        <p:spPr>
          <a:xfrm>
            <a:off x="490880" y="1158285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penguin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데이터에서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Chinstrap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종을 제외하고 종의 구분이 없는 경우와 있는 경우의 전체분포와 조건부 분포를 시각화  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53F01-12DE-A1AA-9FA0-E02D648A641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44849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19D0-2FDC-16D8-548C-E22332E5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690D8AA-8BC3-384F-3764-C1E73140B29F}"/>
              </a:ext>
            </a:extLst>
          </p:cNvPr>
          <p:cNvSpPr/>
          <p:nvPr/>
        </p:nvSpPr>
        <p:spPr>
          <a:xfrm>
            <a:off x="549796" y="3114190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EAB4A4B-43B1-86F2-5D53-994D5814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46FC76-358A-A88D-A4DC-DEFFF8B417C9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712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48443-75BE-9871-0739-0896D3DD3D33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결합확률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(joint distributions)</a:t>
            </a:r>
            <a:endParaRPr lang="ko-KR" altLang="en-US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033E8-7497-399B-7ED7-D83E6988BE68}"/>
              </a:ext>
            </a:extLst>
          </p:cNvPr>
          <p:cNvSpPr txBox="1"/>
          <p:nvPr/>
        </p:nvSpPr>
        <p:spPr>
          <a:xfrm>
            <a:off x="338480" y="1005885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동전과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주사위를 던졌을 때 동전 앞면과 주사위의 수자가 짝수가 나올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결합확률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)?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26D2F1C-13C2-7A5E-20F8-DEC1B703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996" y="2204864"/>
            <a:ext cx="6264696" cy="4277786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05CFF5-0ACF-1D02-6742-22846750DFB2}"/>
              </a:ext>
            </a:extLst>
          </p:cNvPr>
          <p:cNvSpPr/>
          <p:nvPr/>
        </p:nvSpPr>
        <p:spPr>
          <a:xfrm>
            <a:off x="3574132" y="321297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E5466E-443E-A97E-011D-A08F7A137835}"/>
              </a:ext>
            </a:extLst>
          </p:cNvPr>
          <p:cNvSpPr/>
          <p:nvPr/>
        </p:nvSpPr>
        <p:spPr>
          <a:xfrm>
            <a:off x="3574132" y="429309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49B786E-AE08-9372-3173-F9EFFACDEE22}"/>
              </a:ext>
            </a:extLst>
          </p:cNvPr>
          <p:cNvSpPr/>
          <p:nvPr/>
        </p:nvSpPr>
        <p:spPr>
          <a:xfrm>
            <a:off x="3574132" y="537321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73BAC-720D-87BB-EAA7-730F4625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BD8E640-463B-7E86-FADD-2FC0076FE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64CA5-78A6-6583-F034-8DF3E7E2452D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결합확률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(joint distributions)</a:t>
            </a:r>
            <a:endParaRPr lang="ko-KR" altLang="en-US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D7DA8-EB40-CC7E-60ED-3BAE167DDC85}"/>
              </a:ext>
            </a:extLst>
          </p:cNvPr>
          <p:cNvSpPr txBox="1"/>
          <p:nvPr/>
        </p:nvSpPr>
        <p:spPr>
          <a:xfrm>
            <a:off x="338480" y="1005885"/>
            <a:ext cx="11588580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앞면과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주사위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 * 1/6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동전과 주사위가 나올 확률을 곱한다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C700C0-8873-0ACA-48DA-B76F580B0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988" y="1963863"/>
            <a:ext cx="8052895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1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B49E-8DE0-447C-5C4F-CED65C39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6BA9F5B-E661-1F9C-4100-D698438A5CC1}"/>
              </a:ext>
            </a:extLst>
          </p:cNvPr>
          <p:cNvSpPr/>
          <p:nvPr/>
        </p:nvSpPr>
        <p:spPr>
          <a:xfrm>
            <a:off x="549796" y="3762262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9FA1B26-DC49-91C6-6DDB-18EF223A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17D90-540E-FE62-C6A0-B2BD4C0E315D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834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51A57-7963-F069-6B19-C29EE8FD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301409-FC0B-93A1-E3C6-44BC7892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0D26D-A9D0-2236-36E0-A89E242D0C0C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9087298-9315-D2FD-7110-FBB0AC9CF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868" y="1412775"/>
            <a:ext cx="5112568" cy="514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A7B01D-0855-07B6-72C7-06A99023DDC7}"/>
              </a:ext>
            </a:extLst>
          </p:cNvPr>
          <p:cNvSpPr txBox="1"/>
          <p:nvPr/>
        </p:nvSpPr>
        <p:spPr>
          <a:xfrm>
            <a:off x="1169518" y="1043443"/>
            <a:ext cx="5500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https://seaborn.pydata.org/examples/joint_kde.html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19D07-2A4F-882B-ECB2-939FE65B77D8}"/>
              </a:ext>
            </a:extLst>
          </p:cNvPr>
          <p:cNvSpPr txBox="1"/>
          <p:nvPr/>
        </p:nvSpPr>
        <p:spPr>
          <a:xfrm>
            <a:off x="6814492" y="1517966"/>
            <a:ext cx="5256584" cy="424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“species”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범주형 값을 기준으로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각각 변수의 평균과 분산을 구하라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변수간의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공분산을 구하라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분산이나 공분산이 커지면 모양새는 어떻게 변하나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낙도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(remote island)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무엇인가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팽권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3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(species)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분류하기에 가장 좋은 변수는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 y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중에서 무엇인지 결정하라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분류를 결정하는 변수의 어떤 특정 값이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(species)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분류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하는데 최적인가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70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16F6-7474-0121-A593-4FFCAB276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9F9F47C-27FD-9CEF-3979-F65879F2E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F220C-21BC-1459-94F6-3A6F69259CDA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3C7418-EE55-3D57-35E0-08BCF0C87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767262"/>
            <a:ext cx="2880320" cy="430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95D30F-E506-07F9-234A-D3315788FF0A}"/>
              </a:ext>
            </a:extLst>
          </p:cNvPr>
          <p:cNvSpPr txBox="1"/>
          <p:nvPr/>
        </p:nvSpPr>
        <p:spPr>
          <a:xfrm>
            <a:off x="909836" y="875966"/>
            <a:ext cx="10945216" cy="564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seaborn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gallery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시각화 예제 중에서 아래 그림을 평균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분포 등의 관점으로 설명하라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569E3-FF38-E843-B65D-8620B27A6958}"/>
              </a:ext>
            </a:extLst>
          </p:cNvPr>
          <p:cNvSpPr txBox="1"/>
          <p:nvPr/>
        </p:nvSpPr>
        <p:spPr>
          <a:xfrm>
            <a:off x="1478577" y="6062681"/>
            <a:ext cx="244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multiple_bivariate_kde</a:t>
            </a:r>
            <a:endParaRPr lang="ko-KR" altLang="en-US" sz="1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7B773A7-108D-FBA2-F491-2BAE9A5FB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372" y="1767263"/>
            <a:ext cx="4792045" cy="387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0EEF0A-F549-0076-BF6F-BC261F9085FC}"/>
              </a:ext>
            </a:extLst>
          </p:cNvPr>
          <p:cNvSpPr txBox="1"/>
          <p:nvPr/>
        </p:nvSpPr>
        <p:spPr>
          <a:xfrm>
            <a:off x="5740007" y="5768228"/>
            <a:ext cx="1447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multiple_regression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2687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764D3-A67A-791D-965C-7310444EC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8513452-4DAF-C356-4425-F660DCC7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F19938-A90F-375E-27C2-72092386179F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6D5AE-6B05-6BD7-F072-47EF5DA8845E}"/>
              </a:ext>
            </a:extLst>
          </p:cNvPr>
          <p:cNvSpPr txBox="1"/>
          <p:nvPr/>
        </p:nvSpPr>
        <p:spPr>
          <a:xfrm>
            <a:off x="693811" y="1052736"/>
            <a:ext cx="10945216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1, 2, 3, 4, 5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각각의 데이터는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Cluster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 어디에 속할까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시각화 그림에 대해 토론하라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ADED97D-C059-95E9-07DA-83222A58F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11" y="2132856"/>
            <a:ext cx="5174579" cy="416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5116981-B925-82D4-DCF6-0327245A3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060" y="2132856"/>
            <a:ext cx="4152856" cy="416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8EFD0E-4783-C6CA-E610-AAA578315B5F}"/>
              </a:ext>
            </a:extLst>
          </p:cNvPr>
          <p:cNvSpPr txBox="1"/>
          <p:nvPr/>
        </p:nvSpPr>
        <p:spPr>
          <a:xfrm>
            <a:off x="1172929" y="2428146"/>
            <a:ext cx="268923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from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scipy.stats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 import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endParaRPr lang="en-US" altLang="ko-KR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#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클러스터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1: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중심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(1, 1),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원형 분포 </a:t>
            </a:r>
            <a:endParaRPr lang="en-US" altLang="ko-KR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rv1 =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([1, 1], [[0.5, 0], [0, 0.5]]) 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#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클러스터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2: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중심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(3, 3),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타원 분포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공분산 활용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) 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rv2 =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([3, 3], [[1.5, 0.8], [0.8, 0.6]]) </a:t>
            </a:r>
            <a:endParaRPr lang="ko-KR" alt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45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FE7E-2B7D-A71D-4FD2-830B605E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80AE1D-BFBF-DF84-0F66-5CF02631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F0CA0-5595-AC6D-B083-3EBAE23A961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B6E98-D7DF-2326-D250-C71DB2B73F1C}"/>
              </a:ext>
            </a:extLst>
          </p:cNvPr>
          <p:cNvSpPr txBox="1"/>
          <p:nvPr/>
        </p:nvSpPr>
        <p:spPr>
          <a:xfrm>
            <a:off x="909836" y="875966"/>
            <a:ext cx="10945216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1,2, 3, 4, 5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각각의 데이터는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Cluster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 어디에 속할까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시각화 그림에 대해 토론하라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 경우 어디에 속하는지 수자로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확률로 제시할 수 있을까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62ADCD0-BC77-3149-39F3-DCDB65091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2276872"/>
            <a:ext cx="4939310" cy="397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0163F9-90B9-A8F1-5718-71EF8A59C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364" y="2319014"/>
            <a:ext cx="6351438" cy="2982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4117D-32C9-4924-938F-DAEAFD3031F0}"/>
              </a:ext>
            </a:extLst>
          </p:cNvPr>
          <p:cNvSpPr txBox="1"/>
          <p:nvPr/>
        </p:nvSpPr>
        <p:spPr>
          <a:xfrm>
            <a:off x="5662363" y="5445224"/>
            <a:ext cx="63514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400" dirty="0" err="1"/>
              <a:t>러그</a:t>
            </a:r>
            <a:r>
              <a:rPr lang="ko-KR" altLang="en-US" sz="1400" dirty="0"/>
              <a:t> 플롯</a:t>
            </a:r>
            <a:r>
              <a:rPr lang="en-US" altLang="ko-KR" sz="1400" dirty="0"/>
              <a:t>(Rug Plot) : 2</a:t>
            </a:r>
            <a:r>
              <a:rPr lang="ko-KR" altLang="en-US" sz="1400" dirty="0"/>
              <a:t>차원 공간</a:t>
            </a:r>
            <a:r>
              <a:rPr lang="en-US" altLang="ko-KR" sz="1400" dirty="0"/>
              <a:t>(X, Y)</a:t>
            </a:r>
            <a:r>
              <a:rPr lang="ko-KR" altLang="en-US" sz="1400" dirty="0"/>
              <a:t>에 흩어져 있는 점들을 </a:t>
            </a:r>
            <a:r>
              <a:rPr lang="en-US" altLang="ko-KR" sz="1400" dirty="0"/>
              <a:t>Y</a:t>
            </a:r>
            <a:r>
              <a:rPr lang="ko-KR" altLang="en-US" sz="1400" dirty="0"/>
              <a:t>축 값을 무시하고 </a:t>
            </a:r>
            <a:r>
              <a:rPr lang="en-US" altLang="ko-KR" sz="1400" dirty="0"/>
              <a:t>X</a:t>
            </a:r>
            <a:r>
              <a:rPr lang="ko-KR" altLang="en-US" sz="1400" dirty="0"/>
              <a:t>축 바닥으로 뚝 떨어뜨려</a:t>
            </a:r>
            <a:r>
              <a:rPr lang="en-US" altLang="ko-KR" sz="1400" dirty="0"/>
              <a:t>(</a:t>
            </a:r>
            <a:r>
              <a:rPr lang="ko-KR" altLang="en-US" sz="1400" dirty="0"/>
              <a:t>투영시켜</a:t>
            </a:r>
            <a:r>
              <a:rPr lang="en-US" altLang="ko-KR" sz="1400" dirty="0"/>
              <a:t>), </a:t>
            </a:r>
            <a:r>
              <a:rPr lang="ko-KR" altLang="en-US" sz="1400" dirty="0"/>
              <a:t>실제 데이터가 어느 지점에 밀집해 있는지를 직선상의 눈금으로 표시</a:t>
            </a:r>
          </a:p>
        </p:txBody>
      </p:sp>
    </p:spTree>
    <p:extLst>
      <p:ext uri="{BB962C8B-B14F-4D97-AF65-F5344CB8AC3E}">
        <p14:creationId xmlns:p14="http://schemas.microsoft.com/office/powerpoint/2010/main" val="298990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B2DCB-C9C7-FFF3-803D-5C78FEB1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66163-F6F1-738E-3F66-6669CD9B676E}"/>
              </a:ext>
            </a:extLst>
          </p:cNvPr>
          <p:cNvSpPr txBox="1"/>
          <p:nvPr/>
        </p:nvSpPr>
        <p:spPr>
          <a:xfrm>
            <a:off x="765820" y="1196752"/>
            <a:ext cx="11233248" cy="6970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Kaggle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alone-in-the-woods-using-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theil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-s-u-for-survival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참고하여 아래 데이터를 바탕으로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성별로 하고 다른 모든 변수를 입력변수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(Input)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하여 상관관계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범주 모두 포함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아래와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같이 구하고 결과를 토론하라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51B27-8096-A2B2-E88A-5F08FD136A69}"/>
              </a:ext>
            </a:extLst>
          </p:cNvPr>
          <p:cNvSpPr txBox="1"/>
          <p:nvPr/>
        </p:nvSpPr>
        <p:spPr>
          <a:xfrm>
            <a:off x="117748" y="260648"/>
            <a:ext cx="525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(Option)</a:t>
            </a:r>
            <a:endParaRPr lang="ko-KR" altLang="en-US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08EB97-D75C-37B9-BF3B-39DC3F52E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69" y="2760332"/>
            <a:ext cx="10114904" cy="202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FE2F4D8-5C8D-3D53-0E7C-5E89E4BD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6" y="5088070"/>
            <a:ext cx="10525532" cy="94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89525C-C7A0-A806-EA78-271C51F864A5}"/>
              </a:ext>
            </a:extLst>
          </p:cNvPr>
          <p:cNvSpPr txBox="1"/>
          <p:nvPr/>
        </p:nvSpPr>
        <p:spPr>
          <a:xfrm>
            <a:off x="765067" y="4762947"/>
            <a:ext cx="6113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https://github.com/ancestor9/data/blob/main/customers.csv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6393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AACE6D-8EB6-447A-8DFD-C2C0C52916AC}">
  <ds:schemaRefs>
    <ds:schemaRef ds:uri="http://purl.org/dc/elements/1.1/"/>
    <ds:schemaRef ds:uri="http://purl.org/dc/terms/"/>
    <ds:schemaRef ds:uri="http://schemas.microsoft.com/office/2006/metadata/properties"/>
    <ds:schemaRef ds:uri="a4f35948-e619-41b3-aa29-22878b09cfd2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40262f94-9f35-4ac3-9a90-690165a166b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1550</TotalTime>
  <Words>791</Words>
  <Application>Microsoft Office PowerPoint</Application>
  <PresentationFormat>사용자 지정</PresentationFormat>
  <Paragraphs>112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맑은 고딕</vt:lpstr>
      <vt:lpstr>맑은 고딕 Semilight</vt:lpstr>
      <vt:lpstr>한컴 말랑말랑 Bold</vt:lpstr>
      <vt:lpstr>휴먼모음T</vt:lpstr>
      <vt:lpstr>Arial</vt:lpstr>
      <vt:lpstr>Arial Narrow</vt:lpstr>
      <vt:lpstr>Britannic Bold</vt:lpstr>
      <vt:lpstr>Corbel</vt:lpstr>
      <vt:lpstr>Wingdings</vt:lpstr>
      <vt:lpstr>마케팅 16x9</vt:lpstr>
      <vt:lpstr>통계와 확률  - 확률론에 들어가기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39</cp:revision>
  <dcterms:created xsi:type="dcterms:W3CDTF">2024-06-03T06:10:16Z</dcterms:created>
  <dcterms:modified xsi:type="dcterms:W3CDTF">2026-03-20T13:37:28Z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