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65" r:id="rId4"/>
    <p:sldId id="271" r:id="rId5"/>
    <p:sldId id="272" r:id="rId6"/>
    <p:sldId id="273" r:id="rId7"/>
    <p:sldId id="274" r:id="rId8"/>
    <p:sldId id="270" r:id="rId9"/>
    <p:sldId id="259" r:id="rId10"/>
    <p:sldId id="258" r:id="rId11"/>
    <p:sldId id="268" r:id="rId12"/>
    <p:sldId id="269" r:id="rId13"/>
    <p:sldId id="260" r:id="rId14"/>
    <p:sldId id="263" r:id="rId15"/>
    <p:sldId id="264" r:id="rId16"/>
    <p:sldId id="261" r:id="rId17"/>
    <p:sldId id="262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en.wikipedia.org/wiki/Eigenvalues_and_eigenvect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행렬과 벡터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 Spring</a:t>
            </a:r>
          </a:p>
          <a:p>
            <a:r>
              <a:rPr lang="ko-KR" altLang="en-US" dirty="0" err="1"/>
              <a:t>조상구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BF83E-FA81-2702-D7F1-0896BBDA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96EBB9-2262-CFC3-D517-E192843CFA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차원 직선에서의 선형변환에 대해 생각하기</a:t>
            </a:r>
            <a:endParaRPr lang="en-US" altLang="ko-KR" sz="2400" dirty="0"/>
          </a:p>
          <a:p>
            <a:r>
              <a:rPr lang="en-US" altLang="ko-KR" sz="2400" dirty="0"/>
              <a:t>2</a:t>
            </a:r>
            <a:r>
              <a:rPr lang="ko-KR" altLang="en-US" sz="2400" dirty="0"/>
              <a:t>차원 평면의 </a:t>
            </a:r>
            <a:r>
              <a:rPr lang="en-US" altLang="ko-KR" sz="2400" dirty="0"/>
              <a:t>2</a:t>
            </a:r>
            <a:r>
              <a:rPr lang="ko-KR" altLang="en-US" sz="2400" dirty="0"/>
              <a:t>개 벡터</a:t>
            </a:r>
            <a:r>
              <a:rPr lang="en-US" altLang="ko-KR" sz="2400" dirty="0"/>
              <a:t>(points), (1,2), (2,1)</a:t>
            </a:r>
            <a:r>
              <a:rPr lang="ko-KR" altLang="en-US" sz="2400" dirty="0"/>
              <a:t>에 임의의 행렬과 내적</a:t>
            </a:r>
            <a:endParaRPr lang="en-US" altLang="ko-KR" sz="2400" dirty="0"/>
          </a:p>
          <a:p>
            <a:r>
              <a:rPr lang="ko-KR" altLang="en-US" sz="2400" dirty="0"/>
              <a:t>투영</a:t>
            </a:r>
            <a:r>
              <a:rPr lang="en-US" altLang="ko-KR" sz="2400" dirty="0"/>
              <a:t>(Projection)</a:t>
            </a:r>
          </a:p>
          <a:p>
            <a:r>
              <a:rPr lang="ko-KR" altLang="en-US" sz="2400" dirty="0"/>
              <a:t>행렬</a:t>
            </a:r>
            <a:r>
              <a:rPr lang="en-US" altLang="ko-KR" sz="2400" dirty="0"/>
              <a:t> A</a:t>
            </a:r>
            <a:r>
              <a:rPr lang="ko-KR" altLang="en-US" sz="2400" dirty="0"/>
              <a:t>와 내적</a:t>
            </a:r>
            <a:r>
              <a:rPr lang="en-US" altLang="ko-KR" sz="2400" dirty="0"/>
              <a:t>(inner product)</a:t>
            </a:r>
          </a:p>
          <a:p>
            <a:r>
              <a:rPr lang="ko-KR" altLang="en-US" sz="2400" dirty="0"/>
              <a:t>행렬 </a:t>
            </a:r>
            <a:r>
              <a:rPr lang="en-US" altLang="ko-KR" sz="2400" dirty="0"/>
              <a:t>A</a:t>
            </a:r>
            <a:r>
              <a:rPr lang="ko-KR" altLang="en-US" sz="2400" dirty="0"/>
              <a:t>로 선형변환</a:t>
            </a:r>
            <a:r>
              <a:rPr lang="en-US" altLang="ko-KR" sz="2400" dirty="0"/>
              <a:t>(linear combination)</a:t>
            </a:r>
          </a:p>
          <a:p>
            <a:r>
              <a:rPr lang="ko-KR" altLang="en-US" sz="2400" dirty="0"/>
              <a:t>기저좌표의 변화</a:t>
            </a:r>
            <a:endParaRPr lang="en-US" altLang="ko-KR" sz="2400" dirty="0"/>
          </a:p>
          <a:p>
            <a:r>
              <a:rPr lang="ko-KR" altLang="en-US" sz="2400" dirty="0"/>
              <a:t>주성분</a:t>
            </a:r>
            <a:r>
              <a:rPr lang="en-US" altLang="ko-KR" sz="2400" dirty="0"/>
              <a:t>(principal components)</a:t>
            </a:r>
          </a:p>
          <a:p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8C3539-91F4-1378-2B85-AE1709642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897" y="3429000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2634D-69DE-B1FA-0C1A-E45A7D84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7EF1AA-F153-6183-97D0-69F9B4F583E3}"/>
              </a:ext>
            </a:extLst>
          </p:cNvPr>
          <p:cNvCxnSpPr>
            <a:cxnSpLocks/>
          </p:cNvCxnSpPr>
          <p:nvPr/>
        </p:nvCxnSpPr>
        <p:spPr>
          <a:xfrm>
            <a:off x="241904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202B12-A258-8108-186D-F5C99EE6F804}"/>
              </a:ext>
            </a:extLst>
          </p:cNvPr>
          <p:cNvSpPr txBox="1"/>
          <p:nvPr/>
        </p:nvSpPr>
        <p:spPr>
          <a:xfrm>
            <a:off x="228631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CFDE16B-292D-CEE7-D26B-874B0FDAC374}"/>
              </a:ext>
            </a:extLst>
          </p:cNvPr>
          <p:cNvCxnSpPr>
            <a:cxnSpLocks/>
          </p:cNvCxnSpPr>
          <p:nvPr/>
        </p:nvCxnSpPr>
        <p:spPr>
          <a:xfrm>
            <a:off x="47720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0889A9A-9BF1-DC08-AE34-A7451EE113CD}"/>
              </a:ext>
            </a:extLst>
          </p:cNvPr>
          <p:cNvSpPr txBox="1"/>
          <p:nvPr/>
        </p:nvSpPr>
        <p:spPr>
          <a:xfrm rot="16200000">
            <a:off x="2111177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62EAC99-6513-A21E-6BBF-96E1779712F1}"/>
              </a:ext>
            </a:extLst>
          </p:cNvPr>
          <p:cNvCxnSpPr>
            <a:cxnSpLocks/>
          </p:cNvCxnSpPr>
          <p:nvPr/>
        </p:nvCxnSpPr>
        <p:spPr>
          <a:xfrm flipV="1">
            <a:off x="3562353" y="2000250"/>
            <a:ext cx="2419350" cy="43059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000B8-C771-3200-0A05-38436541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F9728CA-6096-1AAE-2337-74A1A8AE706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438150"/>
            <a:ext cx="4005667" cy="25236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B612DA-EC24-162C-995D-B540CF45F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7260"/>
            <a:ext cx="4040743" cy="27053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A67843-AE69-0B2B-5F41-FE6F5C991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667" y="438150"/>
            <a:ext cx="3813259" cy="35972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E8901E8-7965-CE74-B48B-BD4127BDF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926" y="438150"/>
            <a:ext cx="4378446" cy="47910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6F50D7B-778A-F9B4-AB6F-6AE08D263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2682" y="4035437"/>
            <a:ext cx="3886244" cy="252364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01C3C5F-2E75-E81F-BF46-53C7922CA0A4}"/>
              </a:ext>
            </a:extLst>
          </p:cNvPr>
          <p:cNvCxnSpPr/>
          <p:nvPr/>
        </p:nvCxnSpPr>
        <p:spPr>
          <a:xfrm>
            <a:off x="3932682" y="476250"/>
            <a:ext cx="0" cy="496252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DDF5B2A-C1DA-47D2-70FB-4C466E113B6F}"/>
              </a:ext>
            </a:extLst>
          </p:cNvPr>
          <p:cNvCxnSpPr/>
          <p:nvPr/>
        </p:nvCxnSpPr>
        <p:spPr>
          <a:xfrm>
            <a:off x="7771257" y="485775"/>
            <a:ext cx="0" cy="496252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7D0D-E62D-FFB8-6A8F-2C54504A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AABB1-9F98-2E26-34F8-C104190D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22B9B2-BA65-5C63-EA02-618B81C271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F4732E-C835-013A-6AFB-F7806EA9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083"/>
            <a:ext cx="3930647" cy="495020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DA08E6-CC22-FAA3-2EBD-CBEAF08C9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531" y="208082"/>
            <a:ext cx="4456827" cy="49502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0FC976-180A-411F-362C-2D440D7EE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239" y="3386204"/>
            <a:ext cx="3431530" cy="354416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79ACA28-5E31-570D-B191-4529D1E04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358" y="208082"/>
            <a:ext cx="3872999" cy="458017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D179E23-7389-BD6F-1128-61D290E1A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5" y="5625869"/>
            <a:ext cx="4618120" cy="967824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3F0D6FD-3237-B981-C361-5B1ADA4831A8}"/>
              </a:ext>
            </a:extLst>
          </p:cNvPr>
          <p:cNvCxnSpPr/>
          <p:nvPr/>
        </p:nvCxnSpPr>
        <p:spPr>
          <a:xfrm>
            <a:off x="3732657" y="208082"/>
            <a:ext cx="0" cy="496252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BA9E2D3-BF4A-8CA0-EAE1-AAEA97533009}"/>
              </a:ext>
            </a:extLst>
          </p:cNvPr>
          <p:cNvCxnSpPr>
            <a:cxnSpLocks/>
          </p:cNvCxnSpPr>
          <p:nvPr/>
        </p:nvCxnSpPr>
        <p:spPr>
          <a:xfrm>
            <a:off x="8161782" y="195760"/>
            <a:ext cx="0" cy="451911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25DC070-DC68-1B95-82FC-8F55024DB88A}"/>
              </a:ext>
            </a:extLst>
          </p:cNvPr>
          <p:cNvCxnSpPr>
            <a:cxnSpLocks/>
          </p:cNvCxnSpPr>
          <p:nvPr/>
        </p:nvCxnSpPr>
        <p:spPr>
          <a:xfrm>
            <a:off x="5494239" y="3429000"/>
            <a:ext cx="0" cy="342900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6FF7CD-27FF-0834-A759-56F76993FC09}"/>
              </a:ext>
            </a:extLst>
          </p:cNvPr>
          <p:cNvCxnSpPr>
            <a:cxnSpLocks/>
          </p:cNvCxnSpPr>
          <p:nvPr/>
        </p:nvCxnSpPr>
        <p:spPr>
          <a:xfrm>
            <a:off x="5494239" y="3429000"/>
            <a:ext cx="2667543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36210B1-76CB-281D-50A6-CE21FC079D58}"/>
              </a:ext>
            </a:extLst>
          </p:cNvPr>
          <p:cNvCxnSpPr>
            <a:cxnSpLocks/>
          </p:cNvCxnSpPr>
          <p:nvPr/>
        </p:nvCxnSpPr>
        <p:spPr>
          <a:xfrm>
            <a:off x="8161782" y="4788253"/>
            <a:ext cx="2667543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54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B5F6-65FC-A353-AC91-699D48C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BC4B6E1E-2A21-9A1D-FC09-9B55B8F4F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595" y="773848"/>
            <a:ext cx="4838829" cy="531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66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566-E0E2-3682-76F4-6A2B0A52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5D4C1-4B4A-A66E-82C3-386E6AB7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EC279A-BA05-1914-9046-3B18C4C7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24" y="4277515"/>
            <a:ext cx="7402300" cy="115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933761-F6C1-E88D-6DC1-6D5645B5A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924" y="2300419"/>
            <a:ext cx="7330316" cy="1103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B0C35-8920-5211-45F2-08E4D70B1F95}"/>
              </a:ext>
            </a:extLst>
          </p:cNvPr>
          <p:cNvSpPr txBox="1"/>
          <p:nvPr/>
        </p:nvSpPr>
        <p:spPr>
          <a:xfrm>
            <a:off x="466725" y="18453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2</a:t>
            </a:r>
            <a:r>
              <a:rPr lang="ko-KR" altLang="en-US" sz="1800" dirty="0"/>
              <a:t>개 벡터</a:t>
            </a:r>
            <a:r>
              <a:rPr lang="en-US" altLang="ko-KR" sz="1800" dirty="0"/>
              <a:t>(points), (1,2), (2,1)</a:t>
            </a:r>
            <a:r>
              <a:rPr lang="ko-KR" altLang="en-US" sz="1800" dirty="0"/>
              <a:t>에 행렬</a:t>
            </a:r>
            <a:r>
              <a:rPr lang="en-US" altLang="ko-KR" dirty="0"/>
              <a:t>[(2,1), (1,4)] </a:t>
            </a:r>
            <a:r>
              <a:rPr lang="ko-KR" altLang="en-US" dirty="0"/>
              <a:t>와의</a:t>
            </a:r>
            <a:r>
              <a:rPr lang="en-US" altLang="ko-KR" dirty="0"/>
              <a:t> </a:t>
            </a:r>
            <a:r>
              <a:rPr lang="ko-KR" altLang="en-US" sz="1800" dirty="0"/>
              <a:t>내적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22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011C37-30DB-6272-D93F-F9473458E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2014537"/>
            <a:ext cx="7286625" cy="39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5690B-B9F0-94FA-BC45-0E482113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기하와 선형대수적 이해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BE21E3-574E-E3B3-F218-5F9D85ABA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450" y="4643307"/>
            <a:ext cx="6599244" cy="20295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C33DC3-86CB-5044-C33D-E78D6DD43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3" y="1954402"/>
            <a:ext cx="6237758" cy="24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D2289-F2DD-C99C-21A0-D359B3CC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C9B519-750B-3AD9-C9B3-C647051B7B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570875" y="2015277"/>
            <a:ext cx="7738080" cy="422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35C1BC-D100-A1E8-B66D-30FE5BBBCD42}"/>
              </a:ext>
            </a:extLst>
          </p:cNvPr>
          <p:cNvSpPr txBox="1"/>
          <p:nvPr/>
        </p:nvSpPr>
        <p:spPr>
          <a:xfrm>
            <a:off x="8394680" y="2029696"/>
            <a:ext cx="36544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첫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모든 데이터를 직선 하나에 강제로 정렬시키는 투영 </a:t>
            </a:r>
            <a:r>
              <a:rPr lang="en-US" altLang="ko-KR" dirty="0">
                <a:latin typeface="+mj-ea"/>
                <a:ea typeface="+mj-ea"/>
              </a:rPr>
              <a:t>(Singular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두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데이터를 새로운 좌표축으로 재배치하되 평면을 유지하는 투영 </a:t>
            </a:r>
            <a:r>
              <a:rPr lang="en-US" altLang="ko-KR" dirty="0">
                <a:latin typeface="+mj-ea"/>
                <a:ea typeface="+mj-ea"/>
              </a:rPr>
              <a:t>(Non-singular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이 투영 개념은 데이터 분석에서 중요한 주성분 분석</a:t>
            </a:r>
            <a:r>
              <a:rPr lang="en-US" altLang="ko-KR" dirty="0">
                <a:latin typeface="+mj-ea"/>
                <a:ea typeface="+mj-ea"/>
              </a:rPr>
              <a:t>(PCA)</a:t>
            </a:r>
            <a:r>
              <a:rPr lang="ko-KR" altLang="en-US" dirty="0">
                <a:latin typeface="+mj-ea"/>
                <a:ea typeface="+mj-ea"/>
              </a:rPr>
              <a:t>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14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3F07D-BFD3-3D69-893B-98637309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Transformation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E212C3C-7C78-67D1-9717-6912562953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913774" y="1957388"/>
            <a:ext cx="8418804" cy="459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37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4DAF-730F-8F6D-B29D-5CFC434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56195-CEFF-90F0-4BC3-62D73132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8618D8-99C8-D36D-5F8C-CB7C2F2D6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152EB7C-8477-F13E-0008-2A651FA1B0C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522484"/>
            <a:ext cx="5056802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45B059-9139-C396-875E-8B274944A6E1}"/>
              </a:ext>
            </a:extLst>
          </p:cNvPr>
          <p:cNvSpPr txBox="1"/>
          <p:nvPr/>
        </p:nvSpPr>
        <p:spPr>
          <a:xfrm>
            <a:off x="504825" y="2244389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anum Gothic"/>
              </a:rPr>
              <a:t>선형변환하면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4FDDE7-53BE-B872-B47F-2FA837D88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21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0106-250C-EDA4-CFBA-23A14D24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97C0B-D82D-3948-18EA-EA57EC29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주성분</a:t>
            </a:r>
            <a:r>
              <a:rPr lang="en-US" altLang="ko-KR" dirty="0"/>
              <a:t>(Principal component)</a:t>
            </a:r>
            <a:endParaRPr lang="ko-KR" alt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EC556570-9556-C9E9-F483-2FA62BEA5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47825"/>
            <a:ext cx="62579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389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4C6D7-90E2-02DD-095D-F5CFC88C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행렬변환에 의한 기저좌표의 변화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8661F9D4-6959-ECD9-DFE2-38BAFFAD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6" y="2214694"/>
            <a:ext cx="558165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37BC7C1-934D-9636-2C4B-CD031F9EC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48" y="1776923"/>
            <a:ext cx="5581651" cy="40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110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D487E-2A47-66D1-E5D6-203622E2B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주성분분석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F8F0A64-97F6-9176-29ED-C3A737B3980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82" y="2366963"/>
            <a:ext cx="6869311" cy="425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399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996B7-68D5-154D-EEB6-A81286B7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hlinkClick r:id="rId2"/>
              </a:rPr>
              <a:t>Eigenvalues_and_eigenvectors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2214694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978912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602098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640</TotalTime>
  <Words>226</Words>
  <Application>Microsoft Office PowerPoint</Application>
  <PresentationFormat>와이드스크린</PresentationFormat>
  <Paragraphs>35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Nanum Gothic</vt:lpstr>
      <vt:lpstr>맑은 고딕</vt:lpstr>
      <vt:lpstr>Arial</vt:lpstr>
      <vt:lpstr>Tw Cen MT</vt:lpstr>
      <vt:lpstr>물방울</vt:lpstr>
      <vt:lpstr>행렬과 벡터</vt:lpstr>
      <vt:lpstr>시작</vt:lpstr>
      <vt:lpstr>1차원 직선에서의 선형변환에 대해 생각하기</vt:lpstr>
      <vt:lpstr>1차원 직선에서의 선형변환에 대해 생각하기</vt:lpstr>
      <vt:lpstr>PowerPoint 프레젠테이션</vt:lpstr>
      <vt:lpstr>PowerPoint 프레젠테이션</vt:lpstr>
      <vt:lpstr>PowerPoint 프레젠테이션</vt:lpstr>
      <vt:lpstr>선형변환</vt:lpstr>
      <vt:lpstr>기하학적 이해</vt:lpstr>
      <vt:lpstr>기하와 선형대수적 이해</vt:lpstr>
      <vt:lpstr>투영</vt:lpstr>
      <vt:lpstr>Kernel Transformation</vt:lpstr>
      <vt:lpstr>행렬과 내적은 선형변환</vt:lpstr>
      <vt:lpstr>선형변환</vt:lpstr>
      <vt:lpstr>주성분(Principal component)</vt:lpstr>
      <vt:lpstr>행렬변환에 의한 기저좌표의 변화</vt:lpstr>
      <vt:lpstr>주성분분석</vt:lpstr>
      <vt:lpstr>Eigenvalues_and_eigenvectors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7</cp:revision>
  <dcterms:created xsi:type="dcterms:W3CDTF">2026-03-09T22:59:08Z</dcterms:created>
  <dcterms:modified xsi:type="dcterms:W3CDTF">2026-03-10T09:39:10Z</dcterms:modified>
</cp:coreProperties>
</file>