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6" r:id="rId3"/>
    <p:sldId id="282" r:id="rId4"/>
    <p:sldId id="910" r:id="rId5"/>
    <p:sldId id="911" r:id="rId6"/>
    <p:sldId id="279" r:id="rId7"/>
    <p:sldId id="285" r:id="rId8"/>
    <p:sldId id="925" r:id="rId9"/>
    <p:sldId id="271" r:id="rId10"/>
    <p:sldId id="283" r:id="rId11"/>
    <p:sldId id="926" r:id="rId12"/>
    <p:sldId id="286" r:id="rId13"/>
    <p:sldId id="287" r:id="rId14"/>
    <p:sldId id="288" r:id="rId15"/>
    <p:sldId id="290" r:id="rId16"/>
    <p:sldId id="289" r:id="rId17"/>
    <p:sldId id="291" r:id="rId18"/>
    <p:sldId id="292" r:id="rId19"/>
    <p:sldId id="293" r:id="rId20"/>
    <p:sldId id="294" r:id="rId21"/>
    <p:sldId id="295" r:id="rId22"/>
    <p:sldId id="296" r:id="rId2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66"/>
            <p14:sldId id="282"/>
            <p14:sldId id="910"/>
            <p14:sldId id="911"/>
            <p14:sldId id="279"/>
            <p14:sldId id="285"/>
            <p14:sldId id="925"/>
            <p14:sldId id="271"/>
            <p14:sldId id="283"/>
            <p14:sldId id="926"/>
            <p14:sldId id="286"/>
            <p14:sldId id="287"/>
            <p14:sldId id="288"/>
            <p14:sldId id="290"/>
            <p14:sldId id="289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41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2026-04-11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729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4058-AA6E-1685-73A4-065965BC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F7C37-33B9-9F32-388B-E7568FBF8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52572-3418-5F61-38CA-5EB751B64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E4A2BD-9148-90E1-EE5F-B9BEBD5C7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9010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7E863-A843-BE80-892A-90F6AB3D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EBA51D-D0FB-648C-46BE-85A48BEC5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D00853-5FC2-00DB-E440-6E4C3776D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48D90-BE0A-24F8-50F9-E01DB3C8E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763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68AA-74B7-EB0E-5E7C-0357A20F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5349DD-88B0-F6DC-37B9-9A10510AE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839A5-558B-E961-4B72-35634B492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954D3D-3645-E7B7-2B9C-AA3D781E5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089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C5C4-1DB3-C37B-45E8-7F3CA08C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8BDBB-221C-A57E-D9D1-5148D944C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2169A1-A33B-7146-0A28-85AF868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30A50D-54B1-FBB0-007D-807E4BE0C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8270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83551-9962-1937-526D-EA6D65CB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AD5B77-FD2E-313A-ED6B-4EBE5BE50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DCFCA5-8274-F4E0-D0EC-A261D0D4F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786FC-9602-3625-1D97-65A6C9A82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3158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F299-97D8-2FEC-E553-9B5CF0E6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5F70B1-B64C-3337-6C41-A1AB19D09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A8FA4B-AA78-E410-F81A-73C07BB46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8851E0-7F39-BB02-D562-16AD839A9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464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DD73-4530-1298-A26C-45EF52B2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618B6-B25B-8AA1-5783-87D6BEE0F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CBB240-84D0-1050-91E0-CED9085D1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EA1EE-15B9-01CE-7972-90FB3277F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6952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4538-436A-E952-2CCF-D03BF05C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EDE2F-1ABB-6EF3-5C7A-20FD9333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73397-92A7-1C92-6E57-F62626EAD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5A0B7A-CBE4-F78B-4DC4-09BF0DA3F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9201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B411-C794-30DC-A653-D5AC190E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0884D-A8EE-F0E1-2CE4-0FDA8B099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4A19B5-5B01-D389-E6F5-4ED40FD7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63CC29-A6B8-FD51-9648-BF5E165DD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4247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EB48-1CC3-E617-3B66-B417EA49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F3E31E-B8D7-0E7C-F809-9C2B3AC17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4CA5BE-268C-6726-5D20-EECC51C9E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E3566-360C-A615-021B-38B934555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2922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E429-4172-0104-4675-020C6DB2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3B268A-27EA-A185-235C-9DD3CFED8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346312-6FC9-F192-3682-1DC69CA94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FCCD70-DED8-361A-60D8-0D306AF36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4441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415E-8B44-1DBF-87D1-383CE6FF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1726C8-A4CA-4791-A278-2B3BDC1EF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E6F32-BACA-53F1-947F-3723994FD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F70F2-B462-852F-2EAA-C77B092D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304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2026-04-11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26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2026-04-11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akevdp.github.io/PythonDataScienceHandbook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s231n.stanford.ed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System of Linear Equations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n-US" altLang="ko-KR" sz="2400" dirty="0">
                <a:solidFill>
                  <a:schemeClr val="bg1"/>
                </a:solidFill>
              </a:rPr>
              <a:t>Deep learning motivation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BC7E252-AF9C-7707-B610-3002F1588D0E}"/>
              </a:ext>
            </a:extLst>
          </p:cNvPr>
          <p:cNvSpPr/>
          <p:nvPr/>
        </p:nvSpPr>
        <p:spPr>
          <a:xfrm>
            <a:off x="712721" y="190500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992DD-2A1A-471D-D61E-522358216252}"/>
              </a:ext>
            </a:extLst>
          </p:cNvPr>
          <p:cNvSpPr txBox="1"/>
          <p:nvPr/>
        </p:nvSpPr>
        <p:spPr>
          <a:xfrm>
            <a:off x="1629916" y="147612"/>
            <a:ext cx="8928992" cy="356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선형방정식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(System of Linear Equations)</a:t>
            </a:r>
          </a:p>
        </p:txBody>
      </p:sp>
    </p:spTree>
    <p:extLst>
      <p:ext uri="{BB962C8B-B14F-4D97-AF65-F5344CB8AC3E}">
        <p14:creationId xmlns:p14="http://schemas.microsoft.com/office/powerpoint/2010/main" val="28201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9B65-F8EA-6AA1-1DA5-2D80DF7B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75" y="586516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cap="none" dirty="0"/>
              <a:t>대수</a:t>
            </a:r>
            <a:r>
              <a:rPr lang="en-US" altLang="ko-KR" cap="none" dirty="0"/>
              <a:t>(Algebra)</a:t>
            </a:r>
            <a:endParaRPr lang="ko-KR" altLang="en-US" cap="none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F94065A-3B86-1519-6348-51928857D0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Algebra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기호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(symbol)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(value)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관계를 다루고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Python namespace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이름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(name)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객체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(object)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매핑을 관리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/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Algebra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), 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값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“참조” 즉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 → 값으로 매핑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blipFill>
                <a:blip r:embed="rId2"/>
                <a:stretch>
                  <a:fillRect l="-1597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/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Python Namespace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ko-KR" altLang="en-US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 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# 3(class)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객체화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 y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 가리킴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이걸 저장하는 공간이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namespace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(name) →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(object)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매핑 테이블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blipFill>
                <a:blip r:embed="rId3"/>
                <a:stretch>
                  <a:fillRect l="-1471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B4F9C7F-8274-24E6-8EA8-8A570044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3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304F-FC2F-A538-0931-D7B1771D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A8CB-E405-4FEF-CDED-A37652BB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75" y="554087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cap="none" dirty="0"/>
              <a:t>선형함수</a:t>
            </a:r>
            <a:r>
              <a:rPr lang="en-US" altLang="ko-KR" cap="none" dirty="0"/>
              <a:t>(Linear Function)</a:t>
            </a:r>
            <a:endParaRPr lang="ko-KR" altLang="en-US" cap="none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29EE5B-BFD1-8809-A749-306ED8DFBF0A}"/>
              </a:ext>
            </a:extLst>
          </p:cNvPr>
          <p:cNvGrpSpPr/>
          <p:nvPr/>
        </p:nvGrpSpPr>
        <p:grpSpPr>
          <a:xfrm>
            <a:off x="2178017" y="1931722"/>
            <a:ext cx="7061233" cy="3283085"/>
            <a:chOff x="2054192" y="2331772"/>
            <a:chExt cx="5270533" cy="356704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971382-875A-BF7A-1785-11393B840C39}"/>
                </a:ext>
              </a:extLst>
            </p:cNvPr>
            <p:cNvSpPr txBox="1"/>
            <p:nvPr/>
          </p:nvSpPr>
          <p:spPr>
            <a:xfrm>
              <a:off x="2054192" y="2724745"/>
              <a:ext cx="5270533" cy="283789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ko-KR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6" name="순서도: 병합 5">
              <a:extLst>
                <a:ext uri="{FF2B5EF4-FFF2-40B4-BE49-F238E27FC236}">
                  <a16:creationId xmlns:a16="http://schemas.microsoft.com/office/drawing/2014/main" id="{1E1541FB-0C6A-321E-7ADC-5BC63BC6B524}"/>
                </a:ext>
              </a:extLst>
            </p:cNvPr>
            <p:cNvSpPr/>
            <p:nvPr/>
          </p:nvSpPr>
          <p:spPr>
            <a:xfrm>
              <a:off x="2146877" y="2331772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순서도: 병합 6">
              <a:extLst>
                <a:ext uri="{FF2B5EF4-FFF2-40B4-BE49-F238E27FC236}">
                  <a16:creationId xmlns:a16="http://schemas.microsoft.com/office/drawing/2014/main" id="{60294CFB-26C5-82B6-DCC8-9F27A3CD1C1B}"/>
                </a:ext>
              </a:extLst>
            </p:cNvPr>
            <p:cNvSpPr/>
            <p:nvPr/>
          </p:nvSpPr>
          <p:spPr>
            <a:xfrm rot="10800000">
              <a:off x="6238876" y="5112874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/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/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더하면 → 출력도 더해진다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 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스케일하면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→ 출력도 같이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스케일된다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비틀림 없이 ‘비례적으로’ 변하는 직선구조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blipFill>
                <a:blip r:embed="rId3"/>
                <a:stretch>
                  <a:fillRect l="-476" b="-4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/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0CD98FFA-12FD-5A9E-DFC9-8989FC42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272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657C-F326-66CF-F9AE-DF09B5F2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132A9-54DB-5517-163B-69B92639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75" y="584293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cap="none" dirty="0"/>
              <a:t>Linear or</a:t>
            </a:r>
            <a:r>
              <a:rPr lang="ko-KR" altLang="en-US" cap="none" dirty="0"/>
              <a:t> </a:t>
            </a:r>
            <a:r>
              <a:rPr lang="en-US" altLang="ko-KR" cap="none" dirty="0"/>
              <a:t>Non</a:t>
            </a:r>
            <a:r>
              <a:rPr lang="ko-KR" altLang="en-US" cap="none" dirty="0"/>
              <a:t> </a:t>
            </a:r>
            <a:r>
              <a:rPr lang="en-US" altLang="ko-KR" cap="none" dirty="0"/>
              <a:t>Linear</a:t>
            </a:r>
            <a:endParaRPr lang="ko-KR" altLang="en-US" cap="non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156FA-95F7-B6E9-AB18-0E882F029FB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1632507"/>
            <a:ext cx="7905750" cy="464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/>
              <p:nvPr/>
            </p:nvSpPr>
            <p:spPr>
              <a:xfrm>
                <a:off x="233362" y="1794391"/>
                <a:ext cx="28670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en-US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62" y="1794391"/>
                <a:ext cx="2867025" cy="646331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E7DB5585-9534-1A21-C090-FC9C1204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040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Linear, Non linear equations 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6AA2E3A-171B-8289-D5F4-8E1281B28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612E01-1C4F-563E-163F-C6984534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27" y="1548403"/>
            <a:ext cx="2743583" cy="16956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A2B337-398C-96C2-257D-68237F434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03" y="4079783"/>
            <a:ext cx="2467486" cy="222810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A07039-982C-2D89-1243-36833611F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566" y="1548403"/>
            <a:ext cx="2887833" cy="2302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AD2BB0-960D-726C-0C1C-05BB462FF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566" y="4037094"/>
            <a:ext cx="3984074" cy="216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063C8F-D10A-F3CE-FE4C-DFA529E6126B}"/>
              </a:ext>
            </a:extLst>
          </p:cNvPr>
          <p:cNvSpPr txBox="1"/>
          <p:nvPr/>
        </p:nvSpPr>
        <p:spPr>
          <a:xfrm>
            <a:off x="4657435" y="1686948"/>
            <a:ext cx="101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2400" dirty="0">
                <a:cs typeface="Segoe UI Light" panose="020B0502040204020203" pitchFamily="34" charset="0"/>
              </a:rPr>
              <a:t>Line</a:t>
            </a:r>
            <a:endParaRPr lang="ko-KR" altLang="en-US" sz="24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23AB87A-7B53-55D6-09C7-D670163229BF}"/>
              </a:ext>
            </a:extLst>
          </p:cNvPr>
          <p:cNvCxnSpPr/>
          <p:nvPr/>
        </p:nvCxnSpPr>
        <p:spPr>
          <a:xfrm>
            <a:off x="4322618" y="2530764"/>
            <a:ext cx="19581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EBF84F-9EE6-5151-EF36-E10FE2E088B0}"/>
              </a:ext>
            </a:extLst>
          </p:cNvPr>
          <p:cNvSpPr txBox="1"/>
          <p:nvPr/>
        </p:nvSpPr>
        <p:spPr>
          <a:xfrm>
            <a:off x="4657434" y="4163448"/>
            <a:ext cx="1731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2400" dirty="0">
                <a:cs typeface="Segoe UI Light" panose="020B0502040204020203" pitchFamily="34" charset="0"/>
              </a:rPr>
              <a:t>Not Line</a:t>
            </a:r>
            <a:endParaRPr lang="ko-KR" altLang="en-US" sz="24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415846D-6AE0-1431-C745-55314385BA75}"/>
              </a:ext>
            </a:extLst>
          </p:cNvPr>
          <p:cNvCxnSpPr/>
          <p:nvPr/>
        </p:nvCxnSpPr>
        <p:spPr>
          <a:xfrm>
            <a:off x="4322618" y="5007264"/>
            <a:ext cx="19581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2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871F-6794-7500-6128-87B66287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34C58-AE6C-176B-F945-6D8030D9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56167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cap="none" dirty="0" err="1"/>
              <a:t>Numpy</a:t>
            </a:r>
            <a:r>
              <a:rPr lang="en-US" altLang="ko-KR" cap="none" dirty="0"/>
              <a:t> </a:t>
            </a:r>
            <a:r>
              <a:rPr lang="ko-KR" altLang="en-US" cap="none" dirty="0"/>
              <a:t>배우기</a:t>
            </a:r>
            <a:r>
              <a:rPr lang="en-US" altLang="ko-KR" cap="none" dirty="0"/>
              <a:t>(Option)</a:t>
            </a:r>
            <a:endParaRPr lang="ko-KR" altLang="en-US" cap="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EBB09-87BF-A3B4-9FCE-50B0C858CD85}"/>
              </a:ext>
            </a:extLst>
          </p:cNvPr>
          <p:cNvSpPr txBox="1"/>
          <p:nvPr/>
        </p:nvSpPr>
        <p:spPr>
          <a:xfrm>
            <a:off x="1009650" y="1400175"/>
            <a:ext cx="403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4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pic>
        <p:nvPicPr>
          <p:cNvPr id="1026" name="Picture 2" descr="Book Cover">
            <a:extLst>
              <a:ext uri="{FF2B5EF4-FFF2-40B4-BE49-F238E27FC236}">
                <a16:creationId xmlns:a16="http://schemas.microsoft.com/office/drawing/2014/main" id="{60892FA3-13A3-1621-652A-7A89672067C6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900" y="2448369"/>
            <a:ext cx="1929990" cy="254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A3FA131-6112-9A87-0CD9-C1A63FEEC9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82096" y="2363131"/>
            <a:ext cx="3876230" cy="26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3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38AA-DA13-A343-D6B7-BAFD9E4B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EB5107-E1C7-D929-F62D-D8603652A3B6}"/>
              </a:ext>
            </a:extLst>
          </p:cNvPr>
          <p:cNvSpPr/>
          <p:nvPr/>
        </p:nvSpPr>
        <p:spPr>
          <a:xfrm>
            <a:off x="712721" y="252412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F7EDC3-A139-6C5F-DD60-71368B3CB612}"/>
              </a:ext>
            </a:extLst>
          </p:cNvPr>
          <p:cNvSpPr txBox="1"/>
          <p:nvPr/>
        </p:nvSpPr>
        <p:spPr>
          <a:xfrm>
            <a:off x="1629916" y="147612"/>
            <a:ext cx="8928992" cy="356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선형방정식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(System of Linear Equations)</a:t>
            </a:r>
          </a:p>
        </p:txBody>
      </p:sp>
    </p:spTree>
    <p:extLst>
      <p:ext uri="{BB962C8B-B14F-4D97-AF65-F5344CB8AC3E}">
        <p14:creationId xmlns:p14="http://schemas.microsoft.com/office/powerpoint/2010/main" val="834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operations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FBA1EA-3E3B-854E-E232-52EA23C6655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20000" contrast="-40000"/>
          </a:blip>
          <a:stretch>
            <a:fillRect/>
          </a:stretch>
        </p:blipFill>
        <p:spPr>
          <a:xfrm>
            <a:off x="3492850" y="1531451"/>
            <a:ext cx="5965184" cy="34528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F3FBCC-990A-0C2D-7EF1-FE04FFF20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447" y="1776801"/>
            <a:ext cx="1954809" cy="26345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178F11-1074-A6B4-A3A9-1CBC22BE0155}"/>
              </a:ext>
            </a:extLst>
          </p:cNvPr>
          <p:cNvSpPr txBox="1"/>
          <p:nvPr/>
        </p:nvSpPr>
        <p:spPr>
          <a:xfrm>
            <a:off x="9722943" y="2724727"/>
            <a:ext cx="117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It’s a face.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8D6F08-BDC2-FC7E-0060-A39914526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895" y="5024383"/>
            <a:ext cx="2013440" cy="16372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248180-8B7D-847E-CE62-39C902C76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013" y="5311672"/>
            <a:ext cx="1306844" cy="1062678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BC5FCE3-9F1D-AE22-79BC-DDCF5A165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FCEEEE5-A1F7-E2C3-026E-084919F8A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260" y="5130981"/>
            <a:ext cx="689513" cy="14240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2B30035-C1BA-3A1E-4585-46E3F17CA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863" y="5641382"/>
            <a:ext cx="1566852" cy="40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E7BB0-4911-7190-4659-D0543EBB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7D6C079-89ED-7EF0-D845-0CDA5B0B4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Image recognition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082BE4C-B432-BE98-9ECB-3C842BB11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7D7DC0-60F6-D7A4-1643-D4E39E830DD2}"/>
              </a:ext>
            </a:extLst>
          </p:cNvPr>
          <p:cNvSpPr txBox="1"/>
          <p:nvPr/>
        </p:nvSpPr>
        <p:spPr>
          <a:xfrm>
            <a:off x="521207" y="1533236"/>
            <a:ext cx="3674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CS231n: Deep Learning for Computer Vision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847B26-D4AE-6095-6162-0349C58D2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978" y="2209544"/>
            <a:ext cx="8745170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7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D49E-539D-7D28-F816-66DA5161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BD2B57F-8322-7C4A-BACA-4F62B411618F}"/>
              </a:ext>
            </a:extLst>
          </p:cNvPr>
          <p:cNvSpPr/>
          <p:nvPr/>
        </p:nvSpPr>
        <p:spPr>
          <a:xfrm>
            <a:off x="712721" y="318135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3E68D-3BAB-A06E-65EC-B927CD9302A9}"/>
              </a:ext>
            </a:extLst>
          </p:cNvPr>
          <p:cNvSpPr txBox="1"/>
          <p:nvPr/>
        </p:nvSpPr>
        <p:spPr>
          <a:xfrm>
            <a:off x="1629916" y="147612"/>
            <a:ext cx="8928992" cy="356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선형방정식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(System of Linear Equations)</a:t>
            </a:r>
          </a:p>
        </p:txBody>
      </p:sp>
    </p:spTree>
    <p:extLst>
      <p:ext uri="{BB962C8B-B14F-4D97-AF65-F5344CB8AC3E}">
        <p14:creationId xmlns:p14="http://schemas.microsoft.com/office/powerpoint/2010/main" val="2045768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255C-B454-C476-4CF3-87F2620A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9F82F5F-8694-6825-431F-8B2D3022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System of linear equation 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B00393-1D68-074F-0AF0-4A167B461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D517E43-F0EC-3689-AF58-08A7D906C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92" y="2197826"/>
            <a:ext cx="10693278" cy="2762101"/>
          </a:xfrm>
          <a:prstGeom prst="rect">
            <a:avLst/>
          </a:prstGeom>
        </p:spPr>
      </p:pic>
      <p:pic>
        <p:nvPicPr>
          <p:cNvPr id="5" name="Picture 4" descr="테이블 위에 앉아 있는 루빅 큐브">
            <a:extLst>
              <a:ext uri="{FF2B5EF4-FFF2-40B4-BE49-F238E27FC236}">
                <a16:creationId xmlns:a16="http://schemas.microsoft.com/office/drawing/2014/main" id="{454ED2F0-2D4D-CDE6-8BAC-B4858B25A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04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0810-3B08-0792-51DB-54B5C65E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51F78B0-DDBB-7BA5-88EC-8D69AD22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System of linear equation 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CEAB5E-44F5-345E-22EE-C2CF3ECBA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pic>
        <p:nvPicPr>
          <p:cNvPr id="3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CA1E59B8-C2AC-1F52-33FF-9103E6018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77F6910-1836-5C69-03A6-45D16A2CD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201" y="1349377"/>
            <a:ext cx="6562725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78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D63D-F387-BB27-A6E8-8D3AAEA3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EAC0FA0-0161-270F-B79E-90209433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Matrix Formation- Inverse, determinant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FBDB47-234C-305E-17F9-4E458263D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EFDC7B-7F18-01E1-89A1-66509ECA8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61" y="1548857"/>
            <a:ext cx="2095042" cy="733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672ADE-88EB-EBCD-8755-741E17608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594" y="1548857"/>
            <a:ext cx="1344835" cy="8025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F39270E-FD30-B0F8-F952-95ABE8FE9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48" y="1428165"/>
            <a:ext cx="3743779" cy="1290959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FC1B21F-58DD-2F60-C751-3D1E9F9E5055}"/>
              </a:ext>
            </a:extLst>
          </p:cNvPr>
          <p:cNvCxnSpPr/>
          <p:nvPr/>
        </p:nvCxnSpPr>
        <p:spPr>
          <a:xfrm>
            <a:off x="6459389" y="3744289"/>
            <a:ext cx="923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9895C4E5-0528-FBC9-A8FF-A887DBA7E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868" y="2901560"/>
            <a:ext cx="3263080" cy="71106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DB0E415-738E-DAF8-2A85-0B26F2C1A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0044" y="2901560"/>
            <a:ext cx="2954168" cy="324569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57072F6-D1DD-5F06-02E5-0469CA4BF8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5868" y="4012169"/>
            <a:ext cx="4781086" cy="2225342"/>
          </a:xfrm>
          <a:prstGeom prst="rect">
            <a:avLst/>
          </a:prstGeom>
        </p:spPr>
      </p:pic>
      <p:pic>
        <p:nvPicPr>
          <p:cNvPr id="32" name="그래픽 31" descr="배지 1 단색으로 채워진">
            <a:extLst>
              <a:ext uri="{FF2B5EF4-FFF2-40B4-BE49-F238E27FC236}">
                <a16:creationId xmlns:a16="http://schemas.microsoft.com/office/drawing/2014/main" id="{1CB3F511-9BBF-5128-65A3-7E50DEB600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0460" y="1428165"/>
            <a:ext cx="270135" cy="270135"/>
          </a:xfrm>
          <a:prstGeom prst="rect">
            <a:avLst/>
          </a:prstGeom>
        </p:spPr>
      </p:pic>
      <p:pic>
        <p:nvPicPr>
          <p:cNvPr id="34" name="그래픽 33" descr="배지 단색으로 채워진">
            <a:extLst>
              <a:ext uri="{FF2B5EF4-FFF2-40B4-BE49-F238E27FC236}">
                <a16:creationId xmlns:a16="http://schemas.microsoft.com/office/drawing/2014/main" id="{CB60EFB9-7CEF-C117-E87B-30324942A5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0460" y="1760549"/>
            <a:ext cx="270135" cy="270135"/>
          </a:xfrm>
          <a:prstGeom prst="rect">
            <a:avLst/>
          </a:prstGeom>
        </p:spPr>
      </p:pic>
      <p:pic>
        <p:nvPicPr>
          <p:cNvPr id="36" name="그래픽 35" descr="배지 3 단색으로 채워진">
            <a:extLst>
              <a:ext uri="{FF2B5EF4-FFF2-40B4-BE49-F238E27FC236}">
                <a16:creationId xmlns:a16="http://schemas.microsoft.com/office/drawing/2014/main" id="{10DFE245-1A11-109B-A682-A523D283DE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0460" y="2092933"/>
            <a:ext cx="270135" cy="270135"/>
          </a:xfrm>
          <a:prstGeom prst="rect">
            <a:avLst/>
          </a:prstGeom>
        </p:spPr>
      </p:pic>
      <p:pic>
        <p:nvPicPr>
          <p:cNvPr id="38" name="그래픽 37" descr="배지 4 단색으로 채워진">
            <a:extLst>
              <a:ext uri="{FF2B5EF4-FFF2-40B4-BE49-F238E27FC236}">
                <a16:creationId xmlns:a16="http://schemas.microsoft.com/office/drawing/2014/main" id="{B5F8A27A-DBF7-3A35-A808-C8C931573B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0460" y="2425317"/>
            <a:ext cx="270135" cy="270135"/>
          </a:xfrm>
          <a:prstGeom prst="rect">
            <a:avLst/>
          </a:prstGeom>
        </p:spPr>
      </p:pic>
      <p:pic>
        <p:nvPicPr>
          <p:cNvPr id="41" name="그래픽 40" descr="배지 1 단색으로 채워진">
            <a:extLst>
              <a:ext uri="{FF2B5EF4-FFF2-40B4-BE49-F238E27FC236}">
                <a16:creationId xmlns:a16="http://schemas.microsoft.com/office/drawing/2014/main" id="{EDA109F4-47F9-E835-27F0-07F95F8E2C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7593" y="1413789"/>
            <a:ext cx="270135" cy="270135"/>
          </a:xfrm>
          <a:prstGeom prst="rect">
            <a:avLst/>
          </a:prstGeom>
        </p:spPr>
      </p:pic>
      <p:pic>
        <p:nvPicPr>
          <p:cNvPr id="42" name="그래픽 41" descr="배지 단색으로 채워진">
            <a:extLst>
              <a:ext uri="{FF2B5EF4-FFF2-40B4-BE49-F238E27FC236}">
                <a16:creationId xmlns:a16="http://schemas.microsoft.com/office/drawing/2014/main" id="{22A403EC-CD10-DC69-EF72-726D00EA49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0664" y="2783831"/>
            <a:ext cx="270135" cy="270135"/>
          </a:xfrm>
          <a:prstGeom prst="rect">
            <a:avLst/>
          </a:prstGeom>
        </p:spPr>
      </p:pic>
      <p:pic>
        <p:nvPicPr>
          <p:cNvPr id="43" name="그래픽 42" descr="배지 3 단색으로 채워진">
            <a:extLst>
              <a:ext uri="{FF2B5EF4-FFF2-40B4-BE49-F238E27FC236}">
                <a16:creationId xmlns:a16="http://schemas.microsoft.com/office/drawing/2014/main" id="{48C05BA9-8094-DF71-9454-5946FAF04A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2264" y="3877101"/>
            <a:ext cx="270135" cy="270135"/>
          </a:xfrm>
          <a:prstGeom prst="rect">
            <a:avLst/>
          </a:prstGeom>
        </p:spPr>
      </p:pic>
      <p:pic>
        <p:nvPicPr>
          <p:cNvPr id="44" name="그래픽 43" descr="배지 4 단색으로 채워진">
            <a:extLst>
              <a:ext uri="{FF2B5EF4-FFF2-40B4-BE49-F238E27FC236}">
                <a16:creationId xmlns:a16="http://schemas.microsoft.com/office/drawing/2014/main" id="{C2976F5B-3356-8BEA-4319-CAC2CAE8A1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83025" y="2783831"/>
            <a:ext cx="270135" cy="270135"/>
          </a:xfrm>
          <a:prstGeom prst="rect">
            <a:avLst/>
          </a:prstGeom>
        </p:spPr>
      </p:pic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3CFE5F4-0ECC-8A02-C121-F58163457476}"/>
              </a:ext>
            </a:extLst>
          </p:cNvPr>
          <p:cNvCxnSpPr/>
          <p:nvPr/>
        </p:nvCxnSpPr>
        <p:spPr>
          <a:xfrm>
            <a:off x="6907348" y="1993997"/>
            <a:ext cx="923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EE0AF8E-16A7-BEE1-0614-CC42A7E9D579}"/>
              </a:ext>
            </a:extLst>
          </p:cNvPr>
          <p:cNvSpPr txBox="1"/>
          <p:nvPr/>
        </p:nvSpPr>
        <p:spPr>
          <a:xfrm>
            <a:off x="8277728" y="2329505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 x 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D65CB4-1A1D-CED3-2AA3-5EFAEE060345}"/>
              </a:ext>
            </a:extLst>
          </p:cNvPr>
          <p:cNvSpPr txBox="1"/>
          <p:nvPr/>
        </p:nvSpPr>
        <p:spPr>
          <a:xfrm>
            <a:off x="8982678" y="2329505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 x 1)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674EC0-8E28-5722-3703-9B44268792B0}"/>
              </a:ext>
            </a:extLst>
          </p:cNvPr>
          <p:cNvSpPr txBox="1"/>
          <p:nvPr/>
        </p:nvSpPr>
        <p:spPr>
          <a:xfrm>
            <a:off x="9691068" y="2329505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 x 1)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65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9370D-FB06-35C8-85AA-D55D2B44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5E31D8E-75A7-AE65-1CFB-BFFF0E54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Matrix Formation- Inverse, determinant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517E79F-C04C-0E09-C806-2E1D3CCDA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DDD0A1-FF7F-617A-61A6-0A76B93EA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17" y="3322959"/>
            <a:ext cx="3889040" cy="24680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1DD154-DA52-6E8B-E5B2-179200A69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48" y="1428165"/>
            <a:ext cx="3743779" cy="129095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2654CE3-EDF4-B6B7-B37B-B84B48679E2C}"/>
              </a:ext>
            </a:extLst>
          </p:cNvPr>
          <p:cNvSpPr/>
          <p:nvPr/>
        </p:nvSpPr>
        <p:spPr>
          <a:xfrm>
            <a:off x="439186" y="2032000"/>
            <a:ext cx="4078502" cy="7573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F2F548-AA4A-15C2-3C54-CCFC13774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735" y="1428165"/>
            <a:ext cx="4033101" cy="388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90A4-4B12-09D9-D4D0-5760CF2F2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57EF653-0B42-4502-1687-712CB66C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Solution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with python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73692F-BDA6-901D-032D-BB9478257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pic>
        <p:nvPicPr>
          <p:cNvPr id="3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BF8D4420-718B-14BC-1E19-3C864EAC8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9A74BC-A4ED-12CC-64D3-A24FCA7371A3}"/>
              </a:ext>
            </a:extLst>
          </p:cNvPr>
          <p:cNvSpPr txBox="1"/>
          <p:nvPr/>
        </p:nvSpPr>
        <p:spPr>
          <a:xfrm>
            <a:off x="543474" y="1309323"/>
            <a:ext cx="7216653" cy="52213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설정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([[3, 2], [2, -1]]); B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([[8], [3]])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(Determinant)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det_A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np.linalg.det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(A); print(f"1.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det(A): {det_A:.1f}")</a:t>
            </a:r>
          </a:p>
          <a:p>
            <a:pPr>
              <a:lnSpc>
                <a:spcPct val="150000"/>
              </a:lnSpc>
            </a:pPr>
            <a:b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if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det_A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!= 0: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# 3.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역행렬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계산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print("\n2.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A:\n", A);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print("\n3.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역행렬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:\n",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); print("\n4.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역행렬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A:\n",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A_inv@A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# 4.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해 계산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@ B)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# @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기호는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파이썬에서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행렬 곱셈을 의미합니다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@ B; print(f"\n5.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최종 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\n a = {X[0][0]:.1f}, b = {X[1][0]:.1f}")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print("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이므로 역행렬이 존재하지 않습니다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.")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A7B03D-91F0-B9CD-8D35-F66827243FD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8064957" y="1309323"/>
            <a:ext cx="3074097" cy="324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2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D28E-E2DE-6C7A-2B4A-21C682C7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C1766C8-643A-71D5-14A3-A1DBD108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Quiz</a:t>
            </a:r>
            <a:r>
              <a:rPr lang="en-US" altLang="ko-KR" dirty="0"/>
              <a:t> 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131C84-7D12-A7D2-563B-6BE6CC557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7965BC-C62F-B0B0-10EC-C2CC8EBA9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783" y="2828841"/>
            <a:ext cx="8116433" cy="1200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AE861C-1EFE-C117-5237-25FBBC226B68}"/>
              </a:ext>
            </a:extLst>
          </p:cNvPr>
          <p:cNvSpPr txBox="1"/>
          <p:nvPr/>
        </p:nvSpPr>
        <p:spPr>
          <a:xfrm>
            <a:off x="591127" y="1635323"/>
            <a:ext cx="10446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baseline="0" dirty="0">
                <a:latin typeface="Helvetica" panose="020B0604020202020204" pitchFamily="34" charset="0"/>
              </a:rPr>
              <a:t>Determine if the following matrices have linear dependent or independent </a:t>
            </a:r>
            <a:r>
              <a:rPr lang="en-US" altLang="ko-KR" sz="1800" b="1" i="0" u="none" strike="noStrike" baseline="0" dirty="0">
                <a:latin typeface="Helvetica" panose="020B0604020202020204" pitchFamily="34" charset="0"/>
              </a:rPr>
              <a:t>rows</a:t>
            </a:r>
          </a:p>
          <a:p>
            <a:r>
              <a:rPr lang="ko-KR" altLang="en-US" dirty="0"/>
              <a:t>다음 중 모든 행벡터가 선형 독립인 행렬을 고르세요</a:t>
            </a:r>
            <a:r>
              <a:rPr lang="en-US" altLang="ko-KR" dirty="0"/>
              <a:t>.</a:t>
            </a:r>
            <a:endParaRPr lang="ko-KR" altLang="en-US" b="1" dirty="0"/>
          </a:p>
        </p:txBody>
      </p:sp>
      <p:pic>
        <p:nvPicPr>
          <p:cNvPr id="7172" name="Picture 4" descr="테이블 위에 앉아 있는 루빅 큐브">
            <a:extLst>
              <a:ext uri="{FF2B5EF4-FFF2-40B4-BE49-F238E27FC236}">
                <a16:creationId xmlns:a16="http://schemas.microsoft.com/office/drawing/2014/main" id="{BE3E65F5-B8FB-68AF-25DC-55639E316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48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56EA-F96D-1D21-AE31-16694298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2ADE418-A475-6662-6FA2-5659CDC7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530429" cy="640080"/>
          </a:xfrm>
        </p:spPr>
        <p:txBody>
          <a:bodyPr rtlCol="0">
            <a:normAutofit/>
          </a:bodyPr>
          <a:lstStyle/>
          <a:p>
            <a:r>
              <a:rPr lang="en-US" altLang="ko-KR" dirty="0"/>
              <a:t>Solution: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F35819-3CBF-6CF8-7EB9-D7FA413BC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pic>
        <p:nvPicPr>
          <p:cNvPr id="3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946A1B5F-34BB-3B76-C650-7A139B003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F964D-A4D9-DCE4-2FCD-B0FF34BBD16A}"/>
              </a:ext>
            </a:extLst>
          </p:cNvPr>
          <p:cNvSpPr txBox="1"/>
          <p:nvPr/>
        </p:nvSpPr>
        <p:spPr>
          <a:xfrm>
            <a:off x="591127" y="1635323"/>
            <a:ext cx="10446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baseline="0" dirty="0">
                <a:latin typeface="Helvetica" panose="020B0604020202020204" pitchFamily="34" charset="0"/>
              </a:rPr>
              <a:t>Determine if the following matrices have linear dependent or independent rows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C4168CA-586E-DE39-0163-EE2508B72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467" y="2930634"/>
            <a:ext cx="834506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033C-1AE8-5652-96FC-D06553A7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3CFFF5-ABD0-6D19-9324-812FF66D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Quiz</a:t>
            </a:r>
            <a:r>
              <a:rPr lang="en-US" altLang="ko-KR" dirty="0"/>
              <a:t> 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B2B23-9383-64C3-E51D-3151F6A8E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2CC2A-156E-41EC-A565-96B645B614E9}"/>
              </a:ext>
            </a:extLst>
          </p:cNvPr>
          <p:cNvSpPr txBox="1"/>
          <p:nvPr/>
        </p:nvSpPr>
        <p:spPr>
          <a:xfrm>
            <a:off x="591127" y="1320343"/>
            <a:ext cx="10446328" cy="87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0" i="0" u="none" strike="noStrike" baseline="0" dirty="0">
                <a:latin typeface="Helvetica" panose="020B0604020202020204" pitchFamily="34" charset="0"/>
              </a:rPr>
              <a:t>Determine if the following matrices have linear dependent or independent </a:t>
            </a:r>
            <a:r>
              <a:rPr lang="en-US" altLang="ko-KR" sz="1800" b="1" i="0" u="none" strike="noStrike" baseline="0" dirty="0">
                <a:latin typeface="Helvetica" panose="020B0604020202020204" pitchFamily="34" charset="0"/>
              </a:rPr>
              <a:t>columns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다음 중 모든 열벡터가 선형 독립인 행렬을 고르세요</a:t>
            </a:r>
            <a:r>
              <a:rPr lang="en-US" altLang="ko-KR" dirty="0"/>
              <a:t>.</a:t>
            </a:r>
            <a:endParaRPr lang="ko-KR" altLang="en-US" b="1" dirty="0"/>
          </a:p>
        </p:txBody>
      </p:sp>
      <p:pic>
        <p:nvPicPr>
          <p:cNvPr id="7172" name="Picture 4" descr="테이블 위에 앉아 있는 루빅 큐브">
            <a:extLst>
              <a:ext uri="{FF2B5EF4-FFF2-40B4-BE49-F238E27FC236}">
                <a16:creationId xmlns:a16="http://schemas.microsoft.com/office/drawing/2014/main" id="{D1D41A07-1531-839D-EFFB-9909F0A2C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D7A396-3172-FA91-8EC8-26AF3969F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116" y="2294570"/>
            <a:ext cx="1609950" cy="41439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7FD8EB8-C8D7-8652-2B27-88E9C14C6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1567" y="2294570"/>
            <a:ext cx="156231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2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4273-5AD3-2745-91A2-9D85ADF5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47FA23F-BED2-87D4-1898-EA515D99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Quiz</a:t>
            </a:r>
            <a:r>
              <a:rPr lang="en-US" altLang="ko-KR" dirty="0"/>
              <a:t> 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34CECC-4D90-EAB5-2451-33ABFE7A8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/>
          </a:p>
        </p:txBody>
      </p:sp>
      <p:pic>
        <p:nvPicPr>
          <p:cNvPr id="7172" name="Picture 4" descr="테이블 위에 앉아 있는 루빅 큐브">
            <a:extLst>
              <a:ext uri="{FF2B5EF4-FFF2-40B4-BE49-F238E27FC236}">
                <a16:creationId xmlns:a16="http://schemas.microsoft.com/office/drawing/2014/main" id="{5B1913DC-D5EE-A623-F334-2560D6DD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46888A7-3425-6EFE-45AC-F06F609A0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65" y="1739228"/>
            <a:ext cx="4153480" cy="37247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2A42DD5-E79A-C760-95E7-2E71183A1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558" y="1739228"/>
            <a:ext cx="5048955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8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7A78-9A48-AA10-5785-D0F00D44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822916A-F4FB-A1F9-4AAF-CE84AE99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46818" cy="640080"/>
          </a:xfrm>
        </p:spPr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Compressing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Images – Reducing rank by random choice of features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B80B36-1BD6-0C45-A304-60C53DC00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940CD-C23E-E371-CE45-25397F7D3D61}"/>
              </a:ext>
            </a:extLst>
          </p:cNvPr>
          <p:cNvSpPr txBox="1"/>
          <p:nvPr/>
        </p:nvSpPr>
        <p:spPr>
          <a:xfrm>
            <a:off x="609600" y="1304243"/>
            <a:ext cx="548640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url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"https://img.tf.co.kr/article/home/2025/07/22/202598011753169335.jpg"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EB4727C5-628B-08D0-CD75-038EC1E9A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36" y="1800107"/>
            <a:ext cx="8986982" cy="486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25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481C-56DE-A303-2D4C-E12ED6DB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B6562AF-EDD3-7FD9-789C-A59F62BF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Compressing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Images – Reducing rank by SVD, PCA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C72ECB-26ED-AC43-69FC-B181EE6AD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EDBD8-B293-7B46-746E-84D1944B0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8" y="1820059"/>
            <a:ext cx="8765310" cy="474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210D5-7927-EB22-F5B4-C0811943D190}"/>
              </a:ext>
            </a:extLst>
          </p:cNvPr>
          <p:cNvSpPr txBox="1"/>
          <p:nvPr/>
        </p:nvSpPr>
        <p:spPr>
          <a:xfrm>
            <a:off x="604333" y="1358737"/>
            <a:ext cx="520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Rank </a:t>
            </a:r>
            <a:r>
              <a:rPr lang="ko-KR" altLang="en-US" dirty="0"/>
              <a:t>가 </a:t>
            </a:r>
            <a:r>
              <a:rPr lang="en-US" altLang="ko-KR" dirty="0"/>
              <a:t>30, 10, 5</a:t>
            </a:r>
            <a:r>
              <a:rPr lang="ko-KR" altLang="en-US" dirty="0"/>
              <a:t>인데도 </a:t>
            </a:r>
            <a:r>
              <a:rPr lang="en-US" altLang="ko-KR" dirty="0"/>
              <a:t>face </a:t>
            </a:r>
            <a:r>
              <a:rPr lang="ko-KR" altLang="en-US" dirty="0"/>
              <a:t>식별이 가능한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75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185</TotalTime>
  <Words>687</Words>
  <Application>Microsoft Office PowerPoint</Application>
  <PresentationFormat>와이드스크린</PresentationFormat>
  <Paragraphs>127</Paragraphs>
  <Slides>22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맑은 고딕</vt:lpstr>
      <vt:lpstr>맑은 고딕 Semilight</vt:lpstr>
      <vt:lpstr>한컴 말랑말랑 Bold</vt:lpstr>
      <vt:lpstr>Arial</vt:lpstr>
      <vt:lpstr>Cambria Math</vt:lpstr>
      <vt:lpstr>Helvetica</vt:lpstr>
      <vt:lpstr>Segoe UI Light</vt:lpstr>
      <vt:lpstr>Wingdings</vt:lpstr>
      <vt:lpstr>WelcomeDoc</vt:lpstr>
      <vt:lpstr>System of Linear Equations</vt:lpstr>
      <vt:lpstr>PowerPoint 프레젠테이션</vt:lpstr>
      <vt:lpstr>대수(Algebra)</vt:lpstr>
      <vt:lpstr>선형함수(Linear Function)</vt:lpstr>
      <vt:lpstr>Linear or Non Linear</vt:lpstr>
      <vt:lpstr>Linear, Non linear equations </vt:lpstr>
      <vt:lpstr>Numpy 배우기(Option)</vt:lpstr>
      <vt:lpstr>PowerPoint 프레젠테이션</vt:lpstr>
      <vt:lpstr>Neural Networks – Matrix operations</vt:lpstr>
      <vt:lpstr>Neural Networks – Image recognition</vt:lpstr>
      <vt:lpstr>PowerPoint 프레젠테이션</vt:lpstr>
      <vt:lpstr>System of linear equation </vt:lpstr>
      <vt:lpstr>System of linear equation </vt:lpstr>
      <vt:lpstr>Matrix Formation- Inverse, determinant</vt:lpstr>
      <vt:lpstr>Matrix Formation- Inverse, determinant</vt:lpstr>
      <vt:lpstr>Solution with python</vt:lpstr>
      <vt:lpstr>Quiz : Linear dependence and independence</vt:lpstr>
      <vt:lpstr>Solution: Linear dependence and independence</vt:lpstr>
      <vt:lpstr>Quiz : Linear dependence and independence</vt:lpstr>
      <vt:lpstr>Quiz : Linear dependence and independence</vt:lpstr>
      <vt:lpstr>Compressing Images – Reducing rank by random choice of features</vt:lpstr>
      <vt:lpstr>Compressing Images – Reducing rank by SVD, PCA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6</cp:revision>
  <dcterms:created xsi:type="dcterms:W3CDTF">2026-04-06T01:00:39Z</dcterms:created>
  <dcterms:modified xsi:type="dcterms:W3CDTF">2026-04-11T10:24:29Z</dcterms:modified>
  <cp:version/>
</cp:coreProperties>
</file>