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9"/>
  </p:notesMasterIdLst>
  <p:handoutMasterIdLst>
    <p:handoutMasterId r:id="rId20"/>
  </p:handoutMasterIdLst>
  <p:sldIdLst>
    <p:sldId id="256" r:id="rId2"/>
    <p:sldId id="271" r:id="rId3"/>
    <p:sldId id="283" r:id="rId4"/>
    <p:sldId id="285" r:id="rId5"/>
    <p:sldId id="284" r:id="rId6"/>
    <p:sldId id="279" r:id="rId7"/>
    <p:sldId id="286" r:id="rId8"/>
    <p:sldId id="287" r:id="rId9"/>
    <p:sldId id="288" r:id="rId10"/>
    <p:sldId id="290" r:id="rId11"/>
    <p:sldId id="289" r:id="rId12"/>
    <p:sldId id="291" r:id="rId13"/>
    <p:sldId id="292" r:id="rId14"/>
    <p:sldId id="293" r:id="rId15"/>
    <p:sldId id="294" r:id="rId16"/>
    <p:sldId id="295" r:id="rId17"/>
    <p:sldId id="296" r:id="rId18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271"/>
            <p14:sldId id="283"/>
            <p14:sldId id="285"/>
            <p14:sldId id="284"/>
            <p14:sldId id="279"/>
            <p14:sldId id="286"/>
            <p14:sldId id="287"/>
            <p14:sldId id="288"/>
            <p14:sldId id="290"/>
            <p14:sldId id="289"/>
            <p14:sldId id="291"/>
            <p14:sldId id="292"/>
            <p14:sldId id="293"/>
            <p14:sldId id="294"/>
            <p14:sldId id="295"/>
            <p14:sldId id="296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24726"/>
    <a:srgbClr val="404040"/>
    <a:srgbClr val="FF9B45"/>
    <a:srgbClr val="DD462F"/>
    <a:srgbClr val="F8CFB6"/>
    <a:srgbClr val="F8CAB6"/>
    <a:srgbClr val="923922"/>
    <a:srgbClr val="F5F5F5"/>
    <a:srgbClr val="F2F2F2"/>
    <a:srgbClr val="D2B4A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241" autoAdjust="0"/>
  </p:normalViewPr>
  <p:slideViewPr>
    <p:cSldViewPr snapToGrid="0">
      <p:cViewPr varScale="1">
        <p:scale>
          <a:sx n="80" d="100"/>
          <a:sy n="80" d="100"/>
        </p:scale>
        <p:origin x="782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2784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commentAuthors" Target="commentAuthor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2026-04-10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2026-04-10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5495473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114058-AA6E-1685-73A4-065965BC46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A7F7C37-33B9-9F32-388B-E7568FBF87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B752572-3418-5F61-38CA-5EB751B64B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E4A2BD-9148-90E1-EE5F-B9BEBD5C734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190102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D1476B-976D-3B9C-929C-0E6C2ECCD3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F018413-B452-869B-093F-7FCD8E11BA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138A77C-E7F5-2598-FF2B-1405B870E1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D1E6329-4B53-5B91-7ED8-0902822AE2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1156841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90030A-8C46-08A6-BE42-6D086947E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2E5C43A-AB99-1868-ABC5-33973A29D6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4CBDB5B-08D5-C381-267F-2F7F812F96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8722BDE-E4A5-6756-345E-02C31D4A2D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9114955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9419207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07E863-A843-BE80-892A-90F6AB3DB1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6EBA51D-D0FB-648C-46BE-85A48BEC5B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0D00853-5FC2-00DB-E440-6E4C3776D4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AE48D90-BE0A-24F8-50F9-E01DB3C8E15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8376377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0568AA-74B7-EB0E-5E7C-0357A20FAF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C5349DD-88B0-F6DC-37B9-9A10510AEC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61839A5-558B-E961-4B72-35634B492E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7954D3D-3645-E7B7-2B9C-AA3D781E5D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1089031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BEC5C4-1DB3-C37B-45E8-7F3CA08C1C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A08BDBB-221C-A57E-D9D1-5148D944C7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42169A1-A33B-7146-0A28-85AF86891C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830A50D-54B1-FBB0-007D-807E4BE0CC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5827099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783551-9962-1937-526D-EA6D65CBD0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FAD5B77-FD2E-313A-ED6B-4EBE5BE50D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CDCFCA5-8274-F4E0-D0EC-A261D0D4F7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E5786FC-9602-3625-1D97-65A6C9A822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7315803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47F299-97D8-2FEC-E553-9B5CF0E618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75F70B1-B64C-3337-6C41-A1AB19D090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9A8FA4B-AA78-E410-F81A-73C07BB462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A8851E0-7F39-BB02-D562-16AD839A95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0246461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B8DD73-4530-1298-A26C-45EF52B2FC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E8618B6-B25B-8AA1-5783-87D6BEE0FC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CCBB240-84D0-1050-91E0-CED9085D1E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99EA1EE-15B9-01CE-7972-90FB3277FA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5695218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7B4538-436A-E952-2CCF-D03BF05C53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5DEDE2F-1ABB-6EF3-5C7A-20FD933320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3173397-92A7-1C92-6E57-F62626EADC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35A0B7A-CBE4-F78B-4DC4-09BF0DA3F5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1920147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CB411-C794-30DC-A653-D5AC190E6F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2D0884D-A8EE-F0E1-2CE4-0FDA8B0993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A4A19B5-5B01-D389-E6F5-4ED40FD700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E63CC29-A6B8-FD51-9648-BF5E165DDE3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2424799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1AEB48-1CC3-E617-3B66-B417EA4953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5F3E31E-B8D7-0E7C-F809-9C2B3AC177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E4CA5BE-268C-6726-5D20-EECC51C9EB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B4E3566-360C-A615-021B-38B93455513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0292254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66E429-4172-0104-4675-020C6DB26E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D3B268A-27EA-A185-235C-9DD3CFED80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6346312-6FC9-F192-3682-1DC69CA944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9FCCD70-DED8-361A-60D8-0D306AF366C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1444174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6E415E-8B44-1DBF-87D1-383CE6FF6E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51726C8-A4CA-4791-A278-2B3BDC1EF9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C3E6F32-BACA-53F1-947F-3723994FD9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D5F70F2-B462-852F-2EAA-C77B092D5E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330468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2026-04-10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2026-04-10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cs231n.stanford.edu/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projector.tensorflow.org/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playground.tensorflow.org/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jpe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13" Type="http://schemas.openxmlformats.org/officeDocument/2006/relationships/image" Target="../media/image25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12" Type="http://schemas.openxmlformats.org/officeDocument/2006/relationships/image" Target="../media/image24.svg"/><Relationship Id="rId2" Type="http://schemas.openxmlformats.org/officeDocument/2006/relationships/notesSlide" Target="../notesSlides/notesSlide9.xml"/><Relationship Id="rId16" Type="http://schemas.openxmlformats.org/officeDocument/2006/relationships/image" Target="../media/image28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11" Type="http://schemas.openxmlformats.org/officeDocument/2006/relationships/image" Target="../media/image23.png"/><Relationship Id="rId5" Type="http://schemas.openxmlformats.org/officeDocument/2006/relationships/image" Target="../media/image17.png"/><Relationship Id="rId15" Type="http://schemas.openxmlformats.org/officeDocument/2006/relationships/image" Target="../media/image27.png"/><Relationship Id="rId10" Type="http://schemas.openxmlformats.org/officeDocument/2006/relationships/image" Target="../media/image22.svg"/><Relationship Id="rId4" Type="http://schemas.openxmlformats.org/officeDocument/2006/relationships/image" Target="../media/image16.png"/><Relationship Id="rId9" Type="http://schemas.openxmlformats.org/officeDocument/2006/relationships/image" Target="../media/image21.png"/><Relationship Id="rId14" Type="http://schemas.openxmlformats.org/officeDocument/2006/relationships/image" Target="../media/image26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0.png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jpe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dirty="0">
                <a:solidFill>
                  <a:schemeClr val="bg1"/>
                </a:solidFill>
              </a:rPr>
              <a:t>System of Linear Equations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3" name="부제목 2"/>
          <p:cNvSpPr>
            <a:spLocks noGrp="1"/>
          </p:cNvSpPr>
          <p:nvPr>
            <p:ph type="subTitle" idx="4294967295"/>
          </p:nvPr>
        </p:nvSpPr>
        <p:spPr>
          <a:xfrm>
            <a:off x="855620" y="2933105"/>
            <a:ext cx="9582736" cy="1137793"/>
          </a:xfrm>
        </p:spPr>
        <p:txBody>
          <a:bodyPr rtlCol="0">
            <a:normAutofit/>
          </a:bodyPr>
          <a:lstStyle/>
          <a:p>
            <a:pPr marL="0" indent="0" rtl="0">
              <a:buNone/>
            </a:pPr>
            <a:r>
              <a:rPr lang="en-US" altLang="ko-KR" sz="2400" dirty="0">
                <a:solidFill>
                  <a:schemeClr val="bg1"/>
                </a:solidFill>
              </a:rPr>
              <a:t>Deep learning motivation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Spring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/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Neural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Networks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–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Matrix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operations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98FBA1EA-3E3B-854E-E232-52EA23C66552}"/>
              </a:ext>
            </a:extLst>
          </p:cNvPr>
          <p:cNvPicPr>
            <a:picLocks noChangeAspect="1"/>
          </p:cNvPicPr>
          <p:nvPr/>
        </p:nvPicPr>
        <p:blipFill>
          <a:blip r:embed="rId3">
            <a:lum bright="20000" contrast="-40000"/>
          </a:blip>
          <a:stretch>
            <a:fillRect/>
          </a:stretch>
        </p:blipFill>
        <p:spPr>
          <a:xfrm>
            <a:off x="3492850" y="1531451"/>
            <a:ext cx="5965184" cy="3452876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8AF3FBCC-990A-0C2D-7EF1-FE04FFF206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02447" y="1776801"/>
            <a:ext cx="1954809" cy="263451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E178F11-1074-A6B4-A3A9-1CBC22BE0155}"/>
              </a:ext>
            </a:extLst>
          </p:cNvPr>
          <p:cNvSpPr txBox="1"/>
          <p:nvPr/>
        </p:nvSpPr>
        <p:spPr>
          <a:xfrm>
            <a:off x="9722943" y="2724727"/>
            <a:ext cx="11701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It’s a face.</a:t>
            </a:r>
            <a:endParaRPr lang="ko-KR" altLang="en-US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858D6F08-BDC2-FC7E-0060-A3991452680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40895" y="5024383"/>
            <a:ext cx="2013440" cy="1637256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07248180-8B7D-847E-CE62-39C902C7632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89013" y="5311672"/>
            <a:ext cx="1306844" cy="1062678"/>
          </a:xfrm>
          <a:prstGeom prst="rect">
            <a:avLst/>
          </a:prstGeom>
        </p:spPr>
      </p:pic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6BC5FCE3-9F1D-AE22-79BC-DDCF5A165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</a:t>
            </a:fld>
            <a:endParaRPr lang="ko-KR" altLang="en-US" noProof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4FCEEEE5-A1F7-E2C3-026E-084919F8A31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9260" y="5130981"/>
            <a:ext cx="689513" cy="1424060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12B30035-C1BA-3A1E-4585-46E3F17CAB0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36863" y="5641382"/>
            <a:ext cx="1566852" cy="403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76161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AE7BB0-4911-7190-4659-D0543EBB0D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37D6C079-89ED-7EF0-D845-0CDA5B0B4A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Neural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Networks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–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Image recognition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082BE4C-B432-BE98-9ECB-3C842BB11F4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57D7DC0-60F6-D7A4-1643-D4E39E830DD2}"/>
              </a:ext>
            </a:extLst>
          </p:cNvPr>
          <p:cNvSpPr txBox="1"/>
          <p:nvPr/>
        </p:nvSpPr>
        <p:spPr>
          <a:xfrm>
            <a:off x="521207" y="1533236"/>
            <a:ext cx="367427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CS231n: Deep Learning for Computer Vision</a:t>
            </a:r>
            <a:endParaRPr lang="ko-KR" altLang="en-US" sz="140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2847B26-D4AE-6095-6162-0349C58D2D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0978" y="2209544"/>
            <a:ext cx="8745170" cy="3658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04753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AF2C86-DA16-D101-F00A-B2C9BD452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31C3CD4D-CFE1-3FF5-FA51-F72D7FE590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Neural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Networks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–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text recognition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AD16E9F8-1A59-5EE7-D461-0839167D51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4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8C4D521-46EF-3D1F-71D0-5ACCE5859CDC}"/>
              </a:ext>
            </a:extLst>
          </p:cNvPr>
          <p:cNvSpPr txBox="1"/>
          <p:nvPr/>
        </p:nvSpPr>
        <p:spPr>
          <a:xfrm>
            <a:off x="521207" y="1533236"/>
            <a:ext cx="186243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Embedding projector</a:t>
            </a:r>
            <a:endParaRPr lang="ko-KR" altLang="en-US" sz="1400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BB8671C2-8C43-29BF-55CE-D04C955A11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61672" y="1687124"/>
            <a:ext cx="6066299" cy="4320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31869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E41D2F-EAB1-4A92-8867-6B4C4AEFA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33E49DB6-DAB3-D953-28ED-408E2277F6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Neural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Networks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–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 err="1">
                <a:cs typeface="Segoe UI Light" panose="020B0502040204020203" pitchFamily="34" charset="0"/>
              </a:rPr>
              <a:t>tensorflow</a:t>
            </a:r>
            <a:r>
              <a:rPr lang="en-US" altLang="ko-KR" dirty="0">
                <a:cs typeface="Segoe UI Light" panose="020B0502040204020203" pitchFamily="34" charset="0"/>
              </a:rPr>
              <a:t> playground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CDC4E536-A3F9-1C9F-45A5-4E8F7C6145F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5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10B5905-966B-98B8-0663-09744EF741D6}"/>
              </a:ext>
            </a:extLst>
          </p:cNvPr>
          <p:cNvSpPr txBox="1"/>
          <p:nvPr/>
        </p:nvSpPr>
        <p:spPr>
          <a:xfrm>
            <a:off x="521207" y="1533236"/>
            <a:ext cx="23153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 Network in Browser</a:t>
            </a:r>
            <a:endParaRPr lang="ko-KR" altLang="en-US" sz="1400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DB5DEB5-B8CF-951A-D24C-641B270EF0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62909" y="2188345"/>
            <a:ext cx="7666182" cy="3847647"/>
          </a:xfrm>
          <a:prstGeom prst="rect">
            <a:avLst/>
          </a:prstGeom>
        </p:spPr>
      </p:pic>
      <p:pic>
        <p:nvPicPr>
          <p:cNvPr id="2052" name="Picture 4" descr="도자기 작업장. 성인과 어린이의 손이 도자기를 만들고 젖은 점토 근접 촬영으로 작업합니다. 더러운 손으로 바퀴에 점토로 그릇을 만드는 과정. 여름 공원의 수제 축제">
            <a:extLst>
              <a:ext uri="{FF2B5EF4-FFF2-40B4-BE49-F238E27FC236}">
                <a16:creationId xmlns:a16="http://schemas.microsoft.com/office/drawing/2014/main" id="{76937F52-9FE7-AD4F-8080-9B9CDF694E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2899" y="55419"/>
            <a:ext cx="1633682" cy="10891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748211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n-US" altLang="ko" dirty="0">
                <a:cs typeface="Segoe UI Light" panose="020B0502040204020203" pitchFamily="34" charset="0"/>
              </a:rPr>
              <a:t>Linear, Non linear equations </a:t>
            </a:r>
            <a:endParaRPr lang="ko" dirty="0"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6AA2E3A-171B-8289-D5F4-8E1281B28E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6</a:t>
            </a:fld>
            <a:endParaRPr lang="ko-KR" altLang="en-US" noProof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D612E01-1C4F-563E-163F-C69845343C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927" y="1548403"/>
            <a:ext cx="2743583" cy="1695687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70A2B337-398C-96C2-257D-68237F4344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6503" y="4079783"/>
            <a:ext cx="2467486" cy="2228104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06A07039-982C-2D89-1243-36833611F9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26566" y="1548403"/>
            <a:ext cx="2887833" cy="23026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B2AD2BB0-960D-726C-0C1C-05BB462FF3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26566" y="4037094"/>
            <a:ext cx="3984074" cy="21668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F063C8F-D10A-F3CE-FE4C-DFA529E6126B}"/>
              </a:ext>
            </a:extLst>
          </p:cNvPr>
          <p:cNvSpPr txBox="1"/>
          <p:nvPr/>
        </p:nvSpPr>
        <p:spPr>
          <a:xfrm>
            <a:off x="4657435" y="1686948"/>
            <a:ext cx="101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" sz="2400" dirty="0">
                <a:cs typeface="Segoe UI Light" panose="020B0502040204020203" pitchFamily="34" charset="0"/>
              </a:rPr>
              <a:t>Line</a:t>
            </a:r>
            <a:endParaRPr lang="ko-KR" altLang="en-US" sz="2400" dirty="0"/>
          </a:p>
        </p:txBody>
      </p: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623AB87A-7B53-55D6-09C7-D670163229BF}"/>
              </a:ext>
            </a:extLst>
          </p:cNvPr>
          <p:cNvCxnSpPr/>
          <p:nvPr/>
        </p:nvCxnSpPr>
        <p:spPr>
          <a:xfrm>
            <a:off x="4322618" y="2530764"/>
            <a:ext cx="195810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5FEBF84F-9EE6-5151-EF36-E10FE2E088B0}"/>
              </a:ext>
            </a:extLst>
          </p:cNvPr>
          <p:cNvSpPr txBox="1"/>
          <p:nvPr/>
        </p:nvSpPr>
        <p:spPr>
          <a:xfrm>
            <a:off x="4657434" y="4163448"/>
            <a:ext cx="173124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" sz="2400" dirty="0">
                <a:cs typeface="Segoe UI Light" panose="020B0502040204020203" pitchFamily="34" charset="0"/>
              </a:rPr>
              <a:t>Not Line</a:t>
            </a:r>
            <a:endParaRPr lang="ko-KR" altLang="en-US" sz="2400" dirty="0"/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6415846D-6AE0-1431-C745-55314385BA75}"/>
              </a:ext>
            </a:extLst>
          </p:cNvPr>
          <p:cNvCxnSpPr/>
          <p:nvPr/>
        </p:nvCxnSpPr>
        <p:spPr>
          <a:xfrm>
            <a:off x="4322618" y="5007264"/>
            <a:ext cx="195810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070017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3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C4255C-B454-C476-4CF3-87F2620A95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A9F82F5F-8694-6825-431F-8B2D302251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n-US" altLang="ko" dirty="0">
                <a:cs typeface="Segoe UI Light" panose="020B0502040204020203" pitchFamily="34" charset="0"/>
              </a:rPr>
              <a:t>System of linear equation </a:t>
            </a:r>
            <a:endParaRPr lang="ko" dirty="0"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EB00393-1D68-074F-0AF0-4A167B4613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7</a:t>
            </a:fld>
            <a:endParaRPr lang="ko-KR" altLang="en-US" noProof="0"/>
          </a:p>
        </p:txBody>
      </p:sp>
      <p:pic>
        <p:nvPicPr>
          <p:cNvPr id="27" name="그림 26">
            <a:extLst>
              <a:ext uri="{FF2B5EF4-FFF2-40B4-BE49-F238E27FC236}">
                <a16:creationId xmlns:a16="http://schemas.microsoft.com/office/drawing/2014/main" id="{ED517E43-F0EC-3689-AF58-08A7D906CA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892" y="2197826"/>
            <a:ext cx="10693278" cy="2762101"/>
          </a:xfrm>
          <a:prstGeom prst="rect">
            <a:avLst/>
          </a:prstGeom>
        </p:spPr>
      </p:pic>
      <p:pic>
        <p:nvPicPr>
          <p:cNvPr id="5" name="Picture 4" descr="테이블 위에 앉아 있는 루빅 큐브">
            <a:extLst>
              <a:ext uri="{FF2B5EF4-FFF2-40B4-BE49-F238E27FC236}">
                <a16:creationId xmlns:a16="http://schemas.microsoft.com/office/drawing/2014/main" id="{454ED2F0-2D4D-CDE6-8BAC-B4858B25AF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65955" y="64655"/>
            <a:ext cx="1632204" cy="10881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040469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250810-3B08-0792-51DB-54B5C65E10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351F78B0-DDBB-7BA5-88EC-8D69AD223F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n-US" altLang="ko" dirty="0">
                <a:cs typeface="Segoe UI Light" panose="020B0502040204020203" pitchFamily="34" charset="0"/>
              </a:rPr>
              <a:t>System of linear equation </a:t>
            </a:r>
            <a:endParaRPr lang="ko" dirty="0"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B2CEAB5E-44F5-345E-22EE-C2CF3ECBA5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8</a:t>
            </a:fld>
            <a:endParaRPr lang="ko-KR" altLang="en-US" noProof="0"/>
          </a:p>
        </p:txBody>
      </p:sp>
      <p:pic>
        <p:nvPicPr>
          <p:cNvPr id="3" name="Picture 4" descr="도자기 작업장. 성인과 어린이의 손이 도자기를 만들고 젖은 점토 근접 촬영으로 작업합니다. 더러운 손으로 바퀴에 점토로 그릇을 만드는 과정. 여름 공원의 수제 축제">
            <a:extLst>
              <a:ext uri="{FF2B5EF4-FFF2-40B4-BE49-F238E27FC236}">
                <a16:creationId xmlns:a16="http://schemas.microsoft.com/office/drawing/2014/main" id="{CA1E59B8-C2AC-1F52-33FF-9103E6018C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2899" y="55419"/>
            <a:ext cx="1633682" cy="10891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098" name="Picture 2">
            <a:extLst>
              <a:ext uri="{FF2B5EF4-FFF2-40B4-BE49-F238E27FC236}">
                <a16:creationId xmlns:a16="http://schemas.microsoft.com/office/drawing/2014/main" id="{777F6910-1836-5C69-03A6-45D16A2CD5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2201" y="1349377"/>
            <a:ext cx="6562725" cy="5219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787803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F6D63D-F387-BB27-A6E8-8D3AAEA350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DEAC0FA0-0161-270F-B79E-902094330F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n-US" altLang="ko" dirty="0">
                <a:cs typeface="Segoe UI Light" panose="020B0502040204020203" pitchFamily="34" charset="0"/>
              </a:rPr>
              <a:t>Matrix Formation- Inverse, determinant</a:t>
            </a:r>
            <a:endParaRPr lang="ko" dirty="0"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AFBDB47-234C-305E-17F9-4E458263D9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9</a:t>
            </a:fld>
            <a:endParaRPr lang="ko-KR" altLang="en-US" noProof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BFEFDC7B-7F18-01E1-89A1-66509ECA88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42661" y="1548857"/>
            <a:ext cx="2095042" cy="733265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27672ADE-88EB-EBCD-8755-741E176083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42594" y="1548857"/>
            <a:ext cx="1344835" cy="802562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9F39270E-FD30-B0F8-F952-95ABE8FE919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6548" y="1428165"/>
            <a:ext cx="3743779" cy="1290959"/>
          </a:xfrm>
          <a:prstGeom prst="rect">
            <a:avLst/>
          </a:prstGeom>
        </p:spPr>
      </p:pic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4FC1B21F-58DD-2F60-C751-3D1E9F9E5055}"/>
              </a:ext>
            </a:extLst>
          </p:cNvPr>
          <p:cNvCxnSpPr/>
          <p:nvPr/>
        </p:nvCxnSpPr>
        <p:spPr>
          <a:xfrm>
            <a:off x="6459389" y="3744289"/>
            <a:ext cx="92363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2" name="그림 21">
            <a:extLst>
              <a:ext uri="{FF2B5EF4-FFF2-40B4-BE49-F238E27FC236}">
                <a16:creationId xmlns:a16="http://schemas.microsoft.com/office/drawing/2014/main" id="{9895C4E5-0528-FBC9-A8FF-A887DBA7EAA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35868" y="2901560"/>
            <a:ext cx="3263080" cy="711060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7DB0E415-738E-DAF8-2A85-0B26F2C1A9D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40044" y="2901560"/>
            <a:ext cx="2954168" cy="3245698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A57072F6-D1DD-5F06-02E5-0469CA4BF8C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935868" y="4012169"/>
            <a:ext cx="4781086" cy="2225342"/>
          </a:xfrm>
          <a:prstGeom prst="rect">
            <a:avLst/>
          </a:prstGeom>
        </p:spPr>
      </p:pic>
      <p:pic>
        <p:nvPicPr>
          <p:cNvPr id="32" name="그래픽 31" descr="배지 1 단색으로 채워진">
            <a:extLst>
              <a:ext uri="{FF2B5EF4-FFF2-40B4-BE49-F238E27FC236}">
                <a16:creationId xmlns:a16="http://schemas.microsoft.com/office/drawing/2014/main" id="{1CB3F511-9BBF-5128-65A3-7E50DEB6008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10460" y="1428165"/>
            <a:ext cx="270135" cy="270135"/>
          </a:xfrm>
          <a:prstGeom prst="rect">
            <a:avLst/>
          </a:prstGeom>
        </p:spPr>
      </p:pic>
      <p:pic>
        <p:nvPicPr>
          <p:cNvPr id="34" name="그래픽 33" descr="배지 단색으로 채워진">
            <a:extLst>
              <a:ext uri="{FF2B5EF4-FFF2-40B4-BE49-F238E27FC236}">
                <a16:creationId xmlns:a16="http://schemas.microsoft.com/office/drawing/2014/main" id="{CB60EFB9-7CEF-C117-E87B-30324942A54C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10460" y="1760549"/>
            <a:ext cx="270135" cy="270135"/>
          </a:xfrm>
          <a:prstGeom prst="rect">
            <a:avLst/>
          </a:prstGeom>
        </p:spPr>
      </p:pic>
      <p:pic>
        <p:nvPicPr>
          <p:cNvPr id="36" name="그래픽 35" descr="배지 3 단색으로 채워진">
            <a:extLst>
              <a:ext uri="{FF2B5EF4-FFF2-40B4-BE49-F238E27FC236}">
                <a16:creationId xmlns:a16="http://schemas.microsoft.com/office/drawing/2014/main" id="{10DFE245-1A11-109B-A682-A523D283DE62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310460" y="2092933"/>
            <a:ext cx="270135" cy="270135"/>
          </a:xfrm>
          <a:prstGeom prst="rect">
            <a:avLst/>
          </a:prstGeom>
        </p:spPr>
      </p:pic>
      <p:pic>
        <p:nvPicPr>
          <p:cNvPr id="38" name="그래픽 37" descr="배지 4 단색으로 채워진">
            <a:extLst>
              <a:ext uri="{FF2B5EF4-FFF2-40B4-BE49-F238E27FC236}">
                <a16:creationId xmlns:a16="http://schemas.microsoft.com/office/drawing/2014/main" id="{B5F8A27A-DBF7-3A35-A808-C8C931573B4D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310460" y="2425317"/>
            <a:ext cx="270135" cy="270135"/>
          </a:xfrm>
          <a:prstGeom prst="rect">
            <a:avLst/>
          </a:prstGeom>
        </p:spPr>
      </p:pic>
      <p:pic>
        <p:nvPicPr>
          <p:cNvPr id="41" name="그래픽 40" descr="배지 1 단색으로 채워진">
            <a:extLst>
              <a:ext uri="{FF2B5EF4-FFF2-40B4-BE49-F238E27FC236}">
                <a16:creationId xmlns:a16="http://schemas.microsoft.com/office/drawing/2014/main" id="{EDA109F4-47F9-E835-27F0-07F95F8E2CD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007593" y="1413789"/>
            <a:ext cx="270135" cy="270135"/>
          </a:xfrm>
          <a:prstGeom prst="rect">
            <a:avLst/>
          </a:prstGeom>
        </p:spPr>
      </p:pic>
      <p:pic>
        <p:nvPicPr>
          <p:cNvPr id="42" name="그래픽 41" descr="배지 단색으로 채워진">
            <a:extLst>
              <a:ext uri="{FF2B5EF4-FFF2-40B4-BE49-F238E27FC236}">
                <a16:creationId xmlns:a16="http://schemas.microsoft.com/office/drawing/2014/main" id="{22A403EC-CD10-DC69-EF72-726D00EA49BD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770664" y="2783831"/>
            <a:ext cx="270135" cy="270135"/>
          </a:xfrm>
          <a:prstGeom prst="rect">
            <a:avLst/>
          </a:prstGeom>
        </p:spPr>
      </p:pic>
      <p:pic>
        <p:nvPicPr>
          <p:cNvPr id="43" name="그래픽 42" descr="배지 3 단색으로 채워진">
            <a:extLst>
              <a:ext uri="{FF2B5EF4-FFF2-40B4-BE49-F238E27FC236}">
                <a16:creationId xmlns:a16="http://schemas.microsoft.com/office/drawing/2014/main" id="{48C05BA9-8094-DF71-9454-5946FAF04A4B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732264" y="3877101"/>
            <a:ext cx="270135" cy="270135"/>
          </a:xfrm>
          <a:prstGeom prst="rect">
            <a:avLst/>
          </a:prstGeom>
        </p:spPr>
      </p:pic>
      <p:pic>
        <p:nvPicPr>
          <p:cNvPr id="44" name="그래픽 43" descr="배지 4 단색으로 채워진">
            <a:extLst>
              <a:ext uri="{FF2B5EF4-FFF2-40B4-BE49-F238E27FC236}">
                <a16:creationId xmlns:a16="http://schemas.microsoft.com/office/drawing/2014/main" id="{C2976F5B-3356-8BEA-4319-CAC2CAE8A1FB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7383025" y="2783831"/>
            <a:ext cx="270135" cy="270135"/>
          </a:xfrm>
          <a:prstGeom prst="rect">
            <a:avLst/>
          </a:prstGeom>
        </p:spPr>
      </p:pic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83CFE5F4-0ECC-8A02-C121-F58163457476}"/>
              </a:ext>
            </a:extLst>
          </p:cNvPr>
          <p:cNvCxnSpPr/>
          <p:nvPr/>
        </p:nvCxnSpPr>
        <p:spPr>
          <a:xfrm>
            <a:off x="6907348" y="1993997"/>
            <a:ext cx="92363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3EE0AF8E-16A7-BEE1-0614-CC42A7E9D579}"/>
              </a:ext>
            </a:extLst>
          </p:cNvPr>
          <p:cNvSpPr txBox="1"/>
          <p:nvPr/>
        </p:nvSpPr>
        <p:spPr>
          <a:xfrm>
            <a:off x="8277728" y="2329505"/>
            <a:ext cx="66556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(2 x 2)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ED65CB4-1A1D-CED3-2AA3-5EFAEE060345}"/>
              </a:ext>
            </a:extLst>
          </p:cNvPr>
          <p:cNvSpPr txBox="1"/>
          <p:nvPr/>
        </p:nvSpPr>
        <p:spPr>
          <a:xfrm>
            <a:off x="8982678" y="2329505"/>
            <a:ext cx="6383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(2 x 1)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9674EC0-8E28-5722-3703-9B44268792B0}"/>
              </a:ext>
            </a:extLst>
          </p:cNvPr>
          <p:cNvSpPr txBox="1"/>
          <p:nvPr/>
        </p:nvSpPr>
        <p:spPr>
          <a:xfrm>
            <a:off x="9691068" y="2329505"/>
            <a:ext cx="6383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(2 x 1)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616586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" grpId="0"/>
      <p:bldP spid="47" grpId="0"/>
      <p:bldP spid="49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59370D-FB06-35C8-85AA-D55D2B440B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25E31D8E-75A7-AE65-1CFB-BFFF0E541E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n-US" altLang="ko" dirty="0">
                <a:cs typeface="Segoe UI Light" panose="020B0502040204020203" pitchFamily="34" charset="0"/>
              </a:rPr>
              <a:t>Matrix Formation- Inverse, determinant</a:t>
            </a:r>
            <a:endParaRPr lang="ko" dirty="0"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517E79F-C04C-0E09-C806-2E1D3CCDA12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10</a:t>
            </a:fld>
            <a:endParaRPr lang="ko-KR" altLang="en-US" noProof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4DDD0A1-FF7F-617A-61A6-0A76B93EA4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917" y="3322959"/>
            <a:ext cx="3889040" cy="246804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4E1DD154-DA52-6E8B-E5B2-179200A699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6548" y="1428165"/>
            <a:ext cx="3743779" cy="1290959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22654CE3-EDF4-B6B7-B37B-B84B48679E2C}"/>
              </a:ext>
            </a:extLst>
          </p:cNvPr>
          <p:cNvSpPr/>
          <p:nvPr/>
        </p:nvSpPr>
        <p:spPr>
          <a:xfrm>
            <a:off x="439186" y="2032000"/>
            <a:ext cx="4078502" cy="75738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>
                <a:solidFill>
                  <a:schemeClr val="tx1"/>
                </a:solidFill>
              </a:ln>
              <a:noFill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17F2F548-AA4A-15C2-3C54-CCFC137741B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64735" y="1428165"/>
            <a:ext cx="4033101" cy="38864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7506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C990A4-4B12-09D9-D4D0-5760CF2F27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A57EF653-0B42-4502-1687-712CB66C27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Solution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with python</a:t>
            </a:r>
            <a:endParaRPr lang="ko" dirty="0"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AA73692F-BDA6-901D-032D-BB9478257E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11</a:t>
            </a:fld>
            <a:endParaRPr lang="ko-KR" altLang="en-US" noProof="0"/>
          </a:p>
        </p:txBody>
      </p:sp>
      <p:pic>
        <p:nvPicPr>
          <p:cNvPr id="3" name="Picture 4" descr="도자기 작업장. 성인과 어린이의 손이 도자기를 만들고 젖은 점토 근접 촬영으로 작업합니다. 더러운 손으로 바퀴에 점토로 그릇을 만드는 과정. 여름 공원의 수제 축제">
            <a:extLst>
              <a:ext uri="{FF2B5EF4-FFF2-40B4-BE49-F238E27FC236}">
                <a16:creationId xmlns:a16="http://schemas.microsoft.com/office/drawing/2014/main" id="{BF8D4420-718B-14BC-1E19-3C864EAC8D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2899" y="55419"/>
            <a:ext cx="1633682" cy="10891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E89A74BC-A4ED-12CC-64D3-A24FCA7371A3}"/>
              </a:ext>
            </a:extLst>
          </p:cNvPr>
          <p:cNvSpPr txBox="1"/>
          <p:nvPr/>
        </p:nvSpPr>
        <p:spPr>
          <a:xfrm>
            <a:off x="543474" y="1309323"/>
            <a:ext cx="7216653" cy="522136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import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numpy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as np</a:t>
            </a:r>
          </a:p>
          <a:p>
            <a:pPr>
              <a:lnSpc>
                <a:spcPct val="150000"/>
              </a:lnSpc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1.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 설정</a:t>
            </a:r>
          </a:p>
          <a:p>
            <a:pPr>
              <a:lnSpc>
                <a:spcPct val="150000"/>
              </a:lnSpc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 =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np.array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([[3, 2], [2, -1]]); B =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np.array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([[8], [3]])</a:t>
            </a:r>
          </a:p>
          <a:p>
            <a:pPr>
              <a:lnSpc>
                <a:spcPct val="150000"/>
              </a:lnSpc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2.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행렬식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(Determinant)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계산</a:t>
            </a:r>
          </a:p>
          <a:p>
            <a:pPr>
              <a:lnSpc>
                <a:spcPct val="150000"/>
              </a:lnSpc>
            </a:pP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det_A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np.linalg.det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(A); print(f"1.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행렬식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det(A): {det_A:.1f}")</a:t>
            </a:r>
          </a:p>
          <a:p>
            <a:pPr>
              <a:lnSpc>
                <a:spcPct val="150000"/>
              </a:lnSpc>
            </a:pPr>
            <a:b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</a:b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if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det_A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!= 0:</a:t>
            </a:r>
          </a:p>
          <a:p>
            <a:pPr>
              <a:lnSpc>
                <a:spcPct val="150000"/>
              </a:lnSpc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   # 3. 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역행렬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계산</a:t>
            </a:r>
          </a:p>
          <a:p>
            <a:pPr>
              <a:lnSpc>
                <a:spcPct val="150000"/>
              </a:lnSpc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  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print("\n2.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A:\n", A);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A_inv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np.linalg.inv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(A)</a:t>
            </a:r>
          </a:p>
          <a:p>
            <a:pPr>
              <a:lnSpc>
                <a:spcPct val="150000"/>
              </a:lnSpc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   print("\n3. 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역행렬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A_inv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:\n",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A_inv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); print("\n4. 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역행렬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A_inv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*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A:\n",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A_inv@A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>
              <a:lnSpc>
                <a:spcPct val="150000"/>
              </a:lnSpc>
            </a:pP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   # 4.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해 계산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(x =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A_inv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@ B)</a:t>
            </a:r>
          </a:p>
          <a:p>
            <a:pPr>
              <a:lnSpc>
                <a:spcPct val="150000"/>
              </a:lnSpc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   # @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기호는 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파이썬에서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행렬 곱셈을 의미합니다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  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 =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A_inv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@ B; print(f"\n5.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최종 해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\n a = {X[0][0]:.1f}, b = {X[1][0]:.1f}")</a:t>
            </a:r>
          </a:p>
          <a:p>
            <a:pPr>
              <a:lnSpc>
                <a:spcPct val="150000"/>
              </a:lnSpc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else:</a:t>
            </a:r>
          </a:p>
          <a:p>
            <a:pPr>
              <a:lnSpc>
                <a:spcPct val="150000"/>
              </a:lnSpc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   print("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행렬식이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이므로 역행렬이 존재하지 않습니다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.")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9EA7B03D-91F0-B9CD-8D35-F66827243FDD}"/>
              </a:ext>
            </a:extLst>
          </p:cNvPr>
          <p:cNvPicPr>
            <a:picLocks noChangeAspect="1"/>
          </p:cNvPicPr>
          <p:nvPr/>
        </p:nvPicPr>
        <p:blipFill>
          <a:blip r:embed="rId4">
            <a:biLevel thresh="25000"/>
          </a:blip>
          <a:stretch>
            <a:fillRect/>
          </a:stretch>
        </p:blipFill>
        <p:spPr>
          <a:xfrm>
            <a:off x="8064957" y="1309323"/>
            <a:ext cx="3074097" cy="32489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09259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C4D28E-E2DE-6C7A-2B4A-21C682C71D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DC1766C8-643A-71D5-14A3-A1DBD108A2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>
            <a:normAutofit fontScale="90000"/>
          </a:bodyPr>
          <a:lstStyle/>
          <a:p>
            <a:r>
              <a:rPr lang="en-US" altLang="ko-KR" dirty="0">
                <a:cs typeface="Segoe UI Light" panose="020B0502040204020203" pitchFamily="34" charset="0"/>
              </a:rPr>
              <a:t>Quiz</a:t>
            </a:r>
            <a:r>
              <a:rPr lang="en-US" altLang="ko-KR" dirty="0"/>
              <a:t> : Linear dependence and independence</a:t>
            </a:r>
            <a:endParaRPr lang="ko" dirty="0"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3C131C84-7D12-A7D2-563B-6BE6CC55708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12</a:t>
            </a:fld>
            <a:endParaRPr lang="ko-KR" altLang="en-US" noProof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D67965BC-C62F-B0B0-10EC-C2CC8EBA92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37783" y="2828841"/>
            <a:ext cx="8116433" cy="120031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2AE861C-1EFE-C117-5237-25FBBC226B68}"/>
              </a:ext>
            </a:extLst>
          </p:cNvPr>
          <p:cNvSpPr txBox="1"/>
          <p:nvPr/>
        </p:nvSpPr>
        <p:spPr>
          <a:xfrm>
            <a:off x="591127" y="1635323"/>
            <a:ext cx="1044632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b="0" i="0" u="none" strike="noStrike" baseline="0" dirty="0">
                <a:latin typeface="Helvetica" panose="020B0604020202020204" pitchFamily="34" charset="0"/>
              </a:rPr>
              <a:t>Determine if the following matrices have linear dependent or independent </a:t>
            </a:r>
            <a:r>
              <a:rPr lang="en-US" altLang="ko-KR" sz="1800" b="1" i="0" u="none" strike="noStrike" baseline="0" dirty="0">
                <a:latin typeface="Helvetica" panose="020B0604020202020204" pitchFamily="34" charset="0"/>
              </a:rPr>
              <a:t>rows</a:t>
            </a:r>
          </a:p>
          <a:p>
            <a:r>
              <a:rPr lang="ko-KR" altLang="en-US" dirty="0"/>
              <a:t>다음 중 모든 행벡터가 선형 독립인 행렬을 고르세요</a:t>
            </a:r>
            <a:r>
              <a:rPr lang="en-US" altLang="ko-KR" dirty="0"/>
              <a:t>.</a:t>
            </a:r>
            <a:endParaRPr lang="ko-KR" altLang="en-US" b="1" dirty="0"/>
          </a:p>
        </p:txBody>
      </p:sp>
      <p:pic>
        <p:nvPicPr>
          <p:cNvPr id="7172" name="Picture 4" descr="테이블 위에 앉아 있는 루빅 큐브">
            <a:extLst>
              <a:ext uri="{FF2B5EF4-FFF2-40B4-BE49-F238E27FC236}">
                <a16:creationId xmlns:a16="http://schemas.microsoft.com/office/drawing/2014/main" id="{BE3E65F5-B8FB-68AF-25DC-55639E316F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65955" y="64655"/>
            <a:ext cx="1632204" cy="10881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864864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2F56EA-F96D-1D21-AE31-166942982A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2ADE418-A475-6662-6FA2-5659CDC702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530429" cy="640080"/>
          </a:xfrm>
        </p:spPr>
        <p:txBody>
          <a:bodyPr rtlCol="0">
            <a:normAutofit/>
          </a:bodyPr>
          <a:lstStyle/>
          <a:p>
            <a:r>
              <a:rPr lang="en-US" altLang="ko-KR" dirty="0"/>
              <a:t>Solution: Linear dependence and independence</a:t>
            </a:r>
            <a:endParaRPr lang="ko" dirty="0"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BF35819-3CBF-6CF8-7EB9-D7FA413BCF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13</a:t>
            </a:fld>
            <a:endParaRPr lang="ko-KR" altLang="en-US" noProof="0"/>
          </a:p>
        </p:txBody>
      </p:sp>
      <p:pic>
        <p:nvPicPr>
          <p:cNvPr id="3" name="Picture 4" descr="도자기 작업장. 성인과 어린이의 손이 도자기를 만들고 젖은 점토 근접 촬영으로 작업합니다. 더러운 손으로 바퀴에 점토로 그릇을 만드는 과정. 여름 공원의 수제 축제">
            <a:extLst>
              <a:ext uri="{FF2B5EF4-FFF2-40B4-BE49-F238E27FC236}">
                <a16:creationId xmlns:a16="http://schemas.microsoft.com/office/drawing/2014/main" id="{946A1B5F-34BB-3B76-C650-7A139B0038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2899" y="55419"/>
            <a:ext cx="1633682" cy="10891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F9F964D-A4D9-DCE4-2FCD-B0FF34BBD16A}"/>
              </a:ext>
            </a:extLst>
          </p:cNvPr>
          <p:cNvSpPr txBox="1"/>
          <p:nvPr/>
        </p:nvSpPr>
        <p:spPr>
          <a:xfrm>
            <a:off x="591127" y="1635323"/>
            <a:ext cx="104463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b="0" i="0" u="none" strike="noStrike" baseline="0" dirty="0">
                <a:latin typeface="Helvetica" panose="020B0604020202020204" pitchFamily="34" charset="0"/>
              </a:rPr>
              <a:t>Determine if the following matrices have linear dependent or independent rows</a:t>
            </a:r>
            <a:endParaRPr lang="ko-KR" altLang="en-US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4C4168CA-586E-DE39-0163-EE2508B721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23467" y="2930634"/>
            <a:ext cx="8345065" cy="2514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3008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BC033C-1AE8-5652-96FC-D06553A739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E53CFFF5-ABD0-6D19-9324-812FF66D49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>
            <a:normAutofit fontScale="90000"/>
          </a:bodyPr>
          <a:lstStyle/>
          <a:p>
            <a:r>
              <a:rPr lang="en-US" altLang="ko-KR" dirty="0">
                <a:cs typeface="Segoe UI Light" panose="020B0502040204020203" pitchFamily="34" charset="0"/>
              </a:rPr>
              <a:t>Quiz</a:t>
            </a:r>
            <a:r>
              <a:rPr lang="en-US" altLang="ko-KR" dirty="0"/>
              <a:t> : Linear dependence and independence</a:t>
            </a:r>
            <a:endParaRPr lang="ko" dirty="0"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61B2B23-9383-64C3-E51D-3151F6A8E1A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14</a:t>
            </a:fld>
            <a:endParaRPr lang="ko-KR" altLang="en-US" noProof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002CC2A-156E-41EC-A565-96B645B614E9}"/>
              </a:ext>
            </a:extLst>
          </p:cNvPr>
          <p:cNvSpPr txBox="1"/>
          <p:nvPr/>
        </p:nvSpPr>
        <p:spPr>
          <a:xfrm>
            <a:off x="591127" y="1320343"/>
            <a:ext cx="10446328" cy="871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800" b="0" i="0" u="none" strike="noStrike" baseline="0" dirty="0">
                <a:latin typeface="Helvetica" panose="020B0604020202020204" pitchFamily="34" charset="0"/>
              </a:rPr>
              <a:t>Determine if the following matrices have linear dependent or independent </a:t>
            </a:r>
            <a:r>
              <a:rPr lang="en-US" altLang="ko-KR" sz="1800" b="1" i="0" u="none" strike="noStrike" baseline="0" dirty="0">
                <a:latin typeface="Helvetica" panose="020B0604020202020204" pitchFamily="34" charset="0"/>
              </a:rPr>
              <a:t>columns</a:t>
            </a:r>
          </a:p>
          <a:p>
            <a:pPr>
              <a:lnSpc>
                <a:spcPct val="150000"/>
              </a:lnSpc>
            </a:pPr>
            <a:r>
              <a:rPr lang="ko-KR" altLang="en-US" dirty="0"/>
              <a:t>다음 중 모든 열벡터가 선형 독립인 행렬을 고르세요</a:t>
            </a:r>
            <a:r>
              <a:rPr lang="en-US" altLang="ko-KR" dirty="0"/>
              <a:t>.</a:t>
            </a:r>
            <a:endParaRPr lang="ko-KR" altLang="en-US" b="1" dirty="0"/>
          </a:p>
        </p:txBody>
      </p:sp>
      <p:pic>
        <p:nvPicPr>
          <p:cNvPr id="7172" name="Picture 4" descr="테이블 위에 앉아 있는 루빅 큐브">
            <a:extLst>
              <a:ext uri="{FF2B5EF4-FFF2-40B4-BE49-F238E27FC236}">
                <a16:creationId xmlns:a16="http://schemas.microsoft.com/office/drawing/2014/main" id="{D1D41A07-1531-839D-EFFB-9909F0A2C3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65955" y="64655"/>
            <a:ext cx="1632204" cy="10881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CED7A396-3172-FA91-8EC8-26AF3969FE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00116" y="2294570"/>
            <a:ext cx="1609950" cy="4143953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47FD8EB8-C8D7-8652-2B27-88E9C14C65F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21567" y="2294570"/>
            <a:ext cx="1562318" cy="4115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63292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EE4273-5AD3-2745-91A2-9D85ADF589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C47FA23F-BED2-87D4-1898-EA515D9921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>
            <a:normAutofit fontScale="90000"/>
          </a:bodyPr>
          <a:lstStyle/>
          <a:p>
            <a:r>
              <a:rPr lang="en-US" altLang="ko-KR" dirty="0">
                <a:cs typeface="Segoe UI Light" panose="020B0502040204020203" pitchFamily="34" charset="0"/>
              </a:rPr>
              <a:t>Quiz</a:t>
            </a:r>
            <a:r>
              <a:rPr lang="en-US" altLang="ko-KR" dirty="0"/>
              <a:t> : Linear dependence and independence</a:t>
            </a:r>
            <a:endParaRPr lang="ko" dirty="0"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9434CECC-4D90-EAB5-2451-33ABFE7A85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15</a:t>
            </a:fld>
            <a:endParaRPr lang="ko-KR" altLang="en-US" noProof="0"/>
          </a:p>
        </p:txBody>
      </p:sp>
      <p:pic>
        <p:nvPicPr>
          <p:cNvPr id="7172" name="Picture 4" descr="테이블 위에 앉아 있는 루빅 큐브">
            <a:extLst>
              <a:ext uri="{FF2B5EF4-FFF2-40B4-BE49-F238E27FC236}">
                <a16:creationId xmlns:a16="http://schemas.microsoft.com/office/drawing/2014/main" id="{5B1913DC-D5EE-A623-F334-2560D6DDE5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65955" y="64655"/>
            <a:ext cx="1632204" cy="10881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246888A7-3425-6EFE-45AC-F06F609A0E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2065" y="1739228"/>
            <a:ext cx="4153480" cy="3724795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82A42DD5-E79A-C760-95E7-2E71183A181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17558" y="1739228"/>
            <a:ext cx="5048955" cy="4829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66830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9A7A78-9A48-AA10-5785-D0F00D44FF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822916A-F4FB-A1F9-4AAF-CE84AE99EE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346818" cy="640080"/>
          </a:xfrm>
        </p:spPr>
        <p:txBody>
          <a:bodyPr rtlCol="0">
            <a:normAutofit fontScale="90000"/>
          </a:bodyPr>
          <a:lstStyle/>
          <a:p>
            <a:r>
              <a:rPr lang="en-US" altLang="ko-KR" dirty="0">
                <a:cs typeface="Segoe UI Light" panose="020B0502040204020203" pitchFamily="34" charset="0"/>
              </a:rPr>
              <a:t>Compressing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Images – Reducing rank by random choice of features</a:t>
            </a:r>
            <a:endParaRPr lang="ko" dirty="0"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7B80B36-1BD6-0C45-A304-60C53DC002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16</a:t>
            </a:fld>
            <a:endParaRPr lang="ko-KR" altLang="en-US" noProof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EF940CD-C23E-E371-CE45-25397F7D3D61}"/>
              </a:ext>
            </a:extLst>
          </p:cNvPr>
          <p:cNvSpPr txBox="1"/>
          <p:nvPr/>
        </p:nvSpPr>
        <p:spPr>
          <a:xfrm>
            <a:off x="609600" y="1304243"/>
            <a:ext cx="5486400" cy="2797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url</a:t>
            </a:r>
            <a:r>
              <a:rPr lang="en-US" altLang="ko-KR" sz="12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"https://img.tf.co.kr/article/home/2025/07/22/202598011753169335.jpg"</a:t>
            </a:r>
          </a:p>
        </p:txBody>
      </p:sp>
      <p:pic>
        <p:nvPicPr>
          <p:cNvPr id="11268" name="Picture 4">
            <a:extLst>
              <a:ext uri="{FF2B5EF4-FFF2-40B4-BE49-F238E27FC236}">
                <a16:creationId xmlns:a16="http://schemas.microsoft.com/office/drawing/2014/main" id="{EB4727C5-628B-08D0-CD75-038EC1E9AA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28436" y="1800107"/>
            <a:ext cx="8986982" cy="48691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872592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D481C-56DE-A303-2D4C-E12ED6DB10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EB6562AF-EDD3-7FD9-789C-A59F62BFA7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9070468" cy="640080"/>
          </a:xfrm>
        </p:spPr>
        <p:txBody>
          <a:bodyPr rtlCol="0">
            <a:normAutofit/>
          </a:bodyPr>
          <a:lstStyle/>
          <a:p>
            <a:r>
              <a:rPr lang="en-US" altLang="ko-KR" dirty="0">
                <a:cs typeface="Segoe UI Light" panose="020B0502040204020203" pitchFamily="34" charset="0"/>
              </a:rPr>
              <a:t>Compressing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Images – Reducing rank by SVD, PCA</a:t>
            </a:r>
            <a:endParaRPr lang="ko" dirty="0"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60C72ECB-26ED-AC43-69FC-B181EE6AD3E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17</a:t>
            </a:fld>
            <a:endParaRPr lang="ko-KR" altLang="en-US" noProof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C1EDBD8-B293-7B46-746E-84D1944B03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48508" y="1820059"/>
            <a:ext cx="8765310" cy="47490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51210D5-7927-EB22-F5B4-C0811943D190}"/>
              </a:ext>
            </a:extLst>
          </p:cNvPr>
          <p:cNvSpPr txBox="1"/>
          <p:nvPr/>
        </p:nvSpPr>
        <p:spPr>
          <a:xfrm>
            <a:off x="604333" y="1358737"/>
            <a:ext cx="52004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Rank </a:t>
            </a:r>
            <a:r>
              <a:rPr lang="ko-KR" altLang="en-US" dirty="0"/>
              <a:t>가 </a:t>
            </a:r>
            <a:r>
              <a:rPr lang="en-US" altLang="ko-KR" dirty="0"/>
              <a:t>30, 10, 5</a:t>
            </a:r>
            <a:r>
              <a:rPr lang="ko-KR" altLang="en-US" dirty="0"/>
              <a:t>인데도 </a:t>
            </a:r>
            <a:r>
              <a:rPr lang="en-US" altLang="ko-KR" dirty="0"/>
              <a:t>face </a:t>
            </a:r>
            <a:r>
              <a:rPr lang="ko-KR" altLang="en-US" dirty="0"/>
              <a:t>식별이 가능한 이유</a:t>
            </a:r>
            <a:r>
              <a:rPr lang="en-US" altLang="ko-KR" dirty="0"/>
              <a:t>?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567591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159</TotalTime>
  <Words>477</Words>
  <Application>Microsoft Office PowerPoint</Application>
  <PresentationFormat>와이드스크린</PresentationFormat>
  <Paragraphs>84</Paragraphs>
  <Slides>17</Slides>
  <Notes>17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17</vt:i4>
      </vt:variant>
    </vt:vector>
  </HeadingPairs>
  <TitlesOfParts>
    <vt:vector size="23" baseType="lpstr">
      <vt:lpstr>맑은 고딕</vt:lpstr>
      <vt:lpstr>맑은 고딕 Semilight</vt:lpstr>
      <vt:lpstr>Arial</vt:lpstr>
      <vt:lpstr>Helvetica</vt:lpstr>
      <vt:lpstr>Segoe UI Light</vt:lpstr>
      <vt:lpstr>WelcomeDoc</vt:lpstr>
      <vt:lpstr>System of Linear Equations</vt:lpstr>
      <vt:lpstr>Neural Networks – Matrix operations</vt:lpstr>
      <vt:lpstr>Neural Networks – Image recognition</vt:lpstr>
      <vt:lpstr>Neural Networks – text recognition</vt:lpstr>
      <vt:lpstr>Neural Networks – tensorflow playground</vt:lpstr>
      <vt:lpstr>Linear, Non linear equations </vt:lpstr>
      <vt:lpstr>System of linear equation </vt:lpstr>
      <vt:lpstr>System of linear equation </vt:lpstr>
      <vt:lpstr>Matrix Formation- Inverse, determinant</vt:lpstr>
      <vt:lpstr>Matrix Formation- Inverse, determinant</vt:lpstr>
      <vt:lpstr>Solution with python</vt:lpstr>
      <vt:lpstr>Quiz : Linear dependence and independence</vt:lpstr>
      <vt:lpstr>Solution: Linear dependence and independence</vt:lpstr>
      <vt:lpstr>Quiz : Linear dependence and independence</vt:lpstr>
      <vt:lpstr>Quiz : Linear dependence and independence</vt:lpstr>
      <vt:lpstr>Compressing Images – Reducing rank by random choice of features</vt:lpstr>
      <vt:lpstr>Compressing Images – Reducing rank by SVD, PCA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4</cp:revision>
  <dcterms:created xsi:type="dcterms:W3CDTF">2026-04-06T01:00:39Z</dcterms:created>
  <dcterms:modified xsi:type="dcterms:W3CDTF">2026-04-09T20:31:48Z</dcterms:modified>
  <cp:version/>
</cp:coreProperties>
</file>