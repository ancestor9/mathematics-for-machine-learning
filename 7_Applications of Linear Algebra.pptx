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6"/>
  </p:notesMasterIdLst>
  <p:sldIdLst>
    <p:sldId id="256" r:id="rId2"/>
    <p:sldId id="266" r:id="rId3"/>
    <p:sldId id="819" r:id="rId4"/>
    <p:sldId id="824" r:id="rId5"/>
    <p:sldId id="825" r:id="rId6"/>
    <p:sldId id="826" r:id="rId7"/>
    <p:sldId id="822" r:id="rId8"/>
    <p:sldId id="783" r:id="rId9"/>
    <p:sldId id="784" r:id="rId10"/>
    <p:sldId id="827" r:id="rId11"/>
    <p:sldId id="828" r:id="rId12"/>
    <p:sldId id="829" r:id="rId13"/>
    <p:sldId id="830" r:id="rId14"/>
    <p:sldId id="832" r:id="rId15"/>
    <p:sldId id="831" r:id="rId16"/>
    <p:sldId id="833" r:id="rId17"/>
    <p:sldId id="820" r:id="rId18"/>
    <p:sldId id="834" r:id="rId19"/>
    <p:sldId id="282" r:id="rId20"/>
    <p:sldId id="284" r:id="rId21"/>
    <p:sldId id="264" r:id="rId22"/>
    <p:sldId id="261" r:id="rId23"/>
    <p:sldId id="262" r:id="rId24"/>
    <p:sldId id="267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51" autoAdjust="0"/>
    <p:restoredTop sz="94660"/>
  </p:normalViewPr>
  <p:slideViewPr>
    <p:cSldViewPr snapToGrid="0">
      <p:cViewPr varScale="1">
        <p:scale>
          <a:sx n="68" d="100"/>
          <a:sy n="68" d="100"/>
        </p:scale>
        <p:origin x="1110" y="5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6D2F86-9062-4B78-99E4-F1BEEF85F138}" type="datetimeFigureOut">
              <a:rPr lang="ko-KR" altLang="en-US" smtClean="0"/>
              <a:t>2026-03-23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5F8537-0286-40EF-BEDA-D09730C549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18589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3/23/2026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3/23/2026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3/23/2026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캡션 있는 파노라마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및 캡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캡션 있는 인용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명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3/23/2026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그림 열 3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3/23/2026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13795" y="139083"/>
            <a:ext cx="10353762" cy="766439"/>
          </a:xfrm>
        </p:spPr>
        <p:txBody>
          <a:bodyPr rtlCol="0">
            <a:normAutofit/>
          </a:bodyPr>
          <a:lstStyle>
            <a:lvl1pPr>
              <a:defRPr sz="3200">
                <a:latin typeface="Batang" panose="02030600000101010101" pitchFamily="18" charset="-127"/>
                <a:ea typeface="Batang" panose="02030600000101010101" pitchFamily="18" charset="-127"/>
              </a:defRPr>
            </a:lvl1pPr>
          </a:lstStyle>
          <a:p>
            <a:pPr rt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913795" y="1127464"/>
            <a:ext cx="10353762" cy="4663735"/>
          </a:xfrm>
        </p:spPr>
        <p:txBody>
          <a:bodyPr rtlCol="0"/>
          <a:lstStyle>
            <a:lvl1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1pPr>
            <a:lvl2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2pPr>
            <a:lvl3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3pPr>
            <a:lvl4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4pPr>
            <a:lvl5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5pPr>
          </a:lstStyle>
          <a:p>
            <a:pPr lvl="0" rtl="0"/>
            <a:r>
              <a:rPr lang="ko-KR" altLang="en-US" dirty="0"/>
              <a:t>마스터 텍스트 스타일을 편집하려면 클릭</a:t>
            </a:r>
          </a:p>
          <a:p>
            <a:pPr lvl="1" rtl="0"/>
            <a:r>
              <a:rPr lang="ko-KR" altLang="en-US" dirty="0"/>
              <a:t>두 번째 수준</a:t>
            </a:r>
          </a:p>
          <a:p>
            <a:pPr lvl="2" rtl="0"/>
            <a:r>
              <a:rPr lang="ko-KR" altLang="en-US" dirty="0"/>
              <a:t>세 번째 수준</a:t>
            </a:r>
          </a:p>
          <a:p>
            <a:pPr lvl="3" rtl="0"/>
            <a:r>
              <a:rPr lang="ko-KR" altLang="en-US" dirty="0"/>
              <a:t>네 번째 수준</a:t>
            </a:r>
          </a:p>
          <a:p>
            <a:pPr lvl="4" rtl="0"/>
            <a:r>
              <a:rPr lang="ko-KR" altLang="en-US" dirty="0"/>
              <a:t>다섯 번째 수준</a:t>
            </a:r>
            <a:endParaRPr 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B4745536-17E2-EEF7-D107-B4146DE2141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924" y="6365874"/>
            <a:ext cx="355393" cy="393576"/>
          </a:xfrm>
          <a:prstGeom prst="rect">
            <a:avLst/>
          </a:prstGeom>
        </p:spPr>
      </p:pic>
      <p:sp>
        <p:nvSpPr>
          <p:cNvPr id="12" name="날짜 개체 틀 3">
            <a:extLst>
              <a:ext uri="{FF2B5EF4-FFF2-40B4-BE49-F238E27FC236}">
                <a16:creationId xmlns:a16="http://schemas.microsoft.com/office/drawing/2014/main" id="{E02622F7-B412-D3AE-34CC-44CC99AE3ED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8736" y="6338113"/>
            <a:ext cx="2743200" cy="365125"/>
          </a:xfrm>
        </p:spPr>
        <p:txBody>
          <a:bodyPr rtlCol="0"/>
          <a:lstStyle>
            <a:lvl1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1pPr>
          </a:lstStyle>
          <a:p>
            <a:fld id="{28A3BAFB-7A40-4072-A7FD-FB0EDC55F13F}" type="datetime1">
              <a:rPr lang="ko-KR" altLang="en-US" smtClean="0"/>
              <a:t>2026-03-23</a:t>
            </a:fld>
            <a:endParaRPr lang="en-US" dirty="0"/>
          </a:p>
        </p:txBody>
      </p:sp>
      <p:sp>
        <p:nvSpPr>
          <p:cNvPr id="13" name="바닥글 개체 틀 4">
            <a:extLst>
              <a:ext uri="{FF2B5EF4-FFF2-40B4-BE49-F238E27FC236}">
                <a16:creationId xmlns:a16="http://schemas.microsoft.com/office/drawing/2014/main" id="{21086B2D-0BBF-7448-422F-0EAD78082A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3795" y="6338113"/>
            <a:ext cx="6672865" cy="365125"/>
          </a:xfrm>
        </p:spPr>
        <p:txBody>
          <a:bodyPr rtlCol="0"/>
          <a:lstStyle>
            <a:lvl1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1pPr>
          </a:lstStyle>
          <a:p>
            <a:endParaRPr lang="en-US" dirty="0"/>
          </a:p>
        </p:txBody>
      </p:sp>
      <p:sp>
        <p:nvSpPr>
          <p:cNvPr id="14" name="슬라이드 번호 개체 틀 5">
            <a:extLst>
              <a:ext uri="{FF2B5EF4-FFF2-40B4-BE49-F238E27FC236}">
                <a16:creationId xmlns:a16="http://schemas.microsoft.com/office/drawing/2014/main" id="{F2F60889-8102-9290-1B7C-A4994E8FC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338113"/>
            <a:ext cx="753545" cy="365125"/>
          </a:xfrm>
        </p:spPr>
        <p:txBody>
          <a:bodyPr rtlCol="0"/>
          <a:lstStyle>
            <a:lvl1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12084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3/23/2026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  <p:sldLayoutId id="2147483669" r:id="rId18"/>
  </p:sldLayoutIdLst>
  <p:txStyles>
    <p:titleStyle>
      <a:lvl1pPr algn="ctr" defTabSz="914400" rtl="0" eaLnBrk="1" latinLnBrk="1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hyperlink" Target="https://en.wikipedia.org/wiki/Eigenvalues_and_eigenvectors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g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894BC4CC-119D-4066-611C-7FF8F6954E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801" y="-1"/>
            <a:ext cx="7315200" cy="6834175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853B55A5-AD55-D660-8099-86131A4036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614571"/>
            <a:ext cx="4876801" cy="2509213"/>
          </a:xfrm>
        </p:spPr>
        <p:txBody>
          <a:bodyPr/>
          <a:lstStyle/>
          <a:p>
            <a:r>
              <a:rPr lang="ko-KR" altLang="en-US" dirty="0"/>
              <a:t>행렬과 벡터 응용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9CC0AE0-A72B-E734-A33B-67DEC45955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4199986"/>
            <a:ext cx="4876801" cy="1371599"/>
          </a:xfrm>
        </p:spPr>
        <p:txBody>
          <a:bodyPr/>
          <a:lstStyle/>
          <a:p>
            <a:r>
              <a:rPr lang="en-US" altLang="ko-KR" dirty="0">
                <a:solidFill>
                  <a:schemeClr val="tx1"/>
                </a:solidFill>
              </a:rPr>
              <a:t>2026 Spring</a:t>
            </a:r>
          </a:p>
          <a:p>
            <a:r>
              <a:rPr lang="ko-KR" altLang="en-US" dirty="0" err="1">
                <a:solidFill>
                  <a:schemeClr val="tx1"/>
                </a:solidFill>
              </a:rPr>
              <a:t>조상구</a:t>
            </a:r>
            <a:endParaRPr lang="en-US" altLang="ko-KR" dirty="0">
              <a:solidFill>
                <a:schemeClr val="tx1"/>
              </a:solidFill>
            </a:endParaRPr>
          </a:p>
          <a:p>
            <a:endParaRPr lang="en-US" altLang="ko-KR" dirty="0">
              <a:solidFill>
                <a:schemeClr val="tx1"/>
              </a:solidFill>
            </a:endParaRPr>
          </a:p>
          <a:p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09249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8BC7E252-AF9C-7707-B610-3002F1588D0E}"/>
              </a:ext>
            </a:extLst>
          </p:cNvPr>
          <p:cNvSpPr/>
          <p:nvPr/>
        </p:nvSpPr>
        <p:spPr>
          <a:xfrm>
            <a:off x="1450109" y="963227"/>
            <a:ext cx="7323316" cy="48832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30992DD-2A1A-471D-D61E-522358216252}"/>
              </a:ext>
            </a:extLst>
          </p:cNvPr>
          <p:cNvSpPr txBox="1"/>
          <p:nvPr/>
        </p:nvSpPr>
        <p:spPr>
          <a:xfrm>
            <a:off x="1631504" y="914115"/>
            <a:ext cx="8928992" cy="5539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lnSpc>
                <a:spcPct val="150000"/>
              </a:lnSpc>
              <a:spcBef>
                <a:spcPts val="600"/>
              </a:spcBef>
              <a:buAutoNum type="arabicPeriod"/>
            </a:pPr>
            <a:r>
              <a:rPr lang="en-US" altLang="ko-KR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Distance</a:t>
            </a:r>
            <a:r>
              <a:rPr lang="ko-KR" altLang="en-US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와 </a:t>
            </a:r>
            <a:r>
              <a:rPr lang="en-US" altLang="ko-KR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Norm</a:t>
            </a:r>
          </a:p>
          <a:p>
            <a:pPr marL="971550" lvl="1" indent="-514350">
              <a:lnSpc>
                <a:spcPct val="150000"/>
              </a:lnSpc>
              <a:spcBef>
                <a:spcPts val="600"/>
              </a:spcBef>
              <a:buAutoNum type="arabicPeriod"/>
            </a:pPr>
            <a:r>
              <a:rPr lang="en-US" altLang="ko-KR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K-nearest neighbor</a:t>
            </a:r>
            <a:endParaRPr lang="en-US" altLang="ko-KR" sz="2000" b="1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  <a:p>
            <a:pPr marL="514350" indent="-514350">
              <a:lnSpc>
                <a:spcPct val="150000"/>
              </a:lnSpc>
              <a:spcBef>
                <a:spcPts val="600"/>
              </a:spcBef>
              <a:buAutoNum type="arabicPeriod"/>
            </a:pPr>
            <a:r>
              <a:rPr lang="en-US" altLang="ko-KR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Supervised Learning</a:t>
            </a:r>
            <a:endParaRPr lang="en-US" altLang="ko-KR" b="1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  <a:p>
            <a:pPr marL="971550" lvl="1" indent="-514350">
              <a:spcBef>
                <a:spcPts val="600"/>
              </a:spcBef>
              <a:buAutoNum type="arabicPeriod"/>
            </a:pPr>
            <a:r>
              <a:rPr lang="ko-KR" altLang="en-US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회귀생성</a:t>
            </a:r>
            <a:r>
              <a:rPr lang="en-US" altLang="ko-KR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(Regression)</a:t>
            </a:r>
          </a:p>
          <a:p>
            <a:pPr marL="971550" lvl="1" indent="-514350">
              <a:spcBef>
                <a:spcPts val="600"/>
              </a:spcBef>
              <a:buAutoNum type="arabicPeriod"/>
            </a:pPr>
            <a:r>
              <a:rPr lang="en-US" altLang="ko-KR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Random Forest</a:t>
            </a:r>
            <a:endParaRPr lang="en-US" altLang="ko-KR" sz="2000" b="1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  <a:p>
            <a:pPr marL="514350" indent="-514350">
              <a:lnSpc>
                <a:spcPct val="150000"/>
              </a:lnSpc>
              <a:spcBef>
                <a:spcPts val="600"/>
              </a:spcBef>
              <a:buAutoNum type="arabicPeriod"/>
            </a:pPr>
            <a:r>
              <a:rPr lang="en-US" altLang="ko-KR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Unsupervised Learning</a:t>
            </a:r>
          </a:p>
          <a:p>
            <a:pPr marL="971550" lvl="1" indent="-514350">
              <a:spcBef>
                <a:spcPts val="600"/>
              </a:spcBef>
              <a:buAutoNum type="arabicPeriod"/>
            </a:pPr>
            <a:r>
              <a:rPr lang="en-US" altLang="ko-KR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Eigen</a:t>
            </a:r>
            <a:r>
              <a:rPr lang="ko-KR" altLang="en-US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 </a:t>
            </a:r>
            <a:r>
              <a:rPr lang="en-US" altLang="ko-KR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value</a:t>
            </a:r>
            <a:r>
              <a:rPr lang="ko-KR" altLang="en-US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 </a:t>
            </a:r>
            <a:r>
              <a:rPr lang="en-US" altLang="ko-KR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&amp;</a:t>
            </a:r>
            <a:r>
              <a:rPr lang="ko-KR" altLang="en-US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 </a:t>
            </a:r>
            <a:r>
              <a:rPr lang="en-US" altLang="ko-KR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vectors</a:t>
            </a:r>
          </a:p>
          <a:p>
            <a:pPr marL="971550" lvl="1" indent="-514350">
              <a:spcBef>
                <a:spcPts val="600"/>
              </a:spcBef>
              <a:buAutoNum type="arabicPeriod"/>
            </a:pPr>
            <a:r>
              <a:rPr lang="ko-KR" altLang="en-US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주성분 분석</a:t>
            </a:r>
            <a:r>
              <a:rPr lang="en-US" altLang="ko-KR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(Principal Component Analysis)</a:t>
            </a:r>
          </a:p>
          <a:p>
            <a:pPr marL="971550" lvl="1" indent="-514350">
              <a:spcBef>
                <a:spcPts val="600"/>
              </a:spcBef>
              <a:buAutoNum type="arabicPeriod"/>
            </a:pPr>
            <a:r>
              <a:rPr lang="en-US" altLang="ko-KR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SVD(Singular Value Decomposition) &amp; Topic Model</a:t>
            </a:r>
          </a:p>
          <a:p>
            <a:pPr marL="514350" indent="-514350">
              <a:lnSpc>
                <a:spcPct val="150000"/>
              </a:lnSpc>
              <a:spcBef>
                <a:spcPts val="600"/>
              </a:spcBef>
              <a:buAutoNum type="arabicPeriod"/>
            </a:pPr>
            <a:r>
              <a:rPr lang="en-US" altLang="ko-KR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Deep Learning</a:t>
            </a:r>
          </a:p>
          <a:p>
            <a:pPr marL="971550" lvl="1" indent="-514350">
              <a:spcBef>
                <a:spcPts val="600"/>
              </a:spcBef>
              <a:buAutoNum type="arabicPeriod"/>
            </a:pPr>
            <a:r>
              <a:rPr lang="en-US" altLang="ko-KR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Perceptron</a:t>
            </a:r>
          </a:p>
          <a:p>
            <a:pPr marL="971550" lvl="1" indent="-514350">
              <a:spcBef>
                <a:spcPts val="600"/>
              </a:spcBef>
              <a:buAutoNum type="arabicPeriod"/>
            </a:pPr>
            <a:r>
              <a:rPr lang="en-US" altLang="ko-KR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Deep Learning</a:t>
            </a:r>
          </a:p>
          <a:p>
            <a:pPr marL="971550" lvl="1" indent="-514350">
              <a:spcBef>
                <a:spcPts val="600"/>
              </a:spcBef>
              <a:buAutoNum type="arabicPeriod"/>
            </a:pPr>
            <a:r>
              <a:rPr lang="en-US" altLang="ko-KR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Convolution Transformation (Image)</a:t>
            </a:r>
            <a:endParaRPr lang="en-US" altLang="ko-KR" sz="2000" b="1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BC02FE-7274-0BF4-65CA-64C4510F99D6}"/>
              </a:ext>
            </a:extLst>
          </p:cNvPr>
          <p:cNvSpPr txBox="1"/>
          <p:nvPr/>
        </p:nvSpPr>
        <p:spPr>
          <a:xfrm>
            <a:off x="9116291" y="267784"/>
            <a:ext cx="260465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36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목차</a:t>
            </a:r>
            <a:endParaRPr lang="ko-KR" altLang="en-US" sz="36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7B3E9CA-BA8A-7F23-ACA5-8CB13BCD2B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6521" y="814022"/>
            <a:ext cx="6858957" cy="5229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0174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ko-KR"/>
              <a:t>Learning Objectives</a:t>
            </a:r>
            <a:endParaRPr lang="ko-KR" altLang="en-US" dirty="0"/>
          </a:p>
        </p:txBody>
      </p:sp>
      <p:sp>
        <p:nvSpPr>
          <p:cNvPr id="6" name="내용 개체 틀 5"/>
          <p:cNvSpPr>
            <a:spLocks noGrp="1"/>
          </p:cNvSpPr>
          <p:nvPr>
            <p:ph idx="1"/>
          </p:nvPr>
        </p:nvSpPr>
        <p:spPr>
          <a:xfrm>
            <a:off x="2584652" y="1435034"/>
            <a:ext cx="7432184" cy="3045525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dirty="0"/>
              <a:t>Preliminary concepts</a:t>
            </a:r>
          </a:p>
          <a:p>
            <a:pPr>
              <a:lnSpc>
                <a:spcPct val="150000"/>
              </a:lnSpc>
            </a:pPr>
            <a:r>
              <a:rPr lang="en-US" altLang="ko-KR" sz="2400" dirty="0"/>
              <a:t>Vectors</a:t>
            </a:r>
          </a:p>
          <a:p>
            <a:pPr>
              <a:lnSpc>
                <a:spcPct val="150000"/>
              </a:lnSpc>
            </a:pPr>
            <a:r>
              <a:rPr lang="en-US" altLang="ko-KR" sz="2400" dirty="0"/>
              <a:t>Matrices</a:t>
            </a:r>
          </a:p>
          <a:p>
            <a:pPr>
              <a:lnSpc>
                <a:spcPct val="150000"/>
              </a:lnSpc>
            </a:pPr>
            <a:r>
              <a:rPr lang="en-US" altLang="ko-KR" sz="2400" dirty="0"/>
              <a:t>Linear Mapping</a:t>
            </a:r>
          </a:p>
          <a:p>
            <a:pPr>
              <a:lnSpc>
                <a:spcPct val="150000"/>
              </a:lnSpc>
            </a:pPr>
            <a:r>
              <a:rPr lang="en-US" altLang="ko-KR" sz="2400" b="1" u="sng" dirty="0">
                <a:solidFill>
                  <a:srgbClr val="FFFF00"/>
                </a:solidFill>
              </a:rPr>
              <a:t>Norm (L1, L2)</a:t>
            </a:r>
          </a:p>
          <a:p>
            <a:pPr>
              <a:lnSpc>
                <a:spcPct val="150000"/>
              </a:lnSpc>
            </a:pPr>
            <a:r>
              <a:rPr lang="en-US" altLang="ko-KR" sz="2400" dirty="0" err="1"/>
              <a:t>Numpy</a:t>
            </a:r>
            <a:r>
              <a:rPr lang="en-US" altLang="ko-KR" sz="2400" dirty="0"/>
              <a:t> Applications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47071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Norm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4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내용 개체 틀 2">
                <a:extLst>
                  <a:ext uri="{FF2B5EF4-FFF2-40B4-BE49-F238E27FC236}">
                    <a16:creationId xmlns:a16="http://schemas.microsoft.com/office/drawing/2014/main" id="{AFFAD7FC-F84E-93DD-F728-48CF868322E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13795" y="957141"/>
                <a:ext cx="10729565" cy="5079119"/>
              </a:xfrm>
            </p:spPr>
            <p:txBody>
              <a:bodyPr>
                <a:normAutofit lnSpcReduction="10000"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altLang="ko-KR" sz="2200" dirty="0">
                    <a:effectLst/>
                  </a:rPr>
                  <a:t>The total length of all the vectors in a space (non-negative real numbers that behaves in certain ways like </a:t>
                </a:r>
                <a:r>
                  <a:rPr lang="en-US" altLang="ko-KR" sz="2200" b="1" dirty="0">
                    <a:effectLst/>
                  </a:rPr>
                  <a:t>the distance from the origin</a:t>
                </a:r>
                <a:r>
                  <a:rPr lang="en-US" altLang="ko-KR" sz="2200" dirty="0">
                    <a:effectLst/>
                  </a:rPr>
                  <a:t>)</a:t>
                </a:r>
              </a:p>
              <a:p>
                <a:pPr lvl="1"/>
                <a:r>
                  <a:rPr lang="en-US" altLang="ko-KR" sz="1900" dirty="0">
                    <a:effectLst/>
                  </a:rPr>
                  <a:t>The p-norm of vector x will be denoted as</a:t>
                </a:r>
              </a:p>
              <a:p>
                <a:pPr lvl="1"/>
                <a:endParaRPr lang="en-US" altLang="ko-KR" sz="1900" dirty="0">
                  <a:effectLst/>
                </a:endParaRPr>
              </a:p>
              <a:p>
                <a:pPr lvl="1"/>
                <a:endParaRPr lang="en-US" altLang="ko-KR" sz="1900" dirty="0">
                  <a:effectLst/>
                </a:endParaRPr>
              </a:p>
              <a:p>
                <a:pPr lvl="1"/>
                <a:endParaRPr lang="en-US" altLang="ko-KR" sz="1900" dirty="0">
                  <a:effectLst/>
                </a:endParaRPr>
              </a:p>
              <a:p>
                <a:pPr lvl="1"/>
                <a:endParaRPr lang="en-US" altLang="ko-KR" sz="1900" dirty="0">
                  <a:effectLst/>
                </a:endParaRP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900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altLang="ko-KR" sz="1900" i="1" smtClean="0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900" b="0" i="1" smtClean="0">
                                <a:effectLst/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d>
                      </m:e>
                      <m:sub>
                        <m:r>
                          <a:rPr lang="en-US" altLang="ko-KR" sz="1900" b="0" i="1" smtClean="0">
                            <a:effectLst/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ko-KR" sz="1900" dirty="0">
                    <a:effectLst/>
                  </a:rPr>
                  <a:t> (L1 norm)                                                 </a:t>
                </a:r>
              </a:p>
              <a:p>
                <a:pPr lvl="2"/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ko-KR" sz="1600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sz="1600" b="0" i="1" smtClean="0">
                            <a:effectLst/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</m:oMath>
                </a14:m>
                <a:r>
                  <a:rPr lang="en-US" altLang="ko-KR" sz="1600" i="1" dirty="0">
                    <a:effectLst/>
                    <a:latin typeface="Cambria Math" panose="02040503050406030204" pitchFamily="18" charset="0"/>
                  </a:rPr>
                  <a:t> </a:t>
                </a:r>
                <a:r>
                  <a:rPr lang="en-US" altLang="ko-KR" sz="1600" dirty="0">
                    <a:effectLst/>
                    <a:latin typeface="Cambria Math" panose="02040503050406030204" pitchFamily="18" charset="0"/>
                  </a:rPr>
                  <a:t>= [2,3],     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altLang="ko-KR" sz="1600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600" i="1">
                                <a:effectLst/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d>
                      </m:e>
                      <m:sub>
                        <m:r>
                          <a:rPr lang="en-US" altLang="ko-KR" sz="1600" i="1">
                            <a:effectLst/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600" b="0" i="1" smtClean="0">
                        <a:effectLst/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ko-KR" sz="1600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b="0" i="1" smtClean="0">
                            <a:effectLst/>
                            <a:latin typeface="Cambria Math" panose="02040503050406030204" pitchFamily="18" charset="0"/>
                          </a:rPr>
                          <m:t>(2+3)</m:t>
                        </m:r>
                      </m:e>
                      <m:sup>
                        <m:r>
                          <a:rPr lang="en-US" altLang="ko-KR" sz="1600" b="0" i="1" smtClean="0">
                            <a:effectLst/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en-US" altLang="ko-KR" sz="1600" dirty="0">
                    <a:effectLst/>
                    <a:latin typeface="Cambria Math" panose="02040503050406030204" pitchFamily="18" charset="0"/>
                  </a:rPr>
                  <a:t> = 5 </a:t>
                </a:r>
              </a:p>
              <a:p>
                <a:pPr lvl="1"/>
                <a:endParaRPr lang="en-US" altLang="ko-KR" sz="1900" i="1" dirty="0">
                  <a:effectLst/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90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altLang="ko-KR" sz="1900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900" i="1">
                                <a:effectLst/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d>
                      </m:e>
                      <m:sub>
                        <m:r>
                          <a:rPr lang="en-US" altLang="ko-KR" sz="1900" b="0" i="1" smtClean="0">
                            <a:effectLst/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ko-KR" sz="1900" dirty="0">
                    <a:effectLst/>
                  </a:rPr>
                  <a:t> (L2 norm)</a:t>
                </a:r>
              </a:p>
              <a:p>
                <a:pPr lvl="2"/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ko-KR" sz="1600" i="1">
                            <a:effectLst/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sz="1600" i="1">
                            <a:effectLst/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</m:oMath>
                </a14:m>
                <a:r>
                  <a:rPr lang="en-US" altLang="ko-KR" sz="1600" i="1" dirty="0">
                    <a:effectLst/>
                    <a:latin typeface="Cambria Math" panose="02040503050406030204" pitchFamily="18" charset="0"/>
                  </a:rPr>
                  <a:t> </a:t>
                </a:r>
                <a:r>
                  <a:rPr lang="en-US" altLang="ko-KR" sz="1600" dirty="0">
                    <a:effectLst/>
                    <a:latin typeface="Cambria Math" panose="02040503050406030204" pitchFamily="18" charset="0"/>
                  </a:rPr>
                  <a:t>= [2,3],     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altLang="ko-KR" sz="1600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600" i="1">
                                <a:effectLst/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d>
                      </m:e>
                      <m:sub>
                        <m:r>
                          <a:rPr lang="en-US" altLang="ko-KR" sz="1600" b="0" i="1" smtClean="0">
                            <a:effectLst/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sz="1600" i="1">
                        <a:effectLst/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ko-KR" sz="1600" i="1"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i="1">
                            <a:effectLst/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altLang="ko-KR" sz="1600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600" i="1">
                                <a:effectLst/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altLang="ko-KR" sz="1600" b="0" i="1" smtClean="0">
                                <a:effectLst/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ko-KR" sz="1600" i="1">
                            <a:effectLst/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sz="1600" b="0" i="1" smtClean="0">
                            <a:effectLst/>
                            <a:latin typeface="Cambria Math" panose="02040503050406030204" pitchFamily="18" charset="0"/>
                          </a:rPr>
                          <m:t> </m:t>
                        </m:r>
                        <m:sSup>
                          <m:sSupPr>
                            <m:ctrlPr>
                              <a:rPr lang="en-US" altLang="ko-KR" sz="1600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600" b="0" i="1" smtClean="0">
                                <a:effectLst/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sup>
                            <m:r>
                              <a:rPr lang="en-US" altLang="ko-KR" sz="1600" i="1">
                                <a:effectLst/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ko-KR" sz="1600" i="1">
                            <a:effectLst/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ko-KR" sz="1600" b="0" i="1" smtClean="0">
                            <a:effectLst/>
                            <a:latin typeface="Cambria Math" panose="02040503050406030204" pitchFamily="18" charset="0"/>
                          </a:rPr>
                          <m:t> </m:t>
                        </m:r>
                        <m:f>
                          <m:fPr>
                            <m:ctrlPr>
                              <a:rPr lang="en-US" altLang="ko-KR" sz="1600" i="1" smtClean="0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sz="1600" b="0" i="1" smtClean="0">
                                <a:effectLst/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ko-KR" sz="1600" b="0" i="1" smtClean="0">
                                <a:effectLst/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</m:oMath>
                </a14:m>
                <a:r>
                  <a:rPr lang="en-US" altLang="ko-KR" sz="1600" dirty="0">
                    <a:effectLst/>
                    <a:latin typeface="Cambria Math" panose="02040503050406030204" pitchFamily="18" charset="0"/>
                  </a:rPr>
                  <a:t>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i="1">
                            <a:effectLst/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sz="1600" b="0" i="1" smtClean="0">
                            <a:effectLst/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US" altLang="ko-KR" sz="1600" i="1">
                            <a:effectLst/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sz="1600" b="0" i="1" smtClean="0">
                            <a:effectLst/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a:rPr lang="en-US" altLang="ko-KR" sz="1600" i="1">
                            <a:effectLst/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f>
                          <m:fPr>
                            <m:ctrlPr>
                              <a:rPr lang="en-US" altLang="ko-KR" sz="1600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sz="1600" i="1">
                                <a:effectLst/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ko-KR" sz="1600" i="1">
                                <a:effectLst/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</m:oMath>
                </a14:m>
                <a:r>
                  <a:rPr lang="en-US" altLang="ko-KR" sz="1600" dirty="0">
                    <a:effectLst/>
                    <a:latin typeface="Cambria Math" panose="02040503050406030204" pitchFamily="18" charset="0"/>
                  </a:rPr>
                  <a:t> = </a:t>
                </a:r>
                <a14:m>
                  <m:oMath xmlns:m="http://schemas.openxmlformats.org/officeDocument/2006/math">
                    <m:rad>
                      <m:radPr>
                        <m:ctrlPr>
                          <a:rPr lang="en-US" altLang="ko-KR" sz="1600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radPr>
                      <m:deg>
                        <m:r>
                          <m:rPr>
                            <m:brk m:alnAt="7"/>
                          </m:rPr>
                          <a:rPr lang="en-US" altLang="ko-KR" sz="1600" b="0" i="1" smtClean="0">
                            <a:effectLst/>
                            <a:latin typeface="Cambria Math" panose="02040503050406030204" pitchFamily="18" charset="0"/>
                          </a:rPr>
                          <m:t>2</m:t>
                        </m:r>
                      </m:deg>
                      <m:e>
                        <m:r>
                          <a:rPr lang="en-US" altLang="ko-KR" sz="1600" b="0" i="1" smtClean="0">
                            <a:effectLst/>
                            <a:latin typeface="Cambria Math" panose="02040503050406030204" pitchFamily="18" charset="0"/>
                          </a:rPr>
                          <m:t> 13</m:t>
                        </m:r>
                      </m:e>
                    </m:rad>
                  </m:oMath>
                </a14:m>
                <a:endParaRPr lang="en-US" altLang="ko-KR" sz="1900" dirty="0">
                  <a:effectLst/>
                </a:endParaRPr>
              </a:p>
            </p:txBody>
          </p:sp>
        </mc:Choice>
        <mc:Fallback xmlns="">
          <p:sp>
            <p:nvSpPr>
              <p:cNvPr id="6" name="내용 개체 틀 2">
                <a:extLst>
                  <a:ext uri="{FF2B5EF4-FFF2-40B4-BE49-F238E27FC236}">
                    <a16:creationId xmlns:a16="http://schemas.microsoft.com/office/drawing/2014/main" id="{AFFAD7FC-F84E-93DD-F728-48CF868322E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13795" y="957141"/>
                <a:ext cx="10729565" cy="5079119"/>
              </a:xfrm>
              <a:blipFill>
                <a:blip r:embed="rId2"/>
                <a:stretch>
                  <a:fillRect l="-682" t="-144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1" name="그룹 20">
            <a:extLst>
              <a:ext uri="{FF2B5EF4-FFF2-40B4-BE49-F238E27FC236}">
                <a16:creationId xmlns:a16="http://schemas.microsoft.com/office/drawing/2014/main" id="{F9834FF0-8FBA-1350-9F1E-D0CB8F426314}"/>
              </a:ext>
            </a:extLst>
          </p:cNvPr>
          <p:cNvGrpSpPr/>
          <p:nvPr/>
        </p:nvGrpSpPr>
        <p:grpSpPr>
          <a:xfrm>
            <a:off x="3036917" y="2472318"/>
            <a:ext cx="5249072" cy="730816"/>
            <a:chOff x="2230094" y="2605995"/>
            <a:chExt cx="7498730" cy="1044030"/>
          </a:xfrm>
        </p:grpSpPr>
        <p:pic>
          <p:nvPicPr>
            <p:cNvPr id="15" name="그림 14">
              <a:extLst>
                <a:ext uri="{FF2B5EF4-FFF2-40B4-BE49-F238E27FC236}">
                  <a16:creationId xmlns:a16="http://schemas.microsoft.com/office/drawing/2014/main" id="{F05F55E0-B70A-ADCF-C43A-DCB0EB37C1D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230094" y="2605995"/>
              <a:ext cx="7498730" cy="1036410"/>
            </a:xfrm>
            <a:prstGeom prst="rect">
              <a:avLst/>
            </a:prstGeom>
          </p:spPr>
        </p:pic>
        <p:pic>
          <p:nvPicPr>
            <p:cNvPr id="20" name="그림 19">
              <a:extLst>
                <a:ext uri="{FF2B5EF4-FFF2-40B4-BE49-F238E27FC236}">
                  <a16:creationId xmlns:a16="http://schemas.microsoft.com/office/drawing/2014/main" id="{BD8DBB4C-8447-148B-1A2C-41CFBB8F81F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739832" y="2605995"/>
              <a:ext cx="1988992" cy="104403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1972368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1-Norm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5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내용 개체 틀 2">
                <a:extLst>
                  <a:ext uri="{FF2B5EF4-FFF2-40B4-BE49-F238E27FC236}">
                    <a16:creationId xmlns:a16="http://schemas.microsoft.com/office/drawing/2014/main" id="{AFFAD7FC-F84E-93DD-F728-48CF868322E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13794" y="1127464"/>
                <a:ext cx="10729565" cy="1768136"/>
              </a:xfrm>
            </p:spPr>
            <p:txBody>
              <a:bodyPr>
                <a:normAutofit/>
              </a:bodyPr>
              <a:lstStyle/>
              <a:p>
                <a:r>
                  <a:rPr lang="en-US" altLang="ko-KR" sz="2200" dirty="0">
                    <a:effectLst/>
                  </a:rPr>
                  <a:t>L1 Norm (</a:t>
                </a:r>
                <a:r>
                  <a:rPr lang="en-US" altLang="ko-KR" sz="2200" dirty="0" err="1">
                    <a:effectLst/>
                  </a:rPr>
                  <a:t>Mahattan</a:t>
                </a:r>
                <a:r>
                  <a:rPr lang="en-US" altLang="ko-KR" sz="2200" dirty="0">
                    <a:effectLst/>
                  </a:rPr>
                  <a:t> Distance, Taxicab geometry)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900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altLang="ko-KR" sz="1900" i="1" smtClean="0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900" b="0" i="1" smtClean="0">
                                <a:effectLst/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d>
                      </m:e>
                      <m:sub>
                        <m:r>
                          <a:rPr lang="en-US" altLang="ko-KR" sz="1900" b="0" i="1" smtClean="0">
                            <a:effectLst/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ko-KR" sz="1900" dirty="0">
                    <a:effectLst/>
                  </a:rPr>
                  <a:t> (L1 norm)                                                 </a:t>
                </a:r>
              </a:p>
              <a:p>
                <a:pPr lvl="2"/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ko-KR" sz="1600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sz="1600" b="0" i="1" smtClean="0">
                            <a:effectLst/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</m:oMath>
                </a14:m>
                <a:r>
                  <a:rPr lang="en-US" altLang="ko-KR" sz="1600" i="1" dirty="0">
                    <a:effectLst/>
                    <a:latin typeface="Cambria Math" panose="02040503050406030204" pitchFamily="18" charset="0"/>
                  </a:rPr>
                  <a:t> </a:t>
                </a:r>
                <a:r>
                  <a:rPr lang="en-US" altLang="ko-KR" sz="1600" dirty="0">
                    <a:effectLst/>
                    <a:latin typeface="Cambria Math" panose="02040503050406030204" pitchFamily="18" charset="0"/>
                  </a:rPr>
                  <a:t>= [2,3],     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altLang="ko-KR" sz="1600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600" i="1">
                                <a:effectLst/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d>
                      </m:e>
                      <m:sub>
                        <m:r>
                          <a:rPr lang="en-US" altLang="ko-KR" sz="1600" i="1">
                            <a:effectLst/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600" b="0" i="1" smtClean="0">
                        <a:effectLst/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ko-KR" sz="1600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b="0" i="1" smtClean="0">
                            <a:effectLst/>
                            <a:latin typeface="Cambria Math" panose="02040503050406030204" pitchFamily="18" charset="0"/>
                          </a:rPr>
                          <m:t>(2+3)</m:t>
                        </m:r>
                      </m:e>
                      <m:sup>
                        <m:r>
                          <a:rPr lang="en-US" altLang="ko-KR" sz="1600" b="0" i="1" smtClean="0">
                            <a:effectLst/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en-US" altLang="ko-KR" sz="1600" dirty="0">
                    <a:effectLst/>
                    <a:latin typeface="Cambria Math" panose="02040503050406030204" pitchFamily="18" charset="0"/>
                  </a:rPr>
                  <a:t> = 5 </a:t>
                </a:r>
                <a:endParaRPr lang="en-US" altLang="ko-KR" sz="2200" dirty="0">
                  <a:effectLst/>
                </a:endParaRPr>
              </a:p>
              <a:p>
                <a:endParaRPr lang="en-US" altLang="ko-KR" sz="2200" dirty="0">
                  <a:effectLst/>
                </a:endParaRPr>
              </a:p>
            </p:txBody>
          </p:sp>
        </mc:Choice>
        <mc:Fallback xmlns="">
          <p:sp>
            <p:nvSpPr>
              <p:cNvPr id="6" name="내용 개체 틀 2">
                <a:extLst>
                  <a:ext uri="{FF2B5EF4-FFF2-40B4-BE49-F238E27FC236}">
                    <a16:creationId xmlns:a16="http://schemas.microsoft.com/office/drawing/2014/main" id="{AFFAD7FC-F84E-93DD-F728-48CF868322E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13794" y="1127464"/>
                <a:ext cx="10729565" cy="1768136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그림 9">
            <a:extLst>
              <a:ext uri="{FF2B5EF4-FFF2-40B4-BE49-F238E27FC236}">
                <a16:creationId xmlns:a16="http://schemas.microsoft.com/office/drawing/2014/main" id="{F3C4AE5B-40B1-4939-A882-6AFA8B8F96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6255" y="2895600"/>
            <a:ext cx="3132091" cy="2781541"/>
          </a:xfrm>
          <a:prstGeom prst="rect">
            <a:avLst/>
          </a:prstGeom>
        </p:spPr>
      </p:pic>
      <p:sp>
        <p:nvSpPr>
          <p:cNvPr id="3" name="내용 개체 틀 8">
            <a:extLst>
              <a:ext uri="{FF2B5EF4-FFF2-40B4-BE49-F238E27FC236}">
                <a16:creationId xmlns:a16="http://schemas.microsoft.com/office/drawing/2014/main" id="{B2217166-AD4E-864D-9D87-F525F7C4BEBC}"/>
              </a:ext>
            </a:extLst>
          </p:cNvPr>
          <p:cNvSpPr txBox="1">
            <a:spLocks/>
          </p:cNvSpPr>
          <p:nvPr/>
        </p:nvSpPr>
        <p:spPr>
          <a:xfrm>
            <a:off x="7297271" y="2079813"/>
            <a:ext cx="4643718" cy="4132728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 lnSpcReduction="10000"/>
          </a:bodyPr>
          <a:lstStyle>
            <a:lvl1pPr marL="342900" indent="-306000" algn="l" defTabSz="457200" rtl="0" eaLnBrk="1" latinLnBrk="1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3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Batang" panose="02030600000101010101" pitchFamily="18" charset="-127"/>
                <a:ea typeface="Batang" panose="02030600000101010101" pitchFamily="18" charset="-127"/>
                <a:cs typeface="+mn-cs"/>
              </a:defRPr>
            </a:lvl1pPr>
            <a:lvl2pPr marL="720000" indent="-2700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Batang" panose="02030600000101010101" pitchFamily="18" charset="-127"/>
                <a:ea typeface="Batang" panose="02030600000101010101" pitchFamily="18" charset="-127"/>
                <a:cs typeface="+mn-cs"/>
              </a:defRPr>
            </a:lvl2pPr>
            <a:lvl3pPr marL="1026000" indent="-2160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Batang" panose="02030600000101010101" pitchFamily="18" charset="-127"/>
                <a:ea typeface="Batang" panose="02030600000101010101" pitchFamily="18" charset="-127"/>
                <a:cs typeface="+mn-cs"/>
              </a:defRPr>
            </a:lvl3pPr>
            <a:lvl4pPr marL="1386000" indent="-2160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Batang" panose="02030600000101010101" pitchFamily="18" charset="-127"/>
                <a:ea typeface="Batang" panose="02030600000101010101" pitchFamily="18" charset="-127"/>
                <a:cs typeface="+mn-cs"/>
              </a:defRPr>
            </a:lvl4pPr>
            <a:lvl5pPr marL="1674000" indent="-2160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Batang" panose="02030600000101010101" pitchFamily="18" charset="-127"/>
                <a:ea typeface="Batang" panose="02030600000101010101" pitchFamily="18" charset="-127"/>
                <a:cs typeface="+mn-cs"/>
              </a:defRPr>
            </a:lvl5pPr>
            <a:lvl6pPr marL="2014600" indent="-2286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36900" indent="0">
              <a:buNone/>
            </a:pPr>
            <a:r>
              <a:rPr lang="en-US" altLang="ko-KR" sz="1400" dirty="0">
                <a:solidFill>
                  <a:schemeClr val="tx1"/>
                </a:solidFill>
                <a:effectLst/>
              </a:rPr>
              <a:t># python code</a:t>
            </a:r>
          </a:p>
          <a:p>
            <a:pPr marL="36900" indent="0">
              <a:buNone/>
            </a:pPr>
            <a:r>
              <a:rPr lang="en-US" altLang="ko-KR" sz="1400" dirty="0">
                <a:solidFill>
                  <a:schemeClr val="tx1"/>
                </a:solidFill>
                <a:effectLst/>
              </a:rPr>
              <a:t>import </a:t>
            </a:r>
            <a:r>
              <a:rPr lang="en-US" altLang="ko-KR" sz="1400" dirty="0" err="1">
                <a:solidFill>
                  <a:schemeClr val="tx1"/>
                </a:solidFill>
                <a:effectLst/>
              </a:rPr>
              <a:t>numpy</a:t>
            </a:r>
            <a:r>
              <a:rPr lang="en-US" altLang="ko-KR" sz="1400" dirty="0">
                <a:solidFill>
                  <a:schemeClr val="tx1"/>
                </a:solidFill>
                <a:effectLst/>
              </a:rPr>
              <a:t> as np</a:t>
            </a:r>
          </a:p>
          <a:p>
            <a:pPr marL="36900" indent="0">
              <a:buNone/>
            </a:pPr>
            <a:endParaRPr lang="en-US" altLang="ko-KR" sz="1400" dirty="0">
              <a:solidFill>
                <a:schemeClr val="tx1"/>
              </a:solidFill>
              <a:effectLst/>
            </a:endParaRPr>
          </a:p>
          <a:p>
            <a:pPr marL="36900" indent="0">
              <a:buNone/>
            </a:pPr>
            <a:r>
              <a:rPr lang="en-US" altLang="ko-KR" sz="1400" dirty="0">
                <a:solidFill>
                  <a:schemeClr val="tx1"/>
                </a:solidFill>
                <a:effectLst/>
              </a:rPr>
              <a:t>x = </a:t>
            </a:r>
            <a:r>
              <a:rPr lang="en-US" altLang="ko-KR" sz="1400" dirty="0" err="1">
                <a:solidFill>
                  <a:schemeClr val="tx1"/>
                </a:solidFill>
                <a:effectLst/>
              </a:rPr>
              <a:t>np.array</a:t>
            </a:r>
            <a:r>
              <a:rPr lang="en-US" altLang="ko-KR" sz="1400" dirty="0">
                <a:solidFill>
                  <a:schemeClr val="tx1"/>
                </a:solidFill>
                <a:effectLst/>
              </a:rPr>
              <a:t>([2, 3])</a:t>
            </a:r>
          </a:p>
          <a:p>
            <a:pPr marL="36900" indent="0">
              <a:buNone/>
            </a:pPr>
            <a:r>
              <a:rPr lang="en-US" altLang="ko-KR" sz="1400" dirty="0">
                <a:solidFill>
                  <a:schemeClr val="tx1"/>
                </a:solidFill>
                <a:effectLst/>
              </a:rPr>
              <a:t>norm_l1 = </a:t>
            </a:r>
            <a:r>
              <a:rPr lang="en-US" altLang="ko-KR" sz="1400" dirty="0" err="1">
                <a:solidFill>
                  <a:schemeClr val="tx1"/>
                </a:solidFill>
                <a:effectLst/>
              </a:rPr>
              <a:t>np.linalg.norm</a:t>
            </a:r>
            <a:r>
              <a:rPr lang="en-US" altLang="ko-KR" sz="1400" dirty="0">
                <a:solidFill>
                  <a:schemeClr val="tx1"/>
                </a:solidFill>
                <a:effectLst/>
              </a:rPr>
              <a:t>(x, </a:t>
            </a:r>
            <a:r>
              <a:rPr lang="en-US" altLang="ko-KR" sz="1400" dirty="0" err="1">
                <a:solidFill>
                  <a:schemeClr val="tx1"/>
                </a:solidFill>
                <a:effectLst/>
              </a:rPr>
              <a:t>ord</a:t>
            </a:r>
            <a:r>
              <a:rPr lang="en-US" altLang="ko-KR" sz="1400" dirty="0">
                <a:solidFill>
                  <a:schemeClr val="tx1"/>
                </a:solidFill>
                <a:effectLst/>
              </a:rPr>
              <a:t>=1)  # L1 norm</a:t>
            </a:r>
          </a:p>
          <a:p>
            <a:pPr marL="36900" indent="0">
              <a:buNone/>
            </a:pPr>
            <a:r>
              <a:rPr lang="en-US" altLang="ko-KR" sz="1400" dirty="0">
                <a:solidFill>
                  <a:schemeClr val="tx1"/>
                </a:solidFill>
                <a:effectLst/>
              </a:rPr>
              <a:t>norm_l1</a:t>
            </a:r>
          </a:p>
          <a:p>
            <a:pPr marL="36900" indent="0">
              <a:buNone/>
            </a:pPr>
            <a:r>
              <a:rPr lang="en-US" altLang="ko-KR" sz="1400" dirty="0">
                <a:solidFill>
                  <a:schemeClr val="tx1"/>
                </a:solidFill>
                <a:effectLst/>
              </a:rPr>
              <a:t># 5.0</a:t>
            </a:r>
          </a:p>
          <a:p>
            <a:pPr marL="36900" indent="0">
              <a:buNone/>
            </a:pPr>
            <a:endParaRPr lang="en-US" altLang="ko-KR" sz="1400" dirty="0">
              <a:solidFill>
                <a:schemeClr val="tx1"/>
              </a:solidFill>
              <a:effectLst/>
            </a:endParaRPr>
          </a:p>
          <a:p>
            <a:pPr marL="36900" indent="0">
              <a:buNone/>
            </a:pPr>
            <a:r>
              <a:rPr lang="en-US" altLang="ko-KR" sz="1400" dirty="0">
                <a:solidFill>
                  <a:schemeClr val="tx1"/>
                </a:solidFill>
                <a:effectLst/>
              </a:rPr>
              <a:t>x/norm_l1           # scaled by 1-norm</a:t>
            </a:r>
          </a:p>
          <a:p>
            <a:pPr marL="36900" indent="0">
              <a:buNone/>
            </a:pPr>
            <a:r>
              <a:rPr lang="en-US" altLang="ko-KR" sz="1400" dirty="0" err="1">
                <a:solidFill>
                  <a:schemeClr val="tx1"/>
                </a:solidFill>
                <a:effectLst/>
              </a:rPr>
              <a:t>np.square</a:t>
            </a:r>
            <a:r>
              <a:rPr lang="en-US" altLang="ko-KR" sz="1400" dirty="0">
                <a:solidFill>
                  <a:schemeClr val="tx1"/>
                </a:solidFill>
                <a:effectLst/>
              </a:rPr>
              <a:t>(x/norm_l1)</a:t>
            </a:r>
          </a:p>
          <a:p>
            <a:pPr marL="36900" indent="0">
              <a:buNone/>
            </a:pPr>
            <a:r>
              <a:rPr lang="en-US" altLang="ko-KR" sz="1400" dirty="0" err="1">
                <a:solidFill>
                  <a:schemeClr val="tx1"/>
                </a:solidFill>
                <a:effectLst/>
              </a:rPr>
              <a:t>np.sum</a:t>
            </a:r>
            <a:r>
              <a:rPr lang="en-US" altLang="ko-KR" sz="1400" dirty="0">
                <a:solidFill>
                  <a:schemeClr val="tx1"/>
                </a:solidFill>
                <a:effectLst/>
              </a:rPr>
              <a:t>(x/norm_l1)</a:t>
            </a:r>
          </a:p>
          <a:p>
            <a:pPr marL="36900" indent="0">
              <a:buNone/>
            </a:pPr>
            <a:r>
              <a:rPr lang="en-US" altLang="ko-KR" sz="1400" dirty="0">
                <a:solidFill>
                  <a:schemeClr val="tx1"/>
                </a:solidFill>
                <a:effectLst/>
              </a:rPr>
              <a:t># 1</a:t>
            </a:r>
          </a:p>
          <a:p>
            <a:pPr marL="36900" indent="0">
              <a:buNone/>
            </a:pPr>
            <a:endParaRPr lang="en-US" altLang="ko-KR" sz="1400" dirty="0"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6444060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2-Norm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6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내용 개체 틀 2">
                <a:extLst>
                  <a:ext uri="{FF2B5EF4-FFF2-40B4-BE49-F238E27FC236}">
                    <a16:creationId xmlns:a16="http://schemas.microsoft.com/office/drawing/2014/main" id="{AFFAD7FC-F84E-93DD-F728-48CF868322E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13794" y="1127464"/>
                <a:ext cx="10729565" cy="1768136"/>
              </a:xfrm>
            </p:spPr>
            <p:txBody>
              <a:bodyPr>
                <a:normAutofit/>
              </a:bodyPr>
              <a:lstStyle/>
              <a:p>
                <a:pPr algn="l"/>
                <a:r>
                  <a:rPr lang="en-US" altLang="ko-KR" sz="2200" dirty="0">
                    <a:effectLst/>
                  </a:rPr>
                  <a:t>L2 Norm(Euclidean Distance)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90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altLang="ko-KR" sz="1900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900" i="1">
                                <a:effectLst/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d>
                      </m:e>
                      <m:sub>
                        <m:r>
                          <a:rPr lang="en-US" altLang="ko-KR" sz="1900" i="1">
                            <a:effectLst/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ko-KR" sz="1900" dirty="0">
                    <a:effectLst/>
                  </a:rPr>
                  <a:t> (L2 norm)</a:t>
                </a:r>
              </a:p>
              <a:p>
                <a:pPr lvl="2"/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ko-KR" sz="1600" i="1">
                            <a:effectLst/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sz="1600" i="1">
                            <a:effectLst/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</m:oMath>
                </a14:m>
                <a:r>
                  <a:rPr lang="en-US" altLang="ko-KR" sz="1600" i="1" dirty="0">
                    <a:effectLst/>
                    <a:latin typeface="Cambria Math" panose="02040503050406030204" pitchFamily="18" charset="0"/>
                  </a:rPr>
                  <a:t> </a:t>
                </a:r>
                <a:r>
                  <a:rPr lang="en-US" altLang="ko-KR" sz="1600" dirty="0">
                    <a:effectLst/>
                    <a:latin typeface="Cambria Math" panose="02040503050406030204" pitchFamily="18" charset="0"/>
                  </a:rPr>
                  <a:t>= [2,3],     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altLang="ko-KR" sz="1600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600" i="1">
                                <a:effectLst/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d>
                      </m:e>
                      <m:sub>
                        <m:r>
                          <a:rPr lang="en-US" altLang="ko-KR" sz="1600" i="1">
                            <a:effectLst/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sz="1600" i="1">
                        <a:effectLst/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ko-KR" sz="1600" i="1"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i="1">
                            <a:effectLst/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altLang="ko-KR" sz="1600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600" i="1">
                                <a:effectLst/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altLang="ko-KR" sz="1600" i="1">
                                <a:effectLst/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ko-KR" sz="1600" i="1">
                            <a:effectLst/>
                            <a:latin typeface="Cambria Math" panose="02040503050406030204" pitchFamily="18" charset="0"/>
                          </a:rPr>
                          <m:t>+ </m:t>
                        </m:r>
                        <m:sSup>
                          <m:sSupPr>
                            <m:ctrlPr>
                              <a:rPr lang="en-US" altLang="ko-KR" sz="1600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600" i="1">
                                <a:effectLst/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sup>
                            <m:r>
                              <a:rPr lang="en-US" altLang="ko-KR" sz="1600" i="1">
                                <a:effectLst/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ko-KR" sz="1600" i="1">
                            <a:effectLst/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ko-KR" sz="1600" i="1">
                            <a:effectLst/>
                            <a:latin typeface="Cambria Math" panose="02040503050406030204" pitchFamily="18" charset="0"/>
                          </a:rPr>
                          <m:t> </m:t>
                        </m:r>
                        <m:f>
                          <m:fPr>
                            <m:ctrlPr>
                              <a:rPr lang="en-US" altLang="ko-KR" sz="1600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sz="1600" i="1">
                                <a:effectLst/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ko-KR" sz="1600" i="1">
                                <a:effectLst/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</m:oMath>
                </a14:m>
                <a:r>
                  <a:rPr lang="en-US" altLang="ko-KR" sz="1600" dirty="0">
                    <a:effectLst/>
                    <a:latin typeface="Cambria Math" panose="02040503050406030204" pitchFamily="18" charset="0"/>
                  </a:rPr>
                  <a:t>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i="1">
                            <a:effectLst/>
                            <a:latin typeface="Cambria Math" panose="02040503050406030204" pitchFamily="18" charset="0"/>
                          </a:rPr>
                          <m:t>(4+9)</m:t>
                        </m:r>
                      </m:e>
                      <m:sup>
                        <m:f>
                          <m:fPr>
                            <m:ctrlPr>
                              <a:rPr lang="en-US" altLang="ko-KR" sz="1600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sz="1600" i="1">
                                <a:effectLst/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ko-KR" sz="1600" i="1">
                                <a:effectLst/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</m:oMath>
                </a14:m>
                <a:r>
                  <a:rPr lang="en-US" altLang="ko-KR" sz="1600" dirty="0">
                    <a:effectLst/>
                    <a:latin typeface="Cambria Math" panose="02040503050406030204" pitchFamily="18" charset="0"/>
                  </a:rPr>
                  <a:t> = </a:t>
                </a:r>
                <a14:m>
                  <m:oMath xmlns:m="http://schemas.openxmlformats.org/officeDocument/2006/math">
                    <m:rad>
                      <m:radPr>
                        <m:ctrlPr>
                          <a:rPr lang="en-US" altLang="ko-KR" sz="1600" i="1">
                            <a:effectLst/>
                            <a:latin typeface="Cambria Math" panose="02040503050406030204" pitchFamily="18" charset="0"/>
                          </a:rPr>
                        </m:ctrlPr>
                      </m:radPr>
                      <m:deg>
                        <m:r>
                          <m:rPr>
                            <m:brk m:alnAt="7"/>
                          </m:rPr>
                          <a:rPr lang="en-US" altLang="ko-KR" sz="1600" i="1">
                            <a:effectLst/>
                            <a:latin typeface="Cambria Math" panose="02040503050406030204" pitchFamily="18" charset="0"/>
                          </a:rPr>
                          <m:t>2</m:t>
                        </m:r>
                      </m:deg>
                      <m:e>
                        <m:r>
                          <a:rPr lang="en-US" altLang="ko-KR" sz="1600" i="1">
                            <a:effectLst/>
                            <a:latin typeface="Cambria Math" panose="02040503050406030204" pitchFamily="18" charset="0"/>
                          </a:rPr>
                          <m:t> 13</m:t>
                        </m:r>
                      </m:e>
                    </m:rad>
                  </m:oMath>
                </a14:m>
                <a:endParaRPr lang="en-US" altLang="ko-KR" sz="1900" dirty="0">
                  <a:effectLst/>
                </a:endParaRPr>
              </a:p>
            </p:txBody>
          </p:sp>
        </mc:Choice>
        <mc:Fallback xmlns="">
          <p:sp>
            <p:nvSpPr>
              <p:cNvPr id="6" name="내용 개체 틀 2">
                <a:extLst>
                  <a:ext uri="{FF2B5EF4-FFF2-40B4-BE49-F238E27FC236}">
                    <a16:creationId xmlns:a16="http://schemas.microsoft.com/office/drawing/2014/main" id="{AFFAD7FC-F84E-93DD-F728-48CF868322E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13794" y="1127464"/>
                <a:ext cx="10729565" cy="1768136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내용 개체 틀 8">
            <a:extLst>
              <a:ext uri="{FF2B5EF4-FFF2-40B4-BE49-F238E27FC236}">
                <a16:creationId xmlns:a16="http://schemas.microsoft.com/office/drawing/2014/main" id="{B2217166-AD4E-864D-9D87-F525F7C4BEBC}"/>
              </a:ext>
            </a:extLst>
          </p:cNvPr>
          <p:cNvSpPr txBox="1">
            <a:spLocks/>
          </p:cNvSpPr>
          <p:nvPr/>
        </p:nvSpPr>
        <p:spPr>
          <a:xfrm>
            <a:off x="7297271" y="2895600"/>
            <a:ext cx="4643718" cy="3505786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342900" indent="-306000" algn="l" defTabSz="457200" rtl="0" eaLnBrk="1" latinLnBrk="1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3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Batang" panose="02030600000101010101" pitchFamily="18" charset="-127"/>
                <a:ea typeface="Batang" panose="02030600000101010101" pitchFamily="18" charset="-127"/>
                <a:cs typeface="+mn-cs"/>
              </a:defRPr>
            </a:lvl1pPr>
            <a:lvl2pPr marL="720000" indent="-2700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Batang" panose="02030600000101010101" pitchFamily="18" charset="-127"/>
                <a:ea typeface="Batang" panose="02030600000101010101" pitchFamily="18" charset="-127"/>
                <a:cs typeface="+mn-cs"/>
              </a:defRPr>
            </a:lvl2pPr>
            <a:lvl3pPr marL="1026000" indent="-2160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Batang" panose="02030600000101010101" pitchFamily="18" charset="-127"/>
                <a:ea typeface="Batang" panose="02030600000101010101" pitchFamily="18" charset="-127"/>
                <a:cs typeface="+mn-cs"/>
              </a:defRPr>
            </a:lvl3pPr>
            <a:lvl4pPr marL="1386000" indent="-2160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Batang" panose="02030600000101010101" pitchFamily="18" charset="-127"/>
                <a:ea typeface="Batang" panose="02030600000101010101" pitchFamily="18" charset="-127"/>
                <a:cs typeface="+mn-cs"/>
              </a:defRPr>
            </a:lvl4pPr>
            <a:lvl5pPr marL="1674000" indent="-2160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Batang" panose="02030600000101010101" pitchFamily="18" charset="-127"/>
                <a:ea typeface="Batang" panose="02030600000101010101" pitchFamily="18" charset="-127"/>
                <a:cs typeface="+mn-cs"/>
              </a:defRPr>
            </a:lvl5pPr>
            <a:lvl6pPr marL="2014600" indent="-2286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36900" indent="0">
              <a:buNone/>
            </a:pPr>
            <a:r>
              <a:rPr lang="en-US" altLang="ko-KR" sz="1400" dirty="0">
                <a:solidFill>
                  <a:schemeClr val="tx1"/>
                </a:solidFill>
                <a:effectLst/>
              </a:rPr>
              <a:t># python code</a:t>
            </a:r>
          </a:p>
          <a:p>
            <a:pPr marL="36900" indent="0">
              <a:buNone/>
            </a:pPr>
            <a:endParaRPr lang="nl-NL" altLang="ko-KR" sz="1400" dirty="0">
              <a:solidFill>
                <a:schemeClr val="tx1"/>
              </a:solidFill>
              <a:effectLst/>
            </a:endParaRPr>
          </a:p>
          <a:p>
            <a:pPr marL="36900" indent="0">
              <a:buNone/>
            </a:pPr>
            <a:r>
              <a:rPr lang="nl-NL" altLang="ko-KR" sz="1400" dirty="0">
                <a:solidFill>
                  <a:schemeClr val="tx1"/>
                </a:solidFill>
                <a:effectLst/>
              </a:rPr>
              <a:t>norm_l2 = np.linalg.norm(x, ord=2)  # L2 norm</a:t>
            </a:r>
          </a:p>
          <a:p>
            <a:pPr marL="36900" indent="0">
              <a:buNone/>
            </a:pPr>
            <a:r>
              <a:rPr lang="nl-NL" altLang="ko-KR" sz="1400" dirty="0">
                <a:solidFill>
                  <a:schemeClr val="tx1"/>
                </a:solidFill>
                <a:effectLst/>
              </a:rPr>
              <a:t>norm_l2</a:t>
            </a:r>
          </a:p>
          <a:p>
            <a:pPr marL="36900" indent="0">
              <a:buNone/>
            </a:pPr>
            <a:r>
              <a:rPr lang="en-US" altLang="ko-KR" sz="1400" dirty="0">
                <a:solidFill>
                  <a:schemeClr val="tx1"/>
                </a:solidFill>
                <a:effectLst/>
              </a:rPr>
              <a:t># 3.605551275463989</a:t>
            </a:r>
          </a:p>
          <a:p>
            <a:pPr marL="36900" indent="0">
              <a:buNone/>
            </a:pPr>
            <a:endParaRPr lang="en-US" altLang="ko-KR" sz="1400" dirty="0">
              <a:solidFill>
                <a:schemeClr val="tx1"/>
              </a:solidFill>
              <a:effectLst/>
            </a:endParaRPr>
          </a:p>
          <a:p>
            <a:pPr marL="36900" indent="0">
              <a:buNone/>
            </a:pPr>
            <a:r>
              <a:rPr lang="en-US" altLang="ko-KR" sz="1400" dirty="0">
                <a:solidFill>
                  <a:schemeClr val="tx1"/>
                </a:solidFill>
                <a:effectLst/>
              </a:rPr>
              <a:t>x/norm_l2                       # scaled by 2-norm</a:t>
            </a:r>
          </a:p>
          <a:p>
            <a:pPr marL="36900" indent="0">
              <a:buNone/>
            </a:pPr>
            <a:r>
              <a:rPr lang="en-US" altLang="ko-KR" sz="1400" dirty="0" err="1">
                <a:solidFill>
                  <a:schemeClr val="tx1"/>
                </a:solidFill>
                <a:effectLst/>
              </a:rPr>
              <a:t>np.square</a:t>
            </a:r>
            <a:r>
              <a:rPr lang="en-US" altLang="ko-KR" sz="1400" dirty="0">
                <a:solidFill>
                  <a:schemeClr val="tx1"/>
                </a:solidFill>
                <a:effectLst/>
              </a:rPr>
              <a:t>(x/norm_l2)</a:t>
            </a:r>
          </a:p>
          <a:p>
            <a:pPr marL="36900" indent="0">
              <a:buNone/>
            </a:pPr>
            <a:r>
              <a:rPr lang="en-US" altLang="ko-KR" sz="1400" dirty="0" err="1">
                <a:solidFill>
                  <a:schemeClr val="tx1"/>
                </a:solidFill>
                <a:effectLst/>
              </a:rPr>
              <a:t>np.square</a:t>
            </a:r>
            <a:r>
              <a:rPr lang="en-US" altLang="ko-KR" sz="1400" dirty="0">
                <a:solidFill>
                  <a:schemeClr val="tx1"/>
                </a:solidFill>
                <a:effectLst/>
              </a:rPr>
              <a:t>(x/norm_l2).sum()</a:t>
            </a:r>
          </a:p>
          <a:p>
            <a:pPr marL="36900" indent="0">
              <a:buNone/>
            </a:pPr>
            <a:r>
              <a:rPr lang="en-US" altLang="ko-KR" sz="1400" dirty="0">
                <a:solidFill>
                  <a:schemeClr val="tx1"/>
                </a:solidFill>
                <a:effectLst/>
              </a:rPr>
              <a:t># 1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1EF7459-2858-2347-75D8-C91F1F4651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6255" y="2974105"/>
            <a:ext cx="3047769" cy="2797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6987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Lasso, Ridge Penalty in machine learning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36E248E-3EA5-CC93-F0AE-B9FFAD6F69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36" y="1791321"/>
            <a:ext cx="1695512" cy="681449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EBBF11DB-61B7-8934-BD93-253DBC8147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977" y="4739720"/>
            <a:ext cx="2368851" cy="55165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630083FF-10D2-2ABC-E511-20F9827664E0}"/>
              </a:ext>
            </a:extLst>
          </p:cNvPr>
          <p:cNvSpPr txBox="1"/>
          <p:nvPr/>
        </p:nvSpPr>
        <p:spPr>
          <a:xfrm>
            <a:off x="7736541" y="1325176"/>
            <a:ext cx="4025154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3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import </a:t>
            </a:r>
            <a:r>
              <a:rPr lang="en-US" altLang="ko-KR" sz="1300" dirty="0" err="1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numpy</a:t>
            </a:r>
            <a:r>
              <a:rPr lang="en-US" altLang="ko-KR" sz="13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 as np</a:t>
            </a:r>
          </a:p>
          <a:p>
            <a:r>
              <a:rPr lang="en-US" altLang="ko-KR" sz="13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import </a:t>
            </a:r>
            <a:r>
              <a:rPr lang="en-US" altLang="ko-KR" sz="1300" dirty="0" err="1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matplotlib.pyplot</a:t>
            </a:r>
            <a:r>
              <a:rPr lang="en-US" altLang="ko-KR" sz="13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 as </a:t>
            </a:r>
            <a:r>
              <a:rPr lang="en-US" altLang="ko-KR" sz="1300" dirty="0" err="1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plt</a:t>
            </a:r>
            <a:endParaRPr lang="en-US" altLang="ko-KR" sz="1300" dirty="0">
              <a:ln>
                <a:solidFill>
                  <a:schemeClr val="bg1">
                    <a:lumMod val="75000"/>
                    <a:lumOff val="25000"/>
                    <a:alpha val="10000"/>
                  </a:schemeClr>
                </a:solidFill>
              </a:ln>
              <a:latin typeface="Batang" panose="02030600000101010101" pitchFamily="18" charset="-127"/>
              <a:ea typeface="Batang" panose="02030600000101010101" pitchFamily="18" charset="-127"/>
            </a:endParaRPr>
          </a:p>
          <a:p>
            <a:br>
              <a:rPr lang="en-US" altLang="ko-KR" sz="13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</a:br>
            <a:r>
              <a:rPr lang="en-US" altLang="ko-KR" sz="13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# Generate values for x</a:t>
            </a:r>
          </a:p>
          <a:p>
            <a:r>
              <a:rPr lang="en-US" altLang="ko-KR" sz="13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x = </a:t>
            </a:r>
            <a:r>
              <a:rPr lang="en-US" altLang="ko-KR" sz="1300" dirty="0" err="1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np.linspace</a:t>
            </a:r>
            <a:r>
              <a:rPr lang="en-US" altLang="ko-KR" sz="13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(-1, 1, 400)</a:t>
            </a:r>
          </a:p>
          <a:p>
            <a:br>
              <a:rPr lang="en-US" altLang="ko-KR" sz="13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</a:br>
            <a:r>
              <a:rPr lang="en-US" altLang="ko-KR" sz="13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# Calculate corresponding values for y</a:t>
            </a:r>
          </a:p>
          <a:p>
            <a:r>
              <a:rPr lang="en-US" altLang="ko-KR" sz="1300" dirty="0" err="1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y_pos</a:t>
            </a:r>
            <a:r>
              <a:rPr lang="en-US" altLang="ko-KR" sz="13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 = 1 - </a:t>
            </a:r>
            <a:r>
              <a:rPr lang="en-US" altLang="ko-KR" sz="1300" dirty="0" err="1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np.abs</a:t>
            </a:r>
            <a:r>
              <a:rPr lang="en-US" altLang="ko-KR" sz="13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(x); </a:t>
            </a:r>
            <a:r>
              <a:rPr lang="en-US" altLang="ko-KR" sz="1300" dirty="0" err="1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y_neg</a:t>
            </a:r>
            <a:r>
              <a:rPr lang="en-US" altLang="ko-KR" sz="13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 = -1 + </a:t>
            </a:r>
            <a:r>
              <a:rPr lang="en-US" altLang="ko-KR" sz="1300" dirty="0" err="1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np.abs</a:t>
            </a:r>
            <a:r>
              <a:rPr lang="en-US" altLang="ko-KR" sz="13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(x)</a:t>
            </a:r>
          </a:p>
          <a:p>
            <a:br>
              <a:rPr lang="en-US" altLang="ko-KR" sz="13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</a:br>
            <a:r>
              <a:rPr lang="en-US" altLang="ko-KR" sz="13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# Plot the curve where |x + y| = 1</a:t>
            </a:r>
          </a:p>
          <a:p>
            <a:r>
              <a:rPr lang="en-US" altLang="ko-KR" sz="1300" dirty="0" err="1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plt.plot</a:t>
            </a:r>
            <a:r>
              <a:rPr lang="en-US" altLang="ko-KR" sz="13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(x, </a:t>
            </a:r>
            <a:r>
              <a:rPr lang="en-US" altLang="ko-KR" sz="1300" dirty="0" err="1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y_pos</a:t>
            </a:r>
            <a:r>
              <a:rPr lang="en-US" altLang="ko-KR" sz="13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, label='|x + y| = 1')</a:t>
            </a:r>
          </a:p>
          <a:p>
            <a:r>
              <a:rPr lang="en-US" altLang="ko-KR" sz="1300" dirty="0" err="1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plt.plot</a:t>
            </a:r>
            <a:r>
              <a:rPr lang="en-US" altLang="ko-KR" sz="13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(x, </a:t>
            </a:r>
            <a:r>
              <a:rPr lang="en-US" altLang="ko-KR" sz="1300" dirty="0" err="1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y_neg</a:t>
            </a:r>
            <a:r>
              <a:rPr lang="en-US" altLang="ko-KR" sz="13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)</a:t>
            </a:r>
          </a:p>
          <a:p>
            <a:br>
              <a:rPr lang="en-US" altLang="ko-KR" sz="13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</a:br>
            <a:r>
              <a:rPr lang="en-US" altLang="ko-KR" sz="13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# Set axis labels</a:t>
            </a:r>
          </a:p>
          <a:p>
            <a:r>
              <a:rPr lang="en-US" altLang="ko-KR" sz="1300" dirty="0" err="1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plt.xlabel</a:t>
            </a:r>
            <a:r>
              <a:rPr lang="en-US" altLang="ko-KR" sz="13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('X'); </a:t>
            </a:r>
            <a:r>
              <a:rPr lang="en-US" altLang="ko-KR" sz="1300" dirty="0" err="1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plt.ylabel</a:t>
            </a:r>
            <a:r>
              <a:rPr lang="en-US" altLang="ko-KR" sz="13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('Y')</a:t>
            </a:r>
          </a:p>
          <a:p>
            <a:br>
              <a:rPr lang="en-US" altLang="ko-KR" sz="13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</a:br>
            <a:r>
              <a:rPr lang="en-US" altLang="ko-KR" sz="13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# Add a legend</a:t>
            </a:r>
          </a:p>
          <a:p>
            <a:r>
              <a:rPr lang="en-US" altLang="ko-KR" sz="1300" dirty="0" err="1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plt.legend</a:t>
            </a:r>
            <a:r>
              <a:rPr lang="en-US" altLang="ko-KR" sz="13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()</a:t>
            </a:r>
          </a:p>
          <a:p>
            <a:br>
              <a:rPr lang="en-US" altLang="ko-KR" sz="13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</a:br>
            <a:r>
              <a:rPr lang="en-US" altLang="ko-KR" sz="1300" dirty="0" err="1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plt.title</a:t>
            </a:r>
            <a:r>
              <a:rPr lang="en-US" altLang="ko-KR" sz="13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('Curve where |x + y| = 1')</a:t>
            </a:r>
          </a:p>
          <a:p>
            <a:r>
              <a:rPr lang="en-US" altLang="ko-KR" sz="1300" dirty="0" err="1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plt.grid</a:t>
            </a:r>
            <a:r>
              <a:rPr lang="en-US" altLang="ko-KR" sz="13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(True)</a:t>
            </a:r>
          </a:p>
          <a:p>
            <a:r>
              <a:rPr lang="en-US" altLang="ko-KR" sz="1300" dirty="0" err="1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plt.axhline</a:t>
            </a:r>
            <a:r>
              <a:rPr lang="en-US" altLang="ko-KR" sz="13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(0, color='</a:t>
            </a:r>
            <a:r>
              <a:rPr lang="en-US" altLang="ko-KR" sz="1300" dirty="0" err="1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black',linewidth</a:t>
            </a:r>
            <a:r>
              <a:rPr lang="en-US" altLang="ko-KR" sz="13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=0.5)</a:t>
            </a:r>
          </a:p>
          <a:p>
            <a:r>
              <a:rPr lang="en-US" altLang="ko-KR" sz="1300" dirty="0" err="1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plt.axvline</a:t>
            </a:r>
            <a:r>
              <a:rPr lang="en-US" altLang="ko-KR" sz="13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(0, color='</a:t>
            </a:r>
            <a:r>
              <a:rPr lang="en-US" altLang="ko-KR" sz="1300" dirty="0" err="1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black',linewidth</a:t>
            </a:r>
            <a:r>
              <a:rPr lang="en-US" altLang="ko-KR" sz="13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=0.5)</a:t>
            </a:r>
          </a:p>
          <a:p>
            <a:r>
              <a:rPr lang="en-US" altLang="ko-KR" sz="1300" dirty="0" err="1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plt.show</a:t>
            </a:r>
            <a:r>
              <a:rPr lang="en-US" altLang="ko-KR" sz="13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()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1A02A16-B33F-125C-25F5-F9A52BA173BF}"/>
              </a:ext>
            </a:extLst>
          </p:cNvPr>
          <p:cNvSpPr txBox="1"/>
          <p:nvPr/>
        </p:nvSpPr>
        <p:spPr>
          <a:xfrm>
            <a:off x="913795" y="1381964"/>
            <a:ext cx="1276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Lasso</a:t>
            </a:r>
            <a:endParaRPr lang="ko-KR" alt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0EB0BE7-8A5A-862B-FB19-25982BD638E5}"/>
              </a:ext>
            </a:extLst>
          </p:cNvPr>
          <p:cNvSpPr txBox="1"/>
          <p:nvPr/>
        </p:nvSpPr>
        <p:spPr>
          <a:xfrm>
            <a:off x="913795" y="4200565"/>
            <a:ext cx="13805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Ridge</a:t>
            </a:r>
            <a:endParaRPr lang="ko-KR" altLang="en-US" dirty="0"/>
          </a:p>
        </p:txBody>
      </p:sp>
      <p:pic>
        <p:nvPicPr>
          <p:cNvPr id="24" name="그림 23">
            <a:extLst>
              <a:ext uri="{FF2B5EF4-FFF2-40B4-BE49-F238E27FC236}">
                <a16:creationId xmlns:a16="http://schemas.microsoft.com/office/drawing/2014/main" id="{2BD5D038-DCD7-8C14-A5CF-44500882BB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1868" y="1796070"/>
            <a:ext cx="3594961" cy="3516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27017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effectLst/>
              </a:rPr>
              <a:t>Vector norms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9" name="내용 개체 틀 2"/>
          <p:cNvSpPr>
            <a:spLocks noGrp="1"/>
          </p:cNvSpPr>
          <p:nvPr>
            <p:ph idx="1"/>
          </p:nvPr>
        </p:nvSpPr>
        <p:spPr>
          <a:xfrm>
            <a:off x="913795" y="1127464"/>
            <a:ext cx="10773380" cy="99661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sz="2100" dirty="0">
                <a:effectLst/>
              </a:rPr>
              <a:t>norm or the length of a vector is the distance between its “origin” and its “end”.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3576" y="2019886"/>
            <a:ext cx="6934200" cy="3830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64135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Python code</a:t>
            </a:r>
            <a:endParaRPr lang="ko-KR" altLang="en-US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7" name="내용 개체 틀 8"/>
          <p:cNvSpPr>
            <a:spLocks noGrp="1"/>
          </p:cNvSpPr>
          <p:nvPr>
            <p:ph idx="1"/>
          </p:nvPr>
        </p:nvSpPr>
        <p:spPr>
          <a:xfrm>
            <a:off x="913794" y="1127466"/>
            <a:ext cx="7306281" cy="5463834"/>
          </a:xfrm>
        </p:spPr>
        <p:txBody>
          <a:bodyPr>
            <a:normAutofit fontScale="77500" lnSpcReduction="20000"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500" dirty="0">
                <a:effectLst/>
              </a:rPr>
              <a:t>import </a:t>
            </a:r>
            <a:r>
              <a:rPr lang="en-US" altLang="ko-KR" sz="1500" dirty="0" err="1">
                <a:effectLst/>
              </a:rPr>
              <a:t>numpy</a:t>
            </a:r>
            <a:r>
              <a:rPr lang="en-US" altLang="ko-KR" sz="1500" dirty="0">
                <a:effectLst/>
              </a:rPr>
              <a:t> as np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500" dirty="0">
                <a:effectLst/>
              </a:rPr>
              <a:t>import </a:t>
            </a:r>
            <a:r>
              <a:rPr lang="en-US" altLang="ko-KR" sz="1500" dirty="0" err="1">
                <a:effectLst/>
              </a:rPr>
              <a:t>matplotlib.pyplot</a:t>
            </a:r>
            <a:r>
              <a:rPr lang="en-US" altLang="ko-KR" sz="1500" dirty="0">
                <a:effectLst/>
              </a:rPr>
              <a:t> as </a:t>
            </a:r>
            <a:r>
              <a:rPr lang="en-US" altLang="ko-KR" sz="1500" dirty="0" err="1">
                <a:effectLst/>
              </a:rPr>
              <a:t>plt</a:t>
            </a:r>
            <a:endParaRPr lang="en-US" altLang="ko-KR" sz="1500" dirty="0">
              <a:effectLst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US" altLang="ko-KR" sz="1500" dirty="0">
                <a:effectLst/>
              </a:rPr>
            </a:br>
            <a:r>
              <a:rPr lang="en-US" altLang="ko-KR" sz="1500" dirty="0" err="1">
                <a:effectLst/>
              </a:rPr>
              <a:t>def</a:t>
            </a:r>
            <a:r>
              <a:rPr lang="en-US" altLang="ko-KR" sz="1500" dirty="0">
                <a:effectLst/>
              </a:rPr>
              <a:t> visualize_l1_norm(data, norm):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500" dirty="0">
                <a:effectLst/>
              </a:rPr>
              <a:t>    # Calculate L1 norms for each data point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500" dirty="0">
                <a:effectLst/>
              </a:rPr>
              <a:t>    l1_norms = </a:t>
            </a:r>
            <a:r>
              <a:rPr lang="en-US" altLang="ko-KR" sz="1500" dirty="0" err="1">
                <a:effectLst/>
              </a:rPr>
              <a:t>np.linalg.norm</a:t>
            </a:r>
            <a:r>
              <a:rPr lang="en-US" altLang="ko-KR" sz="1500" dirty="0">
                <a:effectLst/>
              </a:rPr>
              <a:t>(data, </a:t>
            </a:r>
            <a:r>
              <a:rPr lang="en-US" altLang="ko-KR" sz="1500" dirty="0" err="1">
                <a:effectLst/>
              </a:rPr>
              <a:t>ord</a:t>
            </a:r>
            <a:r>
              <a:rPr lang="en-US" altLang="ko-KR" sz="1500" dirty="0">
                <a:effectLst/>
              </a:rPr>
              <a:t>=norm, axis=1)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US" altLang="ko-KR" sz="1500" dirty="0">
                <a:effectLst/>
              </a:rPr>
            </a:br>
            <a:r>
              <a:rPr lang="en-US" altLang="ko-KR" sz="1500" dirty="0">
                <a:effectLst/>
              </a:rPr>
              <a:t>    # Scale data based on L1 norms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500" dirty="0">
                <a:effectLst/>
              </a:rPr>
              <a:t>    </a:t>
            </a:r>
            <a:r>
              <a:rPr lang="en-US" altLang="ko-KR" sz="1500" dirty="0" err="1">
                <a:effectLst/>
              </a:rPr>
              <a:t>scaled_data</a:t>
            </a:r>
            <a:r>
              <a:rPr lang="en-US" altLang="ko-KR" sz="1500" dirty="0">
                <a:effectLst/>
              </a:rPr>
              <a:t> = data / l1_norms[:, </a:t>
            </a:r>
            <a:r>
              <a:rPr lang="en-US" altLang="ko-KR" sz="1500" dirty="0" err="1">
                <a:effectLst/>
              </a:rPr>
              <a:t>np.newaxis</a:t>
            </a:r>
            <a:r>
              <a:rPr lang="en-US" altLang="ko-KR" sz="1500" dirty="0">
                <a:effectLst/>
              </a:rPr>
              <a:t>]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US" altLang="ko-KR" sz="1500" dirty="0">
                <a:effectLst/>
              </a:rPr>
            </a:br>
            <a:r>
              <a:rPr lang="en-US" altLang="ko-KR" sz="1500" dirty="0">
                <a:effectLst/>
              </a:rPr>
              <a:t>    # Plotting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500" dirty="0">
                <a:effectLst/>
              </a:rPr>
              <a:t>    </a:t>
            </a:r>
            <a:r>
              <a:rPr lang="en-US" altLang="ko-KR" sz="1500" dirty="0" err="1">
                <a:effectLst/>
              </a:rPr>
              <a:t>plt.scatter</a:t>
            </a:r>
            <a:r>
              <a:rPr lang="en-US" altLang="ko-KR" sz="1500" dirty="0">
                <a:effectLst/>
              </a:rPr>
              <a:t>(data[:, 0], data[:, 1], label='Original Data', alpha=0.5)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500" dirty="0">
                <a:effectLst/>
              </a:rPr>
              <a:t>    </a:t>
            </a:r>
            <a:r>
              <a:rPr lang="en-US" altLang="ko-KR" sz="1500" dirty="0" err="1">
                <a:effectLst/>
              </a:rPr>
              <a:t>plt.scatter</a:t>
            </a:r>
            <a:r>
              <a:rPr lang="en-US" altLang="ko-KR" sz="1500" dirty="0">
                <a:effectLst/>
              </a:rPr>
              <a:t>(</a:t>
            </a:r>
            <a:r>
              <a:rPr lang="en-US" altLang="ko-KR" sz="1500" dirty="0" err="1">
                <a:effectLst/>
              </a:rPr>
              <a:t>scaled_data</a:t>
            </a:r>
            <a:r>
              <a:rPr lang="en-US" altLang="ko-KR" sz="1500" dirty="0">
                <a:effectLst/>
              </a:rPr>
              <a:t>[:, 0], </a:t>
            </a:r>
            <a:r>
              <a:rPr lang="en-US" altLang="ko-KR" sz="1500" dirty="0" err="1">
                <a:effectLst/>
              </a:rPr>
              <a:t>scaled_data</a:t>
            </a:r>
            <a:r>
              <a:rPr lang="en-US" altLang="ko-KR" sz="1500" dirty="0">
                <a:effectLst/>
              </a:rPr>
              <a:t>[:, 1],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500" dirty="0">
                <a:effectLst/>
              </a:rPr>
              <a:t>                label=</a:t>
            </a:r>
            <a:r>
              <a:rPr lang="en-US" altLang="ko-KR" sz="1500" dirty="0" err="1">
                <a:effectLst/>
              </a:rPr>
              <a:t>f'Scaled</a:t>
            </a:r>
            <a:r>
              <a:rPr lang="en-US" altLang="ko-KR" sz="1500" dirty="0">
                <a:effectLst/>
              </a:rPr>
              <a:t> with </a:t>
            </a:r>
            <a:r>
              <a:rPr lang="en-US" altLang="ko-KR" sz="1500" dirty="0" err="1">
                <a:effectLst/>
              </a:rPr>
              <a:t>with</a:t>
            </a:r>
            <a:r>
              <a:rPr lang="en-US" altLang="ko-KR" sz="1500" dirty="0">
                <a:effectLst/>
              </a:rPr>
              <a:t> Norm_{norm}', alpha=0.5)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US" altLang="ko-KR" sz="1500" dirty="0">
                <a:effectLst/>
              </a:rPr>
            </a:br>
            <a:r>
              <a:rPr lang="en-US" altLang="ko-KR" sz="1500" dirty="0">
                <a:effectLst/>
              </a:rPr>
              <a:t>    </a:t>
            </a:r>
            <a:r>
              <a:rPr lang="en-US" altLang="ko-KR" sz="1500" dirty="0" err="1">
                <a:effectLst/>
              </a:rPr>
              <a:t>plt.axhline</a:t>
            </a:r>
            <a:r>
              <a:rPr lang="en-US" altLang="ko-KR" sz="1500" dirty="0">
                <a:effectLst/>
              </a:rPr>
              <a:t>(0); </a:t>
            </a:r>
            <a:r>
              <a:rPr lang="en-US" altLang="ko-KR" sz="1500" dirty="0" err="1">
                <a:effectLst/>
              </a:rPr>
              <a:t>plt.axvline</a:t>
            </a:r>
            <a:r>
              <a:rPr lang="en-US" altLang="ko-KR" sz="1500" dirty="0">
                <a:effectLst/>
              </a:rPr>
              <a:t>(0)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500" dirty="0">
                <a:effectLst/>
              </a:rPr>
              <a:t>    </a:t>
            </a:r>
            <a:r>
              <a:rPr lang="en-US" altLang="ko-KR" sz="1500" dirty="0" err="1">
                <a:effectLst/>
              </a:rPr>
              <a:t>plt.grid</a:t>
            </a:r>
            <a:r>
              <a:rPr lang="en-US" altLang="ko-KR" sz="1500" dirty="0">
                <a:effectLst/>
              </a:rPr>
              <a:t>(color='gray', </a:t>
            </a:r>
            <a:r>
              <a:rPr lang="en-US" altLang="ko-KR" sz="1500" dirty="0" err="1">
                <a:effectLst/>
              </a:rPr>
              <a:t>linestyle</a:t>
            </a:r>
            <a:r>
              <a:rPr lang="en-US" altLang="ko-KR" sz="1500" dirty="0">
                <a:effectLst/>
              </a:rPr>
              <a:t>='--', linewidth=0.5)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US" altLang="ko-KR" sz="1500" dirty="0">
                <a:effectLst/>
              </a:rPr>
            </a:br>
            <a:r>
              <a:rPr lang="en-US" altLang="ko-KR" sz="1500" dirty="0">
                <a:effectLst/>
              </a:rPr>
              <a:t>    </a:t>
            </a:r>
            <a:r>
              <a:rPr lang="en-US" altLang="ko-KR" sz="1500" dirty="0" err="1">
                <a:effectLst/>
              </a:rPr>
              <a:t>plt.title</a:t>
            </a:r>
            <a:r>
              <a:rPr lang="en-US" altLang="ko-KR" sz="1500" dirty="0">
                <a:effectLst/>
              </a:rPr>
              <a:t>(</a:t>
            </a:r>
            <a:r>
              <a:rPr lang="en-US" altLang="ko-KR" sz="1500" dirty="0" err="1">
                <a:effectLst/>
              </a:rPr>
              <a:t>f'Visualization</a:t>
            </a:r>
            <a:r>
              <a:rPr lang="en-US" altLang="ko-KR" sz="1500" dirty="0">
                <a:effectLst/>
              </a:rPr>
              <a:t> of 2D Data Scaled with Norm_{norm}')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500" dirty="0">
                <a:effectLst/>
              </a:rPr>
              <a:t>    </a:t>
            </a:r>
            <a:r>
              <a:rPr lang="en-US" altLang="ko-KR" sz="1500" dirty="0" err="1">
                <a:effectLst/>
              </a:rPr>
              <a:t>plt.xlabel</a:t>
            </a:r>
            <a:r>
              <a:rPr lang="en-US" altLang="ko-KR" sz="1500" dirty="0">
                <a:effectLst/>
              </a:rPr>
              <a:t>('X-axis'); </a:t>
            </a:r>
            <a:r>
              <a:rPr lang="en-US" altLang="ko-KR" sz="1500" dirty="0" err="1">
                <a:effectLst/>
              </a:rPr>
              <a:t>plt.ylabel</a:t>
            </a:r>
            <a:r>
              <a:rPr lang="en-US" altLang="ko-KR" sz="1500" dirty="0">
                <a:effectLst/>
              </a:rPr>
              <a:t>('Y-axis')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500" dirty="0">
                <a:effectLst/>
              </a:rPr>
              <a:t>    </a:t>
            </a:r>
            <a:r>
              <a:rPr lang="en-US" altLang="ko-KR" sz="1500" dirty="0" err="1">
                <a:effectLst/>
              </a:rPr>
              <a:t>plt.legend</a:t>
            </a:r>
            <a:r>
              <a:rPr lang="en-US" altLang="ko-KR" sz="1500" dirty="0">
                <a:effectLst/>
              </a:rPr>
              <a:t>()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500" dirty="0">
                <a:effectLst/>
              </a:rPr>
              <a:t>    </a:t>
            </a:r>
            <a:r>
              <a:rPr lang="en-US" altLang="ko-KR" sz="1500" dirty="0" err="1">
                <a:effectLst/>
              </a:rPr>
              <a:t>plt.show</a:t>
            </a:r>
            <a:r>
              <a:rPr lang="en-US" altLang="ko-KR" sz="1500" dirty="0">
                <a:effectLst/>
              </a:rPr>
              <a:t>()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US" altLang="ko-KR" sz="1500" dirty="0">
                <a:effectLst/>
              </a:rPr>
            </a:br>
            <a:r>
              <a:rPr lang="en-US" altLang="ko-KR" sz="1500" dirty="0">
                <a:effectLst/>
              </a:rPr>
              <a:t># Generate random 2D data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500" dirty="0" err="1">
                <a:effectLst/>
              </a:rPr>
              <a:t>random_data</a:t>
            </a:r>
            <a:r>
              <a:rPr lang="en-US" altLang="ko-KR" sz="1500" dirty="0">
                <a:effectLst/>
              </a:rPr>
              <a:t> = </a:t>
            </a:r>
            <a:r>
              <a:rPr lang="en-US" altLang="ko-KR" sz="1500" dirty="0" err="1">
                <a:effectLst/>
              </a:rPr>
              <a:t>np.random.rand</a:t>
            </a:r>
            <a:r>
              <a:rPr lang="en-US" altLang="ko-KR" sz="1500" dirty="0">
                <a:effectLst/>
              </a:rPr>
              <a:t>(1000, 2) * 4 - 2  # Values between -2 and 2 for both dimensions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US" altLang="ko-KR" sz="1500" dirty="0">
                <a:effectLst/>
              </a:rPr>
            </a:br>
            <a:r>
              <a:rPr lang="en-US" altLang="ko-KR" sz="1500" dirty="0">
                <a:effectLst/>
              </a:rPr>
              <a:t># Visualize the data scaled with L1 norm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500" dirty="0">
                <a:effectLst/>
              </a:rPr>
              <a:t>visualize_l1_norm(</a:t>
            </a:r>
            <a:r>
              <a:rPr lang="en-US" altLang="ko-KR" sz="1500" dirty="0" err="1">
                <a:effectLst/>
              </a:rPr>
              <a:t>random_data</a:t>
            </a:r>
            <a:r>
              <a:rPr lang="en-US" altLang="ko-KR" sz="1500" dirty="0">
                <a:effectLst/>
              </a:rPr>
              <a:t>, norm = 2) # </a:t>
            </a:r>
            <a:r>
              <a:rPr lang="en-US" altLang="ko-KR" sz="1500" dirty="0" err="1">
                <a:effectLst/>
              </a:rPr>
              <a:t>Eucledean</a:t>
            </a:r>
            <a:r>
              <a:rPr lang="en-US" altLang="ko-KR" sz="1500" dirty="0">
                <a:effectLst/>
              </a:rPr>
              <a:t> Norm (L2 norm</a:t>
            </a:r>
            <a:r>
              <a:rPr lang="en-US" altLang="ko-KR" dirty="0">
                <a:effectLst/>
              </a:rPr>
              <a:t>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ko-KR" sz="1400" dirty="0">
              <a:effectLst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3994" y="1483281"/>
            <a:ext cx="4053682" cy="312260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823994" y="4783927"/>
            <a:ext cx="41480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FFFF00"/>
                </a:solidFill>
                <a:sym typeface="Wingdings" panose="05000000000000000000" pitchFamily="2" charset="2"/>
              </a:rPr>
              <a:t> It’s y</a:t>
            </a:r>
            <a:r>
              <a:rPr lang="en-US" altLang="ko-KR" dirty="0">
                <a:solidFill>
                  <a:srgbClr val="FFFF00"/>
                </a:solidFill>
              </a:rPr>
              <a:t>our turn to try L1 norm</a:t>
            </a:r>
            <a:endParaRPr lang="ko-KR" altLang="en-US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8044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ko-KR"/>
              <a:t>Learning Objectives</a:t>
            </a:r>
            <a:endParaRPr lang="ko-KR" altLang="en-US" dirty="0"/>
          </a:p>
        </p:txBody>
      </p:sp>
      <p:sp>
        <p:nvSpPr>
          <p:cNvPr id="6" name="내용 개체 틀 5"/>
          <p:cNvSpPr>
            <a:spLocks noGrp="1"/>
          </p:cNvSpPr>
          <p:nvPr>
            <p:ph idx="1"/>
          </p:nvPr>
        </p:nvSpPr>
        <p:spPr>
          <a:xfrm>
            <a:off x="2584652" y="1435034"/>
            <a:ext cx="7432184" cy="3045525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dirty="0"/>
              <a:t>Preliminary concepts</a:t>
            </a:r>
          </a:p>
          <a:p>
            <a:pPr>
              <a:lnSpc>
                <a:spcPct val="150000"/>
              </a:lnSpc>
            </a:pPr>
            <a:r>
              <a:rPr lang="en-US" altLang="ko-KR" sz="2400" dirty="0"/>
              <a:t>Vectors</a:t>
            </a:r>
          </a:p>
          <a:p>
            <a:pPr>
              <a:lnSpc>
                <a:spcPct val="150000"/>
              </a:lnSpc>
            </a:pPr>
            <a:r>
              <a:rPr lang="en-US" altLang="ko-KR" sz="2400" dirty="0"/>
              <a:t>Matrices</a:t>
            </a:r>
          </a:p>
          <a:p>
            <a:pPr>
              <a:lnSpc>
                <a:spcPct val="150000"/>
              </a:lnSpc>
            </a:pPr>
            <a:r>
              <a:rPr lang="en-US" altLang="ko-KR" sz="2400" dirty="0"/>
              <a:t>Linear Mapping</a:t>
            </a:r>
          </a:p>
          <a:p>
            <a:pPr>
              <a:lnSpc>
                <a:spcPct val="150000"/>
              </a:lnSpc>
            </a:pPr>
            <a:r>
              <a:rPr lang="en-US" altLang="ko-KR" sz="2400" dirty="0"/>
              <a:t>Norm (L1, L2)</a:t>
            </a:r>
          </a:p>
          <a:p>
            <a:pPr>
              <a:lnSpc>
                <a:spcPct val="150000"/>
              </a:lnSpc>
            </a:pPr>
            <a:r>
              <a:rPr lang="en-US" altLang="ko-KR" sz="2400" b="1" u="sng" dirty="0" err="1">
                <a:solidFill>
                  <a:srgbClr val="FFFF00"/>
                </a:solidFill>
              </a:rPr>
              <a:t>Numpy</a:t>
            </a:r>
            <a:r>
              <a:rPr lang="en-US" altLang="ko-KR" sz="2400" b="1" u="sng" dirty="0">
                <a:solidFill>
                  <a:srgbClr val="FFFF00"/>
                </a:solidFill>
              </a:rPr>
              <a:t> Applications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81502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Geometry(1/2)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30083FF-10D2-2ABC-E511-20F9827664E0}"/>
              </a:ext>
            </a:extLst>
          </p:cNvPr>
          <p:cNvSpPr txBox="1"/>
          <p:nvPr/>
        </p:nvSpPr>
        <p:spPr>
          <a:xfrm>
            <a:off x="7736541" y="1325176"/>
            <a:ext cx="4025154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3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import </a:t>
            </a:r>
            <a:r>
              <a:rPr lang="en-US" altLang="ko-KR" sz="1300" dirty="0" err="1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numpy</a:t>
            </a:r>
            <a:r>
              <a:rPr lang="en-US" altLang="ko-KR" sz="13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 as np</a:t>
            </a:r>
          </a:p>
          <a:p>
            <a:r>
              <a:rPr lang="en-US" altLang="ko-KR" sz="13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import </a:t>
            </a:r>
            <a:r>
              <a:rPr lang="en-US" altLang="ko-KR" sz="1300" dirty="0" err="1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matplotlib.pyplot</a:t>
            </a:r>
            <a:r>
              <a:rPr lang="en-US" altLang="ko-KR" sz="13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 as </a:t>
            </a:r>
            <a:r>
              <a:rPr lang="en-US" altLang="ko-KR" sz="1300" dirty="0" err="1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plt</a:t>
            </a:r>
            <a:endParaRPr lang="en-US" altLang="ko-KR" sz="1300" dirty="0">
              <a:ln>
                <a:solidFill>
                  <a:schemeClr val="bg1">
                    <a:lumMod val="75000"/>
                    <a:lumOff val="25000"/>
                    <a:alpha val="10000"/>
                  </a:schemeClr>
                </a:solidFill>
              </a:ln>
              <a:latin typeface="Batang" panose="02030600000101010101" pitchFamily="18" charset="-127"/>
              <a:ea typeface="Batang" panose="02030600000101010101" pitchFamily="18" charset="-127"/>
            </a:endParaRPr>
          </a:p>
          <a:p>
            <a:br>
              <a:rPr lang="en-US" altLang="ko-KR" sz="13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</a:br>
            <a:r>
              <a:rPr lang="en-US" altLang="ko-KR" sz="13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# Define a 2D point</a:t>
            </a:r>
          </a:p>
          <a:p>
            <a:r>
              <a:rPr lang="en-US" altLang="ko-KR" sz="13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point = </a:t>
            </a:r>
            <a:r>
              <a:rPr lang="en-US" altLang="ko-KR" sz="1300" dirty="0" err="1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np.array</a:t>
            </a:r>
            <a:r>
              <a:rPr lang="en-US" altLang="ko-KR" sz="13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([1, 1])</a:t>
            </a:r>
          </a:p>
          <a:p>
            <a:br>
              <a:rPr lang="en-US" altLang="ko-KR" sz="13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</a:br>
            <a:r>
              <a:rPr lang="en-US" altLang="ko-KR" sz="13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# Define a 2D rotation matrix</a:t>
            </a:r>
          </a:p>
          <a:p>
            <a:r>
              <a:rPr lang="en-US" altLang="ko-KR" sz="13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theta = </a:t>
            </a:r>
            <a:r>
              <a:rPr lang="en-US" altLang="ko-KR" sz="1300" dirty="0" err="1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np.pi</a:t>
            </a:r>
            <a:r>
              <a:rPr lang="en-US" altLang="ko-KR" sz="13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 / 4  # 45 degrees</a:t>
            </a:r>
          </a:p>
          <a:p>
            <a:r>
              <a:rPr lang="en-US" altLang="ko-KR" sz="1300" dirty="0" err="1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rotation_matrix</a:t>
            </a:r>
            <a:r>
              <a:rPr lang="en-US" altLang="ko-KR" sz="13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 = </a:t>
            </a:r>
            <a:r>
              <a:rPr lang="en-US" altLang="ko-KR" sz="1300" dirty="0" err="1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np.array</a:t>
            </a:r>
            <a:r>
              <a:rPr lang="en-US" altLang="ko-KR" sz="13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([[</a:t>
            </a:r>
            <a:r>
              <a:rPr lang="en-US" altLang="ko-KR" sz="1300" dirty="0" err="1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np.cos</a:t>
            </a:r>
            <a:r>
              <a:rPr lang="en-US" altLang="ko-KR" sz="13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(theta), -</a:t>
            </a:r>
            <a:r>
              <a:rPr lang="en-US" altLang="ko-KR" sz="1300" dirty="0" err="1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np.sin</a:t>
            </a:r>
            <a:r>
              <a:rPr lang="en-US" altLang="ko-KR" sz="13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(theta)],</a:t>
            </a:r>
          </a:p>
          <a:p>
            <a:r>
              <a:rPr lang="en-US" altLang="ko-KR" sz="13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                            [</a:t>
            </a:r>
            <a:r>
              <a:rPr lang="en-US" altLang="ko-KR" sz="1300" dirty="0" err="1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np.sin</a:t>
            </a:r>
            <a:r>
              <a:rPr lang="en-US" altLang="ko-KR" sz="13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(theta), </a:t>
            </a:r>
            <a:r>
              <a:rPr lang="en-US" altLang="ko-KR" sz="1300" dirty="0" err="1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np.cos</a:t>
            </a:r>
            <a:r>
              <a:rPr lang="en-US" altLang="ko-KR" sz="13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(theta)]])</a:t>
            </a:r>
          </a:p>
          <a:p>
            <a:br>
              <a:rPr lang="en-US" altLang="ko-KR" sz="13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</a:br>
            <a:r>
              <a:rPr lang="en-US" altLang="ko-KR" sz="13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# Apply rotation to the point</a:t>
            </a:r>
          </a:p>
          <a:p>
            <a:r>
              <a:rPr lang="en-US" altLang="ko-KR" sz="1300" dirty="0" err="1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rotated_point</a:t>
            </a:r>
            <a:r>
              <a:rPr lang="en-US" altLang="ko-KR" sz="13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 = np.dot(</a:t>
            </a:r>
            <a:r>
              <a:rPr lang="en-US" altLang="ko-KR" sz="1300" dirty="0" err="1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rotation_matrix</a:t>
            </a:r>
            <a:r>
              <a:rPr lang="en-US" altLang="ko-KR" sz="13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, point)</a:t>
            </a:r>
          </a:p>
          <a:p>
            <a:br>
              <a:rPr lang="en-US" altLang="ko-KR" sz="13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</a:br>
            <a:r>
              <a:rPr lang="en-US" altLang="ko-KR" sz="13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# Plot the original and rotated points</a:t>
            </a:r>
          </a:p>
          <a:p>
            <a:r>
              <a:rPr lang="en-US" altLang="ko-KR" sz="1300" dirty="0" err="1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plt.plot</a:t>
            </a:r>
            <a:r>
              <a:rPr lang="en-US" altLang="ko-KR" sz="13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([0, point[0]], [0, point[1]], label='Original Point')</a:t>
            </a:r>
          </a:p>
          <a:p>
            <a:r>
              <a:rPr lang="en-US" altLang="ko-KR" sz="1300" dirty="0" err="1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plt.plot</a:t>
            </a:r>
            <a:r>
              <a:rPr lang="en-US" altLang="ko-KR" sz="13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([0, </a:t>
            </a:r>
            <a:r>
              <a:rPr lang="en-US" altLang="ko-KR" sz="1300" dirty="0" err="1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rotated_point</a:t>
            </a:r>
            <a:r>
              <a:rPr lang="en-US" altLang="ko-KR" sz="13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[0]], [0, </a:t>
            </a:r>
            <a:r>
              <a:rPr lang="en-US" altLang="ko-KR" sz="1300" dirty="0" err="1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rotated_point</a:t>
            </a:r>
            <a:r>
              <a:rPr lang="en-US" altLang="ko-KR" sz="13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[1]], label='Rotated Point')</a:t>
            </a:r>
          </a:p>
          <a:p>
            <a:r>
              <a:rPr lang="en-US" altLang="ko-KR" sz="1300" dirty="0" err="1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plt.legend</a:t>
            </a:r>
            <a:r>
              <a:rPr lang="en-US" altLang="ko-KR" sz="13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()</a:t>
            </a:r>
          </a:p>
          <a:p>
            <a:r>
              <a:rPr lang="en-US" altLang="ko-KR" sz="1300" dirty="0" err="1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plt.axis</a:t>
            </a:r>
            <a:r>
              <a:rPr lang="en-US" altLang="ko-KR" sz="13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('equal')</a:t>
            </a:r>
          </a:p>
          <a:p>
            <a:r>
              <a:rPr lang="en-US" altLang="ko-KR" sz="1300" dirty="0" err="1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plt.show</a:t>
            </a:r>
            <a:r>
              <a:rPr lang="en-US" altLang="ko-KR" sz="13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()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D211BA0-9E12-0D58-B113-24EA975B3A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127464"/>
            <a:ext cx="10211406" cy="584795"/>
          </a:xfrm>
        </p:spPr>
        <p:txBody>
          <a:bodyPr>
            <a:normAutofit/>
          </a:bodyPr>
          <a:lstStyle/>
          <a:p>
            <a:pPr marL="36900" indent="0" algn="l">
              <a:buNone/>
            </a:pPr>
            <a:r>
              <a:rPr lang="fr-FR" altLang="ko-KR" sz="2200" dirty="0">
                <a:effectLst/>
              </a:rPr>
              <a:t>1. Transformation Matrices (2D Rotation)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5A6D065E-6811-4528-AC2A-4E41E1CF43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5250" y="1934201"/>
            <a:ext cx="5143946" cy="3901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02165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Geometry(2/2)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30083FF-10D2-2ABC-E511-20F9827664E0}"/>
              </a:ext>
            </a:extLst>
          </p:cNvPr>
          <p:cNvSpPr txBox="1"/>
          <p:nvPr/>
        </p:nvSpPr>
        <p:spPr>
          <a:xfrm>
            <a:off x="7772400" y="1647905"/>
            <a:ext cx="4025154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3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import </a:t>
            </a:r>
            <a:r>
              <a:rPr lang="en-US" altLang="ko-KR" sz="1300" dirty="0" err="1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numpy</a:t>
            </a:r>
            <a:r>
              <a:rPr lang="en-US" altLang="ko-KR" sz="13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 as np</a:t>
            </a:r>
          </a:p>
          <a:p>
            <a:r>
              <a:rPr lang="en-US" altLang="ko-KR" sz="13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from </a:t>
            </a:r>
            <a:r>
              <a:rPr lang="en-US" altLang="ko-KR" sz="1300" dirty="0" err="1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sklearn.decomposition</a:t>
            </a:r>
            <a:r>
              <a:rPr lang="en-US" altLang="ko-KR" sz="13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 import PCA</a:t>
            </a:r>
          </a:p>
          <a:p>
            <a:r>
              <a:rPr lang="en-US" altLang="ko-KR" sz="13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import </a:t>
            </a:r>
            <a:r>
              <a:rPr lang="en-US" altLang="ko-KR" sz="1300" dirty="0" err="1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matplotlib.pyplot</a:t>
            </a:r>
            <a:r>
              <a:rPr lang="en-US" altLang="ko-KR" sz="13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 as </a:t>
            </a:r>
            <a:r>
              <a:rPr lang="en-US" altLang="ko-KR" sz="1300" dirty="0" err="1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plt</a:t>
            </a:r>
            <a:endParaRPr lang="en-US" altLang="ko-KR" sz="1300" dirty="0">
              <a:ln>
                <a:solidFill>
                  <a:schemeClr val="bg1">
                    <a:lumMod val="75000"/>
                    <a:lumOff val="25000"/>
                    <a:alpha val="10000"/>
                  </a:schemeClr>
                </a:solidFill>
              </a:ln>
              <a:latin typeface="Batang" panose="02030600000101010101" pitchFamily="18" charset="-127"/>
              <a:ea typeface="Batang" panose="02030600000101010101" pitchFamily="18" charset="-127"/>
            </a:endParaRPr>
          </a:p>
          <a:p>
            <a:br>
              <a:rPr lang="en-US" altLang="ko-KR" sz="13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</a:br>
            <a:r>
              <a:rPr lang="en-US" altLang="ko-KR" sz="13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# Generate 2D data</a:t>
            </a:r>
          </a:p>
          <a:p>
            <a:r>
              <a:rPr lang="en-US" altLang="ko-KR" sz="13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data = </a:t>
            </a:r>
            <a:r>
              <a:rPr lang="en-US" altLang="ko-KR" sz="1300" dirty="0" err="1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np.random.multivariate_normal</a:t>
            </a:r>
            <a:r>
              <a:rPr lang="en-US" altLang="ko-KR" sz="13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(mean=[0, 0], </a:t>
            </a:r>
            <a:r>
              <a:rPr lang="en-US" altLang="ko-KR" sz="1300" dirty="0" err="1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cov</a:t>
            </a:r>
            <a:r>
              <a:rPr lang="en-US" altLang="ko-KR" sz="13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=[[1, 0.8], [0.8, 1]], size=100)</a:t>
            </a:r>
          </a:p>
          <a:p>
            <a:br>
              <a:rPr lang="en-US" altLang="ko-KR" sz="13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</a:br>
            <a:r>
              <a:rPr lang="en-US" altLang="ko-KR" sz="13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# Apply PCA</a:t>
            </a:r>
          </a:p>
          <a:p>
            <a:r>
              <a:rPr lang="en-US" altLang="ko-KR" sz="1300" dirty="0" err="1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pca</a:t>
            </a:r>
            <a:r>
              <a:rPr lang="en-US" altLang="ko-KR" sz="13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 = PCA()</a:t>
            </a:r>
          </a:p>
          <a:p>
            <a:r>
              <a:rPr lang="en-US" altLang="ko-KR" sz="1300" dirty="0" err="1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pca.fit</a:t>
            </a:r>
            <a:r>
              <a:rPr lang="en-US" altLang="ko-KR" sz="13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(data)</a:t>
            </a:r>
          </a:p>
          <a:p>
            <a:br>
              <a:rPr lang="en-US" altLang="ko-KR" sz="13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</a:br>
            <a:r>
              <a:rPr lang="en-US" altLang="ko-KR" sz="13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# Plot the original data and principal components</a:t>
            </a:r>
          </a:p>
          <a:p>
            <a:r>
              <a:rPr lang="en-US" altLang="ko-KR" sz="1300" dirty="0" err="1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plt.scatter</a:t>
            </a:r>
            <a:r>
              <a:rPr lang="en-US" altLang="ko-KR" sz="13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(data[:, 0], data[:, 1], label='Original Data')</a:t>
            </a:r>
          </a:p>
          <a:p>
            <a:r>
              <a:rPr lang="en-US" altLang="ko-KR" sz="1300" dirty="0" err="1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plt.quiver</a:t>
            </a:r>
            <a:r>
              <a:rPr lang="en-US" altLang="ko-KR" sz="13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(0, 0, </a:t>
            </a:r>
            <a:r>
              <a:rPr lang="en-US" altLang="ko-KR" sz="1300" dirty="0" err="1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pca.components</a:t>
            </a:r>
            <a:r>
              <a:rPr lang="en-US" altLang="ko-KR" sz="13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_[0, 0], </a:t>
            </a:r>
            <a:r>
              <a:rPr lang="en-US" altLang="ko-KR" sz="1300" dirty="0" err="1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pca.components</a:t>
            </a:r>
            <a:r>
              <a:rPr lang="en-US" altLang="ko-KR" sz="13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_[0, 1], scale=3, color='r', label='Principal Component 1')</a:t>
            </a:r>
          </a:p>
          <a:p>
            <a:r>
              <a:rPr lang="en-US" altLang="ko-KR" sz="1300" dirty="0" err="1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plt.quiver</a:t>
            </a:r>
            <a:r>
              <a:rPr lang="en-US" altLang="ko-KR" sz="13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(0, 0, </a:t>
            </a:r>
            <a:r>
              <a:rPr lang="en-US" altLang="ko-KR" sz="1300" dirty="0" err="1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pca.components</a:t>
            </a:r>
            <a:r>
              <a:rPr lang="en-US" altLang="ko-KR" sz="13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_[1, 0], </a:t>
            </a:r>
            <a:r>
              <a:rPr lang="en-US" altLang="ko-KR" sz="1300" dirty="0" err="1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pca.components</a:t>
            </a:r>
            <a:r>
              <a:rPr lang="en-US" altLang="ko-KR" sz="13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_[1, 1], scale=3, color='b', label='Principal Component 2')</a:t>
            </a:r>
          </a:p>
          <a:p>
            <a:r>
              <a:rPr lang="en-US" altLang="ko-KR" sz="1300" dirty="0" err="1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plt.legend</a:t>
            </a:r>
            <a:r>
              <a:rPr lang="en-US" altLang="ko-KR" sz="13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()</a:t>
            </a:r>
          </a:p>
          <a:p>
            <a:r>
              <a:rPr lang="en-US" altLang="ko-KR" sz="1300" dirty="0" err="1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plt.axis</a:t>
            </a:r>
            <a:r>
              <a:rPr lang="en-US" altLang="ko-KR" sz="13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('equal')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D211BA0-9E12-0D58-B113-24EA975B3A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4" y="1127464"/>
            <a:ext cx="9896446" cy="740742"/>
          </a:xfrm>
        </p:spPr>
        <p:txBody>
          <a:bodyPr>
            <a:normAutofit fontScale="92500" lnSpcReduction="20000"/>
          </a:bodyPr>
          <a:lstStyle/>
          <a:p>
            <a:pPr marL="36900" indent="0">
              <a:buNone/>
            </a:pPr>
            <a:r>
              <a:rPr lang="en-US" altLang="ko-KR" sz="2200" dirty="0">
                <a:effectLst/>
              </a:rPr>
              <a:t>2. Eigenvalues and Eigenvectors (Principal Component Analysis - PCA):</a:t>
            </a:r>
          </a:p>
          <a:p>
            <a:pPr marL="36900" indent="0" algn="l">
              <a:buNone/>
            </a:pPr>
            <a:endParaRPr lang="fr-FR" altLang="ko-KR" sz="1300" dirty="0">
              <a:solidFill>
                <a:schemeClr val="tx1"/>
              </a:solidFill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4F29429-0D78-9599-8AE2-C36D3FFD62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3484" y="2008372"/>
            <a:ext cx="5014395" cy="3917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49780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Optimization(1/2)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30083FF-10D2-2ABC-E511-20F9827664E0}"/>
              </a:ext>
            </a:extLst>
          </p:cNvPr>
          <p:cNvSpPr txBox="1"/>
          <p:nvPr/>
        </p:nvSpPr>
        <p:spPr>
          <a:xfrm>
            <a:off x="6949440" y="1647904"/>
            <a:ext cx="5242560" cy="44935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3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from </a:t>
            </a:r>
            <a:r>
              <a:rPr lang="en-US" altLang="ko-KR" sz="1300" dirty="0" err="1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scipy.optimize</a:t>
            </a:r>
            <a:r>
              <a:rPr lang="en-US" altLang="ko-KR" sz="13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 import </a:t>
            </a:r>
            <a:r>
              <a:rPr lang="en-US" altLang="ko-KR" sz="1300" dirty="0" err="1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linprog</a:t>
            </a:r>
            <a:endParaRPr lang="en-US" altLang="ko-KR" sz="1300" dirty="0">
              <a:ln>
                <a:solidFill>
                  <a:schemeClr val="bg1">
                    <a:lumMod val="75000"/>
                    <a:lumOff val="25000"/>
                    <a:alpha val="10000"/>
                  </a:schemeClr>
                </a:solidFill>
              </a:ln>
              <a:latin typeface="Batang" panose="02030600000101010101" pitchFamily="18" charset="-127"/>
              <a:ea typeface="Batang" panose="02030600000101010101" pitchFamily="18" charset="-127"/>
            </a:endParaRPr>
          </a:p>
          <a:p>
            <a:br>
              <a:rPr lang="en-US" altLang="ko-KR" sz="13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</a:br>
            <a:r>
              <a:rPr lang="en-US" altLang="ko-KR" sz="13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# Objective function coefficients</a:t>
            </a:r>
          </a:p>
          <a:p>
            <a:r>
              <a:rPr lang="en-US" altLang="ko-KR" sz="13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c = [-3, -2]  # Minimize -3x1 - 2x2 is equivalent to maximizing 3x1 + 2x2</a:t>
            </a:r>
          </a:p>
          <a:p>
            <a:r>
              <a:rPr lang="en-US" altLang="ko-KR" sz="13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# Inequality constraints matrix</a:t>
            </a:r>
          </a:p>
          <a:p>
            <a:r>
              <a:rPr lang="en-US" altLang="ko-KR" sz="13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A = [[1, 1], [2, 1], [-1, 0]]  # Note the change in the third constraint</a:t>
            </a:r>
          </a:p>
          <a:p>
            <a:r>
              <a:rPr lang="en-US" altLang="ko-KR" sz="13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# Inequality constraints vector</a:t>
            </a:r>
          </a:p>
          <a:p>
            <a:r>
              <a:rPr lang="en-US" altLang="ko-KR" sz="13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b = [100, 100, -40]</a:t>
            </a:r>
          </a:p>
          <a:p>
            <a:br>
              <a:rPr lang="en-US" altLang="ko-KR" sz="13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</a:br>
            <a:r>
              <a:rPr lang="en-US" altLang="ko-KR" sz="13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# Bounds for variables</a:t>
            </a:r>
          </a:p>
          <a:p>
            <a:r>
              <a:rPr lang="en-US" altLang="ko-KR" sz="13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x0_bounds = (0, None)</a:t>
            </a:r>
          </a:p>
          <a:p>
            <a:r>
              <a:rPr lang="en-US" altLang="ko-KR" sz="13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x1_bounds = (0, None)</a:t>
            </a:r>
          </a:p>
          <a:p>
            <a:br>
              <a:rPr lang="en-US" altLang="ko-KR" sz="13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</a:br>
            <a:r>
              <a:rPr lang="en-US" altLang="ko-KR" sz="13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# Solve linear programming problem</a:t>
            </a:r>
          </a:p>
          <a:p>
            <a:r>
              <a:rPr lang="en-US" altLang="ko-KR" sz="13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result = </a:t>
            </a:r>
            <a:r>
              <a:rPr lang="en-US" altLang="ko-KR" sz="1300" dirty="0" err="1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linprog</a:t>
            </a:r>
            <a:r>
              <a:rPr lang="en-US" altLang="ko-KR" sz="13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(c, </a:t>
            </a:r>
            <a:r>
              <a:rPr lang="en-US" altLang="ko-KR" sz="1300" dirty="0" err="1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A_ub</a:t>
            </a:r>
            <a:r>
              <a:rPr lang="en-US" altLang="ko-KR" sz="13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=A, </a:t>
            </a:r>
            <a:r>
              <a:rPr lang="en-US" altLang="ko-KR" sz="1300" dirty="0" err="1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b_ub</a:t>
            </a:r>
            <a:r>
              <a:rPr lang="en-US" altLang="ko-KR" sz="13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=b, bounds=[x0_bounds, x1_bounds], method='highs')</a:t>
            </a:r>
          </a:p>
          <a:p>
            <a:r>
              <a:rPr lang="en-US" altLang="ko-KR" sz="13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# Display the results</a:t>
            </a:r>
          </a:p>
          <a:p>
            <a:r>
              <a:rPr lang="en-US" altLang="ko-KR" sz="13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# Negate the result because </a:t>
            </a:r>
            <a:r>
              <a:rPr lang="en-US" altLang="ko-KR" sz="1300" dirty="0" err="1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linprog</a:t>
            </a:r>
            <a:r>
              <a:rPr lang="en-US" altLang="ko-KR" sz="13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 minimizes by default</a:t>
            </a:r>
          </a:p>
          <a:p>
            <a:r>
              <a:rPr lang="en-US" altLang="ko-KR" sz="13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print('Optimal value (max z):', -</a:t>
            </a:r>
            <a:r>
              <a:rPr lang="en-US" altLang="ko-KR" sz="1300" dirty="0" err="1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result.fun</a:t>
            </a:r>
            <a:r>
              <a:rPr lang="en-US" altLang="ko-KR" sz="13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)  </a:t>
            </a:r>
          </a:p>
          <a:p>
            <a:r>
              <a:rPr lang="en-US" altLang="ko-KR" sz="13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print('Optimal point (x1, x2):', </a:t>
            </a:r>
            <a:r>
              <a:rPr lang="en-US" altLang="ko-KR" sz="1300" dirty="0" err="1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result.x</a:t>
            </a:r>
            <a:r>
              <a:rPr lang="en-US" altLang="ko-KR" sz="13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)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D211BA0-9E12-0D58-B113-24EA975B3A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4" y="1127464"/>
            <a:ext cx="8660511" cy="584795"/>
          </a:xfrm>
        </p:spPr>
        <p:txBody>
          <a:bodyPr>
            <a:normAutofit/>
          </a:bodyPr>
          <a:lstStyle/>
          <a:p>
            <a:pPr marL="36900" indent="0">
              <a:buNone/>
            </a:pPr>
            <a:r>
              <a:rPr lang="en-US" altLang="ko-KR" sz="2200" dirty="0">
                <a:effectLst/>
              </a:rPr>
              <a:t>1. Linear Programing :</a:t>
            </a:r>
          </a:p>
          <a:p>
            <a:pPr marL="36900" indent="0" algn="l">
              <a:buNone/>
            </a:pPr>
            <a:endParaRPr lang="fr-FR" altLang="ko-KR" sz="1300" dirty="0">
              <a:solidFill>
                <a:schemeClr val="tx1"/>
              </a:solidFill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525234C1-3DF1-C42D-7E13-AF831521D9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9201" y="2327162"/>
            <a:ext cx="3887267" cy="3367916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FC9AFD41-360D-DB5A-47E6-646A22156F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2674" y="1863603"/>
            <a:ext cx="1719806" cy="1229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72759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Optimization(2/2)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30083FF-10D2-2ABC-E511-20F9827664E0}"/>
              </a:ext>
            </a:extLst>
          </p:cNvPr>
          <p:cNvSpPr txBox="1"/>
          <p:nvPr/>
        </p:nvSpPr>
        <p:spPr>
          <a:xfrm>
            <a:off x="6339840" y="2119264"/>
            <a:ext cx="5852160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3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import </a:t>
            </a:r>
            <a:r>
              <a:rPr lang="en-US" altLang="ko-KR" sz="1300" dirty="0" err="1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numpy</a:t>
            </a:r>
            <a:r>
              <a:rPr lang="en-US" altLang="ko-KR" sz="13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 as np</a:t>
            </a:r>
          </a:p>
          <a:p>
            <a:r>
              <a:rPr lang="en-US" altLang="ko-KR" sz="13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import </a:t>
            </a:r>
            <a:r>
              <a:rPr lang="en-US" altLang="ko-KR" sz="1300" dirty="0" err="1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matplotlib.pyplot</a:t>
            </a:r>
            <a:r>
              <a:rPr lang="en-US" altLang="ko-KR" sz="13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 as </a:t>
            </a:r>
            <a:r>
              <a:rPr lang="en-US" altLang="ko-KR" sz="1300" dirty="0" err="1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plt</a:t>
            </a:r>
            <a:endParaRPr lang="en-US" altLang="ko-KR" sz="1300" dirty="0">
              <a:ln>
                <a:solidFill>
                  <a:schemeClr val="bg1">
                    <a:lumMod val="75000"/>
                    <a:lumOff val="25000"/>
                    <a:alpha val="10000"/>
                  </a:schemeClr>
                </a:solidFill>
              </a:ln>
              <a:latin typeface="Batang" panose="02030600000101010101" pitchFamily="18" charset="-127"/>
              <a:ea typeface="Batang" panose="02030600000101010101" pitchFamily="18" charset="-127"/>
            </a:endParaRPr>
          </a:p>
          <a:p>
            <a:br>
              <a:rPr lang="en-US" altLang="ko-KR" sz="13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</a:br>
            <a:r>
              <a:rPr lang="en-US" altLang="ko-KR" sz="13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# Generate synthetic data</a:t>
            </a:r>
          </a:p>
          <a:p>
            <a:r>
              <a:rPr lang="en-US" altLang="ko-KR" sz="1300" dirty="0" err="1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np.random.seed</a:t>
            </a:r>
            <a:r>
              <a:rPr lang="en-US" altLang="ko-KR" sz="13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(42)</a:t>
            </a:r>
          </a:p>
          <a:p>
            <a:r>
              <a:rPr lang="en-US" altLang="ko-KR" sz="13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X = 2 * </a:t>
            </a:r>
            <a:r>
              <a:rPr lang="en-US" altLang="ko-KR" sz="1300" dirty="0" err="1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np.random.rand</a:t>
            </a:r>
            <a:r>
              <a:rPr lang="en-US" altLang="ko-KR" sz="13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(100, 1)</a:t>
            </a:r>
          </a:p>
          <a:p>
            <a:r>
              <a:rPr lang="en-US" altLang="ko-KR" sz="13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y = 4 + 3 * X + </a:t>
            </a:r>
            <a:r>
              <a:rPr lang="en-US" altLang="ko-KR" sz="1300" dirty="0" err="1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np.random.randn</a:t>
            </a:r>
            <a:r>
              <a:rPr lang="en-US" altLang="ko-KR" sz="13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(100, 1)</a:t>
            </a:r>
          </a:p>
          <a:p>
            <a:br>
              <a:rPr lang="en-US" altLang="ko-KR" sz="13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</a:br>
            <a:r>
              <a:rPr lang="en-US" altLang="ko-KR" sz="13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# Perform linear regression</a:t>
            </a:r>
          </a:p>
          <a:p>
            <a:r>
              <a:rPr lang="en-US" altLang="ko-KR" sz="1300" dirty="0" err="1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X_b</a:t>
            </a:r>
            <a:r>
              <a:rPr lang="en-US" altLang="ko-KR" sz="13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 = </a:t>
            </a:r>
            <a:r>
              <a:rPr lang="en-US" altLang="ko-KR" sz="1300" dirty="0" err="1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np.c</a:t>
            </a:r>
            <a:r>
              <a:rPr lang="en-US" altLang="ko-KR" sz="13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_[</a:t>
            </a:r>
            <a:r>
              <a:rPr lang="en-US" altLang="ko-KR" sz="1300" dirty="0" err="1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np.ones</a:t>
            </a:r>
            <a:r>
              <a:rPr lang="en-US" altLang="ko-KR" sz="13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((100, 1)), X]  # add x0 = 1 to each instance</a:t>
            </a:r>
          </a:p>
          <a:p>
            <a:r>
              <a:rPr lang="en-US" altLang="ko-KR" sz="1300" dirty="0" err="1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theta_best</a:t>
            </a:r>
            <a:r>
              <a:rPr lang="en-US" altLang="ko-KR" sz="13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 = </a:t>
            </a:r>
            <a:r>
              <a:rPr lang="en-US" altLang="ko-KR" sz="1300" dirty="0" err="1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np.linalg.inv</a:t>
            </a:r>
            <a:r>
              <a:rPr lang="en-US" altLang="ko-KR" sz="13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(X_b.T.dot(</a:t>
            </a:r>
            <a:r>
              <a:rPr lang="en-US" altLang="ko-KR" sz="1300" dirty="0" err="1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X_b</a:t>
            </a:r>
            <a:r>
              <a:rPr lang="en-US" altLang="ko-KR" sz="13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)).dot(</a:t>
            </a:r>
            <a:r>
              <a:rPr lang="en-US" altLang="ko-KR" sz="1300" dirty="0" err="1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X_b.T</a:t>
            </a:r>
            <a:r>
              <a:rPr lang="en-US" altLang="ko-KR" sz="13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).dot(y)</a:t>
            </a:r>
          </a:p>
          <a:p>
            <a:br>
              <a:rPr lang="en-US" altLang="ko-KR" sz="13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</a:br>
            <a:r>
              <a:rPr lang="en-US" altLang="ko-KR" sz="13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# Plot the data and regression line</a:t>
            </a:r>
          </a:p>
          <a:p>
            <a:r>
              <a:rPr lang="en-US" altLang="ko-KR" sz="1300" dirty="0" err="1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plt.scatter</a:t>
            </a:r>
            <a:r>
              <a:rPr lang="en-US" altLang="ko-KR" sz="13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(X, y, label='Data')</a:t>
            </a:r>
          </a:p>
          <a:p>
            <a:r>
              <a:rPr lang="en-US" altLang="ko-KR" sz="1300" dirty="0" err="1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plt.plot</a:t>
            </a:r>
            <a:r>
              <a:rPr lang="en-US" altLang="ko-KR" sz="13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(X, X_b.dot(</a:t>
            </a:r>
            <a:r>
              <a:rPr lang="en-US" altLang="ko-KR" sz="1300" dirty="0" err="1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theta_best</a:t>
            </a:r>
            <a:r>
              <a:rPr lang="en-US" altLang="ko-KR" sz="13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), color='red', label='Linear Regression')</a:t>
            </a:r>
          </a:p>
          <a:p>
            <a:r>
              <a:rPr lang="en-US" altLang="ko-KR" sz="1300" dirty="0" err="1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plt.legend</a:t>
            </a:r>
            <a:r>
              <a:rPr lang="en-US" altLang="ko-KR" sz="13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()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D211BA0-9E12-0D58-B113-24EA975B3A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4" y="1127464"/>
            <a:ext cx="8660511" cy="584795"/>
          </a:xfrm>
        </p:spPr>
        <p:txBody>
          <a:bodyPr>
            <a:normAutofit/>
          </a:bodyPr>
          <a:lstStyle/>
          <a:p>
            <a:pPr marL="36900" indent="0" algn="l">
              <a:buNone/>
            </a:pPr>
            <a:r>
              <a:rPr lang="en-US" altLang="ko-KR" sz="2200" dirty="0">
                <a:effectLst/>
              </a:rPr>
              <a:t>2. Least Squares Regression:</a:t>
            </a:r>
          </a:p>
          <a:p>
            <a:pPr marL="36900" indent="0" algn="l">
              <a:buNone/>
            </a:pPr>
            <a:endParaRPr lang="fr-FR" altLang="ko-KR" sz="1300" dirty="0">
              <a:solidFill>
                <a:schemeClr val="tx1"/>
              </a:solidFill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0B637D28-6F52-9C52-834F-AFBD1A4CD2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6968" y="2119264"/>
            <a:ext cx="4645193" cy="3489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5485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900" dirty="0"/>
              <a:t>Machine Learning(1/2)</a:t>
            </a:r>
            <a:endParaRPr lang="ko-KR" altLang="en-US" sz="29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30083FF-10D2-2ABC-E511-20F9827664E0}"/>
              </a:ext>
            </a:extLst>
          </p:cNvPr>
          <p:cNvSpPr txBox="1"/>
          <p:nvPr/>
        </p:nvSpPr>
        <p:spPr>
          <a:xfrm>
            <a:off x="5110480" y="1647905"/>
            <a:ext cx="6687074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3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import </a:t>
            </a:r>
            <a:r>
              <a:rPr lang="en-US" altLang="ko-KR" sz="1300" dirty="0" err="1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numpy</a:t>
            </a:r>
            <a:r>
              <a:rPr lang="en-US" altLang="ko-KR" sz="13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 as np</a:t>
            </a:r>
          </a:p>
          <a:p>
            <a:r>
              <a:rPr lang="en-US" altLang="ko-KR" sz="13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import </a:t>
            </a:r>
            <a:r>
              <a:rPr lang="en-US" altLang="ko-KR" sz="1300" dirty="0" err="1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matplotlib.pyplot</a:t>
            </a:r>
            <a:r>
              <a:rPr lang="en-US" altLang="ko-KR" sz="13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 as </a:t>
            </a:r>
            <a:r>
              <a:rPr lang="en-US" altLang="ko-KR" sz="1300" dirty="0" err="1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plt</a:t>
            </a:r>
            <a:endParaRPr lang="en-US" altLang="ko-KR" sz="1300" dirty="0">
              <a:ln>
                <a:solidFill>
                  <a:schemeClr val="bg1">
                    <a:lumMod val="75000"/>
                    <a:lumOff val="25000"/>
                    <a:alpha val="10000"/>
                  </a:schemeClr>
                </a:solidFill>
              </a:ln>
              <a:latin typeface="Batang" panose="02030600000101010101" pitchFamily="18" charset="-127"/>
              <a:ea typeface="Batang" panose="02030600000101010101" pitchFamily="18" charset="-127"/>
            </a:endParaRPr>
          </a:p>
          <a:p>
            <a:r>
              <a:rPr lang="en-US" altLang="ko-KR" sz="13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from mpl_toolkits.mplot3d import Axes3D  # Import necessary module for 3D projection</a:t>
            </a:r>
          </a:p>
          <a:p>
            <a:r>
              <a:rPr lang="en-US" altLang="ko-KR" sz="13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from </a:t>
            </a:r>
            <a:r>
              <a:rPr lang="en-US" altLang="ko-KR" sz="1300" dirty="0" err="1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sklearn.decomposition</a:t>
            </a:r>
            <a:r>
              <a:rPr lang="en-US" altLang="ko-KR" sz="13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 import PCA</a:t>
            </a:r>
            <a:br>
              <a:rPr lang="en-US" altLang="ko-KR" sz="13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</a:br>
            <a:r>
              <a:rPr lang="en-US" altLang="ko-KR" sz="13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# Generate 3D data</a:t>
            </a:r>
          </a:p>
          <a:p>
            <a:r>
              <a:rPr lang="en-US" altLang="ko-KR" sz="13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data = </a:t>
            </a:r>
            <a:r>
              <a:rPr lang="en-US" altLang="ko-KR" sz="1300" dirty="0" err="1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np.random.multivariate_normal</a:t>
            </a:r>
            <a:r>
              <a:rPr lang="en-US" altLang="ko-KR" sz="13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(mean=[0, 0, 0], </a:t>
            </a:r>
          </a:p>
          <a:p>
            <a:r>
              <a:rPr lang="en-US" altLang="ko-KR" sz="13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                                     </a:t>
            </a:r>
            <a:r>
              <a:rPr lang="en-US" altLang="ko-KR" sz="1300" dirty="0" err="1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cov</a:t>
            </a:r>
            <a:r>
              <a:rPr lang="en-US" altLang="ko-KR" sz="13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=[[1, 0.8, 0.5], [0.8, 1, 0.3], [0.5, 0.3, 1]], </a:t>
            </a:r>
          </a:p>
          <a:p>
            <a:r>
              <a:rPr lang="en-US" altLang="ko-KR" sz="13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                                     size=500)*20</a:t>
            </a:r>
          </a:p>
          <a:p>
            <a:r>
              <a:rPr lang="en-US" altLang="ko-KR" sz="13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# Apply PCA</a:t>
            </a:r>
          </a:p>
          <a:p>
            <a:r>
              <a:rPr lang="en-US" altLang="ko-KR" sz="1300" dirty="0" err="1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pca</a:t>
            </a:r>
            <a:r>
              <a:rPr lang="en-US" altLang="ko-KR" sz="13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 = PCA(</a:t>
            </a:r>
            <a:r>
              <a:rPr lang="en-US" altLang="ko-KR" sz="1300" dirty="0" err="1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n_components</a:t>
            </a:r>
            <a:r>
              <a:rPr lang="en-US" altLang="ko-KR" sz="13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=2)</a:t>
            </a:r>
          </a:p>
          <a:p>
            <a:r>
              <a:rPr lang="en-US" altLang="ko-KR" sz="1300" dirty="0" err="1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transformed_data</a:t>
            </a:r>
            <a:r>
              <a:rPr lang="en-US" altLang="ko-KR" sz="13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 = </a:t>
            </a:r>
            <a:r>
              <a:rPr lang="en-US" altLang="ko-KR" sz="1300" dirty="0" err="1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pca.fit_transform</a:t>
            </a:r>
            <a:r>
              <a:rPr lang="en-US" altLang="ko-KR" sz="13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(data)</a:t>
            </a:r>
            <a:br>
              <a:rPr lang="en-US" altLang="ko-KR" sz="13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</a:br>
            <a:r>
              <a:rPr lang="en-US" altLang="ko-KR" sz="13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# Plot the original and transformed data in 3D</a:t>
            </a:r>
          </a:p>
          <a:p>
            <a:r>
              <a:rPr lang="en-US" altLang="ko-KR" sz="13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fig = </a:t>
            </a:r>
            <a:r>
              <a:rPr lang="en-US" altLang="ko-KR" sz="1300" dirty="0" err="1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plt.figure</a:t>
            </a:r>
            <a:r>
              <a:rPr lang="en-US" altLang="ko-KR" sz="13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()</a:t>
            </a:r>
          </a:p>
          <a:p>
            <a:r>
              <a:rPr lang="en-US" altLang="ko-KR" sz="13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ax = </a:t>
            </a:r>
            <a:r>
              <a:rPr lang="en-US" altLang="ko-KR" sz="1300" dirty="0" err="1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fig.add_subplot</a:t>
            </a:r>
            <a:r>
              <a:rPr lang="en-US" altLang="ko-KR" sz="13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(111, projection='3d')</a:t>
            </a:r>
          </a:p>
          <a:p>
            <a:r>
              <a:rPr lang="en-US" altLang="ko-KR" sz="1300" dirty="0" err="1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ax.scatter</a:t>
            </a:r>
            <a:r>
              <a:rPr lang="en-US" altLang="ko-KR" sz="13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(data[:, 0], data[:, 1], data[:, 2], label='Original Data', alpha = 0.3)</a:t>
            </a:r>
          </a:p>
          <a:p>
            <a:r>
              <a:rPr lang="en-US" altLang="ko-KR" sz="1300" dirty="0" err="1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ax.scatter</a:t>
            </a:r>
            <a:r>
              <a:rPr lang="en-US" altLang="ko-KR" sz="13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(</a:t>
            </a:r>
            <a:r>
              <a:rPr lang="en-US" altLang="ko-KR" sz="1300" dirty="0" err="1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transformed_data</a:t>
            </a:r>
            <a:r>
              <a:rPr lang="en-US" altLang="ko-KR" sz="13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[:, 0], </a:t>
            </a:r>
            <a:r>
              <a:rPr lang="en-US" altLang="ko-KR" sz="1300" dirty="0" err="1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transformed_data</a:t>
            </a:r>
            <a:r>
              <a:rPr lang="en-US" altLang="ko-KR" sz="13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[:, 1], </a:t>
            </a:r>
            <a:r>
              <a:rPr lang="en-US" altLang="ko-KR" sz="1300" dirty="0" err="1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np.zeros_like</a:t>
            </a:r>
            <a:r>
              <a:rPr lang="en-US" altLang="ko-KR" sz="13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(</a:t>
            </a:r>
            <a:r>
              <a:rPr lang="en-US" altLang="ko-KR" sz="1300" dirty="0" err="1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transformed_data</a:t>
            </a:r>
            <a:r>
              <a:rPr lang="en-US" altLang="ko-KR" sz="13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[:, 1]), label='Transformed Data',)</a:t>
            </a:r>
            <a:br>
              <a:rPr lang="en-US" altLang="ko-KR" sz="13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</a:br>
            <a:r>
              <a:rPr lang="en-US" altLang="ko-KR" sz="1300" dirty="0" err="1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ax.set_xlabel</a:t>
            </a:r>
            <a:r>
              <a:rPr lang="en-US" altLang="ko-KR" sz="13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('X’); </a:t>
            </a:r>
            <a:r>
              <a:rPr lang="en-US" altLang="ko-KR" sz="1300" dirty="0" err="1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ax.set_ylabel</a:t>
            </a:r>
            <a:r>
              <a:rPr lang="en-US" altLang="ko-KR" sz="13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('Y’); </a:t>
            </a:r>
            <a:r>
              <a:rPr lang="en-US" altLang="ko-KR" sz="1300" dirty="0" err="1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ax.set_zlabel</a:t>
            </a:r>
            <a:r>
              <a:rPr lang="en-US" altLang="ko-KR" sz="13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('Z')</a:t>
            </a:r>
          </a:p>
          <a:p>
            <a:r>
              <a:rPr lang="en-US" altLang="ko-KR" sz="1300" dirty="0" err="1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ax.legend</a:t>
            </a:r>
            <a:r>
              <a:rPr lang="en-US" altLang="ko-KR" sz="13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()</a:t>
            </a:r>
          </a:p>
          <a:p>
            <a:br>
              <a:rPr lang="en-US" altLang="ko-KR" sz="13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</a:br>
            <a:r>
              <a:rPr lang="en-US" altLang="ko-KR" sz="13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# Adjust the viewing angle</a:t>
            </a:r>
          </a:p>
          <a:p>
            <a:r>
              <a:rPr lang="en-US" altLang="ko-KR" sz="1300" dirty="0" err="1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ax.view_init</a:t>
            </a:r>
            <a:r>
              <a:rPr lang="en-US" altLang="ko-KR" sz="13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(</a:t>
            </a:r>
            <a:r>
              <a:rPr lang="en-US" altLang="ko-KR" sz="1300" dirty="0" err="1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elev</a:t>
            </a:r>
            <a:r>
              <a:rPr lang="en-US" altLang="ko-KR" sz="13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=5, </a:t>
            </a:r>
            <a:r>
              <a:rPr lang="en-US" altLang="ko-KR" sz="1300" dirty="0" err="1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azim</a:t>
            </a:r>
            <a:r>
              <a:rPr lang="en-US" altLang="ko-KR" sz="13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=80)  # Set the elevation and azimuth angles</a:t>
            </a:r>
          </a:p>
          <a:p>
            <a:r>
              <a:rPr lang="en-US" altLang="ko-KR" sz="1300" dirty="0" err="1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plt.show</a:t>
            </a:r>
            <a:r>
              <a:rPr lang="en-US" altLang="ko-KR" sz="13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()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D211BA0-9E12-0D58-B113-24EA975B3A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4" y="1127464"/>
            <a:ext cx="8660511" cy="584795"/>
          </a:xfrm>
        </p:spPr>
        <p:txBody>
          <a:bodyPr>
            <a:normAutofit/>
          </a:bodyPr>
          <a:lstStyle/>
          <a:p>
            <a:pPr marL="36900" indent="0">
              <a:buNone/>
            </a:pPr>
            <a:r>
              <a:rPr lang="en-US" altLang="ko-KR" sz="2200" dirty="0">
                <a:effectLst/>
              </a:rPr>
              <a:t>1. Principal Component Analysis(PCA):</a:t>
            </a:r>
          </a:p>
          <a:p>
            <a:pPr marL="36900" indent="0" algn="l">
              <a:buNone/>
            </a:pPr>
            <a:endParaRPr lang="fr-FR" altLang="ko-KR" sz="1300" dirty="0">
              <a:solidFill>
                <a:schemeClr val="tx1"/>
              </a:solidFill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884CC400-E8E0-1EA9-09C5-E32DC27787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188" y="1793100"/>
            <a:ext cx="3947898" cy="3662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51803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900" dirty="0"/>
              <a:t>Machine Learning(2/2)</a:t>
            </a:r>
            <a:endParaRPr lang="ko-KR" altLang="en-US" sz="29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D211BA0-9E12-0D58-B113-24EA975B3A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4" y="1127464"/>
            <a:ext cx="9998046" cy="584795"/>
          </a:xfrm>
        </p:spPr>
        <p:txBody>
          <a:bodyPr>
            <a:normAutofit/>
          </a:bodyPr>
          <a:lstStyle/>
          <a:p>
            <a:pPr marL="36900" indent="0">
              <a:buNone/>
            </a:pPr>
            <a:r>
              <a:rPr lang="en-US" altLang="ko-KR" sz="2200" dirty="0">
                <a:effectLst/>
              </a:rPr>
              <a:t>2. Singular Value Decomposition (SVD):</a:t>
            </a:r>
          </a:p>
          <a:p>
            <a:pPr marL="36900" indent="0">
              <a:buNone/>
            </a:pPr>
            <a:endParaRPr lang="en-US" altLang="ko-KR" sz="2200" dirty="0">
              <a:effectLst/>
            </a:endParaRPr>
          </a:p>
          <a:p>
            <a:pPr marL="36900" indent="0" algn="l">
              <a:buNone/>
            </a:pPr>
            <a:endParaRPr lang="fr-FR" altLang="ko-KR" sz="1300" dirty="0">
              <a:solidFill>
                <a:schemeClr val="tx1"/>
              </a:solidFill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46ED8A4-C208-67D0-B099-F24B263F03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9033" y="1934201"/>
            <a:ext cx="5191182" cy="2114082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2F1127DD-44D7-255B-8A79-1A234EEBCA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9033" y="4330588"/>
            <a:ext cx="5191182" cy="1868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27676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17</a:t>
            </a:fld>
            <a:endParaRPr 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9121C909-C89C-9ED4-F930-CBE121341F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7520" y="1156490"/>
            <a:ext cx="10045785" cy="3626753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544FA471-0605-8E6D-3555-55B598005FF1}"/>
              </a:ext>
            </a:extLst>
          </p:cNvPr>
          <p:cNvSpPr/>
          <p:nvPr/>
        </p:nvSpPr>
        <p:spPr>
          <a:xfrm>
            <a:off x="3516554" y="2918011"/>
            <a:ext cx="8130989" cy="51098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3FEDD420-6C76-0647-08D3-8F4892D50F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139083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sz="2900" dirty="0"/>
              <a:t>Machine Learning(2/2)</a:t>
            </a:r>
            <a:endParaRPr lang="ko-KR" altLang="en-US" sz="2900" dirty="0"/>
          </a:p>
        </p:txBody>
      </p:sp>
    </p:spTree>
    <p:extLst>
      <p:ext uri="{BB962C8B-B14F-4D97-AF65-F5344CB8AC3E}">
        <p14:creationId xmlns:p14="http://schemas.microsoft.com/office/powerpoint/2010/main" val="31989527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3FEDD420-6C76-0647-08D3-8F4892D50F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139083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sz="2900" dirty="0"/>
              <a:t>Machine Learning(2/2)</a:t>
            </a:r>
            <a:endParaRPr lang="ko-KR" altLang="en-US" sz="29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87B24D-D4DE-DC67-AA26-0344FFFCEC62}"/>
              </a:ext>
            </a:extLst>
          </p:cNvPr>
          <p:cNvSpPr txBox="1"/>
          <p:nvPr/>
        </p:nvSpPr>
        <p:spPr>
          <a:xfrm>
            <a:off x="660400" y="1288762"/>
            <a:ext cx="668528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import </a:t>
            </a:r>
            <a:r>
              <a:rPr lang="en-US" altLang="ko-KR" sz="1600" dirty="0" err="1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numpy</a:t>
            </a:r>
            <a:r>
              <a:rPr lang="en-US" altLang="ko-KR" sz="16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 as np</a:t>
            </a:r>
          </a:p>
          <a:p>
            <a:br>
              <a:rPr lang="en-US" altLang="ko-KR" sz="16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</a:br>
            <a:r>
              <a:rPr lang="en-US" altLang="ko-KR" sz="16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# Generate a matrix</a:t>
            </a:r>
          </a:p>
          <a:p>
            <a:r>
              <a:rPr lang="en-US" altLang="ko-KR" sz="16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A = </a:t>
            </a:r>
            <a:r>
              <a:rPr lang="en-US" altLang="ko-KR" sz="1600" dirty="0" err="1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np.random.rand</a:t>
            </a:r>
            <a:r>
              <a:rPr lang="en-US" altLang="ko-KR" sz="16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(3, 3)</a:t>
            </a:r>
          </a:p>
          <a:p>
            <a:br>
              <a:rPr lang="en-US" altLang="ko-KR" sz="16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</a:br>
            <a:r>
              <a:rPr lang="en-US" altLang="ko-KR" sz="16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# Perform SVD</a:t>
            </a:r>
          </a:p>
          <a:p>
            <a:r>
              <a:rPr lang="en-US" altLang="ko-KR" sz="16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U, S, Vt = </a:t>
            </a:r>
            <a:r>
              <a:rPr lang="en-US" altLang="ko-KR" sz="1600" dirty="0" err="1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np.linalg.svd</a:t>
            </a:r>
            <a:r>
              <a:rPr lang="en-US" altLang="ko-KR" sz="16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(A, </a:t>
            </a:r>
            <a:r>
              <a:rPr lang="en-US" altLang="ko-KR" sz="1600" dirty="0" err="1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full_matrices</a:t>
            </a:r>
            <a:r>
              <a:rPr lang="en-US" altLang="ko-KR" sz="16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=False)</a:t>
            </a:r>
          </a:p>
          <a:p>
            <a:br>
              <a:rPr lang="en-US" altLang="ko-KR" sz="16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</a:br>
            <a:r>
              <a:rPr lang="en-US" altLang="ko-KR" sz="16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# Reconstruct the original matrix</a:t>
            </a:r>
          </a:p>
          <a:p>
            <a:r>
              <a:rPr lang="en-US" altLang="ko-KR" sz="1600" dirty="0" err="1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A_reconstructed</a:t>
            </a:r>
            <a:r>
              <a:rPr lang="en-US" altLang="ko-KR" sz="16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 = U @ </a:t>
            </a:r>
            <a:r>
              <a:rPr lang="en-US" altLang="ko-KR" sz="1600" dirty="0" err="1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np.diag</a:t>
            </a:r>
            <a:r>
              <a:rPr lang="en-US" altLang="ko-KR" sz="16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(S) @ Vt</a:t>
            </a:r>
          </a:p>
          <a:p>
            <a:br>
              <a:rPr lang="en-US" altLang="ko-KR" sz="16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</a:br>
            <a:r>
              <a:rPr lang="en-US" altLang="ko-KR" sz="16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print("Original Matrix:")</a:t>
            </a:r>
          </a:p>
          <a:p>
            <a:r>
              <a:rPr lang="en-US" altLang="ko-KR" sz="16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print(A)</a:t>
            </a:r>
          </a:p>
          <a:p>
            <a:r>
              <a:rPr lang="en-US" altLang="ko-KR" sz="16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print("\</a:t>
            </a:r>
            <a:r>
              <a:rPr lang="en-US" altLang="ko-KR" sz="1600" dirty="0" err="1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nReconstructed</a:t>
            </a:r>
            <a:r>
              <a:rPr lang="en-US" altLang="ko-KR" sz="16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 Matrix:")</a:t>
            </a:r>
          </a:p>
          <a:p>
            <a:r>
              <a:rPr lang="en-US" altLang="ko-KR" sz="16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print(</a:t>
            </a:r>
            <a:r>
              <a:rPr lang="en-US" altLang="ko-KR" sz="1600" dirty="0" err="1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A_reconstructed</a:t>
            </a:r>
            <a:r>
              <a:rPr lang="en-US" altLang="ko-KR" sz="16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)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2ACBECF-C3A7-A000-B7AC-908A2CE1CB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9912" y="1124960"/>
            <a:ext cx="6216973" cy="223785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2A09A4A-AB14-5C62-A6CD-279DFDDCDA86}"/>
              </a:ext>
            </a:extLst>
          </p:cNvPr>
          <p:cNvSpPr txBox="1"/>
          <p:nvPr/>
        </p:nvSpPr>
        <p:spPr>
          <a:xfrm>
            <a:off x="5779912" y="3910499"/>
            <a:ext cx="469924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altLang="ko-KR" sz="16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Original Matrix: </a:t>
            </a:r>
          </a:p>
          <a:p>
            <a:r>
              <a:rPr lang="fr-FR" altLang="ko-KR" sz="16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[[0.40895294 0.17329432 0.15643704]   </a:t>
            </a:r>
          </a:p>
          <a:p>
            <a:r>
              <a:rPr lang="fr-FR" altLang="ko-KR" sz="16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  [0.2502429 0.54922666 0.71459592] </a:t>
            </a:r>
          </a:p>
          <a:p>
            <a:r>
              <a:rPr lang="fr-FR" altLang="ko-KR" sz="16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  [0.66019738 0.2799339 0.95486528]]</a:t>
            </a:r>
          </a:p>
          <a:p>
            <a:r>
              <a:rPr lang="fr-FR" altLang="ko-KR" sz="16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 </a:t>
            </a:r>
          </a:p>
          <a:p>
            <a:r>
              <a:rPr lang="fr-FR" altLang="ko-KR" sz="16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Reconstructed Matrix: </a:t>
            </a:r>
          </a:p>
          <a:p>
            <a:r>
              <a:rPr lang="fr-FR" altLang="ko-KR" sz="16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[[0.40895294 0.17329432 0.15643704] </a:t>
            </a:r>
          </a:p>
          <a:p>
            <a:r>
              <a:rPr lang="fr-FR" altLang="ko-KR" sz="16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  [0.2502429 0.54922666 0.71459592] </a:t>
            </a:r>
          </a:p>
          <a:p>
            <a:r>
              <a:rPr lang="fr-FR" altLang="ko-KR" sz="16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latin typeface="Batang" panose="02030600000101010101" pitchFamily="18" charset="-127"/>
                <a:ea typeface="Batang" panose="02030600000101010101" pitchFamily="18" charset="-127"/>
              </a:rPr>
              <a:t> [0.66019738 0.2799339 0.95486528]]</a:t>
            </a:r>
            <a:endParaRPr lang="ko-KR" altLang="en-US" sz="1600" dirty="0">
              <a:ln>
                <a:solidFill>
                  <a:schemeClr val="bg1">
                    <a:lumMod val="75000"/>
                    <a:lumOff val="25000"/>
                    <a:alpha val="10000"/>
                  </a:schemeClr>
                </a:solidFill>
              </a:ln>
              <a:latin typeface="Batang" panose="02030600000101010101" pitchFamily="18" charset="-127"/>
              <a:ea typeface="Batang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039505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DC9B65-F8EA-6AA1-1DA5-2D80DF7BED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256568"/>
            <a:ext cx="10364451" cy="514958"/>
          </a:xfrm>
        </p:spPr>
        <p:txBody>
          <a:bodyPr>
            <a:normAutofit fontScale="90000"/>
          </a:bodyPr>
          <a:lstStyle/>
          <a:p>
            <a:r>
              <a:rPr lang="ko-KR" altLang="en-US" dirty="0"/>
              <a:t>대수</a:t>
            </a:r>
            <a:r>
              <a:rPr lang="en-US" altLang="ko-KR" dirty="0"/>
              <a:t>(algebra)</a:t>
            </a:r>
            <a:endParaRPr lang="ko-KR" altLang="en-US" dirty="0"/>
          </a:p>
        </p:txBody>
      </p:sp>
      <p:sp>
        <p:nvSpPr>
          <p:cNvPr id="12" name="내용 개체 틀 11">
            <a:extLst>
              <a:ext uri="{FF2B5EF4-FFF2-40B4-BE49-F238E27FC236}">
                <a16:creationId xmlns:a16="http://schemas.microsoft.com/office/drawing/2014/main" id="{8F94065A-3B86-1519-6348-51928857D09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774" y="1243143"/>
            <a:ext cx="10363826" cy="1061908"/>
          </a:xfrm>
        </p:spPr>
        <p:txBody>
          <a:bodyPr/>
          <a:lstStyle/>
          <a:p>
            <a:r>
              <a:rPr lang="en-US" altLang="ko-KR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Algebra</a:t>
            </a:r>
            <a:r>
              <a:rPr lang="ko-KR" alt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는 </a:t>
            </a:r>
            <a:r>
              <a:rPr lang="ko-KR" altLang="en-US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기호</a:t>
            </a:r>
            <a:r>
              <a:rPr lang="en-US" altLang="ko-KR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(symbol) ↔ </a:t>
            </a:r>
            <a:r>
              <a:rPr lang="ko-KR" altLang="en-US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값</a:t>
            </a:r>
            <a:r>
              <a:rPr lang="en-US" altLang="ko-KR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(value)</a:t>
            </a:r>
            <a:r>
              <a:rPr lang="ko-KR" alt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의 관계를 다루고</a:t>
            </a:r>
            <a:r>
              <a:rPr lang="en-US" altLang="ko-KR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,</a:t>
            </a:r>
          </a:p>
          <a:p>
            <a:r>
              <a:rPr lang="en-US" altLang="ko-KR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Python namespace</a:t>
            </a:r>
            <a:r>
              <a:rPr lang="ko-KR" alt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는 </a:t>
            </a:r>
            <a:r>
              <a:rPr lang="ko-KR" altLang="en-US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이름</a:t>
            </a:r>
            <a:r>
              <a:rPr lang="en-US" altLang="ko-KR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(name) ↔ </a:t>
            </a:r>
            <a:r>
              <a:rPr lang="ko-KR" altLang="en-US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객체</a:t>
            </a:r>
            <a:r>
              <a:rPr lang="en-US" altLang="ko-KR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(object)</a:t>
            </a:r>
            <a:r>
              <a:rPr lang="ko-KR" alt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의 매핑을 관리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1DB9E3E-3577-1260-128B-9898F7CF9E9C}"/>
                  </a:ext>
                </a:extLst>
              </p:cNvPr>
              <p:cNvSpPr txBox="1"/>
              <p:nvPr/>
            </p:nvSpPr>
            <p:spPr>
              <a:xfrm>
                <a:off x="1114424" y="2588389"/>
                <a:ext cx="4200525" cy="3185616"/>
              </a:xfrm>
              <a:prstGeom prst="rect">
                <a:avLst/>
              </a:prstGeom>
              <a:solidFill>
                <a:srgbClr val="FFC000"/>
              </a:solidFill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ko-KR" sz="2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Algebra </a:t>
                </a:r>
                <a:r>
                  <a:rPr lang="ko-KR" altLang="en-US" sz="2000" dirty="0">
                    <a:latin typeface="Cambria Math" panose="02040503050406030204" pitchFamily="18" charset="0"/>
                  </a:rPr>
                  <a:t>관점에서 보기</a:t>
                </a:r>
                <a:endParaRPr lang="en-US" altLang="ko-KR" sz="2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:endParaRPr lang="en-US" altLang="ko-KR" sz="2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ko-KR" altLang="en-US" sz="16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ko-KR" sz="16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=3</m:t>
                    </m:r>
                  </m:oMath>
                </a14:m>
                <a:endParaRPr lang="ko-KR" altLang="en-US" sz="1600" dirty="0">
                  <a:latin typeface="Cambria Math" panose="02040503050406030204" pitchFamily="18" charset="0"/>
                </a:endParaRP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ko-KR" altLang="en-US" sz="16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ko-KR" sz="16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ko-KR" altLang="en-US" sz="16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ko-KR" sz="16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+2</m:t>
                    </m:r>
                  </m:oMath>
                </a14:m>
                <a:endParaRPr lang="en-US" altLang="ko-KR" sz="16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endParaRPr lang="en-US" altLang="ko-KR" sz="16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en-US" altLang="ko-KR" sz="16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x</a:t>
                </a:r>
                <a:r>
                  <a:rPr lang="ko-KR" altLang="en-US" sz="1600" dirty="0">
                    <a:latin typeface="Cambria Math" panose="02040503050406030204" pitchFamily="18" charset="0"/>
                  </a:rPr>
                  <a:t>는 이름</a:t>
                </a:r>
                <a:r>
                  <a:rPr lang="en-US" altLang="ko-KR" sz="16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ko-KR" altLang="en-US" sz="1600" dirty="0">
                    <a:latin typeface="Cambria Math" panose="02040503050406030204" pitchFamily="18" charset="0"/>
                  </a:rPr>
                  <a:t>기호</a:t>
                </a:r>
                <a:r>
                  <a:rPr lang="en-US" altLang="ko-KR" sz="16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), 3</a:t>
                </a:r>
                <a:r>
                  <a:rPr lang="ko-KR" altLang="en-US" sz="1600" dirty="0">
                    <a:latin typeface="Cambria Math" panose="02040503050406030204" pitchFamily="18" charset="0"/>
                  </a:rPr>
                  <a:t>은 값 </a:t>
                </a: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en-US" altLang="ko-KR" sz="16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x</a:t>
                </a:r>
                <a:r>
                  <a:rPr lang="ko-KR" altLang="en-US" sz="1600" dirty="0">
                    <a:latin typeface="Cambria Math" panose="02040503050406030204" pitchFamily="18" charset="0"/>
                  </a:rPr>
                  <a:t>는 </a:t>
                </a:r>
                <a:r>
                  <a:rPr lang="en-US" altLang="ko-KR" sz="16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3</a:t>
                </a:r>
                <a:r>
                  <a:rPr lang="ko-KR" altLang="en-US" sz="1600" dirty="0">
                    <a:latin typeface="Cambria Math" panose="02040503050406030204" pitchFamily="18" charset="0"/>
                  </a:rPr>
                  <a:t>을 “참조” 즉</a:t>
                </a:r>
                <a:r>
                  <a:rPr lang="en-US" altLang="ko-KR" sz="16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ko-KR" altLang="en-US" sz="1600" dirty="0">
                    <a:latin typeface="Cambria Math" panose="02040503050406030204" pitchFamily="18" charset="0"/>
                  </a:rPr>
                  <a:t>기호 → 값으로 매핑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1DB9E3E-3577-1260-128B-9898F7CF9E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4424" y="2588389"/>
                <a:ext cx="4200525" cy="3185616"/>
              </a:xfrm>
              <a:prstGeom prst="rect">
                <a:avLst/>
              </a:prstGeom>
              <a:blipFill>
                <a:blip r:embed="rId2"/>
                <a:stretch>
                  <a:fillRect l="-1597" b="-15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BB6EF32-8427-BBBA-0DE1-7EADCB0C34DF}"/>
                  </a:ext>
                </a:extLst>
              </p:cNvPr>
              <p:cNvSpPr txBox="1"/>
              <p:nvPr/>
            </p:nvSpPr>
            <p:spPr>
              <a:xfrm>
                <a:off x="6095687" y="2588389"/>
                <a:ext cx="4562788" cy="3179909"/>
              </a:xfrm>
              <a:prstGeom prst="rect">
                <a:avLst/>
              </a:prstGeom>
              <a:solidFill>
                <a:srgbClr val="FFC000"/>
              </a:solidFill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ko-KR" sz="2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Python Namespace </a:t>
                </a:r>
                <a:r>
                  <a:rPr lang="ko-KR" altLang="en-US" sz="2000" dirty="0">
                    <a:latin typeface="Cambria Math" panose="02040503050406030204" pitchFamily="18" charset="0"/>
                  </a:rPr>
                  <a:t>구조</a:t>
                </a:r>
                <a:endParaRPr lang="en-US" altLang="ko-KR" sz="2000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:endParaRPr lang="ko-KR" altLang="en-US" sz="1600" dirty="0">
                  <a:latin typeface="Cambria Math" panose="02040503050406030204" pitchFamily="18" charset="0"/>
                </a:endParaRP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ko-KR" altLang="en-US" sz="16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ko-KR" sz="16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lang="ko-KR" altLang="en-US" sz="1600" dirty="0">
                    <a:latin typeface="Cambria Math" panose="02040503050406030204" pitchFamily="18" charset="0"/>
                  </a:rPr>
                  <a:t>    </a:t>
                </a:r>
                <a:r>
                  <a:rPr lang="en-US" altLang="ko-KR" sz="1600" dirty="0">
                    <a:latin typeface="Cambria Math" panose="02040503050406030204" pitchFamily="18" charset="0"/>
                  </a:rPr>
                  <a:t># 3(class)</a:t>
                </a:r>
                <a:r>
                  <a:rPr lang="ko-KR" altLang="en-US" sz="1600" dirty="0">
                    <a:latin typeface="Cambria Math" panose="02040503050406030204" pitchFamily="18" charset="0"/>
                  </a:rPr>
                  <a:t>를 </a:t>
                </a:r>
                <a14:m>
                  <m:oMath xmlns:m="http://schemas.openxmlformats.org/officeDocument/2006/math">
                    <m:r>
                      <a:rPr lang="ko-KR" altLang="en-US" sz="16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ko-KR" altLang="en-US" sz="1600" dirty="0">
                    <a:latin typeface="Cambria Math" panose="02040503050406030204" pitchFamily="18" charset="0"/>
                  </a:rPr>
                  <a:t>가 객체화</a:t>
                </a: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ko-KR" altLang="en-US" sz="16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ko-KR" sz="16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ko-KR" altLang="en-US" sz="16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ko-KR" sz="16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+2</m:t>
                    </m:r>
                  </m:oMath>
                </a14:m>
                <a:endParaRPr lang="en-US" altLang="ko-KR" sz="16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endParaRPr lang="en-US" altLang="ko-KR" sz="16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en-US" altLang="ko-KR" sz="16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x</a:t>
                </a:r>
                <a:r>
                  <a:rPr lang="ko-KR" altLang="en-US" sz="1600" dirty="0">
                    <a:latin typeface="Cambria Math" panose="02040503050406030204" pitchFamily="18" charset="0"/>
                  </a:rPr>
                  <a:t> → </a:t>
                </a:r>
                <a:r>
                  <a:rPr lang="en-US" altLang="ko-KR" sz="16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3 </a:t>
                </a:r>
                <a:r>
                  <a:rPr lang="ko-KR" altLang="en-US" sz="1600" dirty="0">
                    <a:latin typeface="Cambria Math" panose="02040503050406030204" pitchFamily="18" charset="0"/>
                  </a:rPr>
                  <a:t>객체를</a:t>
                </a:r>
                <a:r>
                  <a:rPr lang="en-US" altLang="ko-KR" sz="1600" dirty="0">
                    <a:latin typeface="Cambria Math" panose="02040503050406030204" pitchFamily="18" charset="0"/>
                  </a:rPr>
                  <a:t>,  </a:t>
                </a:r>
                <a:r>
                  <a:rPr lang="en-US" altLang="ko-KR" sz="16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y</a:t>
                </a:r>
                <a:r>
                  <a:rPr lang="ko-KR" altLang="en-US" sz="1600" dirty="0">
                    <a:latin typeface="Cambria Math" panose="02040503050406030204" pitchFamily="18" charset="0"/>
                  </a:rPr>
                  <a:t> → </a:t>
                </a:r>
                <a:r>
                  <a:rPr lang="en-US" altLang="ko-KR" sz="16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5 </a:t>
                </a:r>
                <a:r>
                  <a:rPr lang="ko-KR" altLang="en-US" sz="1600" dirty="0">
                    <a:latin typeface="Cambria Math" panose="02040503050406030204" pitchFamily="18" charset="0"/>
                  </a:rPr>
                  <a:t>객체를 가리킴 </a:t>
                </a: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ko-KR" altLang="en-US" sz="1600" dirty="0">
                    <a:latin typeface="Cambria Math" panose="02040503050406030204" pitchFamily="18" charset="0"/>
                  </a:rPr>
                  <a:t>이걸 저장하는 공간이 </a:t>
                </a:r>
                <a:r>
                  <a:rPr lang="en-US" altLang="ko-KR" sz="16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namespace</a:t>
                </a:r>
                <a:endParaRPr lang="ko-KR" altLang="en-US" sz="1600" dirty="0">
                  <a:latin typeface="Cambria Math" panose="02040503050406030204" pitchFamily="18" charset="0"/>
                </a:endParaRP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ko-KR" altLang="en-US" sz="1600" dirty="0">
                    <a:latin typeface="Cambria Math" panose="02040503050406030204" pitchFamily="18" charset="0"/>
                  </a:rPr>
                  <a:t>이름</a:t>
                </a:r>
                <a:r>
                  <a:rPr lang="en-US" altLang="ko-KR" sz="16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(name) → </a:t>
                </a:r>
                <a:r>
                  <a:rPr lang="ko-KR" altLang="en-US" sz="1600" dirty="0">
                    <a:latin typeface="Cambria Math" panose="02040503050406030204" pitchFamily="18" charset="0"/>
                  </a:rPr>
                  <a:t>객체</a:t>
                </a:r>
                <a:r>
                  <a:rPr lang="en-US" altLang="ko-KR" sz="16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(object)</a:t>
                </a:r>
                <a:r>
                  <a:rPr lang="ko-KR" altLang="en-US" sz="1600" dirty="0">
                    <a:latin typeface="Cambria Math" panose="02040503050406030204" pitchFamily="18" charset="0"/>
                  </a:rPr>
                  <a:t> 매핑 테이블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BB6EF32-8427-BBBA-0DE1-7EADCB0C34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5687" y="2588389"/>
                <a:ext cx="4562788" cy="3179909"/>
              </a:xfrm>
              <a:prstGeom prst="rect">
                <a:avLst/>
              </a:prstGeom>
              <a:blipFill>
                <a:blip r:embed="rId3"/>
                <a:stretch>
                  <a:fillRect l="-147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03977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6BE0C7-8609-6D65-19A9-8E7645A55E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40955959-D6AE-86A3-75EF-BA7993E3B175}"/>
              </a:ext>
            </a:extLst>
          </p:cNvPr>
          <p:cNvSpPr/>
          <p:nvPr/>
        </p:nvSpPr>
        <p:spPr>
          <a:xfrm>
            <a:off x="636521" y="1646709"/>
            <a:ext cx="8136904" cy="48832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25F22C6-1AF1-442F-1ED8-59ADC941BCAB}"/>
              </a:ext>
            </a:extLst>
          </p:cNvPr>
          <p:cNvSpPr txBox="1"/>
          <p:nvPr/>
        </p:nvSpPr>
        <p:spPr>
          <a:xfrm>
            <a:off x="1629916" y="147612"/>
            <a:ext cx="8928992" cy="33066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  <a:spcBef>
                <a:spcPts val="600"/>
              </a:spcBef>
            </a:pPr>
            <a:r>
              <a:rPr lang="ko-KR" altLang="en-US" sz="4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목차</a:t>
            </a:r>
            <a:endParaRPr lang="en-US" altLang="ko-KR" sz="4000" b="1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  <a:p>
            <a:pPr marL="514350" indent="-514350">
              <a:lnSpc>
                <a:spcPct val="200000"/>
              </a:lnSpc>
              <a:spcBef>
                <a:spcPts val="600"/>
              </a:spcBef>
              <a:buAutoNum type="arabicPeriod"/>
            </a:pPr>
            <a:r>
              <a:rPr lang="en-US" altLang="ko-KR" sz="2000" b="1" dirty="0" err="1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Numpy</a:t>
            </a:r>
            <a:r>
              <a:rPr lang="ko-KR" altLang="en-US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 </a:t>
            </a:r>
            <a:endParaRPr lang="en-US" altLang="ko-KR" sz="2000" b="1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  <a:p>
            <a:pPr marL="514350" indent="-514350">
              <a:lnSpc>
                <a:spcPct val="200000"/>
              </a:lnSpc>
              <a:spcBef>
                <a:spcPts val="600"/>
              </a:spcBef>
              <a:buAutoNum type="arabicPeriod"/>
            </a:pPr>
            <a:r>
              <a:rPr lang="ko-KR" altLang="en-US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선형변환</a:t>
            </a:r>
            <a:r>
              <a:rPr lang="en-US" altLang="ko-KR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(Linear Transformation)</a:t>
            </a:r>
          </a:p>
          <a:p>
            <a:pPr marL="514350" indent="-514350">
              <a:lnSpc>
                <a:spcPct val="200000"/>
              </a:lnSpc>
              <a:spcBef>
                <a:spcPts val="600"/>
              </a:spcBef>
              <a:buAutoNum type="arabicPeriod"/>
            </a:pPr>
            <a:r>
              <a:rPr lang="ko-KR" altLang="en-US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주성분 분석</a:t>
            </a:r>
            <a:r>
              <a:rPr lang="en-US" altLang="ko-KR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(Principal Component Analysis)</a:t>
            </a:r>
          </a:p>
        </p:txBody>
      </p:sp>
    </p:spTree>
    <p:extLst>
      <p:ext uri="{BB962C8B-B14F-4D97-AF65-F5344CB8AC3E}">
        <p14:creationId xmlns:p14="http://schemas.microsoft.com/office/powerpoint/2010/main" val="31254290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1B0106-250C-EDA4-CFBA-23A14D2483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E97C0B-D82D-3948-18EA-EA57EC29E0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주성분</a:t>
            </a:r>
            <a:r>
              <a:rPr lang="en-US" altLang="ko-KR" dirty="0"/>
              <a:t>(Principal component)</a:t>
            </a:r>
            <a:endParaRPr lang="ko-KR" altLang="en-US" dirty="0"/>
          </a:p>
        </p:txBody>
      </p:sp>
      <p:pic>
        <p:nvPicPr>
          <p:cNvPr id="4102" name="Picture 6">
            <a:extLst>
              <a:ext uri="{FF2B5EF4-FFF2-40B4-BE49-F238E27FC236}">
                <a16:creationId xmlns:a16="http://schemas.microsoft.com/office/drawing/2014/main" id="{EC556570-9556-C9E9-F483-2FA62BEA55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763" y="1647825"/>
            <a:ext cx="6257925" cy="4171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5238951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7D4C6D7-90E2-02DD-095D-F5CFC88C50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행렬변환에 의한 기저좌표의 변화</a:t>
            </a:r>
          </a:p>
        </p:txBody>
      </p:sp>
      <p:pic>
        <p:nvPicPr>
          <p:cNvPr id="3078" name="Picture 6">
            <a:extLst>
              <a:ext uri="{FF2B5EF4-FFF2-40B4-BE49-F238E27FC236}">
                <a16:creationId xmlns:a16="http://schemas.microsoft.com/office/drawing/2014/main" id="{8661F9D4-6959-ECD9-DFE2-38BAFFAD0C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476" y="2214694"/>
            <a:ext cx="5581650" cy="3562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>
            <a:extLst>
              <a:ext uri="{FF2B5EF4-FFF2-40B4-BE49-F238E27FC236}">
                <a16:creationId xmlns:a16="http://schemas.microsoft.com/office/drawing/2014/main" id="{537BC7C1-934D-9636-2C4B-CD031F9EC6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5848" y="1776923"/>
            <a:ext cx="5581651" cy="40001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8511062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6D487E-2A47-66D1-E5D6-203622E2BC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주성분분석</a:t>
            </a: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9F8F0A64-97F6-9176-29ED-C3A737B3980D}"/>
              </a:ext>
            </a:extLst>
          </p:cNvPr>
          <p:cNvPicPr>
            <a:picLocks noGrp="1" noChangeAspect="1" noChangeArrowheads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0582" y="2366963"/>
            <a:ext cx="6869311" cy="42529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4739909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495A05-AD8A-4312-2266-14EB3FF74F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9996B7-68D5-154D-EEB6-A81286B778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>
                <a:hlinkClick r:id="rId2"/>
              </a:rPr>
              <a:t>Eigenvalues_and_eigenvectors</a:t>
            </a:r>
            <a:endParaRPr lang="ko-KR" altLang="en-US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1EC2804F-41A4-5101-2BDC-FC966F15EAEB}"/>
              </a:ext>
            </a:extLst>
          </p:cNvPr>
          <p:cNvPicPr>
            <a:picLocks noGrp="1" noChangeAspect="1" noChangeArrowheads="1"/>
          </p:cNvPicPr>
          <p:nvPr>
            <p:ph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1524" y="2214694"/>
            <a:ext cx="5774697" cy="40247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>
            <a:extLst>
              <a:ext uri="{FF2B5EF4-FFF2-40B4-BE49-F238E27FC236}">
                <a16:creationId xmlns:a16="http://schemas.microsoft.com/office/drawing/2014/main" id="{1656C6E6-6881-C1B3-F43B-81E4D1656F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0424" y="1978912"/>
            <a:ext cx="4210051" cy="42605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86602098"/>
      </p:ext>
    </p:extLst>
  </p:cSld>
  <p:clrMapOvr>
    <a:masterClrMapping/>
  </p:clrMapOvr>
</p:sld>
</file>

<file path=ppt/theme/theme1.xml><?xml version="1.0" encoding="utf-8"?>
<a:theme xmlns:a="http://schemas.openxmlformats.org/drawingml/2006/main" name="물방울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{1CC570B9-0437-4096-963A-AEC0F46B8FA6}TF62d0d592-7ac2-4846-a919-75806e8bead4bfbc838d-5dafd7656617</Template>
  <TotalTime>1665</TotalTime>
  <Words>2133</Words>
  <Application>Microsoft Office PowerPoint</Application>
  <PresentationFormat>와이드스크린</PresentationFormat>
  <Paragraphs>273</Paragraphs>
  <Slides>24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24</vt:i4>
      </vt:variant>
    </vt:vector>
  </HeadingPairs>
  <TitlesOfParts>
    <vt:vector size="33" baseType="lpstr">
      <vt:lpstr>맑은 고딕</vt:lpstr>
      <vt:lpstr>Batang</vt:lpstr>
      <vt:lpstr>한컴 말랑말랑 Bold</vt:lpstr>
      <vt:lpstr>Arial</vt:lpstr>
      <vt:lpstr>Calibri Light</vt:lpstr>
      <vt:lpstr>Cambria Math</vt:lpstr>
      <vt:lpstr>Tw Cen MT</vt:lpstr>
      <vt:lpstr>Wingdings</vt:lpstr>
      <vt:lpstr>물방울</vt:lpstr>
      <vt:lpstr>행렬과 벡터 응용</vt:lpstr>
      <vt:lpstr>PowerPoint 프레젠테이션</vt:lpstr>
      <vt:lpstr>Learning Objectives</vt:lpstr>
      <vt:lpstr>Norm</vt:lpstr>
      <vt:lpstr>1-Norm</vt:lpstr>
      <vt:lpstr>2-Norm</vt:lpstr>
      <vt:lpstr>Lasso, Ridge Penalty in machine learning</vt:lpstr>
      <vt:lpstr>Vector norms</vt:lpstr>
      <vt:lpstr>Python code</vt:lpstr>
      <vt:lpstr>Learning Objectives</vt:lpstr>
      <vt:lpstr>Geometry(1/2)</vt:lpstr>
      <vt:lpstr>Geometry(2/2)</vt:lpstr>
      <vt:lpstr>Optimization(1/2)</vt:lpstr>
      <vt:lpstr>Optimization(2/2)</vt:lpstr>
      <vt:lpstr>Machine Learning(1/2)</vt:lpstr>
      <vt:lpstr>Machine Learning(2/2)</vt:lpstr>
      <vt:lpstr>Machine Learning(2/2)</vt:lpstr>
      <vt:lpstr>Machine Learning(2/2)</vt:lpstr>
      <vt:lpstr>대수(algebra)</vt:lpstr>
      <vt:lpstr>PowerPoint 프레젠테이션</vt:lpstr>
      <vt:lpstr>주성분(Principal component)</vt:lpstr>
      <vt:lpstr>행렬변환에 의한 기저좌표의 변화</vt:lpstr>
      <vt:lpstr>주성분분석</vt:lpstr>
      <vt:lpstr>Eigenvalues_and_eigenvectors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Sanggoo Cho</dc:creator>
  <cp:lastModifiedBy>조상구</cp:lastModifiedBy>
  <cp:revision>20</cp:revision>
  <dcterms:created xsi:type="dcterms:W3CDTF">2026-03-09T22:59:08Z</dcterms:created>
  <dcterms:modified xsi:type="dcterms:W3CDTF">2026-03-23T02:22:01Z</dcterms:modified>
</cp:coreProperties>
</file>