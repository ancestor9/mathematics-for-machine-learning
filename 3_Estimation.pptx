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56" r:id="rId5"/>
    <p:sldId id="270" r:id="rId6"/>
    <p:sldId id="271" r:id="rId7"/>
    <p:sldId id="272" r:id="rId8"/>
    <p:sldId id="273" r:id="rId9"/>
    <p:sldId id="274" r:id="rId10"/>
    <p:sldId id="282" r:id="rId11"/>
    <p:sldId id="275" r:id="rId12"/>
    <p:sldId id="280" r:id="rId13"/>
    <p:sldId id="277" r:id="rId14"/>
    <p:sldId id="276" r:id="rId15"/>
    <p:sldId id="278" r:id="rId16"/>
    <p:sldId id="279" r:id="rId17"/>
    <p:sldId id="281" r:id="rId18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1925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2026-03-02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2026-03-02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41281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6356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28113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92375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E48B6-8181-F485-483D-74B530894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A4750D-9A32-1465-3219-6D24F3105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012341-B157-0FA0-B642-6A8375F855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637A8C-9EC5-48D4-4FED-AD011394FD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0686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28120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23678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93918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49612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3997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45868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1553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2026-03-02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2026-03-02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2026-03-02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2026-03-02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2026-03-02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2026-03-02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hyperlink" Target="https://www.mathsisfun.com/data/standard-normal-distribution.htm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ikidocs.net/163985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reamstime.com/illustration/ringer-horseshoe-game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blog.naver.com/angryking/222425038366" TargetMode="Externa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추정</a:t>
            </a:r>
            <a:r>
              <a:rPr lang="en-US" altLang="ko-KR" sz="3200" b="1" dirty="0"/>
              <a:t>(Estimation)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pic>
        <p:nvPicPr>
          <p:cNvPr id="11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0051" y="1610634"/>
            <a:ext cx="7704856" cy="4481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/>
          <p:cNvSpPr/>
          <p:nvPr/>
        </p:nvSpPr>
        <p:spPr>
          <a:xfrm>
            <a:off x="981844" y="4626133"/>
            <a:ext cx="1872629" cy="86177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/>
              <a:t>모수</a:t>
            </a:r>
            <a:r>
              <a:rPr lang="ko-KR" altLang="en-US" b="1" dirty="0"/>
              <a:t> </a:t>
            </a:r>
            <a:r>
              <a:rPr lang="en-US" altLang="ko-KR" b="1" dirty="0"/>
              <a:t>(parameter)</a:t>
            </a:r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모집단 평균</a:t>
            </a:r>
            <a:endParaRPr lang="en-US" altLang="ko-KR" sz="1600" b="1" dirty="0"/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모집단</a:t>
            </a:r>
            <a:r>
              <a:rPr lang="en-US" altLang="ko-KR" sz="1600" b="1" dirty="0"/>
              <a:t> </a:t>
            </a:r>
            <a:r>
              <a:rPr lang="ko-KR" altLang="en-US" sz="1600" b="1" dirty="0"/>
              <a:t>분산</a:t>
            </a:r>
            <a:endParaRPr lang="ko-KR" altLang="en-US" sz="1600" dirty="0"/>
          </a:p>
        </p:txBody>
      </p:sp>
      <p:sp>
        <p:nvSpPr>
          <p:cNvPr id="15" name="직사각형 14"/>
          <p:cNvSpPr/>
          <p:nvPr/>
        </p:nvSpPr>
        <p:spPr>
          <a:xfrm>
            <a:off x="9766820" y="4070813"/>
            <a:ext cx="1566454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표본 통계량</a:t>
            </a:r>
            <a:endParaRPr lang="en-US" altLang="ko-KR" sz="1600" b="1" dirty="0"/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표본 평균</a:t>
            </a:r>
            <a:endParaRPr lang="en-US" altLang="ko-KR" sz="1600" b="1" dirty="0"/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표본 분산 등</a:t>
            </a:r>
            <a:endParaRPr lang="ko-KR" altLang="en-US" sz="16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881" y="143802"/>
            <a:ext cx="8954657" cy="736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40960" cy="5660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515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462445"/>
            <a:ext cx="8744729" cy="5858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400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908720"/>
            <a:ext cx="8466391" cy="518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005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980728"/>
            <a:ext cx="9513061" cy="158417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52" y="4293096"/>
            <a:ext cx="3352667" cy="10915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09836" y="3573016"/>
            <a:ext cx="11161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2400" b="1" dirty="0"/>
              <a:t>모집단 평균에 대한 </a:t>
            </a:r>
            <a:r>
              <a:rPr lang="ko-KR" altLang="en-US" sz="2400" b="1" dirty="0" err="1"/>
              <a:t>불편추정량</a:t>
            </a:r>
            <a:r>
              <a:rPr lang="en-US" altLang="ko-KR" sz="2400" b="1" dirty="0"/>
              <a:t>(Unbiased Estimator of</a:t>
            </a:r>
            <a:r>
              <a:rPr lang="ko-KR" altLang="en-US" sz="2400" b="1" dirty="0"/>
              <a:t> </a:t>
            </a:r>
            <a:r>
              <a:rPr lang="az-Cyrl-AZ" altLang="ko-KR" sz="2400" b="1" dirty="0"/>
              <a:t>Ѳ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은 </a:t>
            </a:r>
            <a:r>
              <a:rPr lang="ko-KR" altLang="en-US" sz="2400" b="1" dirty="0" err="1"/>
              <a:t>표본평균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648513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9E9C0-81B0-8C4F-5C8C-787A71062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BD3D25E-EFF0-5F40-330C-23098F2AD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0AEC730-96C0-FDED-EAAB-33E4F3BFD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91" y="1275706"/>
            <a:ext cx="1882303" cy="80016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B8A57C6-BE01-3B58-9166-EA79E5C13F5A}"/>
              </a:ext>
            </a:extLst>
          </p:cNvPr>
          <p:cNvSpPr txBox="1"/>
          <p:nvPr/>
        </p:nvSpPr>
        <p:spPr>
          <a:xfrm>
            <a:off x="837828" y="699423"/>
            <a:ext cx="4690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standard-normal-distribution</a:t>
            </a:r>
            <a:endParaRPr lang="ko-KR" altLang="en-US" sz="2400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EDC347C-1170-0C74-BF60-0FE9675C1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908" y="2106090"/>
            <a:ext cx="5845042" cy="422004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A8B8853-47C3-831B-B202-1FEE598974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748" y="2636912"/>
            <a:ext cx="4816257" cy="3071126"/>
          </a:xfrm>
          <a:prstGeom prst="rect">
            <a:avLst/>
          </a:prstGeom>
        </p:spPr>
      </p:pic>
      <p:cxnSp>
        <p:nvCxnSpPr>
          <p:cNvPr id="12" name="연결선: 구부러짐 11">
            <a:extLst>
              <a:ext uri="{FF2B5EF4-FFF2-40B4-BE49-F238E27FC236}">
                <a16:creationId xmlns:a16="http://schemas.microsoft.com/office/drawing/2014/main" id="{2B89B2F7-740E-AE2E-91B8-B7CD467955D1}"/>
              </a:ext>
            </a:extLst>
          </p:cNvPr>
          <p:cNvCxnSpPr>
            <a:stCxn id="10" idx="0"/>
            <a:endCxn id="4" idx="1"/>
          </p:cNvCxnSpPr>
          <p:nvPr/>
        </p:nvCxnSpPr>
        <p:spPr>
          <a:xfrm rot="5400000" flipH="1" flipV="1">
            <a:off x="3076024" y="1125645"/>
            <a:ext cx="961121" cy="206141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88D6A85B-4015-7ACD-5625-59966C8135C8}"/>
              </a:ext>
            </a:extLst>
          </p:cNvPr>
          <p:cNvCxnSpPr>
            <a:cxnSpLocks/>
            <a:stCxn id="4" idx="3"/>
            <a:endCxn id="7" idx="0"/>
          </p:cNvCxnSpPr>
          <p:nvPr/>
        </p:nvCxnSpPr>
        <p:spPr>
          <a:xfrm>
            <a:off x="6469594" y="1675791"/>
            <a:ext cx="2792835" cy="43029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196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996" y="836712"/>
            <a:ext cx="8159176" cy="5519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809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2050" name="Picture 2" descr="https://wikidocs.net/images/page/163985/ci0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8204" y="1484784"/>
            <a:ext cx="8439150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1629916" y="5661248"/>
            <a:ext cx="28664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>
                <a:hlinkClick r:id="rId4"/>
              </a:rPr>
              <a:t>https://wikidocs.net/163985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7239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1341883" y="4941168"/>
            <a:ext cx="80825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https://www.dreamstime.com/illustration/ringer-horseshoe-game.html</a:t>
            </a:r>
            <a:r>
              <a:rPr lang="ko-KR" altLang="en-US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1883" y="1772816"/>
            <a:ext cx="9739289" cy="295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54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521" y="735980"/>
            <a:ext cx="8594436" cy="562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971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56767"/>
            <a:ext cx="8928992" cy="5864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721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23658"/>
            <a:ext cx="8971126" cy="6032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370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95" y="1268760"/>
            <a:ext cx="7638434" cy="132152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195" y="2451675"/>
            <a:ext cx="7638434" cy="395809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8974732" y="2801878"/>
            <a:ext cx="2952328" cy="23544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400" b="1" dirty="0"/>
              <a:t>p-value</a:t>
            </a:r>
            <a:r>
              <a:rPr lang="ko-KR" altLang="en-US" sz="1400" b="1" dirty="0"/>
              <a:t>는 실험 수행 결과의 극단성</a:t>
            </a:r>
            <a:endParaRPr lang="en-US" altLang="ko-KR" sz="1400" b="1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b="1" dirty="0" err="1"/>
              <a:t>유의수준은</a:t>
            </a:r>
            <a:r>
              <a:rPr lang="ko-KR" altLang="en-US" sz="1400" b="1" dirty="0"/>
              <a:t> 이를 평가할 기준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연구자가 설정</a:t>
            </a:r>
            <a:r>
              <a:rPr lang="en-US" altLang="ko-KR" sz="1400" b="1" dirty="0"/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b="1" dirty="0"/>
              <a:t>두 값이 어떻게 비교되는 지에 따라 </a:t>
            </a:r>
            <a:r>
              <a:rPr lang="ko-KR" altLang="en-US" sz="1400" b="1" dirty="0" err="1"/>
              <a:t>귀무가설을</a:t>
            </a:r>
            <a:r>
              <a:rPr lang="ko-KR" altLang="en-US" sz="1400" b="1" dirty="0"/>
              <a:t> 기각할지 여부를 결정</a:t>
            </a:r>
          </a:p>
        </p:txBody>
      </p:sp>
      <p:sp>
        <p:nvSpPr>
          <p:cNvPr id="6" name="이등변 삼각형 5"/>
          <p:cNvSpPr/>
          <p:nvPr/>
        </p:nvSpPr>
        <p:spPr>
          <a:xfrm>
            <a:off x="5662364" y="5248574"/>
            <a:ext cx="216024" cy="216078"/>
          </a:xfrm>
          <a:prstGeom prst="triangl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F0"/>
              </a:solidFill>
            </a:endParaRPr>
          </a:p>
        </p:txBody>
      </p:sp>
      <p:sp>
        <p:nvSpPr>
          <p:cNvPr id="9" name="이등변 삼각형 8"/>
          <p:cNvSpPr/>
          <p:nvPr/>
        </p:nvSpPr>
        <p:spPr>
          <a:xfrm>
            <a:off x="6939311" y="5229200"/>
            <a:ext cx="216024" cy="216078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6939311" y="5415530"/>
            <a:ext cx="13163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</a:rPr>
              <a:t>귀무가설</a:t>
            </a:r>
            <a:r>
              <a:rPr lang="ko-KR" altLang="en-US" sz="1400" b="1" dirty="0">
                <a:solidFill>
                  <a:srgbClr val="FF0000"/>
                </a:solidFill>
              </a:rPr>
              <a:t> 기각 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5220195" y="5415530"/>
            <a:ext cx="13163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400" b="1" dirty="0" err="1">
                <a:solidFill>
                  <a:srgbClr val="00B0F0"/>
                </a:solidFill>
              </a:rPr>
              <a:t>귀무가설</a:t>
            </a:r>
            <a:r>
              <a:rPr lang="ko-KR" altLang="en-US" sz="1400" b="1" dirty="0">
                <a:solidFill>
                  <a:srgbClr val="00B0F0"/>
                </a:solidFill>
              </a:rPr>
              <a:t> 채택 </a:t>
            </a:r>
            <a:endParaRPr lang="ko-KR" altLang="en-US" sz="1400" dirty="0">
              <a:solidFill>
                <a:srgbClr val="00B0F0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61764" y="6430589"/>
            <a:ext cx="438053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>
                <a:hlinkClick r:id="rId5"/>
              </a:rPr>
              <a:t>https://blog.naver.com/angryking/222425038366</a:t>
            </a:r>
            <a:r>
              <a:rPr lang="ko-KR" altLang="en-US" sz="1400" dirty="0"/>
              <a:t> 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3790156" y="209243"/>
            <a:ext cx="36166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3200" b="1" dirty="0" err="1"/>
              <a:t>유의수준과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P-value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710128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7" grpId="0"/>
      <p:bldP spid="11" grpId="0"/>
    </p:bldLst>
  </p:timing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40262f94-9f35-4ac3-9a90-690165a166b7"/>
    <ds:schemaRef ds:uri="http://www.w3.org/XML/1998/namespace"/>
    <ds:schemaRef ds:uri="http://schemas.microsoft.com/office/2006/metadata/properties"/>
    <ds:schemaRef ds:uri="http://schemas.openxmlformats.org/package/2006/metadata/core-properties"/>
    <ds:schemaRef ds:uri="a4f35948-e619-41b3-aa29-22878b09cfd2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432</TotalTime>
  <Words>131</Words>
  <Application>Microsoft Office PowerPoint</Application>
  <PresentationFormat>사용자 지정</PresentationFormat>
  <Paragraphs>48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맑은 고딕</vt:lpstr>
      <vt:lpstr>Arial</vt:lpstr>
      <vt:lpstr>Corbel</vt:lpstr>
      <vt:lpstr>Wingdings</vt:lpstr>
      <vt:lpstr>마케팅 16x9</vt:lpstr>
      <vt:lpstr>통계학  - 추정(Estimation)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44</cp:revision>
  <dcterms:created xsi:type="dcterms:W3CDTF">2024-06-03T06:10:16Z</dcterms:created>
  <dcterms:modified xsi:type="dcterms:W3CDTF">2026-03-02T12:32:37Z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