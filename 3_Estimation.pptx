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14" r:id="rId6"/>
    <p:sldId id="366" r:id="rId7"/>
    <p:sldId id="361" r:id="rId8"/>
    <p:sldId id="270" r:id="rId9"/>
    <p:sldId id="271" r:id="rId10"/>
    <p:sldId id="272" r:id="rId11"/>
    <p:sldId id="273" r:id="rId12"/>
    <p:sldId id="274" r:id="rId13"/>
    <p:sldId id="282" r:id="rId14"/>
    <p:sldId id="275" r:id="rId15"/>
    <p:sldId id="280" r:id="rId16"/>
    <p:sldId id="277" r:id="rId17"/>
    <p:sldId id="362" r:id="rId18"/>
    <p:sldId id="276" r:id="rId19"/>
    <p:sldId id="363" r:id="rId20"/>
    <p:sldId id="278" r:id="rId21"/>
    <p:sldId id="279" r:id="rId22"/>
    <p:sldId id="364" r:id="rId23"/>
    <p:sldId id="281" r:id="rId24"/>
    <p:sldId id="365" r:id="rId2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7B48-8513-9B9E-4380-3E337450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F1336B-6871-F396-D140-FD7AD04F5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6D0FA-0181-2A77-D825-163A3FFE9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64640-F1C9-5255-D057-4BD377B26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73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4128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635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2811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237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48B6-8181-F485-483D-74B530894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4750D-9A32-1465-3219-6D24F3105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12341-B157-0FA0-B642-6A8375F85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7A8C-9EC5-48D4-4FED-AD011394F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068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8120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23678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391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997E-FCBA-57BD-FA26-6E0D97434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C5868B-65CA-7446-67AA-687959BA6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53A8AB-378C-BFC6-6F41-4B8191A69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861B1-46FB-45DE-209A-49F5883A2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95812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4961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399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5868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0E1B-93AF-FF85-F781-97C74771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8BEF73-EC5B-45F0-8957-614B1CF49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1D8B4C-753F-4EC2-9EB9-1B5812533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A74EC-1E8C-0429-EE5F-0040A8C47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090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15531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C3E5-1FC4-3931-3614-A706DB64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2BAB-1785-A207-B681-4BCABEA62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9899FA-1451-2BED-2B0B-D845302E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4EF80B-F482-CBA7-1243-C185C23344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770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www.mathsisfun.com/data/standard-normal-distribution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163985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eamstime.com/illustration/ringer-horseshoe-gam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ssmanchance.com/applets/2021/confsim/ConfSim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.naver.com/angryking/222425038366" TargetMode="Externa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추정</a:t>
            </a:r>
            <a:r>
              <a:rPr lang="en-US" altLang="ko-KR" sz="3200" b="1" dirty="0"/>
              <a:t>(Estimation)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F7740F9-27E4-C53E-CB3B-D47E195CF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4" y="1638552"/>
            <a:ext cx="9407156" cy="4526752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우리가 직접 확인할 수 없는 모집단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(Population)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의 특성인 </a:t>
            </a:r>
            <a:r>
              <a:rPr lang="ko-KR" altLang="en-US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(Parameter)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추측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하는 과정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8E14C8-D847-8386-AF10-B67948C804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321" y="5667663"/>
            <a:ext cx="1396608" cy="42275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244365C-50E4-FE33-6E55-3A63E827AB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9056" y="5702640"/>
            <a:ext cx="1073215" cy="36175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D8CA8D10-EEED-BFF4-9620-A60E713E1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056" y="5079253"/>
            <a:ext cx="952693" cy="45816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9C56E69-4866-ACDC-66C9-09E7DD22E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017" y="5078003"/>
            <a:ext cx="1046865" cy="459415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CB68CFCC-51B8-9ADE-A862-33AB5157120C}"/>
              </a:ext>
            </a:extLst>
          </p:cNvPr>
          <p:cNvCxnSpPr>
            <a:cxnSpLocks/>
            <a:stCxn id="31" idx="2"/>
            <a:endCxn id="33" idx="2"/>
          </p:cNvCxnSpPr>
          <p:nvPr/>
        </p:nvCxnSpPr>
        <p:spPr>
          <a:xfrm rot="5400000">
            <a:off x="5595002" y="3289630"/>
            <a:ext cx="422756" cy="4752528"/>
          </a:xfrm>
          <a:prstGeom prst="bentConnector3">
            <a:avLst>
              <a:gd name="adj1" fmla="val 234412"/>
            </a:avLst>
          </a:prstGeom>
          <a:ln w="28575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789674A-A293-AAF4-63E2-45D1C3A1DA84}"/>
              </a:ext>
            </a:extLst>
          </p:cNvPr>
          <p:cNvSpPr txBox="1"/>
          <p:nvPr/>
        </p:nvSpPr>
        <p:spPr>
          <a:xfrm>
            <a:off x="7318548" y="5085184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4EE4B9-6EFF-6D7D-BFB7-C176B643F6B2}"/>
              </a:ext>
            </a:extLst>
          </p:cNvPr>
          <p:cNvSpPr txBox="1"/>
          <p:nvPr/>
        </p:nvSpPr>
        <p:spPr>
          <a:xfrm>
            <a:off x="2566020" y="5507940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03C50B-5D70-FE55-B239-837D71B20DFC}"/>
              </a:ext>
            </a:extLst>
          </p:cNvPr>
          <p:cNvSpPr txBox="1"/>
          <p:nvPr/>
        </p:nvSpPr>
        <p:spPr>
          <a:xfrm>
            <a:off x="6205191" y="6007350"/>
            <a:ext cx="1822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  <a:endParaRPr lang="ko-KR" alt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4015-ADDA-92BD-7F38-1BEC743F1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87F499-F5E0-E97A-9C8F-E31A474C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BBA99-4B6A-6EF5-6482-A1415497604F}"/>
              </a:ext>
            </a:extLst>
          </p:cNvPr>
          <p:cNvSpPr txBox="1"/>
          <p:nvPr/>
        </p:nvSpPr>
        <p:spPr>
          <a:xfrm>
            <a:off x="591295" y="423483"/>
            <a:ext cx="2088232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점 추정</a:t>
            </a:r>
            <a:endParaRPr lang="en-US" altLang="ko-KR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028" name="Picture 4" descr="물에 노란색과 흰색 물고기">
            <a:extLst>
              <a:ext uri="{FF2B5EF4-FFF2-40B4-BE49-F238E27FC236}">
                <a16:creationId xmlns:a16="http://schemas.microsoft.com/office/drawing/2014/main" id="{BE796E06-CD0D-2419-11B1-4B0F224A8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793" y="1382526"/>
            <a:ext cx="2905468" cy="4358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9C0BBA-6483-3157-F202-FFF9CCAD4BFF}"/>
              </a:ext>
            </a:extLst>
          </p:cNvPr>
          <p:cNvSpPr txBox="1"/>
          <p:nvPr/>
        </p:nvSpPr>
        <p:spPr>
          <a:xfrm>
            <a:off x="6166420" y="423483"/>
            <a:ext cx="2160240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</a:p>
        </p:txBody>
      </p:sp>
      <p:pic>
        <p:nvPicPr>
          <p:cNvPr id="1032" name="Picture 8" descr="물 속에 서서 호수 옆에서 그물을 잡고 낚시를 하는 행복한 어린 소년.">
            <a:extLst>
              <a:ext uri="{FF2B5EF4-FFF2-40B4-BE49-F238E27FC236}">
                <a16:creationId xmlns:a16="http://schemas.microsoft.com/office/drawing/2014/main" id="{8CE60872-C0D1-82A9-A742-A31C75272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24" y="1412776"/>
            <a:ext cx="4297712" cy="2996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2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469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(Point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(Interval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신뢰구간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(Confidence Interval)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11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051" y="1610634"/>
            <a:ext cx="7704856" cy="448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981844" y="4626133"/>
            <a:ext cx="1872629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/>
              <a:t>모수</a:t>
            </a:r>
            <a:r>
              <a:rPr lang="ko-KR" altLang="en-US" b="1" dirty="0"/>
              <a:t> </a:t>
            </a:r>
            <a:r>
              <a:rPr lang="en-US" altLang="ko-KR" b="1" dirty="0"/>
              <a:t>(parameter)</a:t>
            </a:r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</a:t>
            </a:r>
            <a:r>
              <a:rPr lang="en-US" altLang="ko-KR" sz="1600" b="1" dirty="0"/>
              <a:t> </a:t>
            </a:r>
            <a:r>
              <a:rPr lang="ko-KR" altLang="en-US" sz="1600" b="1" dirty="0"/>
              <a:t>분산</a:t>
            </a:r>
            <a:endParaRPr lang="ko-KR" altLang="en-US" sz="1600" dirty="0"/>
          </a:p>
        </p:txBody>
      </p:sp>
      <p:sp>
        <p:nvSpPr>
          <p:cNvPr id="15" name="직사각형 14"/>
          <p:cNvSpPr/>
          <p:nvPr/>
        </p:nvSpPr>
        <p:spPr>
          <a:xfrm>
            <a:off x="9766820" y="4070813"/>
            <a:ext cx="15664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표본 통계량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분산 등</a:t>
            </a:r>
            <a:endParaRPr lang="ko-KR" altLang="en-US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881" y="143802"/>
            <a:ext cx="8954657" cy="73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40960" cy="566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1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462445"/>
            <a:ext cx="8744729" cy="585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0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908720"/>
            <a:ext cx="8466391" cy="518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00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980728"/>
            <a:ext cx="9513061" cy="158417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52" y="4293096"/>
            <a:ext cx="3352667" cy="10915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9836" y="3573016"/>
            <a:ext cx="11161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2400" b="1" dirty="0"/>
              <a:t>모집단 평균에 대한 </a:t>
            </a:r>
            <a:r>
              <a:rPr lang="ko-KR" altLang="en-US" sz="2400" b="1" dirty="0" err="1"/>
              <a:t>불편추정량</a:t>
            </a:r>
            <a:r>
              <a:rPr lang="en-US" altLang="ko-KR" sz="2400" b="1" dirty="0"/>
              <a:t>(Unbiased Estimator of</a:t>
            </a:r>
            <a:r>
              <a:rPr lang="ko-KR" altLang="en-US" sz="2400" b="1" dirty="0"/>
              <a:t> </a:t>
            </a:r>
            <a:r>
              <a:rPr lang="az-Cyrl-AZ" altLang="ko-KR" sz="2400" b="1" dirty="0"/>
              <a:t>Ѳ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은 </a:t>
            </a:r>
            <a:r>
              <a:rPr lang="ko-KR" altLang="en-US" sz="2400" b="1" dirty="0" err="1"/>
              <a:t>표본평균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4851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E9C0-81B0-8C4F-5C8C-787A7106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BD3D25E-EFF0-5F40-330C-23098F2A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AEC730-96C0-FDED-EAAB-33E4F3BFD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91" y="1275706"/>
            <a:ext cx="1882303" cy="8001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8A57C6-BE01-3B58-9166-EA79E5C13F5A}"/>
              </a:ext>
            </a:extLst>
          </p:cNvPr>
          <p:cNvSpPr txBox="1"/>
          <p:nvPr/>
        </p:nvSpPr>
        <p:spPr>
          <a:xfrm>
            <a:off x="837828" y="699423"/>
            <a:ext cx="4690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standard-normal-distribution</a:t>
            </a:r>
            <a:endParaRPr lang="ko-KR" altLang="en-US" sz="24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DC347C-1170-0C74-BF60-0FE9675C1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908" y="2106090"/>
            <a:ext cx="5845042" cy="42200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A8B8853-47C3-831B-B202-1FEE59897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748" y="2636912"/>
            <a:ext cx="4816257" cy="3071126"/>
          </a:xfrm>
          <a:prstGeom prst="rect">
            <a:avLst/>
          </a:prstGeom>
        </p:spPr>
      </p:pic>
      <p:cxnSp>
        <p:nvCxnSpPr>
          <p:cNvPr id="12" name="연결선: 구부러짐 11">
            <a:extLst>
              <a:ext uri="{FF2B5EF4-FFF2-40B4-BE49-F238E27FC236}">
                <a16:creationId xmlns:a16="http://schemas.microsoft.com/office/drawing/2014/main" id="{2B89B2F7-740E-AE2E-91B8-B7CD467955D1}"/>
              </a:ext>
            </a:extLst>
          </p:cNvPr>
          <p:cNvCxnSpPr>
            <a:stCxn id="10" idx="0"/>
            <a:endCxn id="4" idx="1"/>
          </p:cNvCxnSpPr>
          <p:nvPr/>
        </p:nvCxnSpPr>
        <p:spPr>
          <a:xfrm rot="5400000" flipH="1" flipV="1">
            <a:off x="3076024" y="1125645"/>
            <a:ext cx="961121" cy="206141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8D6A85B-4015-7ACD-5625-59966C8135C8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6469594" y="1675791"/>
            <a:ext cx="2792835" cy="43029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19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836712"/>
            <a:ext cx="8159176" cy="551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2050" name="Picture 2" descr="https://wikidocs.net/images/page/163985/ci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204" y="1484784"/>
            <a:ext cx="84391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1629916" y="5661248"/>
            <a:ext cx="28664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hlinkClick r:id="rId4"/>
              </a:rPr>
              <a:t>https://wikidocs.net/163985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239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189756" y="4500897"/>
            <a:ext cx="57606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https://www.dreamstime.com/illustration/ringer-horseshoe-game.html</a:t>
            </a:r>
            <a:r>
              <a:rPr lang="ko-KR" altLang="en-US" sz="1400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4" y="1401749"/>
            <a:ext cx="9739290" cy="2952328"/>
          </a:xfrm>
          <a:prstGeom prst="rect">
            <a:avLst/>
          </a:prstGeom>
        </p:spPr>
      </p:pic>
      <p:pic>
        <p:nvPicPr>
          <p:cNvPr id="1026" name="Picture 2" descr="Improving Data Estimation Skills">
            <a:extLst>
              <a:ext uri="{FF2B5EF4-FFF2-40B4-BE49-F238E27FC236}">
                <a16:creationId xmlns:a16="http://schemas.microsoft.com/office/drawing/2014/main" id="{ECF4E215-2C7F-CB7F-E11A-15ACF8AF0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7985" y="2998602"/>
            <a:ext cx="3200840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45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9CBA5-0897-61E1-8F3A-B36C83CB0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AE84D3-1511-D91D-B5F7-4FFD5A038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2C6CD-0717-8F5E-8CE7-27DD74AA0D5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BCE46-A2C4-FE9B-FB3C-C83E9244E97E}"/>
              </a:ext>
            </a:extLst>
          </p:cNvPr>
          <p:cNvSpPr txBox="1"/>
          <p:nvPr/>
        </p:nvSpPr>
        <p:spPr>
          <a:xfrm>
            <a:off x="1845940" y="404416"/>
            <a:ext cx="2186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</a:t>
            </a:r>
            <a:r>
              <a:rPr lang="ko-KR" altLang="en-US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ko-KR" altLang="en-US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simulate</a:t>
            </a:r>
            <a:r>
              <a:rPr lang="ko-KR" altLang="en-US" sz="2000" dirty="0"/>
              <a:t> </a:t>
            </a:r>
            <a:r>
              <a:rPr lang="en-US" altLang="ko-KR" sz="2000" dirty="0"/>
              <a:t>CI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B1B8307-C04A-2546-5139-0F2C30654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852" y="1147876"/>
            <a:ext cx="8645713" cy="546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36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521" y="735980"/>
            <a:ext cx="8594436" cy="562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71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B5F45-07E8-2B83-9D55-0E0CE4EB3311}"/>
              </a:ext>
            </a:extLst>
          </p:cNvPr>
          <p:cNvSpPr txBox="1"/>
          <p:nvPr/>
        </p:nvSpPr>
        <p:spPr>
          <a:xfrm>
            <a:off x="189756" y="1268760"/>
            <a:ext cx="9923077" cy="13542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 준비 및 탐색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점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>
              <a:buNone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buNone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Python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라이브러리를 이용하여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penguins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데이터를 불러오고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결측치를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제거한 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'Gentoo'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flipper_length_mm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지느러미 길이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데이터만을 추출하여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변수에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저장하시오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이후 이 데이터의 전체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모평균으로 가정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29A51BF-DD34-1792-CF22-6628F22DD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756" y="3563135"/>
            <a:ext cx="9433048" cy="10618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2. 표본 추출 및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점추정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(20점)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무작위로 5개의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다시 50개의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두 점추정치 중 어느 것이 모평균에 더 근접한지 비교하고, 그 이유를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기술하시오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56767"/>
            <a:ext cx="8928992" cy="58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06BEF1-983A-18E7-B4E7-AC329BEE8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929" y="305927"/>
            <a:ext cx="8142425" cy="624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70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CFA6D-7BDE-F4CB-ECB4-44A7CEB8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13359B-04AB-2B7A-0694-56AD7107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136A9-4ED2-A9C4-59EA-DC5ABFD71B4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FC9AE-9BFA-3C11-A9C0-7DCCB2B04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607" y="1140713"/>
            <a:ext cx="11404427" cy="21698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3.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-분포를 이용한 신뢰구간 계산 (40점)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표본평균과 표본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표준편차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95% 신뢰수준에서의 신뢰구간 (단,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9812D-4BDB-71D7-0078-C7761D0F87A7}"/>
              </a:ext>
            </a:extLst>
          </p:cNvPr>
          <p:cNvSpPr txBox="1"/>
          <p:nvPr/>
        </p:nvSpPr>
        <p:spPr>
          <a:xfrm>
            <a:off x="306608" y="3861048"/>
            <a:ext cx="11404427" cy="196977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Z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-분포를 이용한 신뢰구간 계산 (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% 신뢰수준에서의 신뢰구간 (단,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</p:spTree>
    <p:extLst>
      <p:ext uri="{BB962C8B-B14F-4D97-AF65-F5344CB8AC3E}">
        <p14:creationId xmlns:p14="http://schemas.microsoft.com/office/powerpoint/2010/main" val="291562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5" y="1268760"/>
            <a:ext cx="7638434" cy="13215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5" y="2451675"/>
            <a:ext cx="7638434" cy="395809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8735325" y="2590288"/>
            <a:ext cx="2952328" cy="26418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실험 수행 결과의 극단성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이를 평가할 기준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연구자가 설정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값이 어떻게 비교되는 지에 따라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귀무가설을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기각할지 여부를 결정</a:t>
            </a:r>
          </a:p>
        </p:txBody>
      </p:sp>
      <p:sp>
        <p:nvSpPr>
          <p:cNvPr id="6" name="이등변 삼각형 5"/>
          <p:cNvSpPr/>
          <p:nvPr/>
        </p:nvSpPr>
        <p:spPr>
          <a:xfrm>
            <a:off x="5662364" y="5248574"/>
            <a:ext cx="216024" cy="216078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F0"/>
              </a:solidFill>
            </a:endParaRPr>
          </a:p>
        </p:txBody>
      </p:sp>
      <p:sp>
        <p:nvSpPr>
          <p:cNvPr id="9" name="이등변 삼각형 8"/>
          <p:cNvSpPr/>
          <p:nvPr/>
        </p:nvSpPr>
        <p:spPr>
          <a:xfrm>
            <a:off x="6939311" y="5229200"/>
            <a:ext cx="216024" cy="21607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6939311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</a:rPr>
              <a:t>귀무가설</a:t>
            </a:r>
            <a:r>
              <a:rPr lang="ko-KR" altLang="en-US" sz="1400" b="1" dirty="0">
                <a:solidFill>
                  <a:srgbClr val="FF0000"/>
                </a:solidFill>
              </a:rPr>
              <a:t> 기각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220195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00B0F0"/>
                </a:solidFill>
              </a:rPr>
              <a:t>귀무가설</a:t>
            </a:r>
            <a:r>
              <a:rPr lang="ko-KR" altLang="en-US" sz="1400" b="1" dirty="0">
                <a:solidFill>
                  <a:srgbClr val="00B0F0"/>
                </a:solidFill>
              </a:rPr>
              <a:t> 채택 </a:t>
            </a:r>
            <a:endParaRPr lang="ko-KR" altLang="en-US" sz="1400" dirty="0">
              <a:solidFill>
                <a:srgbClr val="00B0F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61764" y="6430589"/>
            <a:ext cx="43805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5"/>
              </a:rPr>
              <a:t>https://blog.naver.com/angryking/222425038366</a:t>
            </a:r>
            <a:r>
              <a:rPr lang="ko-KR" altLang="en-US" sz="1400" dirty="0"/>
              <a:t>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3790156" y="209243"/>
            <a:ext cx="36166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err="1"/>
              <a:t>유의수준과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P-value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1012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7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83651-8592-BC92-0FEB-A21678516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DB9E036-08D3-F313-6005-D3CC1C47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4E12C-BFC2-1F82-72D3-5DAEDC5B6D5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5A8D74C-0F5C-23EF-5F89-76BBB7EF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302" y="1048852"/>
            <a:ext cx="11017224" cy="14876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"이 동전, 수상하다?“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사람이 동전을 10번 던졌는데, 앞면이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나왔습니다.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"정상적인 동전에서 이런 일이 일어날 확률(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)은 얼마일까?“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당신은 아 동전이 정상이 아니라고 얼마의 확률로 주장할 것인가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43D9F-DFD3-3BBC-D8BC-96D1D04B0DFE}"/>
              </a:ext>
            </a:extLst>
          </p:cNvPr>
          <p:cNvSpPr txBox="1"/>
          <p:nvPr/>
        </p:nvSpPr>
        <p:spPr>
          <a:xfrm>
            <a:off x="6526461" y="2772722"/>
            <a:ext cx="237626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동전 앞면 출현과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비율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0 0.0010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1 0.0120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2 0.0500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3 0.1240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4 0.1980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5 0.2390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6 0.2230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7 0.1050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8 0.0400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9 0.0070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10 0.0010</a:t>
            </a:r>
          </a:p>
          <a:p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비율을 다 더하면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1.00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5" name="Picture 5">
            <a:extLst>
              <a:ext uri="{FF2B5EF4-FFF2-40B4-BE49-F238E27FC236}">
                <a16:creationId xmlns:a16="http://schemas.microsoft.com/office/drawing/2014/main" id="{3C765005-FE41-0C4E-3F64-1257638E1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02" y="2755721"/>
            <a:ext cx="5603155" cy="360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3DEAD083-D828-6D4D-C882-C46563CFEC18}"/>
              </a:ext>
            </a:extLst>
          </p:cNvPr>
          <p:cNvSpPr/>
          <p:nvPr/>
        </p:nvSpPr>
        <p:spPr>
          <a:xfrm rot="16200000">
            <a:off x="4114192" y="6230337"/>
            <a:ext cx="468052" cy="2520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93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40262f94-9f35-4ac3-9a90-690165a166b7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a4f35948-e619-41b3-aa29-22878b09cfd2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639</TotalTime>
  <Words>563</Words>
  <Application>Microsoft Office PowerPoint</Application>
  <PresentationFormat>사용자 지정</PresentationFormat>
  <Paragraphs>115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맑은 고딕</vt:lpstr>
      <vt:lpstr>한컴 말랑말랑 Bold</vt:lpstr>
      <vt:lpstr>휴먼모음T</vt:lpstr>
      <vt:lpstr>Arial</vt:lpstr>
      <vt:lpstr>Corbel</vt:lpstr>
      <vt:lpstr>Wingdings</vt:lpstr>
      <vt:lpstr>마케팅 16x9</vt:lpstr>
      <vt:lpstr>통계학  - 추정(Estimation)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49</cp:revision>
  <dcterms:created xsi:type="dcterms:W3CDTF">2024-06-03T06:10:16Z</dcterms:created>
  <dcterms:modified xsi:type="dcterms:W3CDTF">2026-03-17T06:53:29Z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