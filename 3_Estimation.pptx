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314" r:id="rId6"/>
    <p:sldId id="361" r:id="rId7"/>
    <p:sldId id="270" r:id="rId8"/>
    <p:sldId id="271" r:id="rId9"/>
    <p:sldId id="272" r:id="rId10"/>
    <p:sldId id="273" r:id="rId11"/>
    <p:sldId id="274" r:id="rId12"/>
    <p:sldId id="282" r:id="rId13"/>
    <p:sldId id="275" r:id="rId14"/>
    <p:sldId id="280" r:id="rId15"/>
    <p:sldId id="277" r:id="rId16"/>
    <p:sldId id="362" r:id="rId17"/>
    <p:sldId id="276" r:id="rId18"/>
    <p:sldId id="363" r:id="rId19"/>
    <p:sldId id="278" r:id="rId20"/>
    <p:sldId id="279" r:id="rId21"/>
    <p:sldId id="364" r:id="rId22"/>
    <p:sldId id="281" r:id="rId23"/>
    <p:sldId id="365" r:id="rId24"/>
  </p:sldIdLst>
  <p:sldSz cx="12188825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>
      <p:cViewPr varScale="1">
        <p:scale>
          <a:sx n="72" d="100"/>
          <a:sy n="72" d="100"/>
        </p:scale>
        <p:origin x="1074" y="60"/>
      </p:cViewPr>
      <p:guideLst>
        <p:guide pos="3839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80"/>
    </p:cViewPr>
  </p:sorterViewPr>
  <p:notesViewPr>
    <p:cSldViewPr showGuides="1">
      <p:cViewPr varScale="1">
        <p:scale>
          <a:sx n="90" d="100"/>
          <a:sy n="90" d="100"/>
        </p:scale>
        <p:origin x="281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A85425-0F1F-4C65-805F-C7280B9ECE9F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2026-03-16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9DBE7D5-AA2D-4B26-8C69-8B60D39FD5EE}" type="datetime1">
              <a:rPr lang="ko-KR" altLang="en-US" smtClean="0"/>
              <a:pPr/>
              <a:t>2026-03-16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B91549-43BF-425A-AF25-75262019208C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1145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B65B-4D46-A4B6-4A55-CF7F725D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C8E50-C409-8198-1011-7B049358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BC7159-0CFA-4FF6-3C88-1A3B88DBE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F161A9-E2C3-ED47-AF62-F9F22701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75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F9D-56F3-951B-50D6-A387C6DB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41E97-65AE-AFF8-F9CE-0EBF5990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491CBB-2C0A-B61E-F741-0D34DDCD8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277E39-D60D-B26E-335C-19610E542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1418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4128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635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2811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237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48B6-8181-F485-483D-74B53089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A4750D-9A32-1465-3219-6D24F3105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012341-B157-0FA0-B642-6A8375F85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637A8C-9EC5-48D4-4FED-AD011394F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068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8120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2367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391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997E-FCBA-57BD-FA26-6E0D9743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5868B-65CA-7446-67AA-687959BA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53A8AB-378C-BFC6-6F41-4B8191A69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861B1-46FB-45DE-209A-49F5883A2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581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4961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A8D9-600A-F975-AF39-7C4A71BD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7B488-9014-47F4-B025-68110CD1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4C337A-0E33-780B-F888-436B2DCF5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3F98F-1801-D05E-7B68-8901BBFD81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1423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99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5868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B0E1B-93AF-FF85-F781-97C74771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8BEF73-EC5B-45F0-8957-614B1CF49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1D8B4C-753F-4EC2-9EB9-1B5812533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A74EC-1E8C-0429-EE5F-0040A8C47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090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53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C3E5-1FC4-3931-3614-A706DB64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6B2BAB-1785-A207-B681-4BCABEA62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9899FA-1451-2BED-2B0B-D845302ED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EF80B-F482-CBA7-1243-C185C2334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n-US" altLang="ko-KR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77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유리 벽으로 된 건물로 둘러싸인 파란 하늘과 구름을 아래에서 올려다본 사진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29CEB-779D-4AB3-81CB-8FCEEAE03F61}" type="datetime1">
              <a:rPr lang="ko-KR" altLang="en-US" smtClean="0"/>
              <a:t>2026-03-16</a:t>
            </a:fld>
            <a:endParaRPr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6306AB-75A0-421C-B431-0E4E30A5C28E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D969EE-F1EB-462E-B70D-5B36B3806A4E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pPr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CBB1B7-E0A1-46A3-B5B5-C69931095FF6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FC0E65-06AB-44D7-AAEE-8F4C7ED84A0C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189E66-D439-4767-B911-EB49CB20E313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E4FFC0-DB28-4291-80A0-63DBF8428320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B5804B-C38E-4214-93DF-3E6DA00134E8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하세요.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BEE384-F18F-4153-AC21-608599869F84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tabLst/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B7A883-0BF0-4B4B-84D5-D747A0111A56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noProof="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A7EA29-F2BB-4FB1-BB4B-C55A7FA3FC5C}" type="datetime1">
              <a:rPr lang="ko-KR" altLang="en-US" noProof="0" smtClean="0"/>
              <a:t>2026-03-16</a:t>
            </a:fld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n-US" altLang="ko-KR" noProof="0" smtClean="0"/>
              <a:t>‹#›</a:t>
            </a:fld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67A4C69-65FB-481C-AC2A-84D254D33675}" type="datetime1">
              <a:rPr lang="ko-KR" altLang="en-US" smtClean="0"/>
              <a:t>2026-03-16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3F31473-23EB-4724-8B59-FE6D21D89FA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15950" indent="-28575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996696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380744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764792" indent="-228600" algn="l" defTabSz="914400" rtl="0" eaLnBrk="1" latinLnBrk="1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148840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1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1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www.mathsisfun.com/data/standard-normal-distribution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docs.net/163985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illustration/ringer-horseshoe-gam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ossmanchance.com/applets/2021/confsim/ConfSim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naver.com/angryking/222425038366" TargetMode="Externa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2959223"/>
          </a:xfrm>
        </p:spPr>
        <p:txBody>
          <a:bodyPr rtlCol="0">
            <a:normAutofit/>
          </a:bodyPr>
          <a:lstStyle/>
          <a:p>
            <a:r>
              <a:rPr lang="ko-KR" altLang="en-US" b="1" dirty="0"/>
              <a:t>통계학</a:t>
            </a:r>
            <a:br>
              <a:rPr lang="en-US" altLang="ko-KR" b="1" dirty="0"/>
            </a:br>
            <a:br>
              <a:rPr lang="en-US" altLang="ko-KR" dirty="0"/>
            </a:br>
            <a:r>
              <a:rPr lang="en-US" altLang="ko-KR" sz="3200" b="1" dirty="0"/>
              <a:t>- </a:t>
            </a:r>
            <a:r>
              <a:rPr lang="ko-KR" altLang="en-US" sz="3200" b="1" dirty="0"/>
              <a:t>추정</a:t>
            </a:r>
            <a:r>
              <a:rPr lang="en-US" altLang="ko-KR" sz="3200" b="1" dirty="0"/>
              <a:t>(Estimation)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- </a:t>
            </a:r>
            <a:br>
              <a:rPr lang="en-US" altLang="ko-KR" dirty="0"/>
            </a:br>
            <a:endParaRPr lang="ko-KR" altLang="en-US" sz="2400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589537" y="4293096"/>
            <a:ext cx="3962400" cy="2016224"/>
          </a:xfrm>
        </p:spPr>
        <p:txBody>
          <a:bodyPr rtlCol="0">
            <a:normAutofit/>
          </a:bodyPr>
          <a:lstStyle/>
          <a:p>
            <a:pPr>
              <a:lnSpc>
                <a:spcPct val="120000"/>
              </a:lnSpc>
            </a:pPr>
            <a:br>
              <a:rPr lang="en-US" altLang="ko-KR" dirty="0"/>
            </a:br>
            <a:r>
              <a:rPr lang="en-US" altLang="ko-KR" dirty="0"/>
              <a:t>2026_Spring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 rtl="0">
              <a:lnSpc>
                <a:spcPct val="120000"/>
              </a:lnSpc>
            </a:pPr>
            <a:r>
              <a:rPr lang="ko-KR" altLang="en-US" dirty="0" err="1"/>
              <a:t>조상구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E2C1-BB1A-4FCC-4EBC-8B540F59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F241B0-03F6-4174-6351-DEA7C302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</a:t>
            </a:fld>
            <a:endParaRPr lang="en-US" altLang="ko-KR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9E69D-4C2D-C812-DDC5-4721F324AC9B}"/>
              </a:ext>
            </a:extLst>
          </p:cNvPr>
          <p:cNvSpPr txBox="1"/>
          <p:nvPr/>
        </p:nvSpPr>
        <p:spPr>
          <a:xfrm>
            <a:off x="591295" y="423483"/>
            <a:ext cx="2088232" cy="85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점 추정</a:t>
            </a:r>
            <a:endParaRPr lang="en-US" altLang="ko-KR" sz="24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028" name="Picture 4" descr="물에 노란색과 흰색 물고기">
            <a:extLst>
              <a:ext uri="{FF2B5EF4-FFF2-40B4-BE49-F238E27FC236}">
                <a16:creationId xmlns:a16="http://schemas.microsoft.com/office/drawing/2014/main" id="{FF6962AE-334A-73B8-9E42-5DAA4627E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793" y="1382526"/>
            <a:ext cx="2905468" cy="435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8E5E32-8CC6-6668-EE41-22B84BF8E615}"/>
              </a:ext>
            </a:extLst>
          </p:cNvPr>
          <p:cNvSpPr txBox="1"/>
          <p:nvPr/>
        </p:nvSpPr>
        <p:spPr>
          <a:xfrm>
            <a:off x="6166420" y="423483"/>
            <a:ext cx="2160240" cy="85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 추정</a:t>
            </a:r>
          </a:p>
        </p:txBody>
      </p:sp>
      <p:pic>
        <p:nvPicPr>
          <p:cNvPr id="1032" name="Picture 8" descr="물 속에 서서 호수 옆에서 그물을 잡고 낚시를 하는 행복한 어린 소년.">
            <a:extLst>
              <a:ext uri="{FF2B5EF4-FFF2-40B4-BE49-F238E27FC236}">
                <a16:creationId xmlns:a16="http://schemas.microsoft.com/office/drawing/2014/main" id="{DC13672B-894D-42FF-3D66-D00525BE1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24" y="1412776"/>
            <a:ext cx="4297712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0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26249-DF82-F305-751E-127F3A71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5A9C867-CB37-476A-DE58-40E42281C49F}"/>
              </a:ext>
            </a:extLst>
          </p:cNvPr>
          <p:cNvSpPr/>
          <p:nvPr/>
        </p:nvSpPr>
        <p:spPr>
          <a:xfrm>
            <a:off x="598421" y="1484784"/>
            <a:ext cx="8136904" cy="6748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B211BD-7338-379D-8BC3-3149D04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3</a:t>
            </a:fld>
            <a:endParaRPr lang="en-US" altLang="ko-K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86082-2314-C632-A520-B7C165520AFC}"/>
              </a:ext>
            </a:extLst>
          </p:cNvPr>
          <p:cNvSpPr txBox="1"/>
          <p:nvPr/>
        </p:nvSpPr>
        <p:spPr>
          <a:xfrm>
            <a:off x="1629916" y="147612"/>
            <a:ext cx="8928992" cy="469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ko-KR" altLang="en-US" sz="4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점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(Point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추정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(Interval Estimation)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r>
              <a:rPr lang="ko-KR" altLang="en-US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신뢰구간</a:t>
            </a: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(Confidence Interval)</a:t>
            </a:r>
          </a:p>
          <a:p>
            <a:pPr marL="514350" indent="-514350">
              <a:lnSpc>
                <a:spcPct val="200000"/>
              </a:lnSpc>
              <a:spcBef>
                <a:spcPts val="600"/>
              </a:spcBef>
              <a:buAutoNum type="arabicPeriod"/>
            </a:pPr>
            <a:endParaRPr lang="en-US" altLang="ko-KR" sz="20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4</a:t>
            </a:fld>
            <a:endParaRPr lang="en-US" altLang="ko-KR" noProof="0" dirty="0"/>
          </a:p>
        </p:txBody>
      </p:sp>
      <p:pic>
        <p:nvPicPr>
          <p:cNvPr id="11" name="Picture 2" descr="빅데이터 시대 표본 추출이 필요할까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051" y="1610634"/>
            <a:ext cx="7704856" cy="448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981844" y="4626133"/>
            <a:ext cx="187262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err="1"/>
              <a:t>모수</a:t>
            </a:r>
            <a:r>
              <a:rPr lang="ko-KR" altLang="en-US" b="1" dirty="0"/>
              <a:t> </a:t>
            </a:r>
            <a:r>
              <a:rPr lang="en-US" altLang="ko-KR" b="1" dirty="0"/>
              <a:t>(parameter)</a:t>
            </a:r>
          </a:p>
          <a:p>
            <a:pPr marL="285750" indent="-285750">
              <a:buFontTx/>
              <a:buChar char="-"/>
            </a:pPr>
            <a:r>
              <a:rPr lang="ko-KR" altLang="en-US" sz="1600" b="1" dirty="0"/>
              <a:t>모집단 평균</a:t>
            </a:r>
            <a:endParaRPr lang="en-US" altLang="ko-KR" sz="1600" b="1" dirty="0"/>
          </a:p>
          <a:p>
            <a:pPr marL="285750" indent="-285750">
              <a:buFontTx/>
              <a:buChar char="-"/>
            </a:pPr>
            <a:r>
              <a:rPr lang="ko-KR" altLang="en-US" sz="1600" b="1" dirty="0"/>
              <a:t>모집단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분산</a:t>
            </a:r>
            <a:endParaRPr lang="ko-KR" altLang="en-US" sz="1600" dirty="0"/>
          </a:p>
        </p:txBody>
      </p:sp>
      <p:sp>
        <p:nvSpPr>
          <p:cNvPr id="15" name="직사각형 14"/>
          <p:cNvSpPr/>
          <p:nvPr/>
        </p:nvSpPr>
        <p:spPr>
          <a:xfrm>
            <a:off x="9766820" y="4070813"/>
            <a:ext cx="156645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표본 통계량</a:t>
            </a:r>
            <a:endParaRPr lang="en-US" altLang="ko-KR" sz="1600" b="1" dirty="0"/>
          </a:p>
          <a:p>
            <a:pPr marL="285750" indent="-285750">
              <a:buFontTx/>
              <a:buChar char="-"/>
            </a:pPr>
            <a:r>
              <a:rPr lang="ko-KR" altLang="en-US" sz="1600" b="1" dirty="0"/>
              <a:t>표본 평균</a:t>
            </a:r>
            <a:endParaRPr lang="en-US" altLang="ko-KR" sz="1600" b="1" dirty="0"/>
          </a:p>
          <a:p>
            <a:pPr marL="285750" indent="-285750">
              <a:buFontTx/>
              <a:buChar char="-"/>
            </a:pPr>
            <a:r>
              <a:rPr lang="ko-KR" altLang="en-US" sz="1600" b="1" dirty="0"/>
              <a:t>표본 분산 등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881" y="143802"/>
            <a:ext cx="8954657" cy="73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5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548680"/>
            <a:ext cx="8640960" cy="566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1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6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462445"/>
            <a:ext cx="8744729" cy="585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0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7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908720"/>
            <a:ext cx="8466391" cy="51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0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8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4" y="980728"/>
            <a:ext cx="9513061" cy="158417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52" y="4293096"/>
            <a:ext cx="3352667" cy="1091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9836" y="3573016"/>
            <a:ext cx="11161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400" b="1" dirty="0"/>
              <a:t>모집단 평균에 대한 </a:t>
            </a:r>
            <a:r>
              <a:rPr lang="ko-KR" altLang="en-US" sz="2400" b="1" dirty="0" err="1"/>
              <a:t>불편추정량</a:t>
            </a:r>
            <a:r>
              <a:rPr lang="en-US" altLang="ko-KR" sz="2400" b="1" dirty="0"/>
              <a:t>(Unbiased Estimator of</a:t>
            </a:r>
            <a:r>
              <a:rPr lang="ko-KR" altLang="en-US" sz="2400" b="1" dirty="0"/>
              <a:t> </a:t>
            </a:r>
            <a:r>
              <a:rPr lang="az-Cyrl-AZ" altLang="ko-KR" sz="2400" b="1" dirty="0"/>
              <a:t>Ѳ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은 </a:t>
            </a:r>
            <a:r>
              <a:rPr lang="ko-KR" altLang="en-US" sz="2400" b="1" dirty="0" err="1"/>
              <a:t>표본평균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851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9E9C0-81B0-8C4F-5C8C-787A7106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BD3D25E-EFF0-5F40-330C-23098F2A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9</a:t>
            </a:fld>
            <a:endParaRPr lang="en-US" altLang="ko-KR" noProof="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AEC730-96C0-FDED-EAAB-33E4F3BFD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91" y="1275706"/>
            <a:ext cx="1882303" cy="8001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8A57C6-BE01-3B58-9166-EA79E5C13F5A}"/>
              </a:ext>
            </a:extLst>
          </p:cNvPr>
          <p:cNvSpPr txBox="1"/>
          <p:nvPr/>
        </p:nvSpPr>
        <p:spPr>
          <a:xfrm>
            <a:off x="837828" y="699423"/>
            <a:ext cx="4690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standard-normal-distribution</a:t>
            </a:r>
            <a:endParaRPr lang="ko-KR" altLang="en-US" sz="2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DC347C-1170-0C74-BF60-0FE9675C1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08" y="2106090"/>
            <a:ext cx="5845042" cy="42200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8B8853-47C3-831B-B202-1FEE59897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48" y="2636912"/>
            <a:ext cx="4816257" cy="3071126"/>
          </a:xfrm>
          <a:prstGeom prst="rect">
            <a:avLst/>
          </a:prstGeom>
        </p:spPr>
      </p:pic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2B89B2F7-740E-AE2E-91B8-B7CD467955D1}"/>
              </a:ext>
            </a:extLst>
          </p:cNvPr>
          <p:cNvCxnSpPr>
            <a:stCxn id="10" idx="0"/>
            <a:endCxn id="4" idx="1"/>
          </p:cNvCxnSpPr>
          <p:nvPr/>
        </p:nvCxnSpPr>
        <p:spPr>
          <a:xfrm rot="5400000" flipH="1" flipV="1">
            <a:off x="3076024" y="1125645"/>
            <a:ext cx="961121" cy="206141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88D6A85B-4015-7ACD-5625-59966C8135C8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6469594" y="1675791"/>
            <a:ext cx="2792835" cy="4302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19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10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6" y="836712"/>
            <a:ext cx="8159176" cy="55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11</a:t>
            </a:fld>
            <a:endParaRPr lang="en-US" altLang="ko-KR" noProof="0" dirty="0"/>
          </a:p>
        </p:txBody>
      </p:sp>
      <p:pic>
        <p:nvPicPr>
          <p:cNvPr id="2050" name="Picture 2" descr="https://wikidocs.net/images/page/163985/ci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204" y="1484784"/>
            <a:ext cx="84391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629916" y="5661248"/>
            <a:ext cx="28664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4"/>
              </a:rPr>
              <a:t>https://wikidocs.net/163985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723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12</a:t>
            </a:fld>
            <a:endParaRPr lang="en-US" altLang="ko-KR" noProof="0" dirty="0"/>
          </a:p>
        </p:txBody>
      </p:sp>
      <p:sp>
        <p:nvSpPr>
          <p:cNvPr id="2" name="직사각형 1"/>
          <p:cNvSpPr/>
          <p:nvPr/>
        </p:nvSpPr>
        <p:spPr>
          <a:xfrm>
            <a:off x="1341883" y="4941168"/>
            <a:ext cx="80825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https://www.dreamstime.com/illustration/ringer-horseshoe-game.html</a:t>
            </a:r>
            <a:r>
              <a:rPr lang="ko-KR" altLang="en-US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883" y="1772816"/>
            <a:ext cx="9739289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5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CBA5-0897-61E1-8F3A-B36C83CB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AE84D3-1511-D91D-B5F7-4FFD5A03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13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2C6CD-0717-8F5E-8CE7-27DD74AA0D55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실습하기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BCE46-A2C4-FE9B-FB3C-C83E9244E97E}"/>
              </a:ext>
            </a:extLst>
          </p:cNvPr>
          <p:cNvSpPr txBox="1"/>
          <p:nvPr/>
        </p:nvSpPr>
        <p:spPr>
          <a:xfrm>
            <a:off x="1845940" y="404416"/>
            <a:ext cx="2186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ko-KR" alt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ko-KR" alt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simulate</a:t>
            </a:r>
            <a:r>
              <a:rPr lang="ko-KR" altLang="en-US" sz="2000" dirty="0"/>
              <a:t> </a:t>
            </a:r>
            <a:r>
              <a:rPr lang="en-US" altLang="ko-KR" sz="2000" dirty="0"/>
              <a:t>CI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1B8307-C04A-2546-5139-0F2C30654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52" y="1147876"/>
            <a:ext cx="8645713" cy="54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3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14</a:t>
            </a:fld>
            <a:endParaRPr lang="en-US" altLang="ko-KR" noProof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521" y="735980"/>
            <a:ext cx="8594436" cy="562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7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8D64-2465-85C7-D991-C725B4D0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66F2910-2209-1475-49C6-6EC7DDC3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15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3BBB-662E-79D0-E653-928BFAC00570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B5F45-07E8-2B83-9D55-0E0CE4EB3311}"/>
              </a:ext>
            </a:extLst>
          </p:cNvPr>
          <p:cNvSpPr txBox="1"/>
          <p:nvPr/>
        </p:nvSpPr>
        <p:spPr>
          <a:xfrm>
            <a:off x="189756" y="1268760"/>
            <a:ext cx="9923077" cy="13542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1.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 준비 및 탐색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(10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점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>
              <a:buNone/>
            </a:pP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>
              <a:buNone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Python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seaborn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라이브러리를 이용하여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penguins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데이터를 불러오고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결측치를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제거한 후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'Gentoo'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종의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flipper_length_mm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지느러미 길이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데이터만을 추출하여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gentoo_flipper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변수에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저장하시오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이후 이 데이터의 전체 평균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모평균으로 가정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을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구하시오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9A51BF-DD34-1792-CF22-6628F22D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56" y="3563135"/>
            <a:ext cx="9433048" cy="10618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 2. 표본 추출 및 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점추정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(20점)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ko-KR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gentoo_flipper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데이터에서 무작위로 5개의 표본을 추출하여 표본평균을 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구하시오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다시 50개의 표본을 추출하여 표본평균을 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구하시오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두 점추정치 중 어느 것이 모평균에 더 근접한지 비교하고, 그 이유를 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기술하시오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3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16</a:t>
            </a:fld>
            <a:endParaRPr lang="en-US" altLang="ko-KR" noProof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456767"/>
            <a:ext cx="8928992" cy="586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2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17</a:t>
            </a:fld>
            <a:endParaRPr lang="en-US" altLang="ko-KR" noProof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06BEF1-983A-18E7-B4E7-AC329BEE8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929" y="305927"/>
            <a:ext cx="8142425" cy="62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7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FA6D-7BDE-F4CB-ECB4-44A7CEB8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613359B-04AB-2B7A-0694-56AD7107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18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136A9-4ED2-A9C4-59EA-DC5ABFD71B4B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7FC9AE-9BFA-3C11-A9C0-7DCCB2B04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607" y="1140713"/>
            <a:ext cx="11404427" cy="21698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 3. 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t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-분포를 이용한 신뢰구간 계산 (40점)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Gentoo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펭귄 중 무작위로 추출된 15마리의 지느러미 길이 데이터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random_state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=11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추출한 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데이터를 바탕으로 다음을 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계산하시오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(소수점 둘째 자리까지 표기)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표본평균과 표본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표준편차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95% 신뢰수준에서의 신뢰구간 (단, 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scipy.stats를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활용할 것)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만약 동일한 데이터로 99% 신뢰구간을 구한다면, 95% 때보다 구간의 너비(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Width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)는 어떻게 변하겠는가?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9812D-4BDB-71D7-0078-C7761D0F87A7}"/>
              </a:ext>
            </a:extLst>
          </p:cNvPr>
          <p:cNvSpPr txBox="1"/>
          <p:nvPr/>
        </p:nvSpPr>
        <p:spPr>
          <a:xfrm>
            <a:off x="306608" y="3861048"/>
            <a:ext cx="11404427" cy="19697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문제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4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Z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-분포를 이용한 신뢰구간 계산 (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0점)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Gentoo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' 펭귄 중 무작위로 추출된 15마리의 지느러미 길이 데이터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를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random_state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=11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로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추출한 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데이터를 바탕으로 다음을 </a:t>
            </a:r>
            <a:r>
              <a:rPr lang="ko-KR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계산하시오</a:t>
            </a:r>
            <a:r>
              <a:rPr lang="ko-KR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(소수점 둘째 자리까지 표기)</a:t>
            </a:r>
            <a:endParaRPr lang="en-US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9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5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% 신뢰수준에서의 신뢰구간 (단, 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scipy.stats를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활용할 것)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만약 동일한 데이터로 99% 신뢰구간을 구한다면, 95% 때보다 구간의 너비(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Width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)는 어떻게 변하겠는가?</a:t>
            </a:r>
          </a:p>
        </p:txBody>
      </p:sp>
    </p:spTree>
    <p:extLst>
      <p:ext uri="{BB962C8B-B14F-4D97-AF65-F5344CB8AC3E}">
        <p14:creationId xmlns:p14="http://schemas.microsoft.com/office/powerpoint/2010/main" val="291562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19</a:t>
            </a:fld>
            <a:endParaRPr lang="en-US" altLang="ko-KR" noProof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95" y="1268760"/>
            <a:ext cx="7638434" cy="132152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95" y="2451675"/>
            <a:ext cx="7638434" cy="395809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735325" y="2590288"/>
            <a:ext cx="2952328" cy="2641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p-value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는 실험 수행 결과의 극단성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유의수준은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이를 평가할 기준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연구자가 설정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두 값이 어떻게 비교되는 지에 따라 </a:t>
            </a:r>
            <a:r>
              <a:rPr lang="ko-KR" altLang="en-US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귀무가설을</a:t>
            </a: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기각할지 여부를 결정</a:t>
            </a:r>
          </a:p>
        </p:txBody>
      </p:sp>
      <p:sp>
        <p:nvSpPr>
          <p:cNvPr id="6" name="이등변 삼각형 5"/>
          <p:cNvSpPr/>
          <p:nvPr/>
        </p:nvSpPr>
        <p:spPr>
          <a:xfrm>
            <a:off x="5662364" y="5248574"/>
            <a:ext cx="216024" cy="216078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F0"/>
              </a:solidFill>
            </a:endParaRPr>
          </a:p>
        </p:txBody>
      </p:sp>
      <p:sp>
        <p:nvSpPr>
          <p:cNvPr id="9" name="이등변 삼각형 8"/>
          <p:cNvSpPr/>
          <p:nvPr/>
        </p:nvSpPr>
        <p:spPr>
          <a:xfrm>
            <a:off x="6939311" y="5229200"/>
            <a:ext cx="216024" cy="21607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939311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FF0000"/>
                </a:solidFill>
              </a:rPr>
              <a:t>귀무가설</a:t>
            </a:r>
            <a:r>
              <a:rPr lang="ko-KR" altLang="en-US" sz="1400" b="1" dirty="0">
                <a:solidFill>
                  <a:srgbClr val="FF0000"/>
                </a:solidFill>
              </a:rPr>
              <a:t> 기각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220195" y="5415530"/>
            <a:ext cx="13163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 err="1">
                <a:solidFill>
                  <a:srgbClr val="00B0F0"/>
                </a:solidFill>
              </a:rPr>
              <a:t>귀무가설</a:t>
            </a:r>
            <a:r>
              <a:rPr lang="ko-KR" altLang="en-US" sz="1400" b="1" dirty="0">
                <a:solidFill>
                  <a:srgbClr val="00B0F0"/>
                </a:solidFill>
              </a:rPr>
              <a:t> 채택 </a:t>
            </a:r>
            <a:endParaRPr lang="ko-KR" altLang="en-US" sz="1400" dirty="0">
              <a:solidFill>
                <a:srgbClr val="00B0F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61764" y="6430589"/>
            <a:ext cx="43805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hlinkClick r:id="rId5"/>
              </a:rPr>
              <a:t>https://blog.naver.com/angryking/222425038366</a:t>
            </a:r>
            <a:r>
              <a:rPr lang="ko-KR" altLang="en-US" sz="1400" dirty="0"/>
              <a:t>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790156" y="209243"/>
            <a:ext cx="36166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 err="1"/>
              <a:t>유의수준과</a:t>
            </a:r>
            <a:r>
              <a:rPr lang="ko-KR" altLang="en-US" sz="3200" b="1" dirty="0"/>
              <a:t> </a:t>
            </a:r>
            <a:r>
              <a:rPr lang="en-US" altLang="ko-KR" sz="3200" b="1" dirty="0"/>
              <a:t>P-value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1012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7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3651-8592-BC92-0FEB-A21678516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DB9E036-08D3-F313-6005-D3CC1C47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3F31473-23EB-4724-8B59-FE6D21D89FA4}" type="slidenum">
              <a:rPr lang="en-US" altLang="ko-KR" noProof="0" smtClean="0"/>
              <a:t>20</a:t>
            </a:fld>
            <a:endParaRPr lang="en-US" altLang="ko-K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12C-BFC2-1F82-72D3-5DAEDC5B6D54}"/>
              </a:ext>
            </a:extLst>
          </p:cNvPr>
          <p:cNvSpPr txBox="1"/>
          <p:nvPr/>
        </p:nvSpPr>
        <p:spPr>
          <a:xfrm>
            <a:off x="117748" y="260648"/>
            <a:ext cx="259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/>
              <a:t>문제 풀이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A8D74C-0F5C-23EF-5F89-76BBB7EF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02" y="1048852"/>
            <a:ext cx="11017224" cy="14876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"이 동전, 수상하다?“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어떤 사람이 동전을 10번 던졌는데, 앞면이 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8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번 나왔습니다.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"정상적인 동전에서 이런 일이 일어날 확률(</a:t>
            </a:r>
            <a:r>
              <a:rPr lang="ko-KR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P-value</a:t>
            </a:r>
            <a:r>
              <a:rPr lang="ko-KR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)은 얼마일까?“</a:t>
            </a:r>
            <a:endParaRPr lang="en-US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당신은 아 동전이 정상이 아니라고 얼마의 확률로 주장할 것인가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  <a:endParaRPr lang="ko-KR" altLang="ko-KR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43D9F-DFD3-3BBC-D8BC-96D1D04B0DFE}"/>
              </a:ext>
            </a:extLst>
          </p:cNvPr>
          <p:cNvSpPr txBox="1"/>
          <p:nvPr/>
        </p:nvSpPr>
        <p:spPr>
          <a:xfrm>
            <a:off x="6526461" y="2772722"/>
            <a:ext cx="23762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동전 앞면 출현과 </a:t>
            </a:r>
            <a:r>
              <a:rPr lang="ko-KR" altLang="en-US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비율</a:t>
            </a:r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: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0 0.0010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1 0.0120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2 0.0500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3 0.1240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4 0.1980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5 0.2390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6 0.2230 </a:t>
            </a:r>
          </a:p>
          <a:p>
            <a:r>
              <a:rPr lang="en-US" altLang="ko-KR" sz="1400" b="0" i="0" dirty="0"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7 0.1050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8 0.0400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9 0.0070 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10 0.0010</a:t>
            </a:r>
          </a:p>
          <a:p>
            <a:endParaRPr lang="en-US" altLang="ko-KR" sz="1400" dirty="0">
              <a:solidFill>
                <a:srgbClr val="FF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비율을 다 더하면 </a:t>
            </a:r>
            <a:r>
              <a:rPr lang="en-US" altLang="ko-KR" sz="1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1.00</a:t>
            </a:r>
            <a:endParaRPr lang="ko-KR" alt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3C765005-FE41-0C4E-3F64-1257638E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02" y="2755721"/>
            <a:ext cx="5603155" cy="360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DEAD083-D828-6D4D-C882-C46563CFEC18}"/>
              </a:ext>
            </a:extLst>
          </p:cNvPr>
          <p:cNvSpPr/>
          <p:nvPr/>
        </p:nvSpPr>
        <p:spPr>
          <a:xfrm rot="16200000">
            <a:off x="4114192" y="6230337"/>
            <a:ext cx="468052" cy="25202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9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마케팅 16x9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154_TF02801084.potx" id="{B893C259-098E-47F8-8877-587E0721A18C}" vid="{F842517E-B3F6-4577-896B-5E1D47976B3A}"/>
    </a:ext>
  </a:extLst>
</a:theme>
</file>

<file path=ppt/theme/theme2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AACE6D-8EB6-447A-8DFD-C2C0C52916AC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40262f94-9f35-4ac3-9a90-690165a166b7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a4f35948-e619-41b3-aa29-22878b09cfd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유리 건물 배경의 비즈니스 마케팅 프레젠테이션(와이드스크린)</Template>
  <TotalTime>517</TotalTime>
  <Words>521</Words>
  <Application>Microsoft Office PowerPoint</Application>
  <PresentationFormat>사용자 지정</PresentationFormat>
  <Paragraphs>109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한컴 말랑말랑 Bold</vt:lpstr>
      <vt:lpstr>휴먼모음T</vt:lpstr>
      <vt:lpstr>Arial</vt:lpstr>
      <vt:lpstr>Corbel</vt:lpstr>
      <vt:lpstr>Wingdings</vt:lpstr>
      <vt:lpstr>마케팅 16x9</vt:lpstr>
      <vt:lpstr>통계학  - 추정(Estimation) -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ADsP 특강   2024_Summer</dc:title>
  <dc:creator>조상구</dc:creator>
  <cp:lastModifiedBy>조상구</cp:lastModifiedBy>
  <cp:revision>46</cp:revision>
  <dcterms:created xsi:type="dcterms:W3CDTF">2024-06-03T06:10:16Z</dcterms:created>
  <dcterms:modified xsi:type="dcterms:W3CDTF">2026-03-16T06:28:43Z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