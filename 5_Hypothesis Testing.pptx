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0" r:id="rId6"/>
    <p:sldId id="364" r:id="rId7"/>
    <p:sldId id="272" r:id="rId8"/>
    <p:sldId id="271" r:id="rId9"/>
    <p:sldId id="281" r:id="rId10"/>
    <p:sldId id="273" r:id="rId11"/>
    <p:sldId id="274" r:id="rId12"/>
    <p:sldId id="275" r:id="rId13"/>
    <p:sldId id="276" r:id="rId14"/>
    <p:sldId id="363" r:id="rId15"/>
    <p:sldId id="277" r:id="rId16"/>
    <p:sldId id="368" r:id="rId17"/>
    <p:sldId id="369" r:id="rId18"/>
    <p:sldId id="370" r:id="rId19"/>
    <p:sldId id="371" r:id="rId20"/>
    <p:sldId id="314" r:id="rId21"/>
    <p:sldId id="278" r:id="rId22"/>
    <p:sldId id="279" r:id="rId23"/>
    <p:sldId id="280" r:id="rId24"/>
    <p:sldId id="366" r:id="rId25"/>
    <p:sldId id="365" r:id="rId26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29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24254-F259-0186-8184-8C24ABFA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05D676-5C57-0C2C-6C7C-38E61051C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176DB-4586-0E80-7679-11F9B7FDC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2E2A2-B4A2-BCB6-696A-196E3F182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433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04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0D75C-3C4C-A822-1EC0-2D3AF6FA5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33EBB0-FDBE-F04D-F886-752EC50C8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B570F-C4FB-3564-373E-F4BFDED3F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91C0-71C3-07CE-89F9-47DB5896E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4880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29C17-5C0F-E7F4-9462-04D34626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8DCC13-513F-1A84-7AEE-4EBE92B1B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5F96C1-401F-6F83-8599-62E6E62FD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E3BBEA-7162-4DD7-8CCF-56BBB8CFD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10557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D9651-1DDC-89B4-1043-102F50F4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CDEA3D-E638-70D6-2D65-BDEBCA01E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91AC4D-E683-E8EA-A96B-CFEF1D9DB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8C6521-59A0-7FDB-1E06-7D6291C856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76098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1C5-2B9D-8428-D3C9-53BD5CDE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226263-8048-B95E-3549-CDBFB6BD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21DA13-5717-1A93-FC77-84EF12FA9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EEBD85-A92B-4FF4-959C-0DC211BFE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19358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1258-B07A-4C63-1B79-431F6666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0FF461-97B9-40AE-9A9A-F43192F9E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B46866-99A6-6BCF-4BB3-AB69F66DF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9C7593-5848-E6B2-66CE-A7D1FC023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6961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khF6Abdrrg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검정</a:t>
            </a: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596" y="2774241"/>
            <a:ext cx="3202059" cy="28869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588" y="2774241"/>
            <a:ext cx="2983281" cy="28509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천동설 </a:t>
                </a:r>
                <a:r>
                  <a:rPr lang="en-US" altLang="ko-KR" b="1" dirty="0"/>
                  <a:t>: </a:t>
                </a:r>
                <a:r>
                  <a:rPr lang="ko-KR" altLang="en-US" b="1" dirty="0"/>
                  <a:t>귀무가설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blipFill>
                <a:blip r:embed="rId5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지동설 </a:t>
                </a:r>
                <a:r>
                  <a:rPr lang="en-US" altLang="ko-KR" b="1" dirty="0"/>
                  <a:t>: </a:t>
                </a:r>
                <a:r>
                  <a:rPr lang="ko-KR" altLang="en-US" b="1" dirty="0" err="1"/>
                  <a:t>대립가설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blipFill>
                <a:blip r:embed="rId6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>
            <a:cxnSpLocks/>
          </p:cNvCxnSpPr>
          <p:nvPr/>
        </p:nvCxnSpPr>
        <p:spPr>
          <a:xfrm>
            <a:off x="5220054" y="4199728"/>
            <a:ext cx="1440160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1D92C58-8C4D-6C08-A392-EF301B1BC5A4}"/>
              </a:ext>
            </a:extLst>
          </p:cNvPr>
          <p:cNvSpPr txBox="1"/>
          <p:nvPr/>
        </p:nvSpPr>
        <p:spPr>
          <a:xfrm>
            <a:off x="693812" y="63039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천동설의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확률분포를 가정하고 표본</a:t>
            </a:r>
            <a:r>
              <a:rPr lang="en-US" altLang="ko-KR" dirty="0">
                <a:latin typeface="+mj-ea"/>
                <a:ea typeface="+mj-ea"/>
              </a:rPr>
              <a:t>(Sample)</a:t>
            </a:r>
            <a:r>
              <a:rPr lang="ko-KR" altLang="en-US" dirty="0">
                <a:latin typeface="+mj-ea"/>
                <a:ea typeface="+mj-ea"/>
              </a:rPr>
              <a:t>으로부터 얻은 정보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통계량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를 바탕으로 얼마나 천동설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귀무가설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과 다른 지를 검증하는 것이 목적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6455-0349-1D80-A8E2-0A318591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6B6010-4F6A-4546-75BF-00EA87DC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1C719-90D1-FA3E-A678-6363C4D23B70}"/>
              </a:ext>
            </a:extLst>
          </p:cNvPr>
          <p:cNvSpPr txBox="1"/>
          <p:nvPr/>
        </p:nvSpPr>
        <p:spPr>
          <a:xfrm>
            <a:off x="549796" y="503434"/>
            <a:ext cx="10597540" cy="127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0" dirty="0">
                <a:effectLst/>
                <a:latin typeface="+mj-ea"/>
                <a:ea typeface="+mj-ea"/>
              </a:rPr>
              <a:t>직관적 이해 </a:t>
            </a:r>
            <a:r>
              <a:rPr lang="en-US" altLang="ko-KR" b="0" dirty="0">
                <a:effectLst/>
                <a:latin typeface="+mj-ea"/>
                <a:ea typeface="+mj-ea"/>
              </a:rPr>
              <a:t>: </a:t>
            </a:r>
            <a:r>
              <a:rPr lang="ko-KR" altLang="en-US" b="1" dirty="0">
                <a:effectLst/>
                <a:latin typeface="+mj-ea"/>
                <a:ea typeface="+mj-ea"/>
              </a:rPr>
              <a:t>귀무가설이 </a:t>
            </a:r>
            <a:r>
              <a:rPr lang="en-US" altLang="ko-KR" b="1" dirty="0">
                <a:effectLst/>
                <a:latin typeface="+mj-ea"/>
                <a:ea typeface="+mj-ea"/>
              </a:rPr>
              <a:t>Adelie </a:t>
            </a:r>
            <a:r>
              <a:rPr lang="ko-KR" altLang="en-US" b="1" dirty="0">
                <a:effectLst/>
                <a:latin typeface="+mj-ea"/>
                <a:ea typeface="+mj-ea"/>
              </a:rPr>
              <a:t>라고 가정하고 </a:t>
            </a:r>
            <a:r>
              <a:rPr lang="ko-KR" altLang="en-US" b="0" dirty="0" err="1">
                <a:effectLst/>
                <a:latin typeface="+mj-ea"/>
                <a:ea typeface="+mj-ea"/>
              </a:rPr>
              <a:t>표본를</a:t>
            </a:r>
            <a:r>
              <a:rPr lang="ko-KR" altLang="en-US" b="0" dirty="0">
                <a:effectLst/>
                <a:latin typeface="+mj-ea"/>
                <a:ea typeface="+mj-ea"/>
              </a:rPr>
              <a:t> 추출하였더니 </a:t>
            </a:r>
            <a:r>
              <a:rPr lang="en-US" altLang="ko-KR" b="0" dirty="0">
                <a:effectLst/>
                <a:latin typeface="+mj-ea"/>
                <a:ea typeface="+mj-ea"/>
              </a:rPr>
              <a:t>47, 48, 50, 55</a:t>
            </a:r>
            <a:r>
              <a:rPr lang="ko-KR" altLang="en-US" b="0" dirty="0">
                <a:effectLst/>
                <a:latin typeface="+mj-ea"/>
                <a:ea typeface="+mj-ea"/>
              </a:rPr>
              <a:t>가 나오면 이 데이터가 </a:t>
            </a:r>
            <a:r>
              <a:rPr lang="en-US" altLang="ko-KR" dirty="0">
                <a:latin typeface="+mj-ea"/>
                <a:ea typeface="+mj-ea"/>
              </a:rPr>
              <a:t>Adelie</a:t>
            </a:r>
            <a:r>
              <a:rPr lang="ko-KR" altLang="en-US" dirty="0">
                <a:latin typeface="+mj-ea"/>
                <a:ea typeface="+mj-ea"/>
              </a:rPr>
              <a:t>에서 나온 데이터라고 믿어야 되나</a:t>
            </a:r>
            <a:r>
              <a:rPr lang="en-US" altLang="ko-KR" dirty="0">
                <a:latin typeface="+mj-ea"/>
                <a:ea typeface="+mj-ea"/>
              </a:rPr>
              <a:t>? Chinstrap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or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Gentoo? </a:t>
            </a:r>
            <a:r>
              <a:rPr lang="ko-KR" altLang="en-US" dirty="0">
                <a:latin typeface="+mj-ea"/>
                <a:ea typeface="+mj-ea"/>
              </a:rPr>
              <a:t>인가</a:t>
            </a:r>
            <a:r>
              <a:rPr lang="en-US" altLang="ko-KR" dirty="0">
                <a:latin typeface="+mj-ea"/>
                <a:ea typeface="+mj-ea"/>
              </a:rPr>
              <a:t>? P-value</a:t>
            </a:r>
            <a:r>
              <a:rPr lang="ko-KR" altLang="en-US" dirty="0">
                <a:latin typeface="+mj-ea"/>
                <a:ea typeface="+mj-ea"/>
              </a:rPr>
              <a:t>로도 설명하라</a:t>
            </a:r>
            <a:r>
              <a:rPr lang="ko-KR" altLang="en-US" b="0" dirty="0">
                <a:effectLst/>
                <a:latin typeface="+mj-ea"/>
                <a:ea typeface="+mj-ea"/>
              </a:rPr>
              <a:t> </a:t>
            </a:r>
            <a:endParaRPr lang="en-US" altLang="ko-KR" b="0" dirty="0">
              <a:effectLst/>
              <a:latin typeface="+mj-ea"/>
              <a:ea typeface="+mj-ea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5C247D6-DCC6-0F90-E8AE-249C2D69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28" y="2569989"/>
            <a:ext cx="11041662" cy="328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A4700C-D226-398D-17E9-AEBB25F298C6}"/>
              </a:ext>
            </a:extLst>
          </p:cNvPr>
          <p:cNvSpPr txBox="1"/>
          <p:nvPr/>
        </p:nvSpPr>
        <p:spPr>
          <a:xfrm>
            <a:off x="837828" y="2084278"/>
            <a:ext cx="6096000" cy="48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penguins =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sns.load_dataset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("penguins")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sns.displot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(data=penguins, x="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bill_length_mm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", col="species", bins=20, hue="species",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kde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=True)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D97211C0-F1E6-9E4E-2557-B5930ECC0616}"/>
              </a:ext>
            </a:extLst>
          </p:cNvPr>
          <p:cNvSpPr/>
          <p:nvPr/>
        </p:nvSpPr>
        <p:spPr>
          <a:xfrm>
            <a:off x="2782044" y="5877272"/>
            <a:ext cx="288032" cy="288032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23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465038"/>
            <a:ext cx="8632810" cy="60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7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6033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latin typeface="+mj-ea"/>
                <a:ea typeface="+mj-ea"/>
              </a:rPr>
              <a:t>새로운 신약의 효과 검정을 위한 통계분석</a:t>
            </a:r>
            <a:r>
              <a:rPr lang="en-US" altLang="ko-KR" sz="2800" b="1" dirty="0">
                <a:latin typeface="+mj-ea"/>
                <a:ea typeface="+mj-ea"/>
              </a:rPr>
              <a:t>(3/3)</a:t>
            </a:r>
            <a:endParaRPr lang="ko-KR" altLang="en-US" sz="2800" b="1" dirty="0">
              <a:latin typeface="+mj-ea"/>
              <a:ea typeface="+mj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차이가 없다는 가정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옳다면 실험자료상으로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기각할 확률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(p-value = 8.21%)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8.21%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극단적인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case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크지 않은가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2%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미만은 되어야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틀리지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않고서여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어찌 이런 데이터가 나온단 말인가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?’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믿고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……..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　레스토랑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목요일(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Thursday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)과 금요일(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Friday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)의 평균 팁(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tip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금액이 통계적으로 유의미하게 다른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가?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라는 귀무가설을 검증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귀무가설(H0):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대립가설(H1):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alpha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): 0.05 (5%)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어느　요일끼리　차이가　있는지？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p-value: 0.0240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결과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 p-value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. (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569" y="1026141"/>
            <a:ext cx="6961393" cy="48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C0BC9-54D3-31B5-95DA-D7438E08C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646234A-7194-E5C3-3F51-B2E6FB60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DBF32-A899-4515-0ADD-9E794547A7F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DD8EB-1FE5-1EDA-FC55-FF5EDEC11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11610468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5D46444-E3A8-C7B7-75F9-11365B73C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348880"/>
            <a:ext cx="5783480" cy="3778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F29E64E3-C48B-2AC6-AB99-ED6694958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2444" y="2348880"/>
            <a:ext cx="5517202" cy="33225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205mm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(less than)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이상은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경우 분류를 잘못하는 경우가 몇 가지 있으며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어떤 값으로 결정해야 총 오류가 최소가 되는가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88631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6BC8C-C54D-8E28-FD31-E3F3679D5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43144F-4C54-792C-CD38-CC77C6F1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946B2-7A03-EB07-BCEE-C3EDA7DB0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569323-C4D0-EA5E-54D8-05261E28A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11610468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023ACA3-C0AF-BB15-AD09-4B3E2B1A7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316" y="2444872"/>
            <a:ext cx="6663406" cy="355937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사용하면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하는 기준 값을 제시하라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잘못하는 경우가 몇 가지 있으며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천연기념물이고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병이 잘 걸려 찾아내서 치료를 해주어야 하는 것이 목적이라면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값으로 결정해야 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이유를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설명하시오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아주 많아지면 의사결정이 가능하겠는가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A35E2700-4BA3-7734-5D6C-C50CE92CF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444872"/>
            <a:ext cx="3783085" cy="388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21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09A0-0C2A-BC44-D01F-7296031ED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0B5BFA-DAF2-7916-F4FC-4E73C8EFA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6FEEE-7362-F3A1-6AE3-63689D14E48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D3E89-6A59-070C-A359-A62A49207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966397"/>
            <a:ext cx="11610468" cy="11065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Gemini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“data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classification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Prompt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하게 되면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A17612-7A61-6765-9F22-89E193D67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8" y="2708919"/>
            <a:ext cx="2990569" cy="32403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C2EF9FC-2EFA-2C7C-3A78-E67094AC3E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7228" y="2708919"/>
            <a:ext cx="4106494" cy="2808312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7B73AD2B-002D-D2D0-D6FA-9CB0A274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8188" y="2708919"/>
            <a:ext cx="3426318" cy="316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CA04D99-753B-6265-8E1B-9274E67E4D9A}"/>
              </a:ext>
            </a:extLst>
          </p:cNvPr>
          <p:cNvSpPr/>
          <p:nvPr/>
        </p:nvSpPr>
        <p:spPr>
          <a:xfrm>
            <a:off x="3388280" y="3753035"/>
            <a:ext cx="581374" cy="72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318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19876-B4E0-F9EE-9931-B527BB3E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EF055EE-A0F7-AF28-C9A2-5B7C5C133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E241C-5205-2129-5434-EEAACE129C3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F64F6-5341-97A0-67F1-B78EC4B42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1043341"/>
            <a:ext cx="11610468" cy="95263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('titanic＇)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Fare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joint 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 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변수로 생존여부를 분류할 수 있겠는가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토론하라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77B93BA-D301-B2B3-81F5-743A0483B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816" y="2377201"/>
            <a:ext cx="3960440" cy="413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CA5BDBA-9AB1-8379-9343-B45AF630F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8025" y="2397326"/>
            <a:ext cx="5987068" cy="27377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('titanic')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“survived”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관련이 깊은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변수를 찾아내라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엔트로피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 슬라이드를 학습하고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두 가지 방법의 장단점을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6209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7560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범주형과 수치형의 </a:t>
            </a:r>
            <a:r>
              <a:rPr lang="ko-KR" altLang="en-US" sz="3200" b="1"/>
              <a:t>상관관계 확인방법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622490"/>
            <a:ext cx="7992888" cy="56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E122AFA1-E2DF-DDC1-9C3A-1B20CA5ECBF8}"/>
              </a:ext>
            </a:extLst>
          </p:cNvPr>
          <p:cNvCxnSpPr/>
          <p:nvPr/>
        </p:nvCxnSpPr>
        <p:spPr>
          <a:xfrm flipH="1">
            <a:off x="2998068" y="21328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74BD8C4-2C9A-6BE9-72F6-3FC2C67967A0}"/>
              </a:ext>
            </a:extLst>
          </p:cNvPr>
          <p:cNvCxnSpPr>
            <a:cxnSpLocks/>
          </p:cNvCxnSpPr>
          <p:nvPr/>
        </p:nvCxnSpPr>
        <p:spPr>
          <a:xfrm>
            <a:off x="5842240" y="2132856"/>
            <a:ext cx="266429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98AA712-8431-5043-63B8-16DBD381937D}"/>
              </a:ext>
            </a:extLst>
          </p:cNvPr>
          <p:cNvCxnSpPr>
            <a:cxnSpLocks/>
          </p:cNvCxnSpPr>
          <p:nvPr/>
        </p:nvCxnSpPr>
        <p:spPr>
          <a:xfrm>
            <a:off x="5788450" y="1808964"/>
            <a:ext cx="0" cy="410445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/>
              <p:nvPr/>
            </p:nvSpPr>
            <p:spPr>
              <a:xfrm>
                <a:off x="765820" y="2348880"/>
                <a:ext cx="30090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귀무가설 채택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0" y="2348880"/>
                <a:ext cx="3009093" cy="369332"/>
              </a:xfrm>
              <a:prstGeom prst="rect">
                <a:avLst/>
              </a:prstGeom>
              <a:blipFill>
                <a:blip r:embed="rId4"/>
                <a:stretch>
                  <a:fillRect l="-1826" t="-11475" r="-1420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/>
              <p:nvPr/>
            </p:nvSpPr>
            <p:spPr>
              <a:xfrm>
                <a:off x="7966620" y="2348880"/>
                <a:ext cx="310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대립가설 채택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6620" y="2348880"/>
                <a:ext cx="3105274" cy="369332"/>
              </a:xfrm>
              <a:prstGeom prst="rect">
                <a:avLst/>
              </a:prstGeom>
              <a:blipFill>
                <a:blip r:embed="rId5"/>
                <a:stretch>
                  <a:fillRect l="-1768"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/>
              <p:nvPr/>
            </p:nvSpPr>
            <p:spPr>
              <a:xfrm>
                <a:off x="774140" y="3003902"/>
                <a:ext cx="30287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대립가설 기각</a:t>
                </a:r>
                <a:r>
                  <a:rPr lang="en-US" altLang="ko-KR" dirty="0">
                    <a:latin typeface="+mj-ea"/>
                    <a:ea typeface="+mj-ea"/>
                  </a:rPr>
                  <a:t>(Reject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140" y="3003902"/>
                <a:ext cx="3028714" cy="369332"/>
              </a:xfrm>
              <a:prstGeom prst="rect">
                <a:avLst/>
              </a:prstGeom>
              <a:blipFill>
                <a:blip r:embed="rId6"/>
                <a:stretch>
                  <a:fillRect l="-1811" t="-13333" b="-2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/>
              <p:nvPr/>
            </p:nvSpPr>
            <p:spPr>
              <a:xfrm>
                <a:off x="7966620" y="2934235"/>
                <a:ext cx="3106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>
                    <a:latin typeface="+mj-ea"/>
                    <a:ea typeface="+mj-ea"/>
                  </a:rPr>
                  <a:t>귀무가설 기각</a:t>
                </a:r>
                <a:r>
                  <a:rPr lang="en-US" altLang="ko-KR" dirty="0">
                    <a:latin typeface="+mj-ea"/>
                    <a:ea typeface="+mj-ea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b="0" i="1">
                            <a:latin typeface="+mj-ea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+mj-ea"/>
                    <a:ea typeface="+mj-ea"/>
                  </a:rPr>
                  <a:t>) </a:t>
                </a:r>
                <a:endParaRPr lang="ko-KR" altLang="en-US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6620" y="2934235"/>
                <a:ext cx="3106171" cy="369332"/>
              </a:xfrm>
              <a:prstGeom prst="rect">
                <a:avLst/>
              </a:prstGeom>
              <a:blipFill>
                <a:blip r:embed="rId7"/>
                <a:stretch>
                  <a:fillRect l="-1768"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D968432-6E5F-B4C4-4F4A-BB9BF8574D81}"/>
              </a:ext>
            </a:extLst>
          </p:cNvPr>
          <p:cNvSpPr txBox="1"/>
          <p:nvPr/>
        </p:nvSpPr>
        <p:spPr>
          <a:xfrm>
            <a:off x="4942284" y="1779203"/>
            <a:ext cx="1655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임계값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CD049-0F0D-E0AC-747F-BEA491858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3635FA-EE30-761F-0712-F731F3BFB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06225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75F960-897D-8ADD-0748-D5EE85DA9ED1}"/>
              </a:ext>
            </a:extLst>
          </p:cNvPr>
          <p:cNvSpPr txBox="1"/>
          <p:nvPr/>
        </p:nvSpPr>
        <p:spPr>
          <a:xfrm>
            <a:off x="1989956" y="499853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통계 요약 클릭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579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terms/"/>
    <ds:schemaRef ds:uri="40262f94-9f35-4ac3-9a90-690165a166b7"/>
    <ds:schemaRef ds:uri="a4f35948-e619-41b3-aa29-22878b09cfd2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656</TotalTime>
  <Words>887</Words>
  <Application>Microsoft Office PowerPoint</Application>
  <PresentationFormat>사용자 지정</PresentationFormat>
  <Paragraphs>125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Cambria Math</vt:lpstr>
      <vt:lpstr>Corbel</vt:lpstr>
      <vt:lpstr>Wingdings</vt:lpstr>
      <vt:lpstr>마케팅 16x9</vt:lpstr>
      <vt:lpstr>통계학  - 검정(Hypothesis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54</cp:revision>
  <dcterms:created xsi:type="dcterms:W3CDTF">2024-06-03T06:10:16Z</dcterms:created>
  <dcterms:modified xsi:type="dcterms:W3CDTF">2026-03-25T03:18:28Z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