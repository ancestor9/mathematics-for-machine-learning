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380" r:id="rId6"/>
    <p:sldId id="270" r:id="rId7"/>
    <p:sldId id="381" r:id="rId8"/>
    <p:sldId id="364" r:id="rId9"/>
    <p:sldId id="272" r:id="rId10"/>
    <p:sldId id="271" r:id="rId11"/>
    <p:sldId id="281" r:id="rId12"/>
    <p:sldId id="274" r:id="rId13"/>
    <p:sldId id="372" r:id="rId14"/>
    <p:sldId id="275" r:id="rId15"/>
    <p:sldId id="276" r:id="rId16"/>
    <p:sldId id="363" r:id="rId17"/>
    <p:sldId id="277" r:id="rId18"/>
    <p:sldId id="375" r:id="rId19"/>
    <p:sldId id="376" r:id="rId20"/>
    <p:sldId id="377" r:id="rId21"/>
    <p:sldId id="378" r:id="rId22"/>
    <p:sldId id="368" r:id="rId23"/>
    <p:sldId id="369" r:id="rId24"/>
    <p:sldId id="278" r:id="rId25"/>
    <p:sldId id="379" r:id="rId26"/>
    <p:sldId id="279" r:id="rId27"/>
    <p:sldId id="280" r:id="rId28"/>
    <p:sldId id="365" r:id="rId29"/>
    <p:sldId id="373" r:id="rId30"/>
    <p:sldId id="370" r:id="rId31"/>
    <p:sldId id="371" r:id="rId32"/>
    <p:sldId id="314" r:id="rId33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 varScale="1">
        <p:scale>
          <a:sx n="110" d="100"/>
          <a:sy n="110" d="100"/>
        </p:scale>
        <p:origin x="996" y="11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2026-04-09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2026-04-09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58FD-2C12-1255-2213-930ACA98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F035-FBFF-018B-062F-FF5CF7C2D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38ECAE-F9D4-7DB5-E691-AFFDA64BF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2181B1-B00E-C719-0EF9-5FEAA0355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972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50CF9-505A-BD46-7C25-C941A84C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0BDB87-CDA9-26F4-52D5-6FBB4D183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5FD80D-7F18-B053-608A-27694AFDB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98CA5-BD29-99CC-EE13-0A29D5389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875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4254-F259-0186-8184-8C24ABFA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05D676-5C57-0C2C-6C7C-38E61051C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D176DB-4586-0E80-7679-11F9B7FDC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2E2A2-B4A2-BCB6-696A-196E3F182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433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6534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191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E5C1-8BE4-75C2-5973-DE2C88BC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3385EE-D887-4872-22C9-0EE66769E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20B6FF-D6E8-262B-0A7C-529E9A002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E2F0FB-50CC-7B15-66BC-3D0CE1482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6411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987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8675-0015-6253-E34C-BFFFF1A1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E6DC7F-79B6-9F94-1CEF-11E0F0627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80BAB-8577-4879-6471-13E3CA1C6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B335B-13A1-54EA-24C0-C5799F384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3948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408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349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A8D9-600A-F975-AF39-7C4A71BD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7B488-9014-47F4-B025-68110CD1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4C337A-0E33-780B-F888-436B2DCF5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3F98F-1801-D05E-7B68-8901BBFD8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142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654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61B4D-A78D-BF58-46C1-A0D469F6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1E6EC7-AA23-33A8-D2EC-D17A32B27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8DA7AD-636A-FEB0-E121-6554C73DE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414BD2-684E-B499-503C-0D25A834D1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8899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04B23-854F-E3F9-F9D9-52E3F8CE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977ACD-DE66-4434-6F3F-72A8E166A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A15446-D294-3BA2-C8C2-4E5D164F6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9CE8A-D25D-D1C5-B625-55194DDB3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0655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BD40-DAB9-5FEA-DC4A-D7798FA6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99C032-E2A3-E4FB-0EC6-BCEECC846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4B3DB1-AAA8-30E8-77CC-10B318EF7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F3B72-8F8F-8320-52FB-EAC5487B8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182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D369-D610-F1B2-4892-CBC7B0F8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37AF2D-E937-621B-133D-D674C88C2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B5CB17-6DE6-A69E-143A-4156F71D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961BFB-EAFC-D655-8BAA-2DE909F13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3647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0D75C-3C4C-A822-1EC0-2D3AF6FA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33EBB0-FDBE-F04D-F886-752EC50C8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5B570F-C4FB-3564-373E-F4BFDED3F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391C0-71C3-07CE-89F9-47DB5896E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4880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29C17-5C0F-E7F4-9462-04D34626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8DCC13-513F-1A84-7AEE-4EBE92B1B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5F96C1-401F-6F83-8599-62E6E62FD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E3BBEA-7162-4DD7-8CCF-56BBB8CFD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1055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940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709FB-3622-95BB-53A2-2D47346B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31E25B-AD79-3619-D1E2-B4B27F92D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12D5D8-A015-5D31-A517-9F8EECD1C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089850-F586-0102-3EAD-8EAA6FB04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19640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94592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51641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58FD-2C12-1255-2213-930ACA98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F035-FBFF-018B-062F-FF5CF7C2D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38ECAE-F9D4-7DB5-E691-AFFDA64BF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2181B1-B00E-C719-0EF9-5FEAA0355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972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D69AD-F202-D8EA-BD7D-66E0D65D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3E741-9660-FB9F-6385-4F017B61E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A2FC48-BB76-AF36-A57D-A87A88C50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D02254-54C2-3972-D16B-6A7E60287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99542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9651-1DDC-89B4-1043-102F50F4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CDEA3D-E638-70D6-2D65-BDEBCA01E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91AC4D-E683-E8EA-A96B-CFEF1D9DB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8C6521-59A0-7FDB-1E06-7D6291C856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23119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31C5-2B9D-8428-D3C9-53BD5CDE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226263-8048-B95E-3549-CDBFB6BD4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21DA13-5717-1A93-FC77-84EF12FA9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EBD85-A92B-4FF4-959C-0DC211BFE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01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2026-04-09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2026-04-09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www.geeksforgeeks.org/data-science/understanding-hypothesis-testing/" TargetMode="External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data/students-t-test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microsoft.com/office/2007/relationships/hdphoto" Target="../media/hdphoto6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8.jpe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8.jpeg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khF6Abdrrg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www.kaggle.com/code/shakedzy/alone-in-the-woods-using-theil-s-u-for-surviva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cestor9/data/blob/main/customers.csv" TargetMode="Externa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2" y="685801"/>
            <a:ext cx="4334271" cy="2959223"/>
          </a:xfrm>
        </p:spPr>
        <p:txBody>
          <a:bodyPr rtlCol="0">
            <a:normAutofit/>
          </a:bodyPr>
          <a:lstStyle/>
          <a:p>
            <a:r>
              <a:rPr lang="ko-KR" altLang="en-US" b="1" dirty="0"/>
              <a:t>통계학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/>
              <a:t>가설검정</a:t>
            </a:r>
            <a:br>
              <a:rPr lang="en-US" altLang="ko-KR" sz="2400" b="1" dirty="0"/>
            </a:br>
            <a:r>
              <a:rPr lang="en-US" altLang="ko-KR" sz="2400" b="1" dirty="0"/>
              <a:t>(Hypothesis Testing) 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BF4-C854-8B0C-402B-64EA2670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9FE9E7-8E5C-1FC2-1EE6-F20BF18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F4407-06FD-C08E-3FB8-E256F08DB85E}"/>
              </a:ext>
            </a:extLst>
          </p:cNvPr>
          <p:cNvSpPr txBox="1"/>
          <p:nvPr/>
        </p:nvSpPr>
        <p:spPr>
          <a:xfrm>
            <a:off x="246509" y="198588"/>
            <a:ext cx="11191750" cy="66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Summary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BF83CB-FCBF-055A-5E05-21C631832BD5}"/>
              </a:ext>
            </a:extLst>
          </p:cNvPr>
          <p:cNvSpPr/>
          <p:nvPr/>
        </p:nvSpPr>
        <p:spPr>
          <a:xfrm>
            <a:off x="4870276" y="83671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9824AE-C6FC-79CD-A30A-40E889349193}"/>
              </a:ext>
            </a:extLst>
          </p:cNvPr>
          <p:cNvSpPr/>
          <p:nvPr/>
        </p:nvSpPr>
        <p:spPr>
          <a:xfrm>
            <a:off x="1413892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41D334-29FF-4873-077B-1CA764FC20AA}"/>
              </a:ext>
            </a:extLst>
          </p:cNvPr>
          <p:cNvSpPr/>
          <p:nvPr/>
        </p:nvSpPr>
        <p:spPr>
          <a:xfrm>
            <a:off x="8398668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628176-F633-25A0-F7CB-B44223ECE667}"/>
              </a:ext>
            </a:extLst>
          </p:cNvPr>
          <p:cNvSpPr/>
          <p:nvPr/>
        </p:nvSpPr>
        <p:spPr>
          <a:xfrm>
            <a:off x="9856113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가설검정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4138A7-8A11-225A-36D5-14E270727BAE}"/>
              </a:ext>
            </a:extLst>
          </p:cNvPr>
          <p:cNvSpPr/>
          <p:nvPr/>
        </p:nvSpPr>
        <p:spPr>
          <a:xfrm>
            <a:off x="6526460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C9EE40-F079-ED83-22D5-957CBE13B387}"/>
              </a:ext>
            </a:extLst>
          </p:cNvPr>
          <p:cNvSpPr/>
          <p:nvPr/>
        </p:nvSpPr>
        <p:spPr>
          <a:xfrm>
            <a:off x="5215061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점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7FCA7F-CA07-F0BA-17EE-A0120E977AEE}"/>
              </a:ext>
            </a:extLst>
          </p:cNvPr>
          <p:cNvSpPr/>
          <p:nvPr/>
        </p:nvSpPr>
        <p:spPr>
          <a:xfrm>
            <a:off x="7678588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9974693-FA6C-1B23-6CAE-B0D257ECD77F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3574132" y="152636"/>
            <a:ext cx="1080120" cy="345638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C593572-D7B4-2E80-44D4-089E8626D8F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7066520" y="116632"/>
            <a:ext cx="1080120" cy="352839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4895DAF6-3C2C-DE41-F201-F449A30C8BC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7872169" y="2551343"/>
            <a:ext cx="1125006" cy="187220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80DFB1D7-9D5F-44C8-960C-163848C3219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16200000" flipH="1">
            <a:off x="9536995" y="2758724"/>
            <a:ext cx="1125006" cy="14574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770B1B04-1989-43E7-958B-11AB127AA07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6361256" y="4379920"/>
            <a:ext cx="963226" cy="1311399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6C17717-5923-BF72-668E-9BBB810AE42C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7593019" y="4459555"/>
            <a:ext cx="963226" cy="115212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455240-824F-1FFC-FDF1-FF857BFE6523}"/>
              </a:ext>
            </a:extLst>
          </p:cNvPr>
          <p:cNvSpPr txBox="1"/>
          <p:nvPr/>
        </p:nvSpPr>
        <p:spPr>
          <a:xfrm>
            <a:off x="1256042" y="3362479"/>
            <a:ext cx="207620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모집단과</a:t>
            </a:r>
            <a:r>
              <a:rPr lang="en-US" altLang="ko-KR" sz="1400" dirty="0"/>
              <a:t> </a:t>
            </a:r>
            <a:r>
              <a:rPr lang="ko-KR" altLang="en-US" sz="1400" dirty="0"/>
              <a:t>표본</a:t>
            </a:r>
            <a:r>
              <a:rPr lang="en-US" altLang="ko-KR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평균</a:t>
            </a:r>
            <a:r>
              <a:rPr lang="en-US" altLang="ko-KR" sz="1400" dirty="0"/>
              <a:t>, </a:t>
            </a:r>
            <a:r>
              <a:rPr lang="ko-KR" altLang="en-US" sz="1400" dirty="0"/>
              <a:t>분산</a:t>
            </a:r>
            <a:r>
              <a:rPr lang="en-US" altLang="ko-KR" sz="1400" dirty="0"/>
              <a:t>, </a:t>
            </a:r>
            <a:r>
              <a:rPr lang="ko-KR" altLang="en-US" sz="1400" dirty="0"/>
              <a:t>표준편차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기술 통계량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히스토그램</a:t>
            </a:r>
            <a:r>
              <a:rPr lang="en-US" altLang="ko-KR" sz="1400" dirty="0"/>
              <a:t>. </a:t>
            </a:r>
            <a:r>
              <a:rPr lang="ko-KR" altLang="en-US" sz="1400" dirty="0"/>
              <a:t>산포도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상관관계</a:t>
            </a:r>
            <a:r>
              <a:rPr lang="en-US" altLang="ko-KR" sz="1400" dirty="0"/>
              <a:t>, </a:t>
            </a:r>
            <a:r>
              <a:rPr lang="ko-KR" altLang="en-US" sz="1400" dirty="0"/>
              <a:t>공분산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A5CDD18-9280-6EB1-D8BD-A56DE168DF1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58108" y="2672916"/>
            <a:ext cx="504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5A98A7-C86E-3D41-319D-BA1E4ECEC36E}"/>
              </a:ext>
            </a:extLst>
          </p:cNvPr>
          <p:cNvSpPr/>
          <p:nvPr/>
        </p:nvSpPr>
        <p:spPr>
          <a:xfrm>
            <a:off x="4894706" y="2420887"/>
            <a:ext cx="1944216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확률론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99A9F2-C66D-BE34-1C34-A3E25F200FBA}"/>
              </a:ext>
            </a:extLst>
          </p:cNvPr>
          <p:cNvSpPr txBox="1"/>
          <p:nvPr/>
        </p:nvSpPr>
        <p:spPr>
          <a:xfrm>
            <a:off x="4849771" y="3376616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확률변수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확률분포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884A9C-176F-954C-B293-76195920609C}"/>
              </a:ext>
            </a:extLst>
          </p:cNvPr>
          <p:cNvSpPr txBox="1"/>
          <p:nvPr/>
        </p:nvSpPr>
        <p:spPr>
          <a:xfrm>
            <a:off x="7047646" y="222465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중심극한정리</a:t>
            </a:r>
          </a:p>
        </p:txBody>
      </p:sp>
    </p:spTree>
    <p:extLst>
      <p:ext uri="{BB962C8B-B14F-4D97-AF65-F5344CB8AC3E}">
        <p14:creationId xmlns:p14="http://schemas.microsoft.com/office/powerpoint/2010/main" val="112098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92C58-8C4D-6C08-A392-EF301B1BC5A4}"/>
              </a:ext>
            </a:extLst>
          </p:cNvPr>
          <p:cNvSpPr txBox="1"/>
          <p:nvPr/>
        </p:nvSpPr>
        <p:spPr>
          <a:xfrm>
            <a:off x="606549" y="1130799"/>
            <a:ext cx="11191750" cy="427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중심극한정리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(CLT)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통계적 가설검정을 가능하게 하는 가장 중요한 이론적 토대입니다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모집단의 분포가 무엇이든 관계없이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표본평균의 분포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정규분포를 따른다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점을 이용해 확률을 계산할 수 있기 때문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모집단의 분포를 알 수 없어도 표본의 평균과 분산을 통해 모집단의 평균과 분산을 추정하고 가설검정을 할 수 있음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표본평균만으로 모평균을 추정할 수 있고 분포는 표본의 크기에 따라 추정 가능함 </a:t>
            </a:r>
            <a:endParaRPr lang="en-US" altLang="ko-KR" sz="16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보편성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모집단이 어떤 모양이든 상관없이 동일한 정규분포 기반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검정법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(Z-test, T-test)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적용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객관적 기준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정규분포의 면적을 통해 유의수준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5%, 1%)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해당하는 경계선을 명확히 계산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 전체를 전수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조사없이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충분한 크기의 표본만 있다면 모집단에 대한 추론과 예측이 가능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338648-42F5-8579-CB6F-5CAC28D723B6}"/>
              </a:ext>
            </a:extLst>
          </p:cNvPr>
          <p:cNvSpPr/>
          <p:nvPr/>
        </p:nvSpPr>
        <p:spPr>
          <a:xfrm>
            <a:off x="765820" y="145576"/>
            <a:ext cx="10873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2800" b="1" dirty="0" err="1"/>
              <a:t>중심극한</a:t>
            </a:r>
            <a:r>
              <a:rPr lang="ko-KR" altLang="en-US" sz="2800" b="1" dirty="0"/>
              <a:t> 정리와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가설검정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863B13D-C89F-49F8-D25B-A823C8119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8108" y="2132856"/>
            <a:ext cx="1941989" cy="86409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47E3737-D38B-FBEB-4994-E125789904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59719" y="4077072"/>
            <a:ext cx="1216939" cy="64248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47CA800-F776-12A3-98C3-A62D0849F4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76658" y="4077072"/>
            <a:ext cx="1302726" cy="6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9BDA-8235-A869-A175-37677C72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0744DE0-F69A-00B0-9CCF-0E5898E0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088B00-1DB9-728A-0D35-A653251E8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596" y="2774241"/>
            <a:ext cx="3202059" cy="28869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4BAA5C-EA6F-61DE-B6E9-762201186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588" y="2774241"/>
            <a:ext cx="2983281" cy="2850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31FAFF-BD93-B87D-FDA1-BDA932F63EFB}"/>
                  </a:ext>
                </a:extLst>
              </p:cNvPr>
              <p:cNvSpPr txBox="1"/>
              <p:nvPr/>
            </p:nvSpPr>
            <p:spPr>
              <a:xfrm>
                <a:off x="1108596" y="2095022"/>
                <a:ext cx="3075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b="1" dirty="0"/>
                  <a:t>천동설 </a:t>
                </a:r>
                <a:r>
                  <a:rPr lang="en-US" altLang="ko-KR" b="1" dirty="0"/>
                  <a:t>: </a:t>
                </a:r>
                <a:r>
                  <a:rPr lang="ko-KR" altLang="en-US" b="1" dirty="0"/>
                  <a:t>귀무가설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596" y="2095022"/>
                <a:ext cx="3075955" cy="369332"/>
              </a:xfrm>
              <a:prstGeom prst="rect">
                <a:avLst/>
              </a:prstGeom>
              <a:blipFill>
                <a:blip r:embed="rId5"/>
                <a:stretch>
                  <a:fillRect t="-15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86AFA1-691F-71B3-CF81-53541CFE0461}"/>
                  </a:ext>
                </a:extLst>
              </p:cNvPr>
              <p:cNvSpPr txBox="1"/>
              <p:nvPr/>
            </p:nvSpPr>
            <p:spPr>
              <a:xfrm>
                <a:off x="7676200" y="2095022"/>
                <a:ext cx="29832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b="1" dirty="0"/>
                  <a:t>지동설 </a:t>
                </a:r>
                <a:r>
                  <a:rPr lang="en-US" altLang="ko-KR" b="1" dirty="0"/>
                  <a:t>: </a:t>
                </a:r>
                <a:r>
                  <a:rPr lang="ko-KR" altLang="en-US" b="1" dirty="0" err="1"/>
                  <a:t>대립가설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200" y="2095022"/>
                <a:ext cx="2983281" cy="369332"/>
              </a:xfrm>
              <a:prstGeom prst="rect">
                <a:avLst/>
              </a:prstGeom>
              <a:blipFill>
                <a:blip r:embed="rId6"/>
                <a:stretch>
                  <a:fillRect t="-15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DD624A0-F561-120F-BBE2-3F784B8A42A0}"/>
              </a:ext>
            </a:extLst>
          </p:cNvPr>
          <p:cNvCxnSpPr>
            <a:cxnSpLocks/>
          </p:cNvCxnSpPr>
          <p:nvPr/>
        </p:nvCxnSpPr>
        <p:spPr>
          <a:xfrm>
            <a:off x="5220054" y="4199728"/>
            <a:ext cx="144016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7AC819C-7393-3FAA-8319-A603669F4A46}"/>
              </a:ext>
            </a:extLst>
          </p:cNvPr>
          <p:cNvSpPr txBox="1"/>
          <p:nvPr/>
        </p:nvSpPr>
        <p:spPr>
          <a:xfrm>
            <a:off x="693812" y="630393"/>
            <a:ext cx="11191750" cy="8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천동설의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확률분포를 가정하고 표본</a:t>
            </a:r>
            <a:r>
              <a:rPr lang="en-US" altLang="ko-KR" dirty="0">
                <a:latin typeface="+mj-ea"/>
                <a:ea typeface="+mj-ea"/>
              </a:rPr>
              <a:t>(Sample)</a:t>
            </a:r>
            <a:r>
              <a:rPr lang="ko-KR" altLang="en-US" dirty="0">
                <a:latin typeface="+mj-ea"/>
                <a:ea typeface="+mj-ea"/>
              </a:rPr>
              <a:t>으로부터 얻은 정보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통계량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를 바탕으로 얼마나 천동설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귀무가설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과 다른 지를 검증하는 것이 목적</a:t>
            </a: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573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6455-0349-1D80-A8E2-0A318591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26B6010-4F6A-4546-75BF-00EA87DC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1C719-90D1-FA3E-A678-6363C4D23B70}"/>
              </a:ext>
            </a:extLst>
          </p:cNvPr>
          <p:cNvSpPr txBox="1"/>
          <p:nvPr/>
        </p:nvSpPr>
        <p:spPr>
          <a:xfrm>
            <a:off x="621804" y="680906"/>
            <a:ext cx="8712968" cy="127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0" dirty="0">
                <a:effectLst/>
                <a:latin typeface="+mj-ea"/>
                <a:ea typeface="+mj-ea"/>
              </a:rPr>
              <a:t>직관적 이해 </a:t>
            </a:r>
            <a:r>
              <a:rPr lang="en-US" altLang="ko-KR" b="0" dirty="0">
                <a:effectLst/>
                <a:latin typeface="+mj-ea"/>
                <a:ea typeface="+mj-ea"/>
              </a:rPr>
              <a:t>: </a:t>
            </a:r>
            <a:r>
              <a:rPr lang="ko-KR" altLang="en-US" b="1" dirty="0">
                <a:effectLst/>
                <a:latin typeface="+mj-ea"/>
                <a:ea typeface="+mj-ea"/>
              </a:rPr>
              <a:t>귀무가설이 </a:t>
            </a:r>
            <a:r>
              <a:rPr lang="en-US" altLang="ko-KR" b="1" dirty="0">
                <a:effectLst/>
                <a:latin typeface="+mj-ea"/>
                <a:ea typeface="+mj-ea"/>
              </a:rPr>
              <a:t>Adelie </a:t>
            </a:r>
            <a:r>
              <a:rPr lang="ko-KR" altLang="en-US" b="1" dirty="0">
                <a:effectLst/>
                <a:latin typeface="+mj-ea"/>
                <a:ea typeface="+mj-ea"/>
              </a:rPr>
              <a:t>라고 가정하고 </a:t>
            </a:r>
            <a:r>
              <a:rPr lang="ko-KR" altLang="en-US" b="0" dirty="0" err="1">
                <a:effectLst/>
                <a:latin typeface="+mj-ea"/>
                <a:ea typeface="+mj-ea"/>
              </a:rPr>
              <a:t>표본를</a:t>
            </a:r>
            <a:r>
              <a:rPr lang="ko-KR" altLang="en-US" b="0" dirty="0">
                <a:effectLst/>
                <a:latin typeface="+mj-ea"/>
                <a:ea typeface="+mj-ea"/>
              </a:rPr>
              <a:t> 추출하였더니 </a:t>
            </a:r>
            <a:r>
              <a:rPr lang="en-US" altLang="ko-KR" b="0" dirty="0">
                <a:effectLst/>
                <a:latin typeface="+mj-ea"/>
                <a:ea typeface="+mj-ea"/>
              </a:rPr>
              <a:t>47, 48, 50, 55</a:t>
            </a:r>
            <a:r>
              <a:rPr lang="ko-KR" altLang="en-US" b="0" dirty="0">
                <a:effectLst/>
                <a:latin typeface="+mj-ea"/>
                <a:ea typeface="+mj-ea"/>
              </a:rPr>
              <a:t>가 나오면 이 데이터가 </a:t>
            </a:r>
            <a:r>
              <a:rPr lang="en-US" altLang="ko-KR" dirty="0">
                <a:latin typeface="+mj-ea"/>
                <a:ea typeface="+mj-ea"/>
              </a:rPr>
              <a:t>Adelie</a:t>
            </a:r>
            <a:r>
              <a:rPr lang="ko-KR" altLang="en-US" dirty="0">
                <a:latin typeface="+mj-ea"/>
                <a:ea typeface="+mj-ea"/>
              </a:rPr>
              <a:t>에서 나온 데이터라고 믿어야 되나</a:t>
            </a:r>
            <a:r>
              <a:rPr lang="en-US" altLang="ko-KR" dirty="0">
                <a:latin typeface="+mj-ea"/>
                <a:ea typeface="+mj-ea"/>
              </a:rPr>
              <a:t>? Chinstrap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or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Gentoo? </a:t>
            </a:r>
            <a:r>
              <a:rPr lang="ko-KR" altLang="en-US" dirty="0">
                <a:latin typeface="+mj-ea"/>
                <a:ea typeface="+mj-ea"/>
              </a:rPr>
              <a:t>인가</a:t>
            </a:r>
            <a:r>
              <a:rPr lang="en-US" altLang="ko-KR" dirty="0">
                <a:latin typeface="+mj-ea"/>
                <a:ea typeface="+mj-ea"/>
              </a:rPr>
              <a:t>? </a:t>
            </a:r>
            <a:endParaRPr lang="en-US" altLang="ko-KR" b="0" dirty="0">
              <a:effectLst/>
              <a:latin typeface="+mj-ea"/>
              <a:ea typeface="+mj-ea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5C247D6-DCC6-0F90-E8AE-249C2D697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406" y="2786013"/>
            <a:ext cx="11041662" cy="32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1A4700C-D226-398D-17E9-AEBB25F298C6}"/>
              </a:ext>
            </a:extLst>
          </p:cNvPr>
          <p:cNvSpPr txBox="1"/>
          <p:nvPr/>
        </p:nvSpPr>
        <p:spPr>
          <a:xfrm>
            <a:off x="957406" y="2300302"/>
            <a:ext cx="6096000" cy="485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rial Narrow" panose="020B0606020202030204" pitchFamily="34" charset="0"/>
              </a:rPr>
              <a:t>penguins = </a:t>
            </a:r>
            <a:r>
              <a:rPr lang="en-US" altLang="ko-KR" sz="1200" b="0" dirty="0" err="1">
                <a:effectLst/>
                <a:latin typeface="Arial Narrow" panose="020B0606020202030204" pitchFamily="34" charset="0"/>
              </a:rPr>
              <a:t>sns.load_dataset</a:t>
            </a:r>
            <a:r>
              <a:rPr lang="en-US" altLang="ko-KR" sz="1200" b="0" dirty="0">
                <a:effectLst/>
                <a:latin typeface="Arial Narrow" panose="020B0606020202030204" pitchFamily="34" charset="0"/>
              </a:rPr>
              <a:t>("penguins")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Arial Narrow" panose="020B0606020202030204" pitchFamily="34" charset="0"/>
              </a:rPr>
              <a:t>sns.displot</a:t>
            </a:r>
            <a:r>
              <a:rPr lang="en-US" altLang="ko-KR" sz="1200" b="0" dirty="0">
                <a:effectLst/>
                <a:latin typeface="Arial Narrow" panose="020B0606020202030204" pitchFamily="34" charset="0"/>
              </a:rPr>
              <a:t>(data=penguins, x="</a:t>
            </a:r>
            <a:r>
              <a:rPr lang="en-US" altLang="ko-KR" sz="1200" b="0" dirty="0" err="1">
                <a:effectLst/>
                <a:latin typeface="Arial Narrow" panose="020B0606020202030204" pitchFamily="34" charset="0"/>
              </a:rPr>
              <a:t>bill_length_mm</a:t>
            </a:r>
            <a:r>
              <a:rPr lang="en-US" altLang="ko-KR" sz="1200" b="0" dirty="0">
                <a:effectLst/>
                <a:latin typeface="Arial Narrow" panose="020B0606020202030204" pitchFamily="34" charset="0"/>
              </a:rPr>
              <a:t>", col="species", bins=20, hue="species", </a:t>
            </a:r>
            <a:r>
              <a:rPr lang="en-US" altLang="ko-KR" sz="1200" b="0" dirty="0" err="1">
                <a:effectLst/>
                <a:latin typeface="Arial Narrow" panose="020B0606020202030204" pitchFamily="34" charset="0"/>
              </a:rPr>
              <a:t>kde</a:t>
            </a:r>
            <a:r>
              <a:rPr lang="en-US" altLang="ko-KR" sz="1200" b="0" dirty="0">
                <a:effectLst/>
                <a:latin typeface="Arial Narrow" panose="020B0606020202030204" pitchFamily="34" charset="0"/>
              </a:rPr>
              <a:t>=True)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D97211C0-F1E6-9E4E-2557-B5930ECC0616}"/>
              </a:ext>
            </a:extLst>
          </p:cNvPr>
          <p:cNvSpPr/>
          <p:nvPr/>
        </p:nvSpPr>
        <p:spPr>
          <a:xfrm>
            <a:off x="2901622" y="6093296"/>
            <a:ext cx="288032" cy="288032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DA531DC-E750-9249-BEF0-9CCB6F0C7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23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404664"/>
            <a:ext cx="8760663" cy="60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2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3" name="AutoShape 2" descr="hypothesis_testing">
            <a:extLst>
              <a:ext uri="{FF2B5EF4-FFF2-40B4-BE49-F238E27FC236}">
                <a16:creationId xmlns:a16="http://schemas.microsoft.com/office/drawing/2014/main" id="{3249C436-E089-AB4A-6102-57B845950B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5785BB-11B7-6A52-4151-2074884DD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7191" y="2423785"/>
            <a:ext cx="7930163" cy="3633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361FCD-3C27-B5B0-E67F-741D25769D42}"/>
              </a:ext>
            </a:extLst>
          </p:cNvPr>
          <p:cNvSpPr txBox="1"/>
          <p:nvPr/>
        </p:nvSpPr>
        <p:spPr>
          <a:xfrm>
            <a:off x="2227191" y="6079352"/>
            <a:ext cx="5309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https://www.geeksforgeeks.org/data-science/understanding-hypothesis-testing/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E05C5F-E20A-DD0B-0A90-F00ABA51DB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45" y="2915422"/>
            <a:ext cx="4650786" cy="7223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07C7A30-45AA-F692-BAB2-C6AEFC0B0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9477" y="2974794"/>
            <a:ext cx="4106545" cy="6629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C4561E-1D27-F840-F45C-6046704D0115}"/>
              </a:ext>
            </a:extLst>
          </p:cNvPr>
          <p:cNvSpPr txBox="1"/>
          <p:nvPr/>
        </p:nvSpPr>
        <p:spPr>
          <a:xfrm>
            <a:off x="549796" y="985062"/>
            <a:ext cx="11029588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 가설검정은 대립가설을 직접 증명하는 것이 아니라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귀무가설이 맞을 확률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(P-value)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계산하여 그 확률이 너무 낮으면 귀무가설을 기각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(Reject)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 간접적인 방식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1A3CD9-BBE5-3411-81A7-98465216EBA8}"/>
              </a:ext>
            </a:extLst>
          </p:cNvPr>
          <p:cNvSpPr/>
          <p:nvPr/>
        </p:nvSpPr>
        <p:spPr>
          <a:xfrm>
            <a:off x="765820" y="145576"/>
            <a:ext cx="10873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2800" b="1" dirty="0"/>
              <a:t>가설 검정의 논리 구조</a:t>
            </a:r>
          </a:p>
        </p:txBody>
      </p:sp>
    </p:spTree>
    <p:extLst>
      <p:ext uri="{BB962C8B-B14F-4D97-AF65-F5344CB8AC3E}">
        <p14:creationId xmlns:p14="http://schemas.microsoft.com/office/powerpoint/2010/main" val="294030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A63E-4CF5-6FDF-8908-4CACFBE0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10F0487-E9F5-4741-E920-0C82A69F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E6632DC-89A1-F573-CFA6-11F64F1EA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260648"/>
            <a:ext cx="8925044" cy="61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4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765820" y="145576"/>
            <a:ext cx="10873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/>
              <a:t>t-</a:t>
            </a:r>
            <a:r>
              <a:rPr lang="ko-KR" altLang="en-US" sz="2800" b="1" dirty="0"/>
              <a:t>분포</a:t>
            </a:r>
            <a:r>
              <a:rPr lang="en-US" altLang="ko-KR" sz="2800" b="1" dirty="0"/>
              <a:t>(</a:t>
            </a:r>
            <a:r>
              <a:rPr lang="en-US" altLang="ko-KR" sz="28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students-t-test</a:t>
            </a:r>
            <a:r>
              <a:rPr lang="en-US" altLang="ko-KR" sz="2800" b="1" dirty="0"/>
              <a:t>)</a:t>
            </a:r>
            <a:endParaRPr lang="ko-KR" altLang="en-US" sz="28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B41966-68DE-91D4-C70C-722462A86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59" y="2118108"/>
            <a:ext cx="7949225" cy="433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68CDF7-C63C-F7A3-8D1D-AB7CDE1CD271}"/>
              </a:ext>
            </a:extLst>
          </p:cNvPr>
          <p:cNvSpPr txBox="1"/>
          <p:nvPr/>
        </p:nvSpPr>
        <p:spPr>
          <a:xfrm>
            <a:off x="776644" y="734288"/>
            <a:ext cx="11294431" cy="11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크기가 작을 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미만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모집단의 표준편차를 모르는 상태에서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모평균을 추정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하거나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가설 검정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하기 위해 사용하는 확률 분포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흔히 사용하는 정규분포와 비슷하게 생겼지만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그보다 양 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꼬리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더 두터운 것이 특징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5CDD14-9033-98B0-8A7B-8064D2699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60" y="3142130"/>
            <a:ext cx="1251576" cy="687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D2F579-63EA-BC4E-E878-E5213AF5CFBE}"/>
              </a:ext>
            </a:extLst>
          </p:cNvPr>
          <p:cNvSpPr txBox="1"/>
          <p:nvPr/>
        </p:nvSpPr>
        <p:spPr>
          <a:xfrm>
            <a:off x="9046740" y="2118108"/>
            <a:ext cx="2736304" cy="226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머신러닝에서</a:t>
            </a:r>
            <a:r>
              <a:rPr lang="ko-KR" altLang="en-US" sz="1600" u="sng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활용</a:t>
            </a:r>
            <a:endParaRPr lang="en-US" altLang="ko-KR" sz="1600" u="sng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0.05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작다면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모델의 성능 차이는 우연이 아니라 통계적으로 유의미하다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 결론짓고 더 나은 모델을 선택</a:t>
            </a:r>
          </a:p>
        </p:txBody>
      </p:sp>
    </p:spTree>
    <p:extLst>
      <p:ext uri="{BB962C8B-B14F-4D97-AF65-F5344CB8AC3E}">
        <p14:creationId xmlns:p14="http://schemas.microsoft.com/office/powerpoint/2010/main" val="58830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F6384-AE23-9E58-FC91-C5F1361C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770638-C1ED-0705-08FE-872C53D9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A422D3-43C8-8F2B-7CF1-D410589B5765}"/>
              </a:ext>
            </a:extLst>
          </p:cNvPr>
          <p:cNvSpPr/>
          <p:nvPr/>
        </p:nvSpPr>
        <p:spPr>
          <a:xfrm>
            <a:off x="909836" y="1412776"/>
            <a:ext cx="1080120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Arial Narrow" panose="020B0606020202030204" pitchFamily="34" charset="0"/>
              </a:rPr>
              <a:t>1</a:t>
            </a:r>
            <a:r>
              <a:rPr lang="ko-KR" altLang="en-US" b="1" dirty="0">
                <a:latin typeface="Arial Narrow" panose="020B0606020202030204" pitchFamily="34" charset="0"/>
              </a:rPr>
              <a:t>단계</a:t>
            </a:r>
            <a:r>
              <a:rPr lang="en-US" altLang="ko-KR" b="1" dirty="0">
                <a:latin typeface="Arial Narrow" panose="020B0606020202030204" pitchFamily="34" charset="0"/>
              </a:rPr>
              <a:t>: </a:t>
            </a:r>
            <a:r>
              <a:rPr lang="ko-KR" altLang="en-US" b="1" dirty="0">
                <a:latin typeface="Arial Narrow" panose="020B0606020202030204" pitchFamily="34" charset="0"/>
              </a:rPr>
              <a:t>데이터 생성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Arial Narrow" panose="020B0606020202030204" pitchFamily="34" charset="0"/>
              </a:rPr>
              <a:t>신약 투여 전과 투여 후의 데이터를 각각 </a:t>
            </a:r>
            <a:r>
              <a:rPr lang="en-US" altLang="ko-KR" dirty="0">
                <a:latin typeface="Arial Narrow" panose="020B0606020202030204" pitchFamily="34" charset="0"/>
              </a:rPr>
              <a:t>100</a:t>
            </a:r>
            <a:r>
              <a:rPr lang="ko-KR" altLang="en-US" dirty="0">
                <a:latin typeface="Arial Narrow" panose="020B0606020202030204" pitchFamily="34" charset="0"/>
              </a:rPr>
              <a:t>명 분량으로 생성합니다</a:t>
            </a:r>
            <a:r>
              <a:rPr lang="en-US" altLang="ko-KR" dirty="0">
                <a:latin typeface="Arial Narrow" panose="020B0606020202030204" pitchFamily="34" charset="0"/>
              </a:rPr>
              <a:t>. </a:t>
            </a:r>
            <a:r>
              <a:rPr lang="ko-KR" altLang="en-US" dirty="0">
                <a:latin typeface="Arial Narrow" panose="020B0606020202030204" pitchFamily="34" charset="0"/>
              </a:rPr>
              <a:t>이 예에서는 투여 전 데이터를 정규 분포 </a:t>
            </a:r>
            <a:r>
              <a:rPr lang="en-US" altLang="ko-KR" dirty="0">
                <a:latin typeface="Arial Narrow" panose="020B0606020202030204" pitchFamily="34" charset="0"/>
              </a:rPr>
              <a:t>N(0, 1)</a:t>
            </a:r>
            <a:r>
              <a:rPr lang="ko-KR" altLang="en-US" dirty="0">
                <a:latin typeface="Arial Narrow" panose="020B0606020202030204" pitchFamily="34" charset="0"/>
              </a:rPr>
              <a:t>을 따르게 하고</a:t>
            </a:r>
            <a:r>
              <a:rPr lang="en-US" altLang="ko-KR" dirty="0">
                <a:latin typeface="Arial Narrow" panose="020B0606020202030204" pitchFamily="34" charset="0"/>
              </a:rPr>
              <a:t>, </a:t>
            </a:r>
            <a:r>
              <a:rPr lang="ko-KR" altLang="en-US" dirty="0">
                <a:latin typeface="Arial Narrow" panose="020B0606020202030204" pitchFamily="34" charset="0"/>
              </a:rPr>
              <a:t>투여 후 데이터는 투여의 효과를 모사하기 위해 평균이 약간 증가한 정규 분포 </a:t>
            </a:r>
            <a:r>
              <a:rPr lang="en-US" altLang="ko-KR" dirty="0">
                <a:latin typeface="Arial Narrow" panose="020B0606020202030204" pitchFamily="34" charset="0"/>
              </a:rPr>
              <a:t>N(0.3, 2)</a:t>
            </a:r>
            <a:r>
              <a:rPr lang="ko-KR" altLang="en-US" dirty="0">
                <a:latin typeface="Arial Narrow" panose="020B0606020202030204" pitchFamily="34" charset="0"/>
              </a:rPr>
              <a:t>를 사용합니다</a:t>
            </a:r>
            <a:r>
              <a:rPr lang="en-US" altLang="ko-KR" dirty="0">
                <a:latin typeface="Arial Narrow" panose="020B0606020202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Arial Narrow" panose="020B0606020202030204" pitchFamily="34" charset="0"/>
              </a:rPr>
              <a:t>2</a:t>
            </a:r>
            <a:r>
              <a:rPr lang="ko-KR" altLang="en-US" b="1" dirty="0">
                <a:latin typeface="Arial Narrow" panose="020B0606020202030204" pitchFamily="34" charset="0"/>
              </a:rPr>
              <a:t>단계</a:t>
            </a:r>
            <a:r>
              <a:rPr lang="en-US" altLang="ko-KR" b="1" dirty="0">
                <a:latin typeface="Arial Narrow" panose="020B0606020202030204" pitchFamily="34" charset="0"/>
              </a:rPr>
              <a:t>: t-test </a:t>
            </a:r>
            <a:r>
              <a:rPr lang="ko-KR" altLang="en-US" b="1" dirty="0">
                <a:latin typeface="Arial Narrow" panose="020B0606020202030204" pitchFamily="34" charset="0"/>
              </a:rPr>
              <a:t>수행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Arial Narrow" panose="020B0606020202030204" pitchFamily="34" charset="0"/>
              </a:rPr>
              <a:t>생성된 데이터에 대해 독립 표본 </a:t>
            </a:r>
            <a:r>
              <a:rPr lang="en-US" altLang="ko-KR" dirty="0">
                <a:latin typeface="Arial Narrow" panose="020B0606020202030204" pitchFamily="34" charset="0"/>
              </a:rPr>
              <a:t>t-test</a:t>
            </a:r>
            <a:r>
              <a:rPr lang="ko-KR" altLang="en-US" dirty="0">
                <a:latin typeface="Arial Narrow" panose="020B0606020202030204" pitchFamily="34" charset="0"/>
              </a:rPr>
              <a:t>를 수행하여 투여 전과 투여 후의 평균 차이가 통계적으로 </a:t>
            </a:r>
            <a:r>
              <a:rPr lang="ko-KR" altLang="en-US" dirty="0" err="1">
                <a:latin typeface="Arial Narrow" panose="020B0606020202030204" pitchFamily="34" charset="0"/>
              </a:rPr>
              <a:t>유의미한지</a:t>
            </a:r>
            <a:r>
              <a:rPr lang="ko-KR" altLang="en-US" dirty="0">
                <a:latin typeface="Arial Narrow" panose="020B0606020202030204" pitchFamily="34" charset="0"/>
              </a:rPr>
              <a:t> 검정합니다</a:t>
            </a:r>
            <a:r>
              <a:rPr lang="en-US" altLang="ko-KR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6B6102-868A-0C39-9A08-91BF760A29D1}"/>
              </a:ext>
            </a:extLst>
          </p:cNvPr>
          <p:cNvSpPr/>
          <p:nvPr/>
        </p:nvSpPr>
        <p:spPr>
          <a:xfrm>
            <a:off x="333772" y="370028"/>
            <a:ext cx="72298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/>
              <a:t>새로운 신약의 효과 검정을 위한 통계분석</a:t>
            </a:r>
            <a:r>
              <a:rPr lang="en-US" altLang="ko-KR" sz="2800" b="1" dirty="0"/>
              <a:t>(1/3)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8081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333772" y="370028"/>
            <a:ext cx="7231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/>
              <a:t>새로운 신약의 효과 검정을 위한 통계분석</a:t>
            </a:r>
            <a:r>
              <a:rPr lang="en-US" altLang="ko-KR" sz="2800" b="1" dirty="0"/>
              <a:t>(2/3)</a:t>
            </a:r>
            <a:endParaRPr lang="ko-KR" altLang="en-US" sz="28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945" y="1168519"/>
            <a:ext cx="6796724" cy="81924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945" y="2263038"/>
            <a:ext cx="9652701" cy="39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5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333772" y="370028"/>
            <a:ext cx="76033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latin typeface="+mj-ea"/>
                <a:ea typeface="+mj-ea"/>
              </a:rPr>
              <a:t>새로운 신약의 효과 검정을 위한 통계분석</a:t>
            </a:r>
            <a:r>
              <a:rPr lang="en-US" altLang="ko-KR" sz="2800" b="1" dirty="0">
                <a:latin typeface="+mj-ea"/>
                <a:ea typeface="+mj-ea"/>
              </a:rPr>
              <a:t>(3/3)</a:t>
            </a:r>
            <a:endParaRPr lang="ko-KR" altLang="en-US" sz="2800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8" y="1628800"/>
            <a:ext cx="5313788" cy="432048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308231" y="3356992"/>
            <a:ext cx="5757427" cy="23544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차이가 없다는 가정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귀무가설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옳다면 실험자료상으로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귀무가설을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기각할 확률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(p-value = 8.21%)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8.21%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극단적인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case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너무 크지 않은가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일반적으로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5%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2%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미만은 되어야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‘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귀무가설이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틀리지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않고서여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어찌 이런 데이터가 나온단 말인가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?’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믿고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귀무가설을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기각하고 신약의 효과가 있다라고 결정할 수 있을 텐데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……..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231" y="1628800"/>
            <a:ext cx="5757427" cy="125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5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8D64-2465-85C7-D991-C725B4D0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66F2910-2209-1475-49C6-6EC7DDC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73BBB-662E-79D0-E653-928BFAC0057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82D776-FD3C-1EF1-CE8F-5B2BF3CA2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" y="836712"/>
            <a:ext cx="11610468" cy="21294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Seaborn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　레스토랑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데이터에서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목요일(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Thursday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)과 금요일(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Friday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)의 평균 팁(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tip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금액이 통계적으로 유의미하게 다른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가?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귀무가설을 검증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하려고 합니다.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귀무가설(H0): 목요일과 금요일의 평균 팁 금액은 차이가 없다.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대립가설(H1): 목요일과 금요일의 평균 팁 금액은 차이가 있다.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유의수준(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alpha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 0.05 (5%)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어느　요일끼리　차이가　있는지？</a:t>
            </a: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7B0E0AB1-523F-04CD-EFF6-4A656EBCC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6" y="3307187"/>
            <a:ext cx="5584105" cy="358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CDAE03-EB36-5EC9-3118-6FA9E0344A77}"/>
              </a:ext>
            </a:extLst>
          </p:cNvPr>
          <p:cNvSpPr txBox="1"/>
          <p:nvPr/>
        </p:nvSpPr>
        <p:spPr>
          <a:xfrm>
            <a:off x="6359061" y="4399668"/>
            <a:ext cx="4752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p-value: 0.0240 </a:t>
            </a:r>
            <a:r>
              <a:rPr lang="ko-KR" altLang="en-US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</a:t>
            </a:r>
            <a:r>
              <a:rPr lang="en-US" altLang="ko-KR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p-value</a:t>
            </a:r>
            <a:r>
              <a:rPr lang="ko-KR" altLang="en-US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0.05</a:t>
            </a:r>
            <a:r>
              <a:rPr lang="ko-KR" altLang="en-US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작으므로 귀무가설을 기각합니다</a:t>
            </a:r>
            <a:r>
              <a:rPr lang="en-US" altLang="ko-KR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(</a:t>
            </a:r>
            <a:r>
              <a:rPr lang="ko-KR" altLang="en-US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통계적으로 유의미한 차이 있음</a:t>
            </a:r>
            <a:r>
              <a:rPr lang="en-US" altLang="ko-KR" sz="1400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B661435-009F-7875-6DC9-30E05C372326}"/>
              </a:ext>
            </a:extLst>
          </p:cNvPr>
          <p:cNvCxnSpPr/>
          <p:nvPr/>
        </p:nvCxnSpPr>
        <p:spPr>
          <a:xfrm>
            <a:off x="4366220" y="3429000"/>
            <a:ext cx="1944216" cy="1232278"/>
          </a:xfrm>
          <a:prstGeom prst="bentConnector3">
            <a:avLst>
              <a:gd name="adj1" fmla="val 208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39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847057-2531-9FF0-FB3E-9E70377D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72" y="2057698"/>
            <a:ext cx="6745369" cy="421491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2B2BA5-9A80-BBEA-5004-CABAAA350E64}"/>
              </a:ext>
            </a:extLst>
          </p:cNvPr>
          <p:cNvSpPr/>
          <p:nvPr/>
        </p:nvSpPr>
        <p:spPr>
          <a:xfrm>
            <a:off x="765820" y="169476"/>
            <a:ext cx="10873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오류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(Type I error)</a:t>
            </a:r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vs </a:t>
            </a:r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오류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(Type II error)</a:t>
            </a:r>
            <a:endParaRPr lang="ko-KR" altLang="en-US" sz="28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D6F8E3-CC3E-40CA-30CF-D84C7AD4DDFD}"/>
                  </a:ext>
                </a:extLst>
              </p:cNvPr>
              <p:cNvSpPr txBox="1"/>
              <p:nvPr/>
            </p:nvSpPr>
            <p:spPr>
              <a:xfrm>
                <a:off x="447195" y="764704"/>
                <a:ext cx="11294431" cy="1112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H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귀무가설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기각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(reject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H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했을 때 발생하는 오류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제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종 오류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=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𝛼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오류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H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귀무가설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채택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(accept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H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했을 때 발생하는 오류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제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2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종 오류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=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𝛽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오류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D6F8E3-CC3E-40CA-30CF-D84C7AD4D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95" y="764704"/>
                <a:ext cx="11294431" cy="1112933"/>
              </a:xfrm>
              <a:prstGeom prst="rect">
                <a:avLst/>
              </a:prstGeom>
              <a:blipFill>
                <a:blip r:embed="rId4"/>
                <a:stretch>
                  <a:fillRect l="-324" b="-7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07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955AE-8343-2280-0ADA-614B6BDD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하늘에서 대형을 이루어 비행하는 비행기 무리">
            <a:extLst>
              <a:ext uri="{FF2B5EF4-FFF2-40B4-BE49-F238E27FC236}">
                <a16:creationId xmlns:a16="http://schemas.microsoft.com/office/drawing/2014/main" id="{C88ABB19-AAC7-A202-7471-01F731BA0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15607">
            <a:off x="5349889" y="2666071"/>
            <a:ext cx="4479601" cy="335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D73E1DF-2234-CA8D-EF93-E158802C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DF9E8B8-67C4-7A30-0897-E3F2EED67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A8691FC-5786-C7A6-5F7B-CA8AC4A936BC}"/>
              </a:ext>
            </a:extLst>
          </p:cNvPr>
          <p:cNvSpPr/>
          <p:nvPr/>
        </p:nvSpPr>
        <p:spPr>
          <a:xfrm>
            <a:off x="333772" y="370028"/>
            <a:ext cx="12554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Quiz 1</a:t>
            </a:r>
            <a:endParaRPr lang="ko-KR" altLang="en-US" sz="2800" b="1" dirty="0">
              <a:latin typeface="+mj-ea"/>
              <a:ea typeface="+mj-ea"/>
            </a:endParaRPr>
          </a:p>
        </p:txBody>
      </p:sp>
      <p:pic>
        <p:nvPicPr>
          <p:cNvPr id="2050" name="Picture 2" descr="새의 실루엣의 무리의 로우 앵글 사진 그림">
            <a:extLst>
              <a:ext uri="{FF2B5EF4-FFF2-40B4-BE49-F238E27FC236}">
                <a16:creationId xmlns:a16="http://schemas.microsoft.com/office/drawing/2014/main" id="{8EF493FD-6999-BF30-A727-E6B986772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64978">
            <a:off x="4083087" y="461994"/>
            <a:ext cx="3972998" cy="244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1E8D25-DB4A-DBE9-FB4E-97083A6FF8F1}"/>
              </a:ext>
            </a:extLst>
          </p:cNvPr>
          <p:cNvSpPr txBox="1"/>
          <p:nvPr/>
        </p:nvSpPr>
        <p:spPr>
          <a:xfrm>
            <a:off x="6328997" y="6191957"/>
            <a:ext cx="1997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Decision</a:t>
            </a:r>
            <a:r>
              <a:rPr lang="ko-KR" altLang="en-US" sz="1400" dirty="0"/>
              <a:t> </a:t>
            </a:r>
            <a:r>
              <a:rPr lang="en-US" altLang="ko-KR" sz="1400" dirty="0"/>
              <a:t>threshold value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6A3F48-DE1A-554D-0790-CBDBD6C63B55}"/>
              </a:ext>
            </a:extLst>
          </p:cNvPr>
          <p:cNvSpPr txBox="1"/>
          <p:nvPr/>
        </p:nvSpPr>
        <p:spPr>
          <a:xfrm>
            <a:off x="7777750" y="3207901"/>
            <a:ext cx="3152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Positive – It’s a airplane!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72FCF-598C-4C6C-B513-FF5B627A22A6}"/>
              </a:ext>
            </a:extLst>
          </p:cNvPr>
          <p:cNvSpPr txBox="1"/>
          <p:nvPr/>
        </p:nvSpPr>
        <p:spPr>
          <a:xfrm>
            <a:off x="4420977" y="4734598"/>
            <a:ext cx="2957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Estimate Negative – It’s a bird!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20C90-24D2-BD99-FB02-EF66176A1D47}"/>
              </a:ext>
            </a:extLst>
          </p:cNvPr>
          <p:cNvSpPr txBox="1"/>
          <p:nvPr/>
        </p:nvSpPr>
        <p:spPr>
          <a:xfrm>
            <a:off x="161347" y="1967055"/>
            <a:ext cx="4752825" cy="2220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무엇을 예측하고자 하는가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관심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(interest)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물체는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새를 비행기라고 오인한 것은 몇 마리이지？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비행기를 새라고 판단한 것은 몇 대 이지？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F7C1726-0407-D817-FFFF-2094BF9917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9426" y="5896626"/>
            <a:ext cx="6980525" cy="304826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9F4135A-9EEF-1EA0-5FB5-1CD9A2A21C01}"/>
              </a:ext>
            </a:extLst>
          </p:cNvPr>
          <p:cNvCxnSpPr>
            <a:cxnSpLocks/>
          </p:cNvCxnSpPr>
          <p:nvPr/>
        </p:nvCxnSpPr>
        <p:spPr>
          <a:xfrm>
            <a:off x="7407901" y="276999"/>
            <a:ext cx="54663" cy="560027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63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793F-3A50-48BD-A076-9C425B482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70BC001-F726-1D3C-B7CF-6DFB528B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2BD20FD-5358-66CD-B5DA-3FD503E1F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22A09D0-4121-CD50-D946-5926DE24B191}"/>
              </a:ext>
            </a:extLst>
          </p:cNvPr>
          <p:cNvSpPr/>
          <p:nvPr/>
        </p:nvSpPr>
        <p:spPr>
          <a:xfrm>
            <a:off x="333772" y="370028"/>
            <a:ext cx="12554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Quiz 2</a:t>
            </a:r>
            <a:endParaRPr lang="ko-KR" altLang="en-US" sz="2800" b="1" dirty="0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8BFE66-CCCE-F3BA-48A0-A3421D2D8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759" y="2658750"/>
            <a:ext cx="5440866" cy="3434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80E444-A451-7083-78DD-D76601688E23}"/>
              </a:ext>
            </a:extLst>
          </p:cNvPr>
          <p:cNvSpPr txBox="1"/>
          <p:nvPr/>
        </p:nvSpPr>
        <p:spPr>
          <a:xfrm>
            <a:off x="333772" y="972812"/>
            <a:ext cx="7488832" cy="166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의사는 무엇을 판단하려고 하는가？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의사 판단의 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오류는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의사의 어떤 판정 오류가 사회적 비용이 더 큰가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2D4A0B5-D5BE-2D9D-91A0-B619A24B6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975" y="2147106"/>
            <a:ext cx="2423370" cy="5867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43A7D8-499D-D7D9-A205-B508C92DF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685" y="2147106"/>
            <a:ext cx="2484335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9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B8A5-0CA0-B174-9875-FCE9376F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신선한 전체 및 얇게 썬 흰색 단추 버섯은 오래된 나무 테이블 위에서 촬영되었습니다.">
            <a:extLst>
              <a:ext uri="{FF2B5EF4-FFF2-40B4-BE49-F238E27FC236}">
                <a16:creationId xmlns:a16="http://schemas.microsoft.com/office/drawing/2014/main" id="{1ACAB90D-033C-D896-A276-372674F48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16677">
            <a:off x="6056900" y="890722"/>
            <a:ext cx="2069498" cy="310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빨간색과 흰색 버섯 무리">
            <a:extLst>
              <a:ext uri="{FF2B5EF4-FFF2-40B4-BE49-F238E27FC236}">
                <a16:creationId xmlns:a16="http://schemas.microsoft.com/office/drawing/2014/main" id="{EB9E328B-EC74-AA9D-0BE0-4A42549B5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34969">
            <a:off x="7421143" y="2352833"/>
            <a:ext cx="2063681" cy="36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34743C-F2FA-C060-DAB9-C0CD1BF4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66580C48-7AE5-8CD0-066B-B3C4F61AE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115ADF2-92F7-892B-2306-CCED44F3CBF3}"/>
              </a:ext>
            </a:extLst>
          </p:cNvPr>
          <p:cNvSpPr/>
          <p:nvPr/>
        </p:nvSpPr>
        <p:spPr>
          <a:xfrm>
            <a:off x="333772" y="370028"/>
            <a:ext cx="12554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Quiz 3</a:t>
            </a:r>
            <a:endParaRPr lang="ko-KR" altLang="en-US" sz="28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91344E-1F7F-B878-5562-3E3A7D305C28}"/>
              </a:ext>
            </a:extLst>
          </p:cNvPr>
          <p:cNvSpPr txBox="1"/>
          <p:nvPr/>
        </p:nvSpPr>
        <p:spPr>
          <a:xfrm>
            <a:off x="6328997" y="6191957"/>
            <a:ext cx="1997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Decision</a:t>
            </a:r>
            <a:r>
              <a:rPr lang="ko-KR" altLang="en-US" sz="1400" dirty="0"/>
              <a:t> </a:t>
            </a:r>
            <a:r>
              <a:rPr lang="en-US" altLang="ko-KR" sz="1400" dirty="0"/>
              <a:t>threshold value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125BB0-A17E-1FF6-08FD-F1F82E150C33}"/>
              </a:ext>
            </a:extLst>
          </p:cNvPr>
          <p:cNvSpPr txBox="1"/>
          <p:nvPr/>
        </p:nvSpPr>
        <p:spPr>
          <a:xfrm>
            <a:off x="8969903" y="2399786"/>
            <a:ext cx="3049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Predict Positive – It’s poisonous.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557A9-9AA5-B75F-42E1-8391FEC9B2E5}"/>
              </a:ext>
            </a:extLst>
          </p:cNvPr>
          <p:cNvSpPr txBox="1"/>
          <p:nvPr/>
        </p:nvSpPr>
        <p:spPr>
          <a:xfrm>
            <a:off x="3824180" y="4898859"/>
            <a:ext cx="2787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Predict Negative – It’s edible.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3791A-7353-73D6-8B42-48998ECE4E09}"/>
              </a:ext>
            </a:extLst>
          </p:cNvPr>
          <p:cNvSpPr txBox="1"/>
          <p:nvPr/>
        </p:nvSpPr>
        <p:spPr>
          <a:xfrm>
            <a:off x="161347" y="1967055"/>
            <a:ext cx="4752825" cy="166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엠블런스를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타고 병원에 가는 경우와 오류의 종류는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굶어 죽는 경우는 어떤 경우인가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90D0BE7-A3CF-E55E-34A2-E71AE4613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426" y="5896626"/>
            <a:ext cx="6980525" cy="304826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E573E80-294E-C176-3657-ADC98BCD7690}"/>
              </a:ext>
            </a:extLst>
          </p:cNvPr>
          <p:cNvCxnSpPr>
            <a:cxnSpLocks/>
          </p:cNvCxnSpPr>
          <p:nvPr/>
        </p:nvCxnSpPr>
        <p:spPr>
          <a:xfrm>
            <a:off x="7407901" y="276999"/>
            <a:ext cx="54663" cy="560027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53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06BE5-08ED-3023-292B-D33B3DE9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C24F98B-04F6-4733-2A03-B566BD8C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6E8B724-3877-EA55-D67A-BFF87641C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497863D-28AD-8935-D2EB-63F8E6BD3A45}"/>
              </a:ext>
            </a:extLst>
          </p:cNvPr>
          <p:cNvSpPr/>
          <p:nvPr/>
        </p:nvSpPr>
        <p:spPr>
          <a:xfrm>
            <a:off x="333772" y="370028"/>
            <a:ext cx="12554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Quiz 4</a:t>
            </a:r>
            <a:endParaRPr lang="ko-KR" altLang="en-US" sz="28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9A5062-4C1F-38C3-CA58-BE059562E2CF}"/>
              </a:ext>
            </a:extLst>
          </p:cNvPr>
          <p:cNvSpPr txBox="1"/>
          <p:nvPr/>
        </p:nvSpPr>
        <p:spPr>
          <a:xfrm>
            <a:off x="333772" y="940194"/>
            <a:ext cx="10331654" cy="3060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핸드폰을 제조하고 판매하는 회사의 사장이라면 어떤 오류를 줄여야 하는가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의사결정경계선을 어디에 놓아야 하나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오류를 줄여야 노력해야 하나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오류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오류인가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적어야 하는가 커야 하는가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 sigma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수준의 제조공정관리의 의미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78F2E3E-82C5-D074-987B-CD8BF6B78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51615"/>
            <a:ext cx="6244026" cy="331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9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0BC9-54D3-31B5-95DA-D7438E08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646234A-7194-E5C3-3F51-B2E6FB60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DBF32-A899-4515-0ADD-9E794547A7F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1DD8EB-1FE5-1EDA-FC55-FF5EDEC11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78" y="1309410"/>
            <a:ext cx="9405634" cy="783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("penguins")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Nan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제거하고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“Adelie”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펭귄을 제외한 총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187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데이터를 바탕으로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‘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', '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body_mass_g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’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사용하여 다음 질문에 답하라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D46444-E3A8-C7B7-75F9-11365B73C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78" y="2348880"/>
            <a:ext cx="5783480" cy="377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29E64E3-C48B-2AC6-AB99-ED6694958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444" y="2348880"/>
            <a:ext cx="5517202" cy="3322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205mm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(less than)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Chinstrap,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 이상은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 경우 분류를 잘못하는 경우가 몇 가지 있으며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잘 못 분류한 경우에 따른 오류의 개수는 각각 몇 개인가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어떤 값으로 결정해야 총 오류가 최소가 되는가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7BFA33EA-A1E6-FB8B-D5FC-A701E4C32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63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BC8C-C54D-8E28-FD31-E3F3679D5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B43144F-4C54-792C-CD38-CC77C6F1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946B2-7A03-EB07-BCEE-C3EDA7DB065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569323-C4D0-EA5E-54D8-05261E28A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78" y="1309410"/>
            <a:ext cx="9477642" cy="783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("penguins")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Nan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제거하고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“Adelie”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펭귄을 제외한 총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187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데이터를 바탕으로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‘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', '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body_mass_g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’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사용하여 다음 질문에 답하라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23ACA3-C0AF-BB15-AD09-4B3E2B1A7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316" y="2444872"/>
            <a:ext cx="6663406" cy="35593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body_mass_g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사용하면 분류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하는 기준 값을 제시하라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분류를 잘못하는 경우가 몇 가지 있으며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잘 못 분류한 경우에 따른 오류의 개수는 각각 몇 개인가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천연기념물이고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병이 잘 걸려 찾아내서 치료를 해주어야 하는 것이 목적이라면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값으로 결정해야 겠는가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 이유를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설명하시오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아주 많아지면 의사결정이 가능하겠는가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35E2700-4BA3-7734-5D6C-C50CE92CF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78" y="2444872"/>
            <a:ext cx="3783085" cy="388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81D2D8D-C09D-5D15-C6EE-D7672BD7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2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A50A37-F838-E658-8660-C3CD684F9C88}"/>
              </a:ext>
            </a:extLst>
          </p:cNvPr>
          <p:cNvSpPr/>
          <p:nvPr/>
        </p:nvSpPr>
        <p:spPr>
          <a:xfrm>
            <a:off x="765820" y="169476"/>
            <a:ext cx="10873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False Positive (Type I error)</a:t>
            </a:r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vs False</a:t>
            </a:r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Negative</a:t>
            </a:r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(Type II error)</a:t>
            </a:r>
            <a:endParaRPr lang="ko-KR" altLang="en-US" sz="28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153" name="Picture 9">
            <a:extLst>
              <a:ext uri="{FF2B5EF4-FFF2-40B4-BE49-F238E27FC236}">
                <a16:creationId xmlns:a16="http://schemas.microsoft.com/office/drawing/2014/main" id="{C782F059-86C8-1BF8-90FB-907A68E21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08" y="1124744"/>
            <a:ext cx="8842003" cy="477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87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AC7B-EB87-6FFA-ECC7-B8CA1EBB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7A431BB-D7AA-FE58-5EFB-CE8D7675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5F769-B0F9-A25E-5921-BAB5E41CECE5}"/>
                  </a:ext>
                </a:extLst>
              </p:cNvPr>
              <p:cNvSpPr txBox="1"/>
              <p:nvPr/>
            </p:nvSpPr>
            <p:spPr>
              <a:xfrm>
                <a:off x="715513" y="3197887"/>
                <a:ext cx="10873208" cy="3081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제1종 오류: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“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평생 혼자사는 사람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”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애인이 좋은 사람인데(귀무가설이 참인 상황) 변심했다고 잘못 판단하는 오류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제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2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종 오류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𝛽</m:t>
                    </m:r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): "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착각의 오류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“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애인이 변심했는데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귀무가설이 거짓인 상황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아직 자기한테 일편단심이라고 잘못 판단하는 오류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유의 수준 (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𝛼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: 허용 가능한 제1종 오류, 통상적으로 1% 혹은 5%로 설정, </a:t>
                </a:r>
                <a:r>
                  <a:rPr lang="ko-KR" altLang="en-US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기각역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설정의 기준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검정력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1−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𝛽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: 귀무가설이 거짓일 때 이를 기각하는 확률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트레이드 오프 (</a:t>
                </a:r>
                <a:r>
                  <a:rPr lang="ko-KR" altLang="en-US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Trade-off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: 다른 조건이 동일할 때, 유의수준과 </a:t>
                </a:r>
                <a:r>
                  <a:rPr lang="ko-KR" altLang="en-US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검정력은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상충관계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5F769-B0F9-A25E-5921-BAB5E41CE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13" y="3197887"/>
                <a:ext cx="10873208" cy="3081934"/>
              </a:xfrm>
              <a:prstGeom prst="rect">
                <a:avLst/>
              </a:prstGeom>
              <a:blipFill>
                <a:blip r:embed="rId3"/>
                <a:stretch>
                  <a:fillRect l="-2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20BFFC76-5EE8-E69B-B122-1735CC9AA32B}"/>
              </a:ext>
            </a:extLst>
          </p:cNvPr>
          <p:cNvSpPr/>
          <p:nvPr/>
        </p:nvSpPr>
        <p:spPr>
          <a:xfrm>
            <a:off x="765820" y="169476"/>
            <a:ext cx="10873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가설 검정에 의한 오류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498D6E-A422-9271-CECB-2E06D82D6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020" y="1288484"/>
            <a:ext cx="6552728" cy="187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4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332656"/>
            <a:ext cx="8756864" cy="6081156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122AFA1-E2DF-DDC1-9C3A-1B20CA5ECBF8}"/>
              </a:ext>
            </a:extLst>
          </p:cNvPr>
          <p:cNvCxnSpPr/>
          <p:nvPr/>
        </p:nvCxnSpPr>
        <p:spPr>
          <a:xfrm flipH="1">
            <a:off x="2998068" y="2132856"/>
            <a:ext cx="27363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74BD8C4-2C9A-6BE9-72F6-3FC2C67967A0}"/>
              </a:ext>
            </a:extLst>
          </p:cNvPr>
          <p:cNvCxnSpPr>
            <a:cxnSpLocks/>
          </p:cNvCxnSpPr>
          <p:nvPr/>
        </p:nvCxnSpPr>
        <p:spPr>
          <a:xfrm>
            <a:off x="5842240" y="2132856"/>
            <a:ext cx="266429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98AA712-8431-5043-63B8-16DBD381937D}"/>
              </a:ext>
            </a:extLst>
          </p:cNvPr>
          <p:cNvCxnSpPr>
            <a:cxnSpLocks/>
          </p:cNvCxnSpPr>
          <p:nvPr/>
        </p:nvCxnSpPr>
        <p:spPr>
          <a:xfrm>
            <a:off x="5788450" y="1808964"/>
            <a:ext cx="0" cy="41044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A20AF4-BDBF-DE4B-EB61-EAD2934AF91D}"/>
                  </a:ext>
                </a:extLst>
              </p:cNvPr>
              <p:cNvSpPr txBox="1"/>
              <p:nvPr/>
            </p:nvSpPr>
            <p:spPr>
              <a:xfrm>
                <a:off x="1917948" y="2348880"/>
                <a:ext cx="22670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귀무가설 채택</a:t>
                </a:r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+mj-ea"/>
                          </a:rPr>
                          <m:t>𝐻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+mj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endParaRPr lang="ko-KR" altLang="en-US" sz="1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A20AF4-BDBF-DE4B-EB61-EAD2934AF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948" y="2348880"/>
                <a:ext cx="2267095" cy="307777"/>
              </a:xfrm>
              <a:prstGeom prst="rect">
                <a:avLst/>
              </a:prstGeom>
              <a:blipFill>
                <a:blip r:embed="rId4"/>
                <a:stretch>
                  <a:fillRect l="-806"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659B42-B043-81AE-1112-176B8C281851}"/>
                  </a:ext>
                </a:extLst>
              </p:cNvPr>
              <p:cNvSpPr txBox="1"/>
              <p:nvPr/>
            </p:nvSpPr>
            <p:spPr>
              <a:xfrm>
                <a:off x="7894612" y="2348880"/>
                <a:ext cx="22629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대립가설 채택</a:t>
                </a:r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+mj-ea"/>
                          </a:rPr>
                          <m:t>𝐻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+mj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endParaRPr lang="ko-KR" altLang="en-US" sz="1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659B42-B043-81AE-1112-176B8C2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612" y="2348880"/>
                <a:ext cx="2262927" cy="307777"/>
              </a:xfrm>
              <a:prstGeom prst="rect">
                <a:avLst/>
              </a:prstGeom>
              <a:blipFill>
                <a:blip r:embed="rId5"/>
                <a:stretch>
                  <a:fillRect l="-809"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5F6CEC-D0E5-33A4-8F8C-FEEEB3163066}"/>
                  </a:ext>
                </a:extLst>
              </p:cNvPr>
              <p:cNvSpPr txBox="1"/>
              <p:nvPr/>
            </p:nvSpPr>
            <p:spPr>
              <a:xfrm>
                <a:off x="1926268" y="3003902"/>
                <a:ext cx="2197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대립가설 기각</a:t>
                </a:r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+mj-ea"/>
                          </a:rPr>
                          <m:t>𝐻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+mj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endParaRPr lang="ko-KR" altLang="en-US" sz="1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5F6CEC-D0E5-33A4-8F8C-FEEEB3163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268" y="3003902"/>
                <a:ext cx="2197205" cy="307777"/>
              </a:xfrm>
              <a:prstGeom prst="rect">
                <a:avLst/>
              </a:prstGeom>
              <a:blipFill>
                <a:blip r:embed="rId6"/>
                <a:stretch>
                  <a:fillRect l="-833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933D31-E5E8-64BF-41BA-1DECA7539FD9}"/>
                  </a:ext>
                </a:extLst>
              </p:cNvPr>
              <p:cNvSpPr txBox="1"/>
              <p:nvPr/>
            </p:nvSpPr>
            <p:spPr>
              <a:xfrm>
                <a:off x="7894612" y="2934235"/>
                <a:ext cx="22670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귀무가설 기각</a:t>
                </a:r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+mj-ea"/>
                          </a:rPr>
                          <m:t>𝐻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+mj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endParaRPr lang="ko-KR" altLang="en-US" sz="1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933D31-E5E8-64BF-41BA-1DECA7539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612" y="2934235"/>
                <a:ext cx="2267095" cy="307777"/>
              </a:xfrm>
              <a:prstGeom prst="rect">
                <a:avLst/>
              </a:prstGeom>
              <a:blipFill>
                <a:blip r:embed="rId7"/>
                <a:stretch>
                  <a:fillRect l="-806"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D968432-6E5F-B4C4-4F4A-BB9BF8574D81}"/>
              </a:ext>
            </a:extLst>
          </p:cNvPr>
          <p:cNvSpPr txBox="1"/>
          <p:nvPr/>
        </p:nvSpPr>
        <p:spPr>
          <a:xfrm>
            <a:off x="5158308" y="1762944"/>
            <a:ext cx="165583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의사결정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임계값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366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7" y="332656"/>
            <a:ext cx="8588028" cy="602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9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BF4-C854-8B0C-402B-64EA2670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9FE9E7-8E5C-1FC2-1EE6-F20BF18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F4407-06FD-C08E-3FB8-E256F08DB85E}"/>
              </a:ext>
            </a:extLst>
          </p:cNvPr>
          <p:cNvSpPr txBox="1"/>
          <p:nvPr/>
        </p:nvSpPr>
        <p:spPr>
          <a:xfrm>
            <a:off x="246509" y="198588"/>
            <a:ext cx="11191750" cy="66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Summary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BF83CB-FCBF-055A-5E05-21C631832BD5}"/>
              </a:ext>
            </a:extLst>
          </p:cNvPr>
          <p:cNvSpPr/>
          <p:nvPr/>
        </p:nvSpPr>
        <p:spPr>
          <a:xfrm>
            <a:off x="4870276" y="83671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9824AE-C6FC-79CD-A30A-40E889349193}"/>
              </a:ext>
            </a:extLst>
          </p:cNvPr>
          <p:cNvSpPr/>
          <p:nvPr/>
        </p:nvSpPr>
        <p:spPr>
          <a:xfrm>
            <a:off x="1413892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41D334-29FF-4873-077B-1CA764FC20AA}"/>
              </a:ext>
            </a:extLst>
          </p:cNvPr>
          <p:cNvSpPr/>
          <p:nvPr/>
        </p:nvSpPr>
        <p:spPr>
          <a:xfrm>
            <a:off x="8398668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628176-F633-25A0-F7CB-B44223ECE667}"/>
              </a:ext>
            </a:extLst>
          </p:cNvPr>
          <p:cNvSpPr/>
          <p:nvPr/>
        </p:nvSpPr>
        <p:spPr>
          <a:xfrm>
            <a:off x="9856113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가설검정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4138A7-8A11-225A-36D5-14E270727BAE}"/>
              </a:ext>
            </a:extLst>
          </p:cNvPr>
          <p:cNvSpPr/>
          <p:nvPr/>
        </p:nvSpPr>
        <p:spPr>
          <a:xfrm>
            <a:off x="6526460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C9EE40-F079-ED83-22D5-957CBE13B387}"/>
              </a:ext>
            </a:extLst>
          </p:cNvPr>
          <p:cNvSpPr/>
          <p:nvPr/>
        </p:nvSpPr>
        <p:spPr>
          <a:xfrm>
            <a:off x="5215061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점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7FCA7F-CA07-F0BA-17EE-A0120E977AEE}"/>
              </a:ext>
            </a:extLst>
          </p:cNvPr>
          <p:cNvSpPr/>
          <p:nvPr/>
        </p:nvSpPr>
        <p:spPr>
          <a:xfrm>
            <a:off x="7678588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9974693-FA6C-1B23-6CAE-B0D257ECD77F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3574132" y="152636"/>
            <a:ext cx="1080120" cy="345638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C593572-D7B4-2E80-44D4-089E8626D8F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7066520" y="116632"/>
            <a:ext cx="1080120" cy="352839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4895DAF6-3C2C-DE41-F201-F449A30C8BC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7872169" y="2551343"/>
            <a:ext cx="1125006" cy="187220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80DFB1D7-9D5F-44C8-960C-163848C3219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16200000" flipH="1">
            <a:off x="9536995" y="2758724"/>
            <a:ext cx="1125006" cy="14574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770B1B04-1989-43E7-958B-11AB127AA07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6361256" y="4379920"/>
            <a:ext cx="963226" cy="1311399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6C17717-5923-BF72-668E-9BBB810AE42C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7593019" y="4459555"/>
            <a:ext cx="963226" cy="115212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455240-824F-1FFC-FDF1-FF857BFE6523}"/>
              </a:ext>
            </a:extLst>
          </p:cNvPr>
          <p:cNvSpPr txBox="1"/>
          <p:nvPr/>
        </p:nvSpPr>
        <p:spPr>
          <a:xfrm>
            <a:off x="1256042" y="3362479"/>
            <a:ext cx="207620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모집단과</a:t>
            </a:r>
            <a:r>
              <a:rPr lang="en-US" altLang="ko-KR" sz="1400" dirty="0"/>
              <a:t> </a:t>
            </a:r>
            <a:r>
              <a:rPr lang="ko-KR" altLang="en-US" sz="1400" dirty="0"/>
              <a:t>표본</a:t>
            </a:r>
            <a:r>
              <a:rPr lang="en-US" altLang="ko-KR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평균</a:t>
            </a:r>
            <a:r>
              <a:rPr lang="en-US" altLang="ko-KR" sz="1400" dirty="0"/>
              <a:t>, </a:t>
            </a:r>
            <a:r>
              <a:rPr lang="ko-KR" altLang="en-US" sz="1400" dirty="0"/>
              <a:t>분산</a:t>
            </a:r>
            <a:r>
              <a:rPr lang="en-US" altLang="ko-KR" sz="1400" dirty="0"/>
              <a:t>, </a:t>
            </a:r>
            <a:r>
              <a:rPr lang="ko-KR" altLang="en-US" sz="1400" dirty="0"/>
              <a:t>표준편차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기술 통계량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히스토그램</a:t>
            </a:r>
            <a:r>
              <a:rPr lang="en-US" altLang="ko-KR" sz="1400" dirty="0"/>
              <a:t>. </a:t>
            </a:r>
            <a:r>
              <a:rPr lang="ko-KR" altLang="en-US" sz="1400" dirty="0"/>
              <a:t>산포도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상관관계</a:t>
            </a:r>
            <a:r>
              <a:rPr lang="en-US" altLang="ko-KR" sz="1400" dirty="0"/>
              <a:t>, </a:t>
            </a:r>
            <a:r>
              <a:rPr lang="ko-KR" altLang="en-US" sz="1400" dirty="0"/>
              <a:t>공분산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A5CDD18-9280-6EB1-D8BD-A56DE168DF1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58108" y="2672916"/>
            <a:ext cx="504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5A98A7-C86E-3D41-319D-BA1E4ECEC36E}"/>
              </a:ext>
            </a:extLst>
          </p:cNvPr>
          <p:cNvSpPr/>
          <p:nvPr/>
        </p:nvSpPr>
        <p:spPr>
          <a:xfrm>
            <a:off x="4894706" y="2420887"/>
            <a:ext cx="1944216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확률론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99A9F2-C66D-BE34-1C34-A3E25F200FBA}"/>
              </a:ext>
            </a:extLst>
          </p:cNvPr>
          <p:cNvSpPr txBox="1"/>
          <p:nvPr/>
        </p:nvSpPr>
        <p:spPr>
          <a:xfrm>
            <a:off x="4849771" y="3376616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확률변수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확률분포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75F960-897D-8ADD-0748-D5EE85DA9ED1}"/>
              </a:ext>
            </a:extLst>
          </p:cNvPr>
          <p:cNvSpPr txBox="1"/>
          <p:nvPr/>
        </p:nvSpPr>
        <p:spPr>
          <a:xfrm>
            <a:off x="1989956" y="499853"/>
            <a:ext cx="1316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통계 요약 클릭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5798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7CC60-F451-9DC9-FDCE-C2611751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937ABA4-10C2-81D9-0F2D-EBF38793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73B9C-1F46-FD36-BC86-9D3021D02A2B}"/>
              </a:ext>
            </a:extLst>
          </p:cNvPr>
          <p:cNvSpPr txBox="1"/>
          <p:nvPr/>
        </p:nvSpPr>
        <p:spPr>
          <a:xfrm>
            <a:off x="1413892" y="2348880"/>
            <a:ext cx="4983807" cy="66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95046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09A0-0C2A-BC44-D01F-7296031E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80B5BFA-DAF2-7916-F4FC-4E73C8EF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6FEEE-7362-F3A1-6AE3-63689D14E484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3D3E89-6A59-070C-A359-A62A4920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54" y="966397"/>
            <a:ext cx="11610468" cy="11065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("penguins")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Nan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제거하고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“Adelie”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펭귄을 제외한 총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187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데이터를 바탕으로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‘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', '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body_mass_g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’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사용하여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Gemini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에게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“data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자료를 바탕으로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KNN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classification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Prompt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하게 되면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A17612-7A61-6765-9F22-89E193D67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8" y="2708919"/>
            <a:ext cx="2990569" cy="32403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2EF9FC-2EFA-2C7C-3A78-E67094AC3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228" y="2708919"/>
            <a:ext cx="4106494" cy="2808312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7B73AD2B-002D-D2D0-D6FA-9CB0A2748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188" y="2708919"/>
            <a:ext cx="3426318" cy="316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CA04D99-753B-6265-8E1B-9274E67E4D9A}"/>
              </a:ext>
            </a:extLst>
          </p:cNvPr>
          <p:cNvSpPr/>
          <p:nvPr/>
        </p:nvSpPr>
        <p:spPr>
          <a:xfrm>
            <a:off x="3388280" y="3753035"/>
            <a:ext cx="581374" cy="720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3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9876-B4E0-F9EE-9931-B527BB3EF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EF055EE-A0F7-AF28-C9A2-5B7C5C13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E241C-5205-2129-5434-EEAACE129C34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FF64F6-5341-97A0-67F1-B78EC4B42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54" y="1043341"/>
            <a:ext cx="11610468" cy="9526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('titanic＇)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확인하라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Age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Fare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joint plot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인데 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변수로 생존여부를 분류할 수 있겠는가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토론하라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77B93BA-D301-B2B3-81F5-743A0483B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16" y="2377201"/>
            <a:ext cx="3960440" cy="413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CA5BDBA-9AB1-8379-9343-B45AF630F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025" y="2397326"/>
            <a:ext cx="5987068" cy="27377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('titanic')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“survived”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가장 관련이 깊은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변수를 찾아내라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상관관계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엔트로피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다음 슬라이드를 학습하고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두 가지 방법의 장단점을 토론하라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056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B2DCB-C9C7-FFF3-803D-5C78FEB1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66163-F6F1-738E-3F66-6669CD9B676E}"/>
              </a:ext>
            </a:extLst>
          </p:cNvPr>
          <p:cNvSpPr txBox="1"/>
          <p:nvPr/>
        </p:nvSpPr>
        <p:spPr>
          <a:xfrm>
            <a:off x="765820" y="1196752"/>
            <a:ext cx="11233248" cy="6970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Kaggle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alone-in-the-woods-using-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theil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-s-u-for-survival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참고하여 아래 데이터를 바탕으로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성별로 하고 다른 모든 변수를 입력변수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(Input)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하여 상관관계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범주 모두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아래와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같이 구하고 결과를 토론하라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51B27-8096-A2B2-E88A-5F08FD136A69}"/>
              </a:ext>
            </a:extLst>
          </p:cNvPr>
          <p:cNvSpPr txBox="1"/>
          <p:nvPr/>
        </p:nvSpPr>
        <p:spPr>
          <a:xfrm>
            <a:off x="117748" y="260648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범주형과 수치형의 상관관계 확인방법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08EB97-D75C-37B9-BF3B-39DC3F52E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69" y="2760332"/>
            <a:ext cx="10114904" cy="202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E2F4D8-5C8D-3D53-0E7C-5E89E4BD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6" y="5088070"/>
            <a:ext cx="10525532" cy="94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9525C-C7A0-A806-EA78-271C51F864A5}"/>
              </a:ext>
            </a:extLst>
          </p:cNvPr>
          <p:cNvSpPr txBox="1"/>
          <p:nvPr/>
        </p:nvSpPr>
        <p:spPr>
          <a:xfrm>
            <a:off x="765067" y="4762947"/>
            <a:ext cx="6113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https://github.com/ancestor9/data/blob/main/customers.csv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6577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AACE6D-8EB6-447A-8DFD-C2C0C52916AC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terms/"/>
    <ds:schemaRef ds:uri="40262f94-9f35-4ac3-9a90-690165a166b7"/>
    <ds:schemaRef ds:uri="a4f35948-e619-41b3-aa29-22878b09cfd2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1627</TotalTime>
  <Words>1486</Words>
  <Application>Microsoft Office PowerPoint</Application>
  <PresentationFormat>사용자 지정</PresentationFormat>
  <Paragraphs>207</Paragraphs>
  <Slides>29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맑은 고딕</vt:lpstr>
      <vt:lpstr>맑은 고딕 Semilight</vt:lpstr>
      <vt:lpstr>한컴 말랑말랑 Bold</vt:lpstr>
      <vt:lpstr>Arial</vt:lpstr>
      <vt:lpstr>Arial Narrow</vt:lpstr>
      <vt:lpstr>Cambria Math</vt:lpstr>
      <vt:lpstr>Corbel</vt:lpstr>
      <vt:lpstr>Wingdings</vt:lpstr>
      <vt:lpstr>마케팅 16x9</vt:lpstr>
      <vt:lpstr>통계학  - 가설검정 (Hypothesis Testing)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조상구</cp:lastModifiedBy>
  <cp:revision>60</cp:revision>
  <dcterms:created xsi:type="dcterms:W3CDTF">2024-06-03T06:10:16Z</dcterms:created>
  <dcterms:modified xsi:type="dcterms:W3CDTF">2026-04-09T02:06:33Z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