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33"/>
  </p:notesMasterIdLst>
  <p:handoutMasterIdLst>
    <p:handoutMasterId r:id="rId34"/>
  </p:handoutMasterIdLst>
  <p:sldIdLst>
    <p:sldId id="256" r:id="rId5"/>
    <p:sldId id="324" r:id="rId6"/>
    <p:sldId id="338" r:id="rId7"/>
    <p:sldId id="302" r:id="rId8"/>
    <p:sldId id="340" r:id="rId9"/>
    <p:sldId id="341" r:id="rId10"/>
    <p:sldId id="342" r:id="rId11"/>
    <p:sldId id="343" r:id="rId12"/>
    <p:sldId id="345" r:id="rId13"/>
    <p:sldId id="346" r:id="rId14"/>
    <p:sldId id="344" r:id="rId15"/>
    <p:sldId id="326" r:id="rId16"/>
    <p:sldId id="329" r:id="rId17"/>
    <p:sldId id="308" r:id="rId18"/>
    <p:sldId id="330" r:id="rId19"/>
    <p:sldId id="331" r:id="rId20"/>
    <p:sldId id="335" r:id="rId21"/>
    <p:sldId id="336" r:id="rId22"/>
    <p:sldId id="327" r:id="rId23"/>
    <p:sldId id="328" r:id="rId24"/>
    <p:sldId id="332" r:id="rId25"/>
    <p:sldId id="270" r:id="rId26"/>
    <p:sldId id="334" r:id="rId27"/>
    <p:sldId id="333" r:id="rId28"/>
    <p:sldId id="337" r:id="rId29"/>
    <p:sldId id="312" r:id="rId30"/>
    <p:sldId id="314" r:id="rId31"/>
    <p:sldId id="313" r:id="rId32"/>
  </p:sldIdLst>
  <p:sldSz cx="12188825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39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673" autoAdjust="0"/>
    <p:restoredTop sz="94660"/>
  </p:normalViewPr>
  <p:slideViewPr>
    <p:cSldViewPr>
      <p:cViewPr varScale="1">
        <p:scale>
          <a:sx n="85" d="100"/>
          <a:sy n="85" d="100"/>
        </p:scale>
        <p:origin x="883" y="58"/>
      </p:cViewPr>
      <p:guideLst>
        <p:guide pos="3839"/>
        <p:guide orient="horz" pos="216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notesViewPr>
    <p:cSldViewPr showGuides="1">
      <p:cViewPr varScale="1">
        <p:scale>
          <a:sx n="90" d="100"/>
          <a:sy n="90" d="100"/>
        </p:scale>
        <p:origin x="2814" y="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34" Type="http://schemas.openxmlformats.org/officeDocument/2006/relationships/handoutMaster" Target="handoutMasters/handout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notesMaster" Target="notesMasters/notesMaster1.xml"/><Relationship Id="rId38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presProps" Target="presProp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50A85425-0F1F-4C65-805F-C7280B9ECE9F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2026-03-21</a:t>
            </a:fld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A98ED8CD-4E4C-49AC-BDC6-2963BA49E54F}" type="slidenum">
              <a:rPr lang="en-US" altLang="ko-KR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341795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39DBE7D5-AA2D-4B26-8C69-8B60D39FD5EE}" type="datetime1">
              <a:rPr lang="ko-KR" altLang="en-US" smtClean="0"/>
              <a:pPr/>
              <a:t>2026-03-21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5FB91549-43BF-425A-AF25-75262019208C}" type="slidenum">
              <a:rPr lang="en-US" altLang="ko-KR" smtClean="0"/>
              <a:pPr/>
              <a:t>‹#›</a:t>
            </a:fld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23928641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611453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D3B65B-4D46-A4B6-4A55-CF7F725D8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2EC8E50-C409-8198-1011-7B049358C5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EBC7159-0CFA-4FF6-3C88-1A3B88DBE0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F161A9-E2C3-ED47-AF62-F9F2270176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672750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B5FEA8-EC05-73F5-A0EE-A91BF9812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A6C3209-2357-5ACF-2202-D54B7D71A8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C8642F0-A7DB-6287-60F9-78806E4AE3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B3EDCE-8D13-18A3-1D4E-CF7160507FD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7951051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B0A826-7FE2-3F7D-9283-FAF6D13053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D448CFC-448A-2634-6548-6E7CE2607C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A6286E9-0EA3-AB3D-2263-D8DD3F4832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9A550C5-9CCC-0B92-3694-E327587CBB3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703873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66209C-0183-4045-FDF0-C7DCBDA4FF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63F8734-82DB-BF23-C798-DD3B47DB47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BE339CF-C307-706C-BF73-EAE540CE5B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850BCB-255F-06D5-FC44-87040ECD55C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4435972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0B54B5-590A-2479-5223-33883286D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A1FB4FA-2D77-F113-2E39-921529EDA7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ECB6119-00F8-12BA-16DA-85CC1E3BB9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31E365D-FE81-1932-B100-D8C65162927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6089513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CB32FB-3EB0-AEBC-E40F-BB33BC9FB1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2A4E683-FE2F-BB63-1EB7-864D91D471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2291276-1DA3-899E-6069-E2B42996E6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7AFABCD-20B6-37FA-41D5-F50DF3BD65F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9945562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E64BAA-A917-A39A-1229-BCCAA2E1A2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5C090AB-C752-2E42-A6BB-40D09D7F66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BA4F9E0-DE04-E22E-C490-7B3A708DBC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D931026-CACC-B009-6F0E-0E370FCFBD5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6153521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44F873-EB0E-28FA-E976-8EF0A488E1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2037E07-5777-D234-DA19-41F1575DAD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B8513D8-E2AB-E367-5122-73F0F8CECD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B5BE07F-8370-13D0-C9F3-F9E1E23CB98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7164678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22E22F-006A-C137-73D0-37043EFCE0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5475C01-7D6A-3A67-C950-C71725D262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EFF48C6-8DFC-F9C2-8200-5015F5A2F7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2BA67BF-4A4B-69F5-3BEF-F67995ACBE5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0883472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447F29-903A-491E-F84E-ACD475DBC4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9F54D30-5558-16BE-5C29-BD697440D8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3B9D372-E36C-03F3-E4EF-9A11D6FC60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EADE4FF-1675-7A3B-A914-A051B340FCB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9650291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0C8F37-DCD9-3001-E354-B3A6D1C1CD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36D4E07-A396-E1F7-0919-72AF00F192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C8E06E1-13C1-3C32-46CB-92506A498B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B1BFDC5-8668-119F-E940-FF2F60314DD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8757130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21F81B-CB31-7520-3EE7-553AF46795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691870D-CD75-0D49-61BE-5E9670316B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7407D5D-B6CF-0255-CFC3-2D0990AEB0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7A7FF11-BC9D-81CC-28FB-6E8527DCB04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0121601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1B1111-0F2C-72CD-1A8C-DE20D1349A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2D0A8F7-D3A7-3B77-DA76-D13BEAE2D4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A0989BA-EE78-7BC1-B768-664079BC9C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85AB258-08B6-57BF-2449-3EC2E44E86A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0525163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30EC47-9CD8-DDD5-55D5-6A5F0347CE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F401884-EDA3-A271-1C7E-4E8285FDA7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7D7E2C4-3994-5C5F-CABE-D9AF20D5B4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93B9912-1704-9F51-F3D8-B86D2186DEF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0928740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86CDCA-6759-158B-FF35-AF6DE0896A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C3944C0-1525-8E80-31F9-84E93B4919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62DCD89-100B-5F15-9D63-96D442C6EE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7D52EE5-4C62-D3FF-3EEA-65CD47D0D94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9565974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0E1F09-E2C8-8475-47B1-046C6489AB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1838990-C365-4179-E346-19C666824F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5D8B74B-485A-5956-8457-269AA62911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1334D6-1008-7EC8-0C59-18777F82AD5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1838857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1278CA-85C2-18FE-41A1-D8560AD735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56BD485-86AD-19FF-DDF5-2F7852062C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5368EA6-9964-3275-3D30-7C589B055F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68F715A-8D61-45C8-FCE5-090EAE16F0E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7783840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AF1E90-FAFD-AE47-A6A5-531D881A9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8993C63-FB60-385C-14CA-73D0BB0171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BE839F2-E212-8AC2-F32C-6F9172D329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5134C51-FD7A-5D59-88E9-AF826AE9319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3871019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DE1C92-92CB-6BE8-4DA6-052441C67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3CDCE9D-CF12-F6D3-37E2-0B82EF8C6C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DA9FEB9-C7EF-D5D2-7C18-BC3EB56954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5D5893-CE19-500D-2558-5CF1341FC5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3113703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BE576F-1D01-3984-7371-93D37058FB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F6FBFDE-1441-1A58-B6CF-124A0B8D39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5C1F405-621A-0C48-99FD-416192F57A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7309E8A-9401-0798-4930-F922ADFBEF9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9555523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1141828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B0D87D-17A6-9E3E-F9D9-AA8ED3B44F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917F3C4-094D-0782-2A84-5153DF6BCF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65B08AE-B15A-DBDA-62FA-019223FA3D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E56B754-A92A-CA6A-D941-D6E4E4C14C8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58364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5F68EC-F2DC-26A8-D8E8-8A5DA29E58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8F9880A-1140-0FAA-D484-DC44C6A24A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5CE6730-D7DF-5F69-282A-BB7C916ADA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7AE3FBA-3D16-082D-CFFC-413BA1B40AF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4198603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FFDBB8-704B-8B99-372F-1580163D18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6F89D06-3D3E-AE0D-8D6A-24E77B82AC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D8F4474-360F-218E-C458-6B1616363F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6AEB69F-4B0E-07A1-756A-77225AF22B5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5528990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AB38D4-2033-D269-92E2-472DD489A0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3FF330B-E197-FC28-0494-06EAABC3FB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758F670-6DD6-E601-1D5C-5E78E0C029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559EA6E-ACE1-35DA-C0A0-227592EE1AA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6403125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FA3BBD-A9D1-EAD0-4ABD-EF3EE59593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841FB98-6E70-56DE-D99C-6C67CCB160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11D7A4F-F09B-9B32-85C0-40088E9A5B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29C65BD-8C7A-8503-3490-EB8170B098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895374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유리 벽으로 된 건물로 둘러싸인 파란 하늘과 구름을 아래에서 올려다본 사진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73625" y="0"/>
            <a:ext cx="7315200" cy="6858001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3" y="685801"/>
            <a:ext cx="3962400" cy="4724399"/>
          </a:xfrm>
        </p:spPr>
        <p:txBody>
          <a:bodyPr rtlCol="0">
            <a:normAutofit/>
          </a:bodyPr>
          <a:lstStyle>
            <a:lvl1pPr>
              <a:defRPr sz="48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ko-KR" altLang="en-US" noProof="0"/>
              <a:t>클릭하여 마스터 부제목 스타일 편집</a:t>
            </a:r>
            <a:endParaRPr lang="ko-KR" altLang="en-US" noProof="0" dirty="0"/>
          </a:p>
        </p:txBody>
      </p:sp>
      <p:sp>
        <p:nvSpPr>
          <p:cNvPr id="8" name="날짜 개체 틀 7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B229CEB-779D-4AB3-81CB-8FCEEAE03F61}" type="datetime1">
              <a:rPr lang="ko-KR" altLang="en-US" smtClean="0"/>
              <a:t>2026-03-21</a:t>
            </a:fld>
            <a:endParaRPr lang="ko-KR" altLang="en-US" dirty="0"/>
          </a:p>
        </p:txBody>
      </p:sp>
      <p:sp>
        <p:nvSpPr>
          <p:cNvPr id="9" name="바닥글 개체 틀 8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10" name="슬라이드 번호 개체 틀 9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3F31473-23EB-4724-8B59-FE6D21D89FA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3483955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 rtl="0">
              <a:defRPr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 rtlCol="0"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76306AB-75A0-421C-B431-0E4E30A5C28E}" type="datetime1">
              <a:rPr lang="ko-KR" altLang="en-US" noProof="0" smtClean="0"/>
              <a:t>2026-03-21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137862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3" y="2590800"/>
            <a:ext cx="8229599" cy="2819400"/>
          </a:xfrm>
        </p:spPr>
        <p:txBody>
          <a:bodyPr rtlCol="0" anchor="b">
            <a:normAutofit/>
          </a:bodyPr>
          <a:lstStyle>
            <a:lvl1pPr algn="l">
              <a:defRPr sz="4800" b="0" cap="none" baseline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06425" y="5410200"/>
            <a:ext cx="8231187" cy="762000"/>
          </a:xfrm>
        </p:spPr>
        <p:txBody>
          <a:bodyPr rtlCol="0" anchor="t">
            <a:normAutofit/>
          </a:bodyPr>
          <a:lstStyle>
            <a:lvl1pPr marL="0" indent="0" rtl="0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1D969EE-F1EB-462E-B70D-5B36B3806A4E}" type="datetime1">
              <a:rPr lang="ko-KR" altLang="en-US" noProof="0" smtClean="0"/>
              <a:t>2026-03-21</a:t>
            </a:fld>
            <a:endParaRPr lang="ko-KR" altLang="en-US" noProof="0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pPr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225113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내용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1293813" y="685800"/>
            <a:ext cx="5029200" cy="4191000"/>
          </a:xfrm>
        </p:spPr>
        <p:txBody>
          <a:bodyPr rtlCol="0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551614" y="685800"/>
            <a:ext cx="5029199" cy="4191000"/>
          </a:xfrm>
        </p:spPr>
        <p:txBody>
          <a:bodyPr rtlCol="0"/>
          <a:lstStyle>
            <a:lvl1pPr rtl="0"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8CBB1B7-E0A1-46A3-B5B5-C69931095FF6}" type="datetime1">
              <a:rPr lang="ko-KR" altLang="en-US" noProof="0" smtClean="0"/>
              <a:t>2026-03-21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8970135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93664" y="685800"/>
            <a:ext cx="5029200" cy="990600"/>
          </a:xfrm>
        </p:spPr>
        <p:txBody>
          <a:bodyPr rtlCol="0" anchor="ctr">
            <a:normAutofit/>
          </a:bodyPr>
          <a:lstStyle>
            <a:lvl1pPr marL="0" indent="0" rtl="0">
              <a:spcBef>
                <a:spcPts val="0"/>
              </a:spcBef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1293664" y="1676400"/>
            <a:ext cx="5029200" cy="3200400"/>
          </a:xfrm>
        </p:spPr>
        <p:txBody>
          <a:bodyPr rtlCol="0"/>
          <a:lstStyle>
            <a:lvl1pPr rtl="0"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551613" y="685800"/>
            <a:ext cx="5029200" cy="990600"/>
          </a:xfrm>
        </p:spPr>
        <p:txBody>
          <a:bodyPr rtlCol="0" anchor="ctr">
            <a:normAutofit/>
          </a:bodyPr>
          <a:lstStyle>
            <a:lvl1pPr marL="0" indent="0" rtl="0">
              <a:spcBef>
                <a:spcPts val="0"/>
              </a:spcBef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550025" y="1676400"/>
            <a:ext cx="5029200" cy="3200400"/>
          </a:xfrm>
        </p:spPr>
        <p:txBody>
          <a:bodyPr rtlCol="0"/>
          <a:lstStyle>
            <a:lvl1pPr rtl="0"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AFC0E65-06AB-44D7-AAEE-8F4C7ED84A0C}" type="datetime1">
              <a:rPr lang="ko-KR" altLang="en-US" noProof="0" smtClean="0"/>
              <a:t>2026-03-21</a:t>
            </a:fld>
            <a:endParaRPr lang="ko-KR" altLang="en-US" noProof="0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5130968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0189E66-D439-4767-B911-EB49CB20E313}" type="datetime1">
              <a:rPr lang="ko-KR" altLang="en-US" noProof="0" smtClean="0"/>
              <a:t>2026-03-21</a:t>
            </a:fld>
            <a:endParaRPr lang="ko-KR" altLang="en-US" noProof="0" dirty="0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1344281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비어 있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4E4FFC0-DB28-4291-80A0-63DBF8428320}" type="datetime1">
              <a:rPr lang="ko-KR" altLang="en-US" noProof="0" smtClean="0"/>
              <a:t>2026-03-21</a:t>
            </a:fld>
            <a:endParaRPr lang="ko-KR" altLang="en-US" noProof="0" dirty="0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19103118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4" y="685800"/>
            <a:ext cx="3962400" cy="4724400"/>
          </a:xfrm>
        </p:spPr>
        <p:txBody>
          <a:bodyPr rtlCol="0" anchor="b">
            <a:noAutofit/>
          </a:bodyPr>
          <a:lstStyle>
            <a:lvl1pPr algn="l">
              <a:defRPr sz="3600" b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875212" y="685800"/>
            <a:ext cx="6704171" cy="5486400"/>
          </a:xfrm>
        </p:spPr>
        <p:txBody>
          <a:bodyPr rtlCol="0">
            <a:normAutofit/>
          </a:bodyPr>
          <a:lstStyle>
            <a:lvl1pPr rtl="0"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 baseline="0"/>
            </a:lvl6pPr>
            <a:lvl7pPr>
              <a:defRPr sz="1800" baseline="0"/>
            </a:lvl7pPr>
            <a:lvl8pPr>
              <a:defRPr sz="1800" baseline="0"/>
            </a:lvl8pPr>
            <a:lvl9pPr>
              <a:defRPr sz="1800"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rtl="0">
              <a:spcBef>
                <a:spcPts val="0"/>
              </a:spcBef>
              <a:buNone/>
              <a:defRPr sz="20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AB5804B-C38E-4214-93DF-3E6DA00134E8}" type="datetime1">
              <a:rPr lang="ko-KR" altLang="en-US" noProof="0" smtClean="0"/>
              <a:t>2026-03-21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234726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4" y="685800"/>
            <a:ext cx="3962400" cy="4724400"/>
          </a:xfrm>
        </p:spPr>
        <p:txBody>
          <a:bodyPr rtlCol="0" anchor="b">
            <a:normAutofit/>
          </a:bodyPr>
          <a:lstStyle>
            <a:lvl1pPr algn="l">
              <a:defRPr sz="3600" b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그림 개체 틀 2" descr="이미지를 추가할 수 있는 빈 개체 틀입니다. 개체 틀을 클릭하고 추가할 이미지를 선택하세요."/>
          <p:cNvSpPr>
            <a:spLocks noGrp="1"/>
          </p:cNvSpPr>
          <p:nvPr>
            <p:ph type="pic" idx="1"/>
          </p:nvPr>
        </p:nvSpPr>
        <p:spPr>
          <a:xfrm>
            <a:off x="4875213" y="685800"/>
            <a:ext cx="6705600" cy="5486400"/>
          </a:xfrm>
          <a:ln w="63500">
            <a:solidFill>
              <a:schemeClr val="bg1"/>
            </a:solidFill>
            <a:miter lim="800000"/>
          </a:ln>
        </p:spPr>
        <p:txBody>
          <a:bodyPr rtlCol="0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ko-KR" altLang="en-US" noProof="0"/>
              <a:t>그림을 추가하려면 아이콘을 클릭하십시오</a:t>
            </a:r>
            <a:endParaRPr lang="en-US" altLang="ko-KR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rtl="0">
              <a:spcBef>
                <a:spcPts val="0"/>
              </a:spcBef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ABEE384-F18F-4153-AC21-608599869F84}" type="datetime1">
              <a:rPr lang="ko-KR" altLang="en-US" noProof="0" smtClean="0"/>
              <a:t>2026-03-21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3520414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 rtlCol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tx1"/>
              </a:buClr>
              <a:buSzPct val="80000"/>
              <a:buFont typeface="Arial" pitchFamily="34" charset="0"/>
              <a:buNone/>
              <a:tabLst/>
              <a:defRPr/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3B7A883-0BF0-4B4B-84D5-D747A0111A56}" type="datetime1">
              <a:rPr lang="ko-KR" altLang="en-US" noProof="0" smtClean="0"/>
              <a:t>2026-03-21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1762946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10285412" y="685800"/>
            <a:ext cx="1295401" cy="5486400"/>
          </a:xfrm>
        </p:spPr>
        <p:txBody>
          <a:bodyPr vert="eaVert"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08012" y="685800"/>
            <a:ext cx="9474253" cy="5486400"/>
          </a:xfrm>
        </p:spPr>
        <p:txBody>
          <a:bodyPr vert="eaVert" rtlCol="0"/>
          <a:lstStyle>
            <a:lvl1pPr rtl="0">
              <a:defRPr/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DA7EA29-F2BB-4FB1-BB4B-C55A7FA3FC5C}" type="datetime1">
              <a:rPr lang="ko-KR" altLang="en-US" noProof="0" smtClean="0"/>
              <a:t>2026-03-21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8500524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609441" y="5105400"/>
            <a:ext cx="10971372" cy="10668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rtl="0"/>
            <a:r>
              <a:rPr lang="ko-KR" altLang="en-US" noProof="0" dirty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93813" y="685800"/>
            <a:ext cx="10287000" cy="41909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09441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667A4C69-65FB-481C-AC2A-84D254D33675}" type="datetime1">
              <a:rPr lang="ko-KR" altLang="en-US" smtClean="0"/>
              <a:t>2026-03-21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164515" y="6356351"/>
            <a:ext cx="385979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735325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3F31473-23EB-4724-8B59-FE6D21D89FA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49289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914400" rtl="0" eaLnBrk="1" latinLnBrk="1" hangingPunct="1">
        <a:lnSpc>
          <a:spcPct val="80000"/>
        </a:lnSpc>
        <a:spcBef>
          <a:spcPct val="0"/>
        </a:spcBef>
        <a:buNone/>
        <a:defRPr sz="3600" kern="1200">
          <a:solidFill>
            <a:schemeClr val="accent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800"/>
        </a:spcBef>
        <a:buClr>
          <a:schemeClr val="tx1"/>
        </a:buClr>
        <a:buSzPct val="80000"/>
        <a:buFont typeface="Arial" pitchFamily="34" charset="0"/>
        <a:buChar char="•"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615950" indent="-28575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Corbel" pitchFamily="34" charset="0"/>
        <a:buChar char="–"/>
        <a:defRPr sz="24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996696" indent="-228600" algn="l" defTabSz="914400" rtl="0" eaLnBrk="1" latinLnBrk="1" hangingPunct="1">
        <a:lnSpc>
          <a:spcPct val="90000"/>
        </a:lnSpc>
        <a:spcBef>
          <a:spcPts val="600"/>
        </a:spcBef>
        <a:buClr>
          <a:schemeClr val="tx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380744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764792" indent="-228600" algn="l" defTabSz="914400" rtl="0" eaLnBrk="1" latinLnBrk="1" hangingPunct="1">
        <a:lnSpc>
          <a:spcPct val="90000"/>
        </a:lnSpc>
        <a:spcBef>
          <a:spcPts val="600"/>
        </a:spcBef>
        <a:buClr>
          <a:schemeClr val="tx1"/>
        </a:buClr>
        <a:buSzPct val="80000"/>
        <a:buFont typeface="Arial" pitchFamily="34" charset="0"/>
        <a:buChar char="•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148840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2532888" indent="-22860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Arial" pitchFamily="34" charset="0"/>
        <a:buChar char="•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916936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3300984" indent="-22860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3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en.wikipedia.org/wiki/Sunrise_problem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scikit-learn.org/stable/auto_examples/neighbors/plot_kde_1d.html" TargetMode="External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hyperlink" Target="https://seaborn.pydata.org/examples/layered_bivariate_plot.html" TargetMode="External"/><Relationship Id="rId3" Type="http://schemas.openxmlformats.org/officeDocument/2006/relationships/image" Target="../media/image11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seaborn.pydata.org/examples/regression_marginals.html" TargetMode="External"/><Relationship Id="rId5" Type="http://schemas.openxmlformats.org/officeDocument/2006/relationships/image" Target="../media/image12.png"/><Relationship Id="rId4" Type="http://schemas.openxmlformats.org/officeDocument/2006/relationships/hyperlink" Target="https://seaborn.pydata.org/examples/marginal_ticks.html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gi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gif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gi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gif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gi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gif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gif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scikit-learn.org/stable/unsupervised_learning.html" TargetMode="Externa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hyperlink" Target="https://seaborn.pydata.org/examples/joint_histogram.html" TargetMode="External"/><Relationship Id="rId4" Type="http://schemas.openxmlformats.org/officeDocument/2006/relationships/image" Target="../media/image2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seaborn.pydata.org/examples/hexbin_marginals.html" TargetMode="External"/><Relationship Id="rId5" Type="http://schemas.openxmlformats.org/officeDocument/2006/relationships/image" Target="../media/image25.png"/><Relationship Id="rId4" Type="http://schemas.openxmlformats.org/officeDocument/2006/relationships/hyperlink" Target="https://seaborn.pydata.org/examples/scatterplot_matrix.html" TargetMode="Externa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seaborn.pydata.org/examples/hexbin_marginals.html" TargetMode="Externa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seaborn.pydata.org/examples/joint_kde.html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hyperlink" Target="https://www.kaggle.com/code/shakedzy/alone-in-the-woods-using-theil-s-u-for-survival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github.com/ancestor9/data/blob/main/customers.csv" TargetMode="External"/><Relationship Id="rId4" Type="http://schemas.openxmlformats.org/officeDocument/2006/relationships/image" Target="../media/image42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seaborn.pydata.org/examples/joint_kde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3" y="685801"/>
            <a:ext cx="3962400" cy="2959223"/>
          </a:xfrm>
        </p:spPr>
        <p:txBody>
          <a:bodyPr rtlCol="0">
            <a:normAutofit/>
          </a:bodyPr>
          <a:lstStyle/>
          <a:p>
            <a:pPr rtl="0"/>
            <a:r>
              <a:rPr lang="ko-KR" altLang="en-US" b="1" dirty="0"/>
              <a:t>통계와 확률</a:t>
            </a:r>
            <a:br>
              <a:rPr lang="en-US" altLang="ko-KR" b="1" dirty="0"/>
            </a:br>
            <a:br>
              <a:rPr lang="en-US" altLang="ko-KR" dirty="0"/>
            </a:br>
            <a:r>
              <a:rPr lang="en-US" altLang="ko-KR" sz="2400" b="1" dirty="0"/>
              <a:t>- </a:t>
            </a:r>
            <a:r>
              <a:rPr lang="ko-KR" altLang="en-US" sz="2400" b="1" dirty="0"/>
              <a:t>확률론에 들어가기 </a:t>
            </a:r>
            <a:r>
              <a:rPr lang="en-US" altLang="ko-KR" sz="2400" b="1" dirty="0"/>
              <a:t>- </a:t>
            </a:r>
            <a:br>
              <a:rPr lang="en-US" altLang="ko-KR" dirty="0"/>
            </a:br>
            <a:endParaRPr lang="ko-KR" altLang="en-US" sz="2400" dirty="0"/>
          </a:p>
        </p:txBody>
      </p:sp>
      <p:sp>
        <p:nvSpPr>
          <p:cNvPr id="3" name="부제 2"/>
          <p:cNvSpPr>
            <a:spLocks noGrp="1"/>
          </p:cNvSpPr>
          <p:nvPr>
            <p:ph type="subTitle" idx="1"/>
          </p:nvPr>
        </p:nvSpPr>
        <p:spPr>
          <a:xfrm>
            <a:off x="589537" y="4293096"/>
            <a:ext cx="3962400" cy="2016224"/>
          </a:xfrm>
        </p:spPr>
        <p:txBody>
          <a:bodyPr rtlCol="0">
            <a:normAutofit/>
          </a:bodyPr>
          <a:lstStyle/>
          <a:p>
            <a:pPr>
              <a:lnSpc>
                <a:spcPct val="120000"/>
              </a:lnSpc>
            </a:pPr>
            <a:br>
              <a:rPr lang="en-US" altLang="ko-KR" dirty="0"/>
            </a:br>
            <a:r>
              <a:rPr lang="en-US" altLang="ko-KR" dirty="0"/>
              <a:t>2026_Spring</a:t>
            </a:r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 rtl="0">
              <a:lnSpc>
                <a:spcPct val="120000"/>
              </a:lnSpc>
            </a:pPr>
            <a:r>
              <a:rPr lang="ko-KR" altLang="en-US" dirty="0" err="1"/>
              <a:t>조상구</a:t>
            </a:r>
            <a:endParaRPr lang="en-US" altLang="ko-KR" dirty="0"/>
          </a:p>
        </p:txBody>
      </p:sp>
      <p:pic>
        <p:nvPicPr>
          <p:cNvPr id="1028" name="Picture 4" descr="깊은 생각에 잠긴 남자의 청동 조각상">
            <a:extLst>
              <a:ext uri="{FF2B5EF4-FFF2-40B4-BE49-F238E27FC236}">
                <a16:creationId xmlns:a16="http://schemas.microsoft.com/office/drawing/2014/main" id="{4757FD16-A7E9-1C5E-9D31-B9438F4567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0276" y="3014307"/>
            <a:ext cx="2566021" cy="38436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40801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90E2C1-BB1A-4FCC-4EBC-8B540F598F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EF241B0-03F6-4174-6351-DEA7C3022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</a:t>
            </a:fld>
            <a:endParaRPr lang="en-US" altLang="ko-KR" noProof="0" dirty="0"/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022206E1-D9B3-1443-9A14-8F8C599535EA}"/>
              </a:ext>
            </a:extLst>
          </p:cNvPr>
          <p:cNvGrpSpPr/>
          <p:nvPr/>
        </p:nvGrpSpPr>
        <p:grpSpPr>
          <a:xfrm>
            <a:off x="1053852" y="1955011"/>
            <a:ext cx="10233947" cy="3778251"/>
            <a:chOff x="468977" y="832988"/>
            <a:chExt cx="11242060" cy="4180190"/>
          </a:xfrm>
        </p:grpSpPr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913BA925-346A-92DA-54AD-5E1487C17764}"/>
                </a:ext>
              </a:extLst>
            </p:cNvPr>
            <p:cNvGrpSpPr/>
            <p:nvPr/>
          </p:nvGrpSpPr>
          <p:grpSpPr>
            <a:xfrm>
              <a:off x="468977" y="832988"/>
              <a:ext cx="11242060" cy="4180190"/>
              <a:chOff x="-1551175" y="1060752"/>
              <a:chExt cx="9890065" cy="3159825"/>
            </a:xfrm>
          </p:grpSpPr>
          <p:sp>
            <p:nvSpPr>
              <p:cNvPr id="2" name="AutoShape 2" descr="숲 한가운데에 있는 형형색색의 나무들판">
                <a:extLst>
                  <a:ext uri="{FF2B5EF4-FFF2-40B4-BE49-F238E27FC236}">
                    <a16:creationId xmlns:a16="http://schemas.microsoft.com/office/drawing/2014/main" id="{92ADEB6C-595F-D022-1FA7-A6F276B90DD4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5942013" y="3276600"/>
                <a:ext cx="304800" cy="3048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pic>
            <p:nvPicPr>
              <p:cNvPr id="10" name="그림 9">
                <a:extLst>
                  <a:ext uri="{FF2B5EF4-FFF2-40B4-BE49-F238E27FC236}">
                    <a16:creationId xmlns:a16="http://schemas.microsoft.com/office/drawing/2014/main" id="{A7DE69F3-CDFE-C669-D1BA-FDE0CCD5E79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-1551175" y="1390154"/>
                <a:ext cx="4608510" cy="2830423"/>
              </a:xfrm>
              <a:prstGeom prst="rect">
                <a:avLst/>
              </a:prstGeom>
            </p:spPr>
          </p:pic>
          <p:pic>
            <p:nvPicPr>
              <p:cNvPr id="13" name="그림 12">
                <a:extLst>
                  <a:ext uri="{FF2B5EF4-FFF2-40B4-BE49-F238E27FC236}">
                    <a16:creationId xmlns:a16="http://schemas.microsoft.com/office/drawing/2014/main" id="{418EE12F-0606-75E2-2B43-F3AFCA4558D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662365" y="3077522"/>
                <a:ext cx="2676525" cy="1143055"/>
              </a:xfrm>
              <a:prstGeom prst="rect">
                <a:avLst/>
              </a:prstGeom>
            </p:spPr>
          </p:pic>
          <p:pic>
            <p:nvPicPr>
              <p:cNvPr id="1032" name="Picture 8" descr="베이즈 정리(Bayes' Theorem)의 정의와 의미">
                <a:extLst>
                  <a:ext uri="{FF2B5EF4-FFF2-40B4-BE49-F238E27FC236}">
                    <a16:creationId xmlns:a16="http://schemas.microsoft.com/office/drawing/2014/main" id="{B067FD7D-5954-1B2D-36F6-A25C17C1F93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662365" y="1060752"/>
                <a:ext cx="2676525" cy="17145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16" name="그림 15">
              <a:extLst>
                <a:ext uri="{FF2B5EF4-FFF2-40B4-BE49-F238E27FC236}">
                  <a16:creationId xmlns:a16="http://schemas.microsoft.com/office/drawing/2014/main" id="{09C1E87A-9767-8287-7253-CF05F7BA0A5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707481" y="1268760"/>
              <a:ext cx="3020609" cy="3744416"/>
            </a:xfrm>
            <a:prstGeom prst="rect">
              <a:avLst/>
            </a:prstGeom>
          </p:spPr>
        </p:pic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D584390B-04B7-B557-EA80-3E403DB78D61}"/>
              </a:ext>
            </a:extLst>
          </p:cNvPr>
          <p:cNvSpPr txBox="1"/>
          <p:nvPr/>
        </p:nvSpPr>
        <p:spPr>
          <a:xfrm>
            <a:off x="1053852" y="938799"/>
            <a:ext cx="10301549" cy="8719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b="1" dirty="0">
                <a:latin typeface="Cambria" panose="02040503050406030204" pitchFamily="18" charset="0"/>
                <a:ea typeface="Cambria" panose="02040503050406030204" pitchFamily="18" charset="0"/>
              </a:rPr>
              <a:t>"</a:t>
            </a:r>
            <a:r>
              <a:rPr lang="ko-KR" altLang="en-US" b="1" dirty="0">
                <a:latin typeface="Cambria" panose="02040503050406030204" pitchFamily="18" charset="0"/>
                <a:ea typeface="LG Smart UI Light" panose="020B0300000101010101" pitchFamily="50" charset="-127"/>
              </a:rPr>
              <a:t>사실이 바뀌면</a:t>
            </a:r>
            <a:r>
              <a:rPr lang="en-US" altLang="ko-KR" b="1" dirty="0">
                <a:latin typeface="Cambria" panose="02040503050406030204" pitchFamily="18" charset="0"/>
                <a:ea typeface="Cambria" panose="02040503050406030204" pitchFamily="18" charset="0"/>
              </a:rPr>
              <a:t>, </a:t>
            </a:r>
            <a:r>
              <a:rPr lang="ko-KR" altLang="en-US" b="1" dirty="0">
                <a:latin typeface="Cambria" panose="02040503050406030204" pitchFamily="18" charset="0"/>
                <a:ea typeface="LG Smart UI Light" panose="020B0300000101010101" pitchFamily="50" charset="-127"/>
              </a:rPr>
              <a:t>나는 생각을 바꿉니다</a:t>
            </a:r>
            <a:r>
              <a:rPr lang="en-US" altLang="ko-KR" b="1" dirty="0">
                <a:latin typeface="Cambria" panose="02040503050406030204" pitchFamily="18" charset="0"/>
                <a:ea typeface="Cambria" panose="02040503050406030204" pitchFamily="18" charset="0"/>
              </a:rPr>
              <a:t>. </a:t>
            </a:r>
            <a:r>
              <a:rPr lang="ko-KR" altLang="en-US" b="1" dirty="0">
                <a:latin typeface="Cambria" panose="02040503050406030204" pitchFamily="18" charset="0"/>
                <a:ea typeface="LG Smart UI Light" panose="020B0300000101010101" pitchFamily="50" charset="-127"/>
              </a:rPr>
              <a:t>당신은 어떻게 하십니까</a:t>
            </a:r>
            <a:r>
              <a:rPr lang="en-US" altLang="ko-KR" b="1" dirty="0">
                <a:latin typeface="Cambria" panose="02040503050406030204" pitchFamily="18" charset="0"/>
                <a:ea typeface="Cambria" panose="02040503050406030204" pitchFamily="18" charset="0"/>
              </a:rPr>
              <a:t>?"</a:t>
            </a:r>
            <a:endParaRPr lang="ko-KR" altLang="en-US" dirty="0">
              <a:latin typeface="Cambria" panose="02040503050406030204" pitchFamily="18" charset="0"/>
              <a:ea typeface="LG Smart UI Light" panose="020B0300000101010101" pitchFamily="50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ko-KR" altLang="en-US" b="1" dirty="0">
                <a:latin typeface="Cambria" panose="02040503050406030204" pitchFamily="18" charset="0"/>
                <a:ea typeface="LG Smart UI Light" panose="020B0300000101010101" pitchFamily="50" charset="-127"/>
              </a:rPr>
              <a:t>“</a:t>
            </a:r>
            <a:r>
              <a:rPr lang="en-US" altLang="ko-KR" b="1" dirty="0">
                <a:latin typeface="Cambria" panose="02040503050406030204" pitchFamily="18" charset="0"/>
                <a:ea typeface="Cambria" panose="02040503050406030204" pitchFamily="18" charset="0"/>
              </a:rPr>
              <a:t>When the facts change, I change my mind. What do you do, sir?”   - Keynes, Economist</a:t>
            </a:r>
            <a:endParaRPr lang="en-US" altLang="ko-KR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109077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7C5A24-82DF-449D-2B2D-95454CE203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728C64F-9D89-54F0-37FA-27D8C00B3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</a:t>
            </a:fld>
            <a:endParaRPr lang="en-US" altLang="ko-KR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0630866-87BA-AFD5-382F-50D5BE9390CE}"/>
              </a:ext>
            </a:extLst>
          </p:cNvPr>
          <p:cNvSpPr txBox="1"/>
          <p:nvPr/>
        </p:nvSpPr>
        <p:spPr>
          <a:xfrm>
            <a:off x="189756" y="319087"/>
            <a:ext cx="10225136" cy="11526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동전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던지기를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/>
              <a:t>사용자가 직접 실제 동전의 확률과 시행 횟수를 조절하며 나의 믿음이 변하는 업데이트 과정을 실시간으로 관찰하게 </a:t>
            </a:r>
            <a:r>
              <a:rPr lang="en-US" altLang="ko-KR" sz="1600" dirty="0" err="1"/>
              <a:t>gradio</a:t>
            </a:r>
            <a:r>
              <a:rPr lang="ko-KR" altLang="en-US" sz="1600" dirty="0"/>
              <a:t> </a:t>
            </a:r>
            <a:r>
              <a:rPr lang="en-US" altLang="ko-KR" sz="1600" dirty="0"/>
              <a:t>UI</a:t>
            </a:r>
            <a:r>
              <a:rPr lang="ko-KR" altLang="en-US" sz="1600" dirty="0"/>
              <a:t>로 만들어 코드를 </a:t>
            </a:r>
            <a:r>
              <a:rPr lang="en-US" altLang="ko-KR" sz="1600" dirty="0"/>
              <a:t>Deploy</a:t>
            </a:r>
            <a:r>
              <a:rPr lang="ko-KR" altLang="en-US" sz="1600" dirty="0"/>
              <a:t>하고</a:t>
            </a:r>
            <a:r>
              <a:rPr lang="en-US" altLang="ko-KR" sz="1600" dirty="0"/>
              <a:t>, </a:t>
            </a:r>
            <a:r>
              <a:rPr lang="ko-KR" altLang="en-US" sz="1600" dirty="0"/>
              <a:t>이러한 실험을 바탕으로</a:t>
            </a:r>
            <a:r>
              <a:rPr lang="en-US" altLang="ko-KR" sz="1600" dirty="0"/>
              <a:t>,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한강에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가장 큰 물고기의 크기는 몇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cm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본인의 실제 체험으로 대답하라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CC62203-0371-F9F6-8F12-C596F99957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5860" y="1897934"/>
            <a:ext cx="9001000" cy="43292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44707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C30008-E652-FD55-A1CF-7261BC14AA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845F44B-D853-EA00-45FD-0D2DE87EA5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64E74C1-BB80-2DC1-32A9-30194E495362}"/>
              </a:ext>
            </a:extLst>
          </p:cNvPr>
          <p:cNvSpPr txBox="1"/>
          <p:nvPr/>
        </p:nvSpPr>
        <p:spPr>
          <a:xfrm>
            <a:off x="765820" y="1196752"/>
            <a:ext cx="11233248" cy="50917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지구의 나이는 </a:t>
            </a:r>
            <a:r>
              <a:rPr lang="ko-KR" altLang="en-US" sz="2000" dirty="0"/>
              <a:t> 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45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억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4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천만년 이다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.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내일 해가 뜰 확률은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2D3492-9475-65D6-5F62-64413CD930A5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C170792-96F2-75E9-8112-7A784CED41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5860" y="2210192"/>
            <a:ext cx="5655120" cy="36418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CC548AE-6F75-4DDA-684C-2BC854639F3E}"/>
              </a:ext>
            </a:extLst>
          </p:cNvPr>
          <p:cNvSpPr txBox="1"/>
          <p:nvPr/>
        </p:nvSpPr>
        <p:spPr>
          <a:xfrm>
            <a:off x="7174532" y="2210193"/>
            <a:ext cx="32403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b="1" dirty="0" err="1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Sunrise_problem</a:t>
            </a:r>
            <a:endParaRPr lang="ko-KR" altLang="en-US" sz="2800" b="1" dirty="0"/>
          </a:p>
        </p:txBody>
      </p:sp>
    </p:spTree>
    <p:extLst>
      <p:ext uri="{BB962C8B-B14F-4D97-AF65-F5344CB8AC3E}">
        <p14:creationId xmlns:p14="http://schemas.microsoft.com/office/powerpoint/2010/main" val="41612076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C3B0B1-AC43-276B-0D54-6930E9688F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A7E9029-7CE6-C1E0-0D99-332796148B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</a:t>
            </a:fld>
            <a:endParaRPr lang="en-US" altLang="ko-KR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F2307B2-E487-A983-92DA-289CC6D0FD3B}"/>
              </a:ext>
            </a:extLst>
          </p:cNvPr>
          <p:cNvSpPr txBox="1"/>
          <p:nvPr/>
        </p:nvSpPr>
        <p:spPr>
          <a:xfrm>
            <a:off x="333771" y="772144"/>
            <a:ext cx="11593289" cy="7402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Histogram</a:t>
            </a:r>
            <a:r>
              <a:rPr lang="ko-KR" altLang="en-US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</a:t>
            </a: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bins </a:t>
            </a:r>
            <a:r>
              <a:rPr lang="ko-KR" altLang="en-US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개수</a:t>
            </a: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위치에 따라 이산적인</a:t>
            </a: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(Discrete)</a:t>
            </a:r>
            <a:r>
              <a:rPr lang="ko-KR" altLang="en-US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데이터의 분포 모양이 달라지기 때문에 마치 연속적인</a:t>
            </a: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(Continuous)</a:t>
            </a:r>
            <a:r>
              <a:rPr lang="ko-KR" altLang="en-US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데이터가 있는 것을 가정하여 </a:t>
            </a:r>
            <a:r>
              <a:rPr lang="ko-KR" altLang="en-US" sz="15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머신러닝</a:t>
            </a:r>
            <a:r>
              <a:rPr lang="ko-KR" altLang="en-US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알고리즘의 일종인 </a:t>
            </a: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KDE(Kernel</a:t>
            </a:r>
            <a:r>
              <a:rPr lang="ko-KR" altLang="en-US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Density</a:t>
            </a:r>
            <a:r>
              <a:rPr lang="ko-KR" altLang="en-US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Estimation)</a:t>
            </a:r>
            <a:r>
              <a:rPr lang="ko-KR" altLang="en-US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적용</a:t>
            </a:r>
          </a:p>
        </p:txBody>
      </p:sp>
      <p:pic>
        <p:nvPicPr>
          <p:cNvPr id="1026" name="Picture 2" descr="plot kde 1d">
            <a:extLst>
              <a:ext uri="{FF2B5EF4-FFF2-40B4-BE49-F238E27FC236}">
                <a16:creationId xmlns:a16="http://schemas.microsoft.com/office/drawing/2014/main" id="{7DD449E0-BF33-C8A4-69AA-AAAD508EC4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3812" y="2111235"/>
            <a:ext cx="5338959" cy="40042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plot kde 1d">
            <a:extLst>
              <a:ext uri="{FF2B5EF4-FFF2-40B4-BE49-F238E27FC236}">
                <a16:creationId xmlns:a16="http://schemas.microsoft.com/office/drawing/2014/main" id="{6B677B4F-53D9-EB2B-C7F6-8CED5714B7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8090" y="2111235"/>
            <a:ext cx="5338959" cy="40042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9645A50-527F-186B-8338-EA016CE6D133}"/>
              </a:ext>
            </a:extLst>
          </p:cNvPr>
          <p:cNvSpPr txBox="1"/>
          <p:nvPr/>
        </p:nvSpPr>
        <p:spPr>
          <a:xfrm>
            <a:off x="691571" y="1803458"/>
            <a:ext cx="115288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Britannic Bold" panose="020B0903060703020204" pitchFamily="34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plot_kde_1d</a:t>
            </a:r>
            <a:endParaRPr lang="ko-KR" altLang="en-US" sz="1400" dirty="0">
              <a:latin typeface="Britannic Bold" panose="020B09030607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427684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3D5E62-CB36-B827-1BA3-B4530182CA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725E7A9-F779-E0D4-E4FF-DA785031A9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</a:t>
            </a:fld>
            <a:endParaRPr lang="en-US" altLang="ko-KR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45FE2CE-5738-A918-28A6-E6315AA8FEF3}"/>
              </a:ext>
            </a:extLst>
          </p:cNvPr>
          <p:cNvSpPr txBox="1"/>
          <p:nvPr/>
        </p:nvSpPr>
        <p:spPr>
          <a:xfrm>
            <a:off x="333771" y="772144"/>
            <a:ext cx="11593289" cy="7402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Histogram</a:t>
            </a:r>
            <a:r>
              <a:rPr lang="ko-KR" altLang="en-US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</a:t>
            </a: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bins </a:t>
            </a:r>
            <a:r>
              <a:rPr lang="ko-KR" altLang="en-US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개수</a:t>
            </a: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위치에 따라 이산적인</a:t>
            </a: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(Discrete)</a:t>
            </a:r>
            <a:r>
              <a:rPr lang="ko-KR" altLang="en-US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데이터의 분포 모양이 달라지기 때문에 마치 연속적인</a:t>
            </a: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(Continuous)</a:t>
            </a:r>
            <a:r>
              <a:rPr lang="ko-KR" altLang="en-US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데이터가 있는 것을 가정하여 </a:t>
            </a:r>
            <a:r>
              <a:rPr lang="ko-KR" altLang="en-US" sz="15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머신러닝</a:t>
            </a:r>
            <a:r>
              <a:rPr lang="ko-KR" altLang="en-US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알고리즘의 일종인 </a:t>
            </a: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KDE(Kernel</a:t>
            </a:r>
            <a:r>
              <a:rPr lang="ko-KR" altLang="en-US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Density</a:t>
            </a:r>
            <a:r>
              <a:rPr lang="ko-KR" altLang="en-US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Estimation)</a:t>
            </a:r>
            <a:r>
              <a:rPr lang="ko-KR" altLang="en-US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적용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F9B298B6-F9BF-8EE5-F13A-B2F536F594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1974" y="2227930"/>
            <a:ext cx="3506431" cy="3451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DC7664B-19D9-BD9B-4CC7-7D60AF9607BA}"/>
              </a:ext>
            </a:extLst>
          </p:cNvPr>
          <p:cNvSpPr txBox="1"/>
          <p:nvPr/>
        </p:nvSpPr>
        <p:spPr>
          <a:xfrm>
            <a:off x="621804" y="1916832"/>
            <a:ext cx="16417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Britannic Bold" panose="020B0903060703020204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Discrete Joint Plot</a:t>
            </a:r>
            <a:endParaRPr lang="ko-KR" altLang="en-US" sz="1400" dirty="0">
              <a:latin typeface="Britannic Bold" panose="020B0903060703020204" pitchFamily="34" charset="0"/>
            </a:endParaRPr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BDE53B17-5AC6-45F6-19EE-96D6EFCB32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7557" y="2208712"/>
            <a:ext cx="3458001" cy="34512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09C23A7-9FCE-2692-4C79-DBBB60AD1278}"/>
              </a:ext>
            </a:extLst>
          </p:cNvPr>
          <p:cNvSpPr txBox="1"/>
          <p:nvPr/>
        </p:nvSpPr>
        <p:spPr>
          <a:xfrm>
            <a:off x="4510236" y="1916832"/>
            <a:ext cx="18181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err="1">
                <a:latin typeface="Britannic Bold" panose="020B0903060703020204" pitchFamily="34" charset="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Continous</a:t>
            </a:r>
            <a:r>
              <a:rPr lang="en-US" altLang="ko-KR" sz="1400" dirty="0">
                <a:latin typeface="Britannic Bold" panose="020B0903060703020204" pitchFamily="34" charset="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Marginals</a:t>
            </a:r>
            <a:endParaRPr lang="ko-KR" altLang="en-US" sz="1400" dirty="0">
              <a:latin typeface="Britannic Bold" panose="020B0903060703020204" pitchFamily="34" charset="0"/>
            </a:endParaRPr>
          </a:p>
        </p:txBody>
      </p:sp>
      <p:pic>
        <p:nvPicPr>
          <p:cNvPr id="2054" name="Picture 6">
            <a:extLst>
              <a:ext uri="{FF2B5EF4-FFF2-40B4-BE49-F238E27FC236}">
                <a16:creationId xmlns:a16="http://schemas.microsoft.com/office/drawing/2014/main" id="{D610D1B8-7160-0BE0-C302-F6BD804B72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44917" y="2195266"/>
            <a:ext cx="3587151" cy="3451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6E8D5E9-121C-8D0D-0028-9D6B92654033}"/>
              </a:ext>
            </a:extLst>
          </p:cNvPr>
          <p:cNvSpPr txBox="1"/>
          <p:nvPr/>
        </p:nvSpPr>
        <p:spPr>
          <a:xfrm>
            <a:off x="8267220" y="1878651"/>
            <a:ext cx="241604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err="1">
                <a:latin typeface="Britannic Bold" panose="020B0903060703020204" pitchFamily="34" charset="0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Continous</a:t>
            </a:r>
            <a:r>
              <a:rPr lang="en-US" altLang="ko-KR" sz="1400" dirty="0">
                <a:latin typeface="Britannic Bold" panose="020B0903060703020204" pitchFamily="34" charset="0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Joint Distribution</a:t>
            </a:r>
            <a:endParaRPr lang="ko-KR" altLang="en-US" sz="1400" dirty="0">
              <a:latin typeface="Britannic Bold" panose="020B09030607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256871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E7EC89-B3CB-BA5A-0662-2279988C67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B540EF44-9D30-B434-EEA0-7F42F2D9CF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7</a:t>
            </a:fld>
            <a:endParaRPr lang="en-US" altLang="ko-KR" noProof="0" dirty="0"/>
          </a:p>
        </p:txBody>
      </p:sp>
      <p:pic>
        <p:nvPicPr>
          <p:cNvPr id="4100" name="Picture 4">
            <a:extLst>
              <a:ext uri="{FF2B5EF4-FFF2-40B4-BE49-F238E27FC236}">
                <a16:creationId xmlns:a16="http://schemas.microsoft.com/office/drawing/2014/main" id="{FBE6393E-A3C4-3072-1FE8-2B1E7EB29E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7316" y="2212065"/>
            <a:ext cx="4061251" cy="40612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2" name="Picture 6">
            <a:extLst>
              <a:ext uri="{FF2B5EF4-FFF2-40B4-BE49-F238E27FC236}">
                <a16:creationId xmlns:a16="http://schemas.microsoft.com/office/drawing/2014/main" id="{DD092B8B-DB61-2789-3001-D69752A3EC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62691" y="1196752"/>
            <a:ext cx="6768752" cy="5076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1E64B0F-1A6D-C338-05EF-B38E08F6E50C}"/>
              </a:ext>
            </a:extLst>
          </p:cNvPr>
          <p:cNvSpPr txBox="1"/>
          <p:nvPr/>
        </p:nvSpPr>
        <p:spPr>
          <a:xfrm>
            <a:off x="261764" y="476672"/>
            <a:ext cx="770485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306"/>
              </a:spcBef>
              <a:spcAft>
                <a:spcPts val="1742"/>
              </a:spcAft>
              <a:buNone/>
            </a:pPr>
            <a:r>
              <a:rPr lang="en-US" altLang="ko-KR" sz="2400" b="1" i="0" dirty="0"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Intuitive Understanding of clustering algorithm</a:t>
            </a:r>
            <a:endParaRPr lang="en-US" altLang="ko-KR" sz="2400" b="0" i="0" dirty="0">
              <a:effectLst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EDE9E71-3D8F-E832-F77F-FEECBD8F92C1}"/>
              </a:ext>
            </a:extLst>
          </p:cNvPr>
          <p:cNvSpPr txBox="1"/>
          <p:nvPr/>
        </p:nvSpPr>
        <p:spPr>
          <a:xfrm>
            <a:off x="290228" y="117521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i="0" dirty="0"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1. K-Means Clustering</a:t>
            </a:r>
            <a:endParaRPr lang="ko-KR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B3089A9-2BCD-79B3-1096-E2D2AD0F8441}"/>
              </a:ext>
            </a:extLst>
          </p:cNvPr>
          <p:cNvSpPr txBox="1"/>
          <p:nvPr/>
        </p:nvSpPr>
        <p:spPr>
          <a:xfrm>
            <a:off x="5014292" y="117521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altLang="ko-KR" b="1" i="0" dirty="0">
                <a:effectLst/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computing the distances between points and group centers</a:t>
            </a:r>
          </a:p>
        </p:txBody>
      </p:sp>
    </p:spTree>
    <p:extLst>
      <p:ext uri="{BB962C8B-B14F-4D97-AF65-F5344CB8AC3E}">
        <p14:creationId xmlns:p14="http://schemas.microsoft.com/office/powerpoint/2010/main" val="36979540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E28422-F9B1-EEF7-B9AB-3B0BC70BDA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6E49A640-B2B0-89C6-ADB6-4D35567BA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8</a:t>
            </a:fld>
            <a:endParaRPr lang="en-US" altLang="ko-KR" noProof="0" dirty="0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29128C5B-7B92-B3A3-C997-57B98AD12B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1924" y="2719164"/>
            <a:ext cx="3672408" cy="36724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8" name="Picture 4">
            <a:extLst>
              <a:ext uri="{FF2B5EF4-FFF2-40B4-BE49-F238E27FC236}">
                <a16:creationId xmlns:a16="http://schemas.microsoft.com/office/drawing/2014/main" id="{7C37CC53-EDA0-5188-3E54-8BF68800A6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62364" y="918964"/>
            <a:ext cx="5472608" cy="54726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31AA513-E90A-DF13-30AC-27665957C759}"/>
              </a:ext>
            </a:extLst>
          </p:cNvPr>
          <p:cNvSpPr txBox="1"/>
          <p:nvPr/>
        </p:nvSpPr>
        <p:spPr>
          <a:xfrm>
            <a:off x="261764" y="466428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2. Mean-Shift Clustering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D446277-F9BE-AC69-09ED-6CE7B7982E9E}"/>
              </a:ext>
            </a:extLst>
          </p:cNvPr>
          <p:cNvSpPr txBox="1"/>
          <p:nvPr/>
        </p:nvSpPr>
        <p:spPr>
          <a:xfrm>
            <a:off x="477788" y="972150"/>
            <a:ext cx="4752528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1400" b="0" i="0" dirty="0">
                <a:effectLst/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Mean shift clustering is a sliding-window-based algorithm that attempts </a:t>
            </a:r>
            <a:r>
              <a:rPr lang="en-US" altLang="ko-KR" sz="1400" b="1" i="0" dirty="0">
                <a:effectLst/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to find dense areas of data points</a:t>
            </a:r>
            <a:r>
              <a:rPr lang="en-US" altLang="ko-KR" sz="1400" b="0" i="0" dirty="0">
                <a:effectLst/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.</a:t>
            </a: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1400" b="0" i="0" dirty="0">
                <a:effectLst/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It is a centroid-based algorithm meaning that the goal is to locate the center points of each group/class, which works by updating candidates for center points to be the mean of the points within the sliding-window.</a:t>
            </a:r>
          </a:p>
        </p:txBody>
      </p:sp>
    </p:spTree>
    <p:extLst>
      <p:ext uri="{BB962C8B-B14F-4D97-AF65-F5344CB8AC3E}">
        <p14:creationId xmlns:p14="http://schemas.microsoft.com/office/powerpoint/2010/main" val="3821955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DF44AE-4A9E-B4D2-56E2-3AF39169F8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6656D96B-1380-A118-6FF7-55993749AE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9</a:t>
            </a:fld>
            <a:endParaRPr lang="en-US" altLang="ko-KR" noProof="0" dirty="0"/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1DB4B13D-7A0A-7418-1101-6AEC7BCAD7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14092" y="1732261"/>
            <a:ext cx="7685467" cy="48276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7182E7C-42A3-5831-4740-89C4F07C28FF}"/>
              </a:ext>
            </a:extLst>
          </p:cNvPr>
          <p:cNvSpPr txBox="1"/>
          <p:nvPr/>
        </p:nvSpPr>
        <p:spPr>
          <a:xfrm>
            <a:off x="261764" y="747109"/>
            <a:ext cx="87593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177"/>
              </a:spcBef>
              <a:spcAft>
                <a:spcPts val="1451"/>
              </a:spcAft>
              <a:buNone/>
            </a:pPr>
            <a:r>
              <a:rPr lang="en-US" altLang="ko-KR" b="1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3. Density-Based Spatial Clustering of Applications with Noise (DBSCAN)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E6CE35F-99AB-B35E-C4D3-CEE20CC71DC4}"/>
              </a:ext>
            </a:extLst>
          </p:cNvPr>
          <p:cNvSpPr txBox="1"/>
          <p:nvPr/>
        </p:nvSpPr>
        <p:spPr>
          <a:xfrm>
            <a:off x="765820" y="1201326"/>
            <a:ext cx="7200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altLang="ko-KR" b="0" i="0" dirty="0">
                <a:effectLst/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DBSCAN is a density-based clustered algorithm similar to mean-shift.</a:t>
            </a:r>
          </a:p>
        </p:txBody>
      </p:sp>
    </p:spTree>
    <p:extLst>
      <p:ext uri="{BB962C8B-B14F-4D97-AF65-F5344CB8AC3E}">
        <p14:creationId xmlns:p14="http://schemas.microsoft.com/office/powerpoint/2010/main" val="20538719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585763-5EBB-4160-A5F7-E69FEE7AF2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8EE7AE96-BDFA-FFA5-CC03-FF7CC4149F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10</a:t>
            </a:fld>
            <a:endParaRPr lang="en-US" altLang="ko-KR" noProof="0" dirty="0"/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D8346020-B8A4-B2E7-01A0-65FE360D0B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22203" y="1484784"/>
            <a:ext cx="5956389" cy="51125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859D103-1E30-85FD-F45D-41F42002EEAC}"/>
              </a:ext>
            </a:extLst>
          </p:cNvPr>
          <p:cNvSpPr txBox="1"/>
          <p:nvPr/>
        </p:nvSpPr>
        <p:spPr>
          <a:xfrm>
            <a:off x="621804" y="764704"/>
            <a:ext cx="95770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177"/>
              </a:spcBef>
              <a:spcAft>
                <a:spcPts val="1451"/>
              </a:spcAft>
              <a:buNone/>
            </a:pPr>
            <a:r>
              <a:rPr lang="en-US" altLang="ko-KR" b="1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4. Expectation–Maximization(EM) Clustering using Gaussian Mixture Models (GMM)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D1626C6-998E-0504-FFFE-661D0B3FBF21}"/>
              </a:ext>
            </a:extLst>
          </p:cNvPr>
          <p:cNvSpPr txBox="1"/>
          <p:nvPr/>
        </p:nvSpPr>
        <p:spPr>
          <a:xfrm>
            <a:off x="477788" y="1772816"/>
            <a:ext cx="3528392" cy="25423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altLang="ko-KR" b="0" i="0" dirty="0">
                <a:effectLst/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To </a:t>
            </a:r>
            <a:r>
              <a:rPr lang="en-US" altLang="ko-KR" b="1" i="0" dirty="0">
                <a:effectLst/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find the parameters of the Gaussian for each cluster</a:t>
            </a:r>
            <a:r>
              <a:rPr lang="en-US" altLang="ko-KR" b="0" i="0" dirty="0">
                <a:effectLst/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 (</a:t>
            </a:r>
            <a:r>
              <a:rPr lang="en-US" altLang="ko-KR" b="0" i="0" dirty="0" err="1">
                <a:effectLst/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e.g</a:t>
            </a:r>
            <a:r>
              <a:rPr lang="en-US" altLang="ko-KR" b="0" i="0" dirty="0">
                <a:effectLst/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the mean and standard deviation), we will use an optimization algorithm called Expectation–Maximization (EM)</a:t>
            </a:r>
          </a:p>
        </p:txBody>
      </p:sp>
    </p:spTree>
    <p:extLst>
      <p:ext uri="{BB962C8B-B14F-4D97-AF65-F5344CB8AC3E}">
        <p14:creationId xmlns:p14="http://schemas.microsoft.com/office/powerpoint/2010/main" val="4465887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1DACFD-95F0-B4D3-58CA-40388C27DB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B241B89-1BFA-8DCC-D381-C76AADE38D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11</a:t>
            </a:fld>
            <a:endParaRPr lang="en-US" altLang="ko-KR" noProof="0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362E9AA5-F77D-895A-4B54-0735103C73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58308" y="980728"/>
            <a:ext cx="6535808" cy="52286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187BBD1-8C35-D005-A181-1EFF30A728CD}"/>
              </a:ext>
            </a:extLst>
          </p:cNvPr>
          <p:cNvSpPr txBox="1"/>
          <p:nvPr/>
        </p:nvSpPr>
        <p:spPr>
          <a:xfrm>
            <a:off x="7174532" y="560266"/>
            <a:ext cx="25922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b="1" i="0" dirty="0">
                <a:effectLst/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K-Means Clustering</a:t>
            </a:r>
            <a:endParaRPr lang="ko-KR" altLang="en-US" b="1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98A81AD-0A5A-C66E-01BF-C8458B69ECE6}"/>
              </a:ext>
            </a:extLst>
          </p:cNvPr>
          <p:cNvSpPr txBox="1"/>
          <p:nvPr/>
        </p:nvSpPr>
        <p:spPr>
          <a:xfrm>
            <a:off x="333772" y="1124744"/>
            <a:ext cx="37593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>
                <a:latin typeface="Britannic Bold" panose="020B0903060703020204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Unsupervised_learning_scikit</a:t>
            </a:r>
            <a:r>
              <a:rPr lang="en-US" altLang="ko-KR" dirty="0">
                <a:latin typeface="Britannic Bold" panose="020B0903060703020204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-learn</a:t>
            </a:r>
            <a:endParaRPr lang="ko-KR" altLang="en-US" dirty="0">
              <a:latin typeface="Britannic Bold" panose="020B0903060703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641873C-CACD-DC71-3CD6-DAD37A341E24}"/>
              </a:ext>
            </a:extLst>
          </p:cNvPr>
          <p:cNvSpPr txBox="1"/>
          <p:nvPr/>
        </p:nvSpPr>
        <p:spPr>
          <a:xfrm>
            <a:off x="333772" y="1628800"/>
            <a:ext cx="31037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latin typeface="Britannic Bold" panose="020B0903060703020204" pitchFamily="34" charset="0"/>
              </a:rPr>
              <a:t>관련 코드는 </a:t>
            </a:r>
            <a:r>
              <a:rPr lang="en-US" altLang="ko-KR" dirty="0" err="1">
                <a:latin typeface="Britannic Bold" panose="020B0903060703020204" pitchFamily="34" charset="0"/>
              </a:rPr>
              <a:t>eclass</a:t>
            </a:r>
            <a:r>
              <a:rPr lang="ko-KR" altLang="en-US" dirty="0">
                <a:latin typeface="Britannic Bold" panose="020B0903060703020204" pitchFamily="34" charset="0"/>
              </a:rPr>
              <a:t>에 </a:t>
            </a:r>
            <a:r>
              <a:rPr lang="en-US" altLang="ko-KR" dirty="0">
                <a:latin typeface="Britannic Bold" panose="020B0903060703020204" pitchFamily="34" charset="0"/>
              </a:rPr>
              <a:t>upload</a:t>
            </a:r>
            <a:endParaRPr lang="ko-KR" altLang="en-US" dirty="0">
              <a:latin typeface="Britannic Bold" panose="020B09030607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41901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799DDB-CF71-2269-C86C-A0C6B66D4A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4480F933-025B-964F-DC78-EB0567125B9F}"/>
              </a:ext>
            </a:extLst>
          </p:cNvPr>
          <p:cNvSpPr/>
          <p:nvPr/>
        </p:nvSpPr>
        <p:spPr>
          <a:xfrm>
            <a:off x="549796" y="1890054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B865C5A-AC22-903F-65DE-B0B66C8E44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12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6442AF8-60A9-DCE2-F679-9A9DD6247034}"/>
              </a:ext>
            </a:extLst>
          </p:cNvPr>
          <p:cNvSpPr txBox="1"/>
          <p:nvPr/>
        </p:nvSpPr>
        <p:spPr>
          <a:xfrm>
            <a:off x="1629916" y="620688"/>
            <a:ext cx="8928992" cy="5131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결합확률분포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(Joint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Probability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Distribution)</a:t>
            </a: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조건부확률분포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Distribution)</a:t>
            </a: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확률의 이해</a:t>
            </a:r>
            <a:endParaRPr lang="en-US" altLang="ko-KR" sz="2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문제풀이</a:t>
            </a:r>
            <a:endParaRPr lang="en-US" altLang="ko-KR" sz="2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buAutoNum type="arabicPeriod"/>
            </a:pPr>
            <a:endParaRPr lang="en-US" altLang="ko-KR" sz="2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>
              <a:lnSpc>
                <a:spcPct val="200000"/>
              </a:lnSpc>
            </a:pPr>
            <a:endParaRPr lang="ko-KR" altLang="en-US" sz="28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165235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2D38B9-4195-271B-F272-05A2536DA2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9FA146E-6A35-D140-39B9-7BE9A5FE2A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13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1621179-F9A4-0781-E59A-8482B8B0AAB4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Joint &amp; marginal histograms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BAF047A-324A-5D47-FF11-216D60B123AB}"/>
              </a:ext>
            </a:extLst>
          </p:cNvPr>
          <p:cNvSpPr txBox="1"/>
          <p:nvPr/>
        </p:nvSpPr>
        <p:spPr>
          <a:xfrm>
            <a:off x="338480" y="1005885"/>
            <a:ext cx="11588580" cy="4195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천문학자들이 외계 행성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(Exoplanets)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발견한 기록 데이터를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발견년도와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태양계로 부터의 거리의 시각화를 해석하라   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080" name="Picture 8">
            <a:extLst>
              <a:ext uri="{FF2B5EF4-FFF2-40B4-BE49-F238E27FC236}">
                <a16:creationId xmlns:a16="http://schemas.microsoft.com/office/drawing/2014/main" id="{DDB8136B-12C4-CB2C-48F8-C520F17098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1320" y="2233055"/>
            <a:ext cx="4394499" cy="43642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>
            <a:extLst>
              <a:ext uri="{FF2B5EF4-FFF2-40B4-BE49-F238E27FC236}">
                <a16:creationId xmlns:a16="http://schemas.microsoft.com/office/drawing/2014/main" id="{31311A97-5308-C590-3D6E-7D50680CC2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14338" y="2139024"/>
            <a:ext cx="2407280" cy="18987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5F3AA0C-6A6D-099B-EE5F-974060402A4F}"/>
              </a:ext>
            </a:extLst>
          </p:cNvPr>
          <p:cNvSpPr txBox="1"/>
          <p:nvPr/>
        </p:nvSpPr>
        <p:spPr>
          <a:xfrm>
            <a:off x="7891557" y="1831247"/>
            <a:ext cx="232146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err="1">
                <a:latin typeface="Britannic Bold" panose="020B0903060703020204" pitchFamily="34" charset="0"/>
              </a:rPr>
              <a:t>sns.histplot</a:t>
            </a:r>
            <a:r>
              <a:rPr lang="en-US" altLang="ko-KR" sz="1400" dirty="0">
                <a:latin typeface="Britannic Bold" panose="020B0903060703020204" pitchFamily="34" charset="0"/>
              </a:rPr>
              <a:t>(discrete=True)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CC4989-4E1E-D890-423E-B6FB7D38B1AB}"/>
              </a:ext>
            </a:extLst>
          </p:cNvPr>
          <p:cNvSpPr txBox="1"/>
          <p:nvPr/>
        </p:nvSpPr>
        <p:spPr>
          <a:xfrm>
            <a:off x="909836" y="1873014"/>
            <a:ext cx="148951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err="1">
                <a:latin typeface="Britannic Bold" panose="020B0903060703020204" pitchFamily="34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joint_histogram</a:t>
            </a:r>
            <a:endParaRPr lang="ko-KR" altLang="en-US" sz="1400" dirty="0">
              <a:latin typeface="Britannic Bold" panose="020B090306070302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D66D913-0B01-E354-6F96-A7108311FCC1}"/>
              </a:ext>
            </a:extLst>
          </p:cNvPr>
          <p:cNvSpPr txBox="1"/>
          <p:nvPr/>
        </p:nvSpPr>
        <p:spPr>
          <a:xfrm>
            <a:off x="7888209" y="4345492"/>
            <a:ext cx="293752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 err="1">
                <a:latin typeface="Britannic Bold" panose="020B0903060703020204" pitchFamily="34" charset="0"/>
              </a:rPr>
              <a:t>g.ax_joint.set</a:t>
            </a:r>
            <a:r>
              <a:rPr lang="en-US" altLang="ko-KR" sz="1400" dirty="0">
                <a:latin typeface="Britannic Bold" panose="020B0903060703020204" pitchFamily="34" charset="0"/>
              </a:rPr>
              <a:t>(</a:t>
            </a:r>
            <a:r>
              <a:rPr lang="en-US" altLang="ko-KR" sz="1400" dirty="0" err="1">
                <a:latin typeface="Britannic Bold" panose="020B0903060703020204" pitchFamily="34" charset="0"/>
              </a:rPr>
              <a:t>yscale</a:t>
            </a:r>
            <a:r>
              <a:rPr lang="en-US" altLang="ko-KR" sz="1400" dirty="0">
                <a:latin typeface="Britannic Bold" panose="020B0903060703020204" pitchFamily="34" charset="0"/>
              </a:rPr>
              <a:t>="log")</a:t>
            </a:r>
            <a:endParaRPr lang="ko-KR" altLang="en-US" sz="1400" dirty="0">
              <a:latin typeface="Britannic Bold" panose="020B0903060703020204" pitchFamily="34" charset="0"/>
            </a:endParaRPr>
          </a:p>
        </p:txBody>
      </p:sp>
      <p:pic>
        <p:nvPicPr>
          <p:cNvPr id="4102" name="Picture 6">
            <a:extLst>
              <a:ext uri="{FF2B5EF4-FFF2-40B4-BE49-F238E27FC236}">
                <a16:creationId xmlns:a16="http://schemas.microsoft.com/office/drawing/2014/main" id="{A634B299-49D6-52DE-08AC-3B5F6FDBB0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25464" y="4653136"/>
            <a:ext cx="2439718" cy="19442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4" name="연결선: 구부러짐 13">
            <a:extLst>
              <a:ext uri="{FF2B5EF4-FFF2-40B4-BE49-F238E27FC236}">
                <a16:creationId xmlns:a16="http://schemas.microsoft.com/office/drawing/2014/main" id="{093A3CA7-10F6-B4D7-2B88-086C54CAC0FB}"/>
              </a:ext>
            </a:extLst>
          </p:cNvPr>
          <p:cNvCxnSpPr>
            <a:cxnSpLocks/>
            <a:endCxn id="4100" idx="1"/>
          </p:cNvCxnSpPr>
          <p:nvPr/>
        </p:nvCxnSpPr>
        <p:spPr>
          <a:xfrm>
            <a:off x="4150196" y="2420888"/>
            <a:ext cx="3764142" cy="667515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연결선: 구부러짐 17">
            <a:extLst>
              <a:ext uri="{FF2B5EF4-FFF2-40B4-BE49-F238E27FC236}">
                <a16:creationId xmlns:a16="http://schemas.microsoft.com/office/drawing/2014/main" id="{C8F46F1F-8EEB-CFD0-59E5-180DB3842FE3}"/>
              </a:ext>
            </a:extLst>
          </p:cNvPr>
          <p:cNvCxnSpPr>
            <a:cxnSpLocks/>
          </p:cNvCxnSpPr>
          <p:nvPr/>
        </p:nvCxnSpPr>
        <p:spPr>
          <a:xfrm>
            <a:off x="5014292" y="4751382"/>
            <a:ext cx="2873917" cy="1100733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40451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47DCE2-17C1-A611-9B45-2FD6CF81BE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76F4523-1057-C68A-630F-8E420669DA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14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96F71B-9CAC-A913-6B18-46452EB8146D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Pairplot</a:t>
            </a:r>
            <a:endParaRPr lang="ko-KR" altLang="en-US" sz="3200" b="1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655F8382-6E2B-3DFF-600B-F2EEAAA5E5BD}"/>
              </a:ext>
            </a:extLst>
          </p:cNvPr>
          <p:cNvGrpSpPr/>
          <p:nvPr/>
        </p:nvGrpSpPr>
        <p:grpSpPr>
          <a:xfrm>
            <a:off x="981844" y="2060848"/>
            <a:ext cx="9509954" cy="4586834"/>
            <a:chOff x="400882" y="992214"/>
            <a:chExt cx="11980731" cy="5778537"/>
          </a:xfrm>
        </p:grpSpPr>
        <p:pic>
          <p:nvPicPr>
            <p:cNvPr id="8" name="Picture 2">
              <a:extLst>
                <a:ext uri="{FF2B5EF4-FFF2-40B4-BE49-F238E27FC236}">
                  <a16:creationId xmlns:a16="http://schemas.microsoft.com/office/drawing/2014/main" id="{252B00A0-9CCA-2DC8-5D52-7E4F521D40B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50709" y="1447580"/>
              <a:ext cx="6005581" cy="53012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965E5745-C1E2-1D24-BB69-4BED482DBA8C}"/>
                </a:ext>
              </a:extLst>
            </p:cNvPr>
            <p:cNvSpPr/>
            <p:nvPr/>
          </p:nvSpPr>
          <p:spPr>
            <a:xfrm>
              <a:off x="693812" y="3861048"/>
              <a:ext cx="1534064" cy="1389223"/>
            </a:xfrm>
            <a:prstGeom prst="rect">
              <a:avLst/>
            </a:prstGeom>
            <a:noFill/>
            <a:ln w="28575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 dirty="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757037C7-933E-A3A7-A4E6-1C0B5AD00A6E}"/>
                </a:ext>
              </a:extLst>
            </p:cNvPr>
            <p:cNvSpPr txBox="1"/>
            <p:nvPr/>
          </p:nvSpPr>
          <p:spPr>
            <a:xfrm>
              <a:off x="400882" y="992214"/>
              <a:ext cx="3271960" cy="3877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 err="1">
                  <a:latin typeface="Britannic Bold" panose="020B0903060703020204" pitchFamily="34" charset="0"/>
                  <a:hlinkClick r:id="rId4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sns.pairplot</a:t>
              </a:r>
              <a:r>
                <a:rPr lang="en-US" altLang="ko-KR" sz="1400" dirty="0">
                  <a:latin typeface="Britannic Bold" panose="020B0903060703020204" pitchFamily="34" charset="0"/>
                  <a:hlinkClick r:id="rId4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(</a:t>
              </a:r>
              <a:r>
                <a:rPr lang="en-US" altLang="ko-KR" sz="1400" dirty="0" err="1">
                  <a:latin typeface="Britannic Bold" panose="020B0903060703020204" pitchFamily="34" charset="0"/>
                  <a:hlinkClick r:id="rId4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df</a:t>
              </a:r>
              <a:r>
                <a:rPr lang="en-US" altLang="ko-KR" sz="1400" dirty="0">
                  <a:latin typeface="Britannic Bold" panose="020B0903060703020204" pitchFamily="34" charset="0"/>
                  <a:hlinkClick r:id="rId4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, hue="species")</a:t>
              </a:r>
              <a:endParaRPr lang="ko-KR" altLang="en-US" sz="1400" dirty="0">
                <a:latin typeface="Britannic Bold" panose="020B0903060703020204" pitchFamily="34" charset="0"/>
              </a:endParaRPr>
            </a:p>
          </p:txBody>
        </p:sp>
        <p:pic>
          <p:nvPicPr>
            <p:cNvPr id="3074" name="Picture 2">
              <a:extLst>
                <a:ext uri="{FF2B5EF4-FFF2-40B4-BE49-F238E27FC236}">
                  <a16:creationId xmlns:a16="http://schemas.microsoft.com/office/drawing/2014/main" id="{B1653977-6636-3D04-4EB3-D5CE03EBD37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486714" y="3946040"/>
              <a:ext cx="2844059" cy="282471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7" name="연결선: 구부러짐 6">
              <a:extLst>
                <a:ext uri="{FF2B5EF4-FFF2-40B4-BE49-F238E27FC236}">
                  <a16:creationId xmlns:a16="http://schemas.microsoft.com/office/drawing/2014/main" id="{B7A2B3B0-A523-FF6A-4790-9BDBEAAF94BC}"/>
                </a:ext>
              </a:extLst>
            </p:cNvPr>
            <p:cNvCxnSpPr>
              <a:cxnSpLocks/>
              <a:stCxn id="4" idx="3"/>
              <a:endCxn id="3074" idx="1"/>
            </p:cNvCxnSpPr>
            <p:nvPr/>
          </p:nvCxnSpPr>
          <p:spPr>
            <a:xfrm>
              <a:off x="2227875" y="4555660"/>
              <a:ext cx="7258839" cy="802736"/>
            </a:xfrm>
            <a:prstGeom prst="curvedConnector3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FD26FBB-56B4-174A-C25B-F243F7986FA7}"/>
                </a:ext>
              </a:extLst>
            </p:cNvPr>
            <p:cNvSpPr txBox="1"/>
            <p:nvPr/>
          </p:nvSpPr>
          <p:spPr>
            <a:xfrm>
              <a:off x="9377926" y="3572127"/>
              <a:ext cx="2005747" cy="3877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 rtl="0">
                <a:defRPr lang="ko-kr"/>
              </a:defPPr>
              <a:lvl1pPr>
                <a:defRPr sz="1400">
                  <a:latin typeface="Britannic Bold" panose="020B0903060703020204" pitchFamily="34" charset="0"/>
                </a:defRPr>
              </a:lvl1pPr>
            </a:lstStyle>
            <a:p>
              <a:r>
                <a:rPr lang="en-US" altLang="ko-KR" dirty="0" err="1">
                  <a:hlinkClick r:id="rId6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hexbin_marginals</a:t>
              </a:r>
              <a:endParaRPr lang="ko-KR" altLang="en-US" dirty="0"/>
            </a:p>
          </p:txBody>
        </p:sp>
        <p:pic>
          <p:nvPicPr>
            <p:cNvPr id="3078" name="Picture 6">
              <a:extLst>
                <a:ext uri="{FF2B5EF4-FFF2-40B4-BE49-F238E27FC236}">
                  <a16:creationId xmlns:a16="http://schemas.microsoft.com/office/drawing/2014/main" id="{156B5172-BB88-2485-4909-5859E68013C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486714" y="1159732"/>
              <a:ext cx="2894899" cy="228726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7C2931DD-8ED4-5AEF-DBB8-05B6F017A1E1}"/>
                </a:ext>
              </a:extLst>
            </p:cNvPr>
            <p:cNvSpPr/>
            <p:nvPr/>
          </p:nvSpPr>
          <p:spPr>
            <a:xfrm>
              <a:off x="693812" y="1401540"/>
              <a:ext cx="1534063" cy="1389222"/>
            </a:xfrm>
            <a:prstGeom prst="rect">
              <a:avLst/>
            </a:prstGeom>
            <a:noFill/>
            <a:ln w="28575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 dirty="0"/>
            </a:p>
          </p:txBody>
        </p:sp>
        <p:cxnSp>
          <p:nvCxnSpPr>
            <p:cNvPr id="17" name="연결선: 구부러짐 16">
              <a:extLst>
                <a:ext uri="{FF2B5EF4-FFF2-40B4-BE49-F238E27FC236}">
                  <a16:creationId xmlns:a16="http://schemas.microsoft.com/office/drawing/2014/main" id="{67D18B30-DE1B-E4AC-6DF9-B05D6302466D}"/>
                </a:ext>
              </a:extLst>
            </p:cNvPr>
            <p:cNvCxnSpPr>
              <a:cxnSpLocks/>
              <a:stCxn id="16" idx="3"/>
              <a:endCxn id="3078" idx="1"/>
            </p:cNvCxnSpPr>
            <p:nvPr/>
          </p:nvCxnSpPr>
          <p:spPr>
            <a:xfrm>
              <a:off x="2227875" y="2096150"/>
              <a:ext cx="7258839" cy="207215"/>
            </a:xfrm>
            <a:prstGeom prst="curvedConnector3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DAED1783-FAA9-B437-9357-5DA25F9E09DD}"/>
              </a:ext>
            </a:extLst>
          </p:cNvPr>
          <p:cNvSpPr txBox="1"/>
          <p:nvPr/>
        </p:nvSpPr>
        <p:spPr>
          <a:xfrm>
            <a:off x="338480" y="1005885"/>
            <a:ext cx="11588580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오른쪽　상단의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KDE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plot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pecies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조건으로 하는 데이터 분포이고 하단의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Hexbin_marginal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species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구분없이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전체 부리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(bill)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날개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(flipper)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대한 데이터 분포이고 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막대그래프나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KDE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곡선의 높이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 Likelihood(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우도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2098E6B-8CCB-8548-00BD-D91394A409B5}"/>
              </a:ext>
            </a:extLst>
          </p:cNvPr>
          <p:cNvSpPr txBox="1"/>
          <p:nvPr/>
        </p:nvSpPr>
        <p:spPr>
          <a:xfrm>
            <a:off x="8107558" y="1912267"/>
            <a:ext cx="2523357" cy="2975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400" dirty="0" err="1">
                <a:latin typeface="Britannic Bold" panose="020B0903060703020204" pitchFamily="34" charset="0"/>
              </a:rPr>
              <a:t>sns.kdeplot</a:t>
            </a:r>
            <a:r>
              <a:rPr lang="en-US" altLang="ko-KR" sz="1400" dirty="0">
                <a:latin typeface="Britannic Bold" panose="020B0903060703020204" pitchFamily="34" charset="0"/>
              </a:rPr>
              <a:t>(hue="species“)</a:t>
            </a:r>
          </a:p>
        </p:txBody>
      </p:sp>
    </p:spTree>
    <p:extLst>
      <p:ext uri="{BB962C8B-B14F-4D97-AF65-F5344CB8AC3E}">
        <p14:creationId xmlns:p14="http://schemas.microsoft.com/office/powerpoint/2010/main" val="41055858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C88151-C46B-CD5E-E821-A0F68F3A7D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0D6760EB-0648-59D8-3629-825719199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15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7C8D6A8-703D-996C-3882-67E139AAAB2E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Hexbin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plot with marginal distributions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C93FFA3-F7AB-2DB1-F22A-1ECB6018AABD}"/>
              </a:ext>
            </a:extLst>
          </p:cNvPr>
          <p:cNvSpPr txBox="1"/>
          <p:nvPr/>
        </p:nvSpPr>
        <p:spPr>
          <a:xfrm>
            <a:off x="6094412" y="1772816"/>
            <a:ext cx="5832648" cy="39534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중앙 육각형 격자 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(Joint Distribution)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두 변수가 동시에 나타나는 빈도이며 색이 진할수록 해당 데이터 포인트가 많이 몰려 있다는 뜻이며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결합 확률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P(X, Y)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높은 지점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상단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/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우측 막대그래프 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(Marginal Distribution)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 변수 하나의 분포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주변 확률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P(X)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P(Y)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나타냅니다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상단 막대는 부리 길이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(X)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분포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우측 막대는 날개 길이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(Y)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분포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4D1BEF79-7545-09AC-1482-F1F72B45DA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1804" y="1772816"/>
            <a:ext cx="4857582" cy="48245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EA2A39A-1188-3272-3076-8B01A836614A}"/>
              </a:ext>
            </a:extLst>
          </p:cNvPr>
          <p:cNvSpPr txBox="1"/>
          <p:nvPr/>
        </p:nvSpPr>
        <p:spPr>
          <a:xfrm>
            <a:off x="532365" y="1465039"/>
            <a:ext cx="164339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err="1">
                <a:latin typeface="Britannic Bold" panose="020B0903060703020204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hexbin_marginals</a:t>
            </a:r>
            <a:r>
              <a:rPr lang="en-US" altLang="ko-KR" sz="1400" dirty="0">
                <a:latin typeface="Britannic Bold" panose="020B0903060703020204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.</a:t>
            </a:r>
            <a:endParaRPr lang="ko-KR" altLang="en-US" sz="1400" dirty="0">
              <a:latin typeface="Britannic Bold" panose="020B09030607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190749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A8E4F1-FED3-9C83-19AF-9E59E4C9F9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C0488456-27E5-BF62-A9E2-DF222DCF85D5}"/>
              </a:ext>
            </a:extLst>
          </p:cNvPr>
          <p:cNvSpPr/>
          <p:nvPr/>
        </p:nvSpPr>
        <p:spPr>
          <a:xfrm>
            <a:off x="549796" y="2538126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335E3C63-50ED-8E84-C8E2-9646A70ACD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16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395F424-19FC-3256-E8D0-D757E895DBDB}"/>
              </a:ext>
            </a:extLst>
          </p:cNvPr>
          <p:cNvSpPr txBox="1"/>
          <p:nvPr/>
        </p:nvSpPr>
        <p:spPr>
          <a:xfrm>
            <a:off x="1629916" y="620688"/>
            <a:ext cx="8928992" cy="5131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결합확률분포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(Joint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Probability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Distribution)</a:t>
            </a: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조건부확률분포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Distribution)</a:t>
            </a: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확률의 이해</a:t>
            </a:r>
            <a:endParaRPr lang="en-US" altLang="ko-KR" sz="2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문제풀이</a:t>
            </a:r>
            <a:endParaRPr lang="en-US" altLang="ko-KR" sz="2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buAutoNum type="arabicPeriod"/>
            </a:pPr>
            <a:endParaRPr lang="en-US" altLang="ko-KR" sz="2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>
              <a:lnSpc>
                <a:spcPct val="200000"/>
              </a:lnSpc>
            </a:pPr>
            <a:endParaRPr lang="ko-KR" altLang="en-US" sz="28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739978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966E70-34EB-0C3F-F0E4-511E719A77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62C2CE0A-4F75-02C8-46D1-9E791D3482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17</a:t>
            </a:fld>
            <a:endParaRPr lang="en-US" altLang="ko-KR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198F10-51EE-9A67-5F61-2A00C33E2DBA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조건부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확률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(Conditional distributions)</a:t>
            </a:r>
            <a:endParaRPr lang="ko-KR" altLang="en-US" sz="3200" b="1" dirty="0"/>
          </a:p>
        </p:txBody>
      </p:sp>
      <p:pic>
        <p:nvPicPr>
          <p:cNvPr id="2054" name="Picture 6">
            <a:extLst>
              <a:ext uri="{FF2B5EF4-FFF2-40B4-BE49-F238E27FC236}">
                <a16:creationId xmlns:a16="http://schemas.microsoft.com/office/drawing/2014/main" id="{E9A46731-E4C7-5727-B150-47F02419F0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26460" y="1616461"/>
            <a:ext cx="5435897" cy="46658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3148E4A-B3B0-586F-1DE8-E19CB2D4077C}"/>
              </a:ext>
            </a:extLst>
          </p:cNvPr>
          <p:cNvSpPr txBox="1"/>
          <p:nvPr/>
        </p:nvSpPr>
        <p:spPr>
          <a:xfrm>
            <a:off x="338480" y="908720"/>
            <a:ext cx="11588580" cy="4140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부리길이가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40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이하와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50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이상인 경우에서 날개의 길이에 대한 조건부확률을 확률밀도함수로　시각화 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060" name="Picture 12">
            <a:extLst>
              <a:ext uri="{FF2B5EF4-FFF2-40B4-BE49-F238E27FC236}">
                <a16:creationId xmlns:a16="http://schemas.microsoft.com/office/drawing/2014/main" id="{62F00511-FD76-49AB-7880-6A76D2E585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442" y="1643014"/>
            <a:ext cx="5465100" cy="46392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359456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90FAF3-4CB9-BECF-483D-600C95920D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6EF1691-468D-099A-46B1-58B14A0314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18</a:t>
            </a:fld>
            <a:endParaRPr lang="en-US" altLang="ko-KR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EA352C2-66CD-CAE7-94E4-26FF0A683EB2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조건부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확률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(Conditional distributions)</a:t>
            </a:r>
            <a:endParaRPr lang="ko-KR" altLang="en-US" sz="3200" b="1" dirty="0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EA1AC3BD-6565-1884-E002-03A1A38BB7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4063" y="1632195"/>
            <a:ext cx="5525102" cy="46902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>
            <a:extLst>
              <a:ext uri="{FF2B5EF4-FFF2-40B4-BE49-F238E27FC236}">
                <a16:creationId xmlns:a16="http://schemas.microsoft.com/office/drawing/2014/main" id="{5409503A-3995-715E-1826-7FC194EF1A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24654" y="1628800"/>
            <a:ext cx="5435897" cy="46547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EAF28AC-A607-8077-A231-1EF39363F518}"/>
              </a:ext>
            </a:extLst>
          </p:cNvPr>
          <p:cNvSpPr txBox="1"/>
          <p:nvPr/>
        </p:nvSpPr>
        <p:spPr>
          <a:xfrm>
            <a:off x="338480" y="908720"/>
            <a:ext cx="11588580" cy="4140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부리길이가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40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이하와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50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이상인 경우에서 날개의 길이에 대한 조건부확률을 시각화 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47005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A05F1E-F796-5B86-BB6D-1DE3E96BA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26DD476-E7B1-A9F8-818B-592447BC5C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19</a:t>
            </a:fld>
            <a:endParaRPr lang="en-US" altLang="ko-KR" noProof="0" dirty="0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C2A59E69-1EBF-6473-FA56-31829809BB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5931" y="2060848"/>
            <a:ext cx="10110835" cy="41366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20AC3C7-4124-E1BC-E58C-1975BFACDB04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조건부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확률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(Conditional distributions)</a:t>
            </a:r>
            <a:endParaRPr lang="ko-KR" altLang="en-US" sz="32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C4832A0-F0BF-374A-D564-5BA5865EAE85}"/>
              </a:ext>
            </a:extLst>
          </p:cNvPr>
          <p:cNvSpPr txBox="1"/>
          <p:nvPr/>
        </p:nvSpPr>
        <p:spPr>
          <a:xfrm>
            <a:off x="338480" y="1005885"/>
            <a:ext cx="11588580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부리길이가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40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이하와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50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이상인 경우에서 날개의 길이에 대한 조건부확률을 시각화 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3BB3ED63-FE5D-9994-B67A-770A8624D4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50849" y="2574157"/>
            <a:ext cx="1816536" cy="1396992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FFB7F972-34E1-4141-72BE-842F5F835B5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700" y="2564904"/>
            <a:ext cx="2054114" cy="13969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7245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0E7798-07DC-FE7E-30AA-DA0A29AEDE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0B41B6C-9F4C-8B94-632A-0CD19CF4E1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20</a:t>
            </a:fld>
            <a:endParaRPr lang="en-US" altLang="ko-KR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A9B8E04-000F-5C87-7A56-5BE6CF433C28}"/>
              </a:ext>
            </a:extLst>
          </p:cNvPr>
          <p:cNvSpPr txBox="1"/>
          <p:nvPr/>
        </p:nvSpPr>
        <p:spPr>
          <a:xfrm>
            <a:off x="1383587" y="1906012"/>
            <a:ext cx="252986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Britannic Bold" panose="020B0903060703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Joint kernel density estimate</a:t>
            </a:r>
            <a:endParaRPr lang="ko-KR" altLang="en-US" sz="1400" dirty="0">
              <a:latin typeface="Britannic Bold" panose="020B0903060703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1C0E21B-638F-5751-E709-85C0F8E75B6C}"/>
              </a:ext>
            </a:extLst>
          </p:cNvPr>
          <p:cNvSpPr txBox="1"/>
          <p:nvPr/>
        </p:nvSpPr>
        <p:spPr>
          <a:xfrm>
            <a:off x="6598468" y="1906012"/>
            <a:ext cx="379142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Britannic Bold" panose="020B0903060703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Joint kernel density estimate</a:t>
            </a:r>
            <a:r>
              <a:rPr lang="en-US" altLang="ko-KR" sz="1400" dirty="0">
                <a:latin typeface="Britannic Bold" panose="020B0903060703020204" pitchFamily="34" charset="0"/>
              </a:rPr>
              <a:t>(hue =“species”)</a:t>
            </a:r>
            <a:endParaRPr lang="ko-KR" altLang="en-US" sz="1400" dirty="0">
              <a:latin typeface="Britannic Bold" panose="020B0903060703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9BDBAD1-9294-DC49-5057-2D5162AB55EE}"/>
              </a:ext>
            </a:extLst>
          </p:cNvPr>
          <p:cNvSpPr txBox="1"/>
          <p:nvPr/>
        </p:nvSpPr>
        <p:spPr>
          <a:xfrm>
            <a:off x="490880" y="1158285"/>
            <a:ext cx="11588580" cy="743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penguin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데이터에서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Chinstrap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종을 제외하고 종의 구분이 없는 경우와 있는 경우의 전체분포와 조건부 분포를 시각화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종의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구분에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따라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KDE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분포가 달라지는 것을 확인   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453F01-12DE-A1AA-9FA0-E02D648A6410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조건부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확률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(Conditional distributions)</a:t>
            </a:r>
            <a:endParaRPr lang="ko-KR" altLang="en-US" sz="3200" b="1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CA2262D-A87E-8995-D384-602F9F8522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98978" y="2275344"/>
            <a:ext cx="4143375" cy="4171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829DC385-D588-F68C-1F46-6F38DF142A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57396" y="2286367"/>
            <a:ext cx="4143376" cy="41863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484935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D419D0-2FDC-16D8-548C-E22332E561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3690D8AA-8BC3-384F-3764-C1E73140B29F}"/>
              </a:ext>
            </a:extLst>
          </p:cNvPr>
          <p:cNvSpPr/>
          <p:nvPr/>
        </p:nvSpPr>
        <p:spPr>
          <a:xfrm>
            <a:off x="549796" y="3114190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DEAB4A4B-43B1-86F2-5D53-994D5814B3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21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846FC76-358A-A88D-A4DC-DEFFF8B417C9}"/>
              </a:ext>
            </a:extLst>
          </p:cNvPr>
          <p:cNvSpPr txBox="1"/>
          <p:nvPr/>
        </p:nvSpPr>
        <p:spPr>
          <a:xfrm>
            <a:off x="1629916" y="620688"/>
            <a:ext cx="8928992" cy="5131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결합확률분포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(Joint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Probability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Distribution)</a:t>
            </a: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조건부확률분포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Distribution)</a:t>
            </a: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확률의 이해</a:t>
            </a:r>
            <a:endParaRPr lang="en-US" altLang="ko-KR" sz="2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문제풀이</a:t>
            </a:r>
            <a:endParaRPr lang="en-US" altLang="ko-KR" sz="2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buAutoNum type="arabicPeriod"/>
            </a:pPr>
            <a:endParaRPr lang="en-US" altLang="ko-KR" sz="2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>
              <a:lnSpc>
                <a:spcPct val="200000"/>
              </a:lnSpc>
            </a:pPr>
            <a:endParaRPr lang="ko-KR" altLang="en-US" sz="28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271292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22</a:t>
            </a:fld>
            <a:endParaRPr lang="en-US" altLang="ko-KR" noProof="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CD48443-75BE-9871-0739-0896D3DD3D33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결합확률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(joint distributions)</a:t>
            </a:r>
            <a:endParaRPr lang="ko-KR" altLang="en-US" sz="3200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7A033E8-7497-399B-7ED7-D83E6988BE68}"/>
              </a:ext>
            </a:extLst>
          </p:cNvPr>
          <p:cNvSpPr txBox="1"/>
          <p:nvPr/>
        </p:nvSpPr>
        <p:spPr>
          <a:xfrm>
            <a:off x="338480" y="1005885"/>
            <a:ext cx="11588580" cy="4140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동전과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주사위를 던졌을 때 동전 앞면과 주사위의 수자가 짝수가 나올 확률은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결합확률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)?</a:t>
            </a: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F26D2F1C-13C2-7A5E-20F8-DEC1B703D5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9996" y="2204864"/>
            <a:ext cx="6264696" cy="4277786"/>
          </a:xfrm>
          <a:prstGeom prst="rect">
            <a:avLst/>
          </a:prstGeom>
        </p:spPr>
      </p:pic>
      <p:sp>
        <p:nvSpPr>
          <p:cNvPr id="22" name="직사각형 21">
            <a:extLst>
              <a:ext uri="{FF2B5EF4-FFF2-40B4-BE49-F238E27FC236}">
                <a16:creationId xmlns:a16="http://schemas.microsoft.com/office/drawing/2014/main" id="{DF05CFF5-0ACF-1D02-6742-22846750DFB2}"/>
              </a:ext>
            </a:extLst>
          </p:cNvPr>
          <p:cNvSpPr/>
          <p:nvPr/>
        </p:nvSpPr>
        <p:spPr>
          <a:xfrm>
            <a:off x="3574132" y="3212976"/>
            <a:ext cx="648072" cy="50405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90E5466E-443E-A97E-011D-A08F7A137835}"/>
              </a:ext>
            </a:extLst>
          </p:cNvPr>
          <p:cNvSpPr/>
          <p:nvPr/>
        </p:nvSpPr>
        <p:spPr>
          <a:xfrm>
            <a:off x="3574132" y="4293096"/>
            <a:ext cx="648072" cy="50405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049B786E-AE08-9372-3173-F9EFFACDEE22}"/>
              </a:ext>
            </a:extLst>
          </p:cNvPr>
          <p:cNvSpPr/>
          <p:nvPr/>
        </p:nvSpPr>
        <p:spPr>
          <a:xfrm>
            <a:off x="3574132" y="5373216"/>
            <a:ext cx="648072" cy="50405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267234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973BAC-720D-87BB-EAA7-730F4625F2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7BD8E640-463B-7E86-FADD-2FC0076FE5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23</a:t>
            </a:fld>
            <a:endParaRPr lang="en-US" altLang="ko-KR" noProof="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864CA5-78A6-6583-F034-8DF3E7E2452D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결합확률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(joint distributions)</a:t>
            </a:r>
            <a:endParaRPr lang="ko-KR" altLang="en-US" sz="3200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F7D7DA8-EB40-CC7E-60ED-3BAE167DDC85}"/>
              </a:ext>
            </a:extLst>
          </p:cNvPr>
          <p:cNvSpPr txBox="1"/>
          <p:nvPr/>
        </p:nvSpPr>
        <p:spPr>
          <a:xfrm>
            <a:off x="338480" y="1005885"/>
            <a:ext cx="11588580" cy="415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동전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앞면과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주사위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1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나올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확률은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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1/2 * 1/6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동전과 주사위가 나올 확률을 곱한다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15C700C0-8873-0ACA-48DA-B76F580B0A2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77988" y="1963863"/>
            <a:ext cx="8052895" cy="43924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46105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54B49E-8DE0-447C-5C4F-CED65C3915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26BA9F5B-E661-1F9C-4100-D698438A5CC1}"/>
              </a:ext>
            </a:extLst>
          </p:cNvPr>
          <p:cNvSpPr/>
          <p:nvPr/>
        </p:nvSpPr>
        <p:spPr>
          <a:xfrm>
            <a:off x="549796" y="3762262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C9FA1B26-DC49-91C6-6DDB-18EF223A0E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24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FB17D90-540E-FE62-C6A0-B2BD4C0E315D}"/>
              </a:ext>
            </a:extLst>
          </p:cNvPr>
          <p:cNvSpPr txBox="1"/>
          <p:nvPr/>
        </p:nvSpPr>
        <p:spPr>
          <a:xfrm>
            <a:off x="1629916" y="620688"/>
            <a:ext cx="8928992" cy="5131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결합확률분포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(Joint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Probability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Distribution)</a:t>
            </a: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조건부확률분포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Distribution)</a:t>
            </a: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확률의 이해</a:t>
            </a:r>
            <a:endParaRPr lang="en-US" altLang="ko-KR" sz="2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문제풀이</a:t>
            </a:r>
            <a:endParaRPr lang="en-US" altLang="ko-KR" sz="2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buAutoNum type="arabicPeriod"/>
            </a:pPr>
            <a:endParaRPr lang="en-US" altLang="ko-KR" sz="2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>
              <a:lnSpc>
                <a:spcPct val="200000"/>
              </a:lnSpc>
            </a:pPr>
            <a:endParaRPr lang="ko-KR" altLang="en-US" sz="28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783400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22B9FD-6CF7-E754-B109-FC446EE034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9E5AD546-E2AE-DC45-4882-656344547B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25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1ACC3B7-FB12-6E26-92DE-A7C905718A63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  <a:r>
              <a:rPr lang="en-US" altLang="ko-KR" sz="3200" b="1" dirty="0"/>
              <a:t>(</a:t>
            </a:r>
            <a:r>
              <a:rPr lang="ko-KR" altLang="en-US" sz="3200" b="1" dirty="0"/>
              <a:t>시각화</a:t>
            </a:r>
            <a:r>
              <a:rPr lang="en-US" altLang="ko-KR" sz="3200" b="1" dirty="0"/>
              <a:t>, Data </a:t>
            </a:r>
            <a:r>
              <a:rPr lang="en-US" altLang="ko-KR" sz="3200" b="1" dirty="0" err="1"/>
              <a:t>Visulalization</a:t>
            </a:r>
            <a:r>
              <a:rPr lang="en-US" altLang="ko-KR" sz="3200" b="1" dirty="0"/>
              <a:t>)</a:t>
            </a:r>
            <a:endParaRPr lang="ko-KR" altLang="en-US" sz="32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2A5EE73-D32C-9EB5-7BF4-979657F5F594}"/>
              </a:ext>
            </a:extLst>
          </p:cNvPr>
          <p:cNvSpPr txBox="1"/>
          <p:nvPr/>
        </p:nvSpPr>
        <p:spPr>
          <a:xfrm>
            <a:off x="693811" y="1052736"/>
            <a:ext cx="10945216" cy="5063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값이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1, 2, 3, 4, 5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 각각의 데이터는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Cluster 1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중에 어디에 속할까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 시각화 그림에 대해 토론하라</a:t>
            </a: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98D7AB43-DF89-3BD3-85A6-F5BC7A6A23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3811" y="2132856"/>
            <a:ext cx="5174579" cy="4162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9398DCFD-949D-CDDA-D1EE-BC24E69F75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78060" y="2132856"/>
            <a:ext cx="4152856" cy="4162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11DEB08-E888-0609-EDF3-3513CEC998A0}"/>
              </a:ext>
            </a:extLst>
          </p:cNvPr>
          <p:cNvSpPr txBox="1"/>
          <p:nvPr/>
        </p:nvSpPr>
        <p:spPr>
          <a:xfrm>
            <a:off x="1172929" y="2428146"/>
            <a:ext cx="2689235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from </a:t>
            </a:r>
            <a:r>
              <a:rPr lang="en-US" altLang="ko-KR" sz="900" dirty="0" err="1">
                <a:solidFill>
                  <a:schemeClr val="bg1"/>
                </a:solidFill>
                <a:latin typeface="Arial Narrow" panose="020B0606020202030204" pitchFamily="34" charset="0"/>
              </a:rPr>
              <a:t>scipy.stats</a:t>
            </a:r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 import </a:t>
            </a:r>
            <a:r>
              <a:rPr lang="en-US" altLang="ko-KR" sz="900" dirty="0" err="1">
                <a:solidFill>
                  <a:schemeClr val="bg1"/>
                </a:solidFill>
                <a:latin typeface="Arial Narrow" panose="020B0606020202030204" pitchFamily="34" charset="0"/>
              </a:rPr>
              <a:t>multivariate_normal</a:t>
            </a:r>
            <a:endParaRPr lang="en-US" altLang="ko-KR" sz="900" dirty="0">
              <a:solidFill>
                <a:schemeClr val="bg1"/>
              </a:solidFill>
              <a:latin typeface="Arial Narrow" panose="020B0606020202030204" pitchFamily="34" charset="0"/>
            </a:endParaRPr>
          </a:p>
          <a:p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# </a:t>
            </a:r>
            <a:r>
              <a:rPr lang="ko-KR" altLang="en-US" sz="900" dirty="0">
                <a:solidFill>
                  <a:schemeClr val="bg1"/>
                </a:solidFill>
                <a:latin typeface="Arial Narrow" panose="020B0606020202030204" pitchFamily="34" charset="0"/>
              </a:rPr>
              <a:t>클러스터 </a:t>
            </a:r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1: </a:t>
            </a:r>
            <a:r>
              <a:rPr lang="ko-KR" altLang="en-US" sz="900" dirty="0">
                <a:solidFill>
                  <a:schemeClr val="bg1"/>
                </a:solidFill>
                <a:latin typeface="Arial Narrow" panose="020B0606020202030204" pitchFamily="34" charset="0"/>
              </a:rPr>
              <a:t>중심 </a:t>
            </a:r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(1, 1), </a:t>
            </a:r>
            <a:r>
              <a:rPr lang="ko-KR" altLang="en-US" sz="900" dirty="0">
                <a:solidFill>
                  <a:schemeClr val="bg1"/>
                </a:solidFill>
                <a:latin typeface="Arial Narrow" panose="020B0606020202030204" pitchFamily="34" charset="0"/>
              </a:rPr>
              <a:t>원형 분포 </a:t>
            </a:r>
            <a:endParaRPr lang="en-US" altLang="ko-KR" sz="900" dirty="0">
              <a:solidFill>
                <a:schemeClr val="bg1"/>
              </a:solidFill>
              <a:latin typeface="Arial Narrow" panose="020B0606020202030204" pitchFamily="34" charset="0"/>
            </a:endParaRPr>
          </a:p>
          <a:p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rv1 = </a:t>
            </a:r>
            <a:r>
              <a:rPr lang="en-US" altLang="ko-KR" sz="900" dirty="0" err="1">
                <a:solidFill>
                  <a:schemeClr val="bg1"/>
                </a:solidFill>
                <a:latin typeface="Arial Narrow" panose="020B0606020202030204" pitchFamily="34" charset="0"/>
              </a:rPr>
              <a:t>multivariate_normal</a:t>
            </a:r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([1, 1], [[0.5, 0], [0, 0.5]]) </a:t>
            </a:r>
          </a:p>
          <a:p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# </a:t>
            </a:r>
            <a:r>
              <a:rPr lang="ko-KR" altLang="en-US" sz="900" dirty="0">
                <a:solidFill>
                  <a:schemeClr val="bg1"/>
                </a:solidFill>
                <a:latin typeface="Arial Narrow" panose="020B0606020202030204" pitchFamily="34" charset="0"/>
              </a:rPr>
              <a:t>클러스터 </a:t>
            </a:r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2: </a:t>
            </a:r>
            <a:r>
              <a:rPr lang="ko-KR" altLang="en-US" sz="900" dirty="0">
                <a:solidFill>
                  <a:schemeClr val="bg1"/>
                </a:solidFill>
                <a:latin typeface="Arial Narrow" panose="020B0606020202030204" pitchFamily="34" charset="0"/>
              </a:rPr>
              <a:t>중심 </a:t>
            </a:r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(3, 3), </a:t>
            </a:r>
            <a:r>
              <a:rPr lang="ko-KR" altLang="en-US" sz="900" dirty="0">
                <a:solidFill>
                  <a:schemeClr val="bg1"/>
                </a:solidFill>
                <a:latin typeface="Arial Narrow" panose="020B0606020202030204" pitchFamily="34" charset="0"/>
              </a:rPr>
              <a:t>타원 분포 </a:t>
            </a:r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(</a:t>
            </a:r>
            <a:r>
              <a:rPr lang="ko-KR" altLang="en-US" sz="900" dirty="0">
                <a:solidFill>
                  <a:schemeClr val="bg1"/>
                </a:solidFill>
                <a:latin typeface="Arial Narrow" panose="020B0606020202030204" pitchFamily="34" charset="0"/>
              </a:rPr>
              <a:t>공분산 활용</a:t>
            </a:r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) </a:t>
            </a:r>
          </a:p>
          <a:p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rv2 = </a:t>
            </a:r>
            <a:r>
              <a:rPr lang="en-US" altLang="ko-KR" sz="900" dirty="0" err="1">
                <a:solidFill>
                  <a:schemeClr val="bg1"/>
                </a:solidFill>
                <a:latin typeface="Arial Narrow" panose="020B0606020202030204" pitchFamily="34" charset="0"/>
              </a:rPr>
              <a:t>multivariate_normal</a:t>
            </a:r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([3, 3], [[1.5, 0.8], [0.8, 0.6]]) </a:t>
            </a:r>
            <a:endParaRPr lang="ko-KR" altLang="en-US" sz="900" dirty="0">
              <a:solidFill>
                <a:schemeClr val="bg1"/>
              </a:solidFill>
              <a:latin typeface="Arial Narrow" panose="020B0606020202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531352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25FE7E-2B7D-A71D-4FD2-830B605E65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880AE1D-BFBF-DF84-0F66-5CF026310B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26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9AF0CA0-5595-AC6D-B083-3EBAE23A9614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  <a:r>
              <a:rPr lang="en-US" altLang="ko-KR" sz="3200" b="1" dirty="0"/>
              <a:t>(</a:t>
            </a:r>
            <a:r>
              <a:rPr lang="ko-KR" altLang="en-US" sz="3200" b="1" dirty="0"/>
              <a:t>시각화</a:t>
            </a:r>
            <a:r>
              <a:rPr lang="en-US" altLang="ko-KR" sz="3200" b="1" dirty="0"/>
              <a:t>, Data </a:t>
            </a:r>
            <a:r>
              <a:rPr lang="en-US" altLang="ko-KR" sz="3200" b="1" dirty="0" err="1"/>
              <a:t>Visulalization</a:t>
            </a:r>
            <a:r>
              <a:rPr lang="en-US" altLang="ko-KR" sz="3200" b="1" dirty="0"/>
              <a:t>)</a:t>
            </a:r>
            <a:endParaRPr lang="ko-KR" altLang="en-US" sz="32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7CB6E98-D7DF-2326-D250-C71DB2B73F1C}"/>
              </a:ext>
            </a:extLst>
          </p:cNvPr>
          <p:cNvSpPr txBox="1"/>
          <p:nvPr/>
        </p:nvSpPr>
        <p:spPr>
          <a:xfrm>
            <a:off x="909836" y="875966"/>
            <a:ext cx="10945216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값이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1,2, 3, 4, 5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 각각의 데이터는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Cluster 1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중에 어디에 속할까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 시각화 그림에 대해 토론하라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값이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일 경우 어디에 속하는지 수자로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확률로 제시할 수 있을까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962ADCD0-BC77-3149-39F3-DCDB650915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1764" y="2276872"/>
            <a:ext cx="4939310" cy="39732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F0163F9-90B9-A8F1-5718-71EF8A59C8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62364" y="2319014"/>
            <a:ext cx="6351438" cy="29821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1F4117D-32C9-4924-938F-DAEAFD3031F0}"/>
              </a:ext>
            </a:extLst>
          </p:cNvPr>
          <p:cNvSpPr txBox="1"/>
          <p:nvPr/>
        </p:nvSpPr>
        <p:spPr>
          <a:xfrm>
            <a:off x="5662363" y="5445224"/>
            <a:ext cx="6351437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Wingdings" panose="05000000000000000000" pitchFamily="2" charset="2"/>
              <a:buChar char="ü"/>
            </a:pPr>
            <a:r>
              <a:rPr lang="ko-KR" altLang="en-US" sz="1400" dirty="0" err="1"/>
              <a:t>러그</a:t>
            </a:r>
            <a:r>
              <a:rPr lang="ko-KR" altLang="en-US" sz="1400" dirty="0"/>
              <a:t> 플롯</a:t>
            </a:r>
            <a:r>
              <a:rPr lang="en-US" altLang="ko-KR" sz="1400" dirty="0"/>
              <a:t>(Rug Plot) : 2</a:t>
            </a:r>
            <a:r>
              <a:rPr lang="ko-KR" altLang="en-US" sz="1400" dirty="0"/>
              <a:t>차원 공간</a:t>
            </a:r>
            <a:r>
              <a:rPr lang="en-US" altLang="ko-KR" sz="1400" dirty="0"/>
              <a:t>(X, Y)</a:t>
            </a:r>
            <a:r>
              <a:rPr lang="ko-KR" altLang="en-US" sz="1400" dirty="0"/>
              <a:t>에 흩어져 있는 점들을 </a:t>
            </a:r>
            <a:r>
              <a:rPr lang="en-US" altLang="ko-KR" sz="1400" dirty="0"/>
              <a:t>Y</a:t>
            </a:r>
            <a:r>
              <a:rPr lang="ko-KR" altLang="en-US" sz="1400" dirty="0"/>
              <a:t>축 값을 무시하고 </a:t>
            </a:r>
            <a:r>
              <a:rPr lang="en-US" altLang="ko-KR" sz="1400" dirty="0"/>
              <a:t>X</a:t>
            </a:r>
            <a:r>
              <a:rPr lang="ko-KR" altLang="en-US" sz="1400" dirty="0"/>
              <a:t>축 바닥으로 뚝 떨어뜨려</a:t>
            </a:r>
            <a:r>
              <a:rPr lang="en-US" altLang="ko-KR" sz="1400" dirty="0"/>
              <a:t>(</a:t>
            </a:r>
            <a:r>
              <a:rPr lang="ko-KR" altLang="en-US" sz="1400" dirty="0"/>
              <a:t>투영시켜</a:t>
            </a:r>
            <a:r>
              <a:rPr lang="en-US" altLang="ko-KR" sz="1400" dirty="0"/>
              <a:t>), </a:t>
            </a:r>
            <a:r>
              <a:rPr lang="ko-KR" altLang="en-US" sz="1400" dirty="0"/>
              <a:t>실제 데이터가 어느 지점에 밀집해 있는지를 직선상의 눈금으로 표시</a:t>
            </a:r>
          </a:p>
        </p:txBody>
      </p:sp>
    </p:spTree>
    <p:extLst>
      <p:ext uri="{BB962C8B-B14F-4D97-AF65-F5344CB8AC3E}">
        <p14:creationId xmlns:p14="http://schemas.microsoft.com/office/powerpoint/2010/main" val="2989907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3DB2DCB-C9C7-FFF3-803D-5C78FEB198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27</a:t>
            </a:fld>
            <a:endParaRPr lang="en-US" altLang="ko-KR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3666163-F6F1-738E-3F66-6669CD9B676E}"/>
              </a:ext>
            </a:extLst>
          </p:cNvPr>
          <p:cNvSpPr txBox="1"/>
          <p:nvPr/>
        </p:nvSpPr>
        <p:spPr>
          <a:xfrm>
            <a:off x="765820" y="1196752"/>
            <a:ext cx="11233248" cy="69705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Kaggle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alone-in-the-woods-using-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theil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-s-u-for-survival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참고하여 아래 데이터를 바탕으로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target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성별로 하고 다른 모든 변수를 입력변수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(Input)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하여 상관관계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실수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범주 모두 포함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아래와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같이 구하고 결과를 토론하라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BF51B27-8096-A2B2-E88A-5F08FD136A69}"/>
              </a:ext>
            </a:extLst>
          </p:cNvPr>
          <p:cNvSpPr txBox="1"/>
          <p:nvPr/>
        </p:nvSpPr>
        <p:spPr>
          <a:xfrm>
            <a:off x="117748" y="260648"/>
            <a:ext cx="525658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  <a:r>
              <a:rPr lang="en-US" altLang="ko-KR" sz="3200" b="1" dirty="0"/>
              <a:t>(Option)</a:t>
            </a:r>
            <a:endParaRPr lang="ko-KR" altLang="en-US" sz="3200" b="1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5208EB97-D75C-37B9-BF3B-39DC3F52EA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0169" y="2760332"/>
            <a:ext cx="10114904" cy="20229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9FE2F4D8-5C8D-3D53-0E7C-5E89E4BD12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646" y="5088070"/>
            <a:ext cx="10525532" cy="9431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E89525C-C7A0-A806-EA78-271C51F864A5}"/>
              </a:ext>
            </a:extLst>
          </p:cNvPr>
          <p:cNvSpPr txBox="1"/>
          <p:nvPr/>
        </p:nvSpPr>
        <p:spPr>
          <a:xfrm>
            <a:off x="765067" y="4762947"/>
            <a:ext cx="611392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https://github.com/ancestor9/data/blob/main/customers.csv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6639365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B51A57-7963-F069-6B19-C29EE8FDC6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8B301409-FC0B-93A1-E3C6-44BC789229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28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F30D26D-A9D0-2236-36E0-A89E242D0C0C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  <a:r>
              <a:rPr lang="en-US" altLang="ko-KR" sz="3200" b="1" dirty="0"/>
              <a:t>(</a:t>
            </a:r>
            <a:r>
              <a:rPr lang="ko-KR" altLang="en-US" sz="3200" b="1" dirty="0"/>
              <a:t>시각화</a:t>
            </a:r>
            <a:r>
              <a:rPr lang="en-US" altLang="ko-KR" sz="3200" b="1" dirty="0"/>
              <a:t>, Data </a:t>
            </a:r>
            <a:r>
              <a:rPr lang="en-US" altLang="ko-KR" sz="3200" b="1" dirty="0" err="1"/>
              <a:t>Visulalization</a:t>
            </a:r>
            <a:r>
              <a:rPr lang="en-US" altLang="ko-KR" sz="3200" b="1" dirty="0"/>
              <a:t>)</a:t>
            </a:r>
            <a:endParaRPr lang="ko-KR" altLang="en-US" sz="3200" b="1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39087298-9315-D2FD-7110-FBB0AC9CF6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7868" y="1412775"/>
            <a:ext cx="5112568" cy="51478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EA7B01D-0855-07B6-72C7-06A99023DDC7}"/>
              </a:ext>
            </a:extLst>
          </p:cNvPr>
          <p:cNvSpPr txBox="1"/>
          <p:nvPr/>
        </p:nvSpPr>
        <p:spPr>
          <a:xfrm>
            <a:off x="1169518" y="1043443"/>
            <a:ext cx="550095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https://seaborn.pydata.org/examples/joint_kde.html</a:t>
            </a:r>
            <a:r>
              <a:rPr lang="en-US" altLang="ko-KR" sz="1400" dirty="0"/>
              <a:t> </a:t>
            </a:r>
            <a:endParaRPr lang="ko-KR" altLang="en-US" sz="1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D119D07-2A4F-882B-ECB2-939FE65B77D8}"/>
              </a:ext>
            </a:extLst>
          </p:cNvPr>
          <p:cNvSpPr txBox="1"/>
          <p:nvPr/>
        </p:nvSpPr>
        <p:spPr>
          <a:xfrm>
            <a:off x="6814492" y="1517966"/>
            <a:ext cx="5256584" cy="42458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변수명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“species”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범주형 값을 기준으로 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x,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축의 각각 변수의 평균과 분산을 구하라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x,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의 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변수간의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공분산을 구하라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분산이나 공분산이 커지면 모양새는 어떻게 변하나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낙도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(remote island)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무엇인가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팽권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3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종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(species)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분류하기에 가장 좋은 변수는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x, y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중에서 무엇인지 결정하라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분류를 결정하는 변수의 어떤 특정 값이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종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(species)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분류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(classification)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하는데 최적인가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657086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마케팅 16x9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13666154_TF02801084.potx" id="{B893C259-098E-47F8-8877-587E0721A18C}" vid="{F842517E-B3F6-4577-896B-5E1D47976B3A}"/>
    </a:ext>
  </a:extLst>
</a:theme>
</file>

<file path=ppt/theme/theme2.xml><?xml version="1.0" encoding="utf-8"?>
<a:theme xmlns:a="http://schemas.openxmlformats.org/drawingml/2006/main" name="Office 테마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A3F7D94069FF64A86F7DFF56D60E3BE" ma:contentTypeVersion="6" ma:contentTypeDescription="Create a new document." ma:contentTypeScope="" ma:versionID="c32302c77d4085ecf495bdddb7f5e889">
  <xsd:schema xmlns:xsd="http://www.w3.org/2001/XMLSchema" xmlns:xs="http://www.w3.org/2001/XMLSchema" xmlns:p="http://schemas.microsoft.com/office/2006/metadata/properties" xmlns:ns2="a4f35948-e619-41b3-aa29-22878b09cfd2" xmlns:ns3="40262f94-9f35-4ac3-9a90-690165a166b7" targetNamespace="http://schemas.microsoft.com/office/2006/metadata/properties" ma:root="true" ma:fieldsID="4ab5ae46be95f9d0be6107e8200be7a2" ns2:_="" ns3:_="">
    <xsd:import namespace="a4f35948-e619-41b3-aa29-22878b09cfd2"/>
    <xsd:import namespace="40262f94-9f35-4ac3-9a90-690165a166b7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VSO_x0020_item_x0020_id" minOccurs="0"/>
                <xsd:element ref="ns3:Item_x0020_Details" minOccurs="0"/>
                <xsd:element ref="ns3:Template_x0020_details" minOccurs="0"/>
                <xsd:element ref="ns3:Assetid_x0020_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4f35948-e619-41b3-aa29-22878b09cfd2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0262f94-9f35-4ac3-9a90-690165a166b7" elementFormDefault="qualified">
    <xsd:import namespace="http://schemas.microsoft.com/office/2006/documentManagement/types"/>
    <xsd:import namespace="http://schemas.microsoft.com/office/infopath/2007/PartnerControls"/>
    <xsd:element name="VSO_x0020_item_x0020_id" ma:index="10" nillable="true" ma:displayName="VSO item id" ma:description="Please add the bug number to refer to VSO items." ma:internalName="VSO_x0020_item_x0020_id">
      <xsd:simpleType>
        <xsd:restriction base="dms:Text">
          <xsd:maxLength value="255"/>
        </xsd:restriction>
      </xsd:simpleType>
    </xsd:element>
    <xsd:element name="Item_x0020_Details" ma:index="11" nillable="true" ma:displayName="Item Details" ma:internalName="Item_x0020_Details">
      <xsd:simpleType>
        <xsd:restriction base="dms:Note">
          <xsd:maxLength value="255"/>
        </xsd:restriction>
      </xsd:simpleType>
    </xsd:element>
    <xsd:element name="Template_x0020_details" ma:index="12" nillable="true" ma:displayName="Template details" ma:internalName="Template_x0020_details">
      <xsd:simpleType>
        <xsd:restriction base="dms:Text"/>
      </xsd:simpleType>
    </xsd:element>
    <xsd:element name="Assetid_x0020_" ma:index="13" nillable="true" ma:displayName="Assetid " ma:internalName="Assetid_x0020_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VSO_x0020_item_x0020_id xmlns="40262f94-9f35-4ac3-9a90-690165a166b7" xsi:nil="true"/>
    <Assetid_x0020_ xmlns="40262f94-9f35-4ac3-9a90-690165a166b7" xsi:nil="true"/>
    <Item_x0020_Details xmlns="40262f94-9f35-4ac3-9a90-690165a166b7" xsi:nil="true"/>
    <Template_x0020_details xmlns="40262f94-9f35-4ac3-9a90-690165a166b7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CCB2C71-1ED8-4540-B003-293B5E75C71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4f35948-e619-41b3-aa29-22878b09cfd2"/>
    <ds:schemaRef ds:uri="40262f94-9f35-4ac3-9a90-690165a166b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0AACE6D-8EB6-447A-8DFD-C2C0C52916AC}">
  <ds:schemaRefs>
    <ds:schemaRef ds:uri="http://purl.org/dc/elements/1.1/"/>
    <ds:schemaRef ds:uri="http://purl.org/dc/terms/"/>
    <ds:schemaRef ds:uri="http://schemas.microsoft.com/office/2006/metadata/properties"/>
    <ds:schemaRef ds:uri="a4f35948-e619-41b3-aa29-22878b09cfd2"/>
    <ds:schemaRef ds:uri="http://schemas.microsoft.com/office/infopath/2007/PartnerControls"/>
    <ds:schemaRef ds:uri="http://schemas.microsoft.com/office/2006/documentManagement/types"/>
    <ds:schemaRef ds:uri="http://schemas.openxmlformats.org/package/2006/metadata/core-properties"/>
    <ds:schemaRef ds:uri="40262f94-9f35-4ac3-9a90-690165a166b7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7F9B8BCC-BF24-4800-92E1-9F891BBB27E6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유리 건물 배경의 비즈니스 마케팅 프레젠테이션(와이드스크린)</Template>
  <TotalTime>1710</TotalTime>
  <Words>1170</Words>
  <Application>Microsoft Office PowerPoint</Application>
  <PresentationFormat>사용자 지정</PresentationFormat>
  <Paragraphs>159</Paragraphs>
  <Slides>28</Slides>
  <Notes>27</Notes>
  <HiddenSlides>0</HiddenSlides>
  <MMClips>0</MMClips>
  <ScaleCrop>false</ScaleCrop>
  <HeadingPairs>
    <vt:vector size="6" baseType="variant">
      <vt:variant>
        <vt:lpstr>사용한 글꼴</vt:lpstr>
      </vt:variant>
      <vt:variant>
        <vt:i4>12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28</vt:i4>
      </vt:variant>
    </vt:vector>
  </HeadingPairs>
  <TitlesOfParts>
    <vt:vector size="41" baseType="lpstr">
      <vt:lpstr>맑은 고딕</vt:lpstr>
      <vt:lpstr>맑은 고딕 Semilight</vt:lpstr>
      <vt:lpstr>한컴 말랑말랑 Bold</vt:lpstr>
      <vt:lpstr>휴먼모음T</vt:lpstr>
      <vt:lpstr>ADLaM Display</vt:lpstr>
      <vt:lpstr>Arial</vt:lpstr>
      <vt:lpstr>Arial Narrow</vt:lpstr>
      <vt:lpstr>Britannic Bold</vt:lpstr>
      <vt:lpstr>Calibri Light</vt:lpstr>
      <vt:lpstr>Cambria</vt:lpstr>
      <vt:lpstr>Corbel</vt:lpstr>
      <vt:lpstr>Wingdings</vt:lpstr>
      <vt:lpstr>마케팅 16x9</vt:lpstr>
      <vt:lpstr>통계와 확률  - 확률론에 들어가기 - 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ADsP 특강   2024_Summer</dc:title>
  <dc:creator>조상구</dc:creator>
  <cp:lastModifiedBy>Sanggoo Cho</cp:lastModifiedBy>
  <cp:revision>46</cp:revision>
  <dcterms:created xsi:type="dcterms:W3CDTF">2024-06-03T06:10:16Z</dcterms:created>
  <dcterms:modified xsi:type="dcterms:W3CDTF">2026-03-20T22:34:41Z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ternalTags">
    <vt:lpwstr/>
  </property>
  <property fmtid="{D5CDD505-2E9C-101B-9397-08002B2CF9AE}" pid="3" name="ContentTypeId">
    <vt:lpwstr>0x010100AA3F7D94069FF64A86F7DFF56D60E3BE</vt:lpwstr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ScenarioTags">
    <vt:lpwstr/>
  </property>
  <property fmtid="{D5CDD505-2E9C-101B-9397-08002B2CF9AE}" pid="7" name="CampaignTags">
    <vt:lpwstr/>
  </property>
</Properties>
</file>