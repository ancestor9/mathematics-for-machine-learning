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34"/>
  </p:notesMasterIdLst>
  <p:handoutMasterIdLst>
    <p:handoutMasterId r:id="rId35"/>
  </p:handoutMasterIdLst>
  <p:sldIdLst>
    <p:sldId id="256" r:id="rId5"/>
    <p:sldId id="324" r:id="rId6"/>
    <p:sldId id="338" r:id="rId7"/>
    <p:sldId id="302" r:id="rId8"/>
    <p:sldId id="340" r:id="rId9"/>
    <p:sldId id="347" r:id="rId10"/>
    <p:sldId id="349" r:id="rId11"/>
    <p:sldId id="341" r:id="rId12"/>
    <p:sldId id="342" r:id="rId13"/>
    <p:sldId id="343" r:id="rId14"/>
    <p:sldId id="345" r:id="rId15"/>
    <p:sldId id="346" r:id="rId16"/>
    <p:sldId id="344" r:id="rId17"/>
    <p:sldId id="326" r:id="rId18"/>
    <p:sldId id="329" r:id="rId19"/>
    <p:sldId id="308" r:id="rId20"/>
    <p:sldId id="330" r:id="rId21"/>
    <p:sldId id="348" r:id="rId22"/>
    <p:sldId id="331" r:id="rId23"/>
    <p:sldId id="335" r:id="rId24"/>
    <p:sldId id="336" r:id="rId25"/>
    <p:sldId id="327" r:id="rId26"/>
    <p:sldId id="328" r:id="rId27"/>
    <p:sldId id="332" r:id="rId28"/>
    <p:sldId id="270" r:id="rId29"/>
    <p:sldId id="334" r:id="rId30"/>
    <p:sldId id="333" r:id="rId31"/>
    <p:sldId id="337" r:id="rId32"/>
    <p:sldId id="312" r:id="rId33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 horzBarState="maximized">
    <p:restoredLeft sz="8673" autoAdjust="0"/>
    <p:restoredTop sz="94660"/>
  </p:normalViewPr>
  <p:slideViewPr>
    <p:cSldViewPr>
      <p:cViewPr varScale="1">
        <p:scale>
          <a:sx n="110" d="100"/>
          <a:sy n="110" d="100"/>
        </p:scale>
        <p:origin x="996" y="114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ableStyles" Target="tableStyles.xml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2026-03-24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2026-03-24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D3B65B-4D46-A4B6-4A55-CF7F725D8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EC8E50-C409-8198-1011-7B049358C5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EBC7159-0CFA-4FF6-3C88-1A3B88DBE0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F161A9-E2C3-ED47-AF62-F9F2270176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7275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B5FEA8-EC05-73F5-A0EE-A91BF9812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A6C3209-2357-5ACF-2202-D54B7D71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642F0-A7DB-6287-60F9-78806E4AE3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B3EDCE-8D13-18A3-1D4E-CF7160507F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95105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0A826-7FE2-3F7D-9283-FAF6D13053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448CFC-448A-2634-6548-6E7CE2607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6286E9-0EA3-AB3D-2263-D8DD3F483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A550C5-9CCC-0B92-3694-E327587CBB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70387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6209C-0183-4045-FDF0-C7DCBDA4F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63F8734-82DB-BF23-C798-DD3B47DB47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BE339CF-C307-706C-BF73-EAE540CE5B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850BCB-255F-06D5-FC44-87040ECD55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43597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06B7C4-6B22-901B-F825-A824B405E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84AD062-B384-1024-331F-3152F7939F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BBD570-7C71-24A8-ED75-A2526762F1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58F32D-3EA1-CF1C-E5DE-4D182922A4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4558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60EE6-A90E-779A-C39C-61AB287CD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BBC9997-50DC-F7E3-30DE-762561C5DA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4A41085-05F1-6D7D-EF1A-00C8C0AD22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DE47-393B-9601-37DA-B1C08064DC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93042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B54B5-590A-2479-5223-33883286D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1FB4FA-2D77-F113-2E39-921529EDA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CB6119-00F8-12BA-16DA-85CC1E3BB9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1E365D-FE81-1932-B100-D8C6516292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608951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B32FB-3EB0-AEBC-E40F-BB33BC9FB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4E683-FE2F-BB63-1EB7-864D91D471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291276-1DA3-899E-6069-E2B42996E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AFABCD-20B6-37FA-41D5-F50DF3BD65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994556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64BAA-A917-A39A-1229-BCCAA2E1A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C090AB-C752-2E42-A6BB-40D09D7F66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A4F9E0-DE04-E22E-C490-7B3A708DBC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931026-CACC-B009-6F0E-0E370FCFBD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615352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44F873-EB0E-28FA-E976-8EF0A488E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2037E07-5777-D234-DA19-41F1575DAD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B8513D8-E2AB-E367-5122-73F0F8CECD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5BE07F-8370-13D0-C9F3-F9E1E23CB9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16467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2E22F-006A-C137-73D0-37043EFCE0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5475C01-7D6A-3A67-C950-C71725D262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F48C6-8DFC-F9C2-8200-5015F5A2F7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BA67BF-4A4B-69F5-3BEF-F67995ACBE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088347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47F29-903A-491E-F84E-ACD475DBC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F54D30-5558-16BE-5C29-BD697440D8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3B9D372-E36C-03F3-E4EF-9A11D6FC6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ADE4FF-1675-7A3B-A914-A051B340FCB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965029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C8F37-DCD9-3001-E354-B3A6D1C1C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6D4E07-A396-E1F7-0919-72AF00F192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C8E06E1-13C1-3C32-46CB-92506A498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1BFDC5-8668-119F-E940-FF2F60314D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75713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1F81B-CB31-7520-3EE7-553AF46795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91870D-CD75-0D49-61BE-5E9670316B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7407D5D-B6CF-0255-CFC3-2D0990AEB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A7FF11-BC9D-81CC-28FB-6E8527DCB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012160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1111-0F2C-72CD-1A8C-DE20D134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D0A8F7-D3A7-3B77-DA76-D13BEAE2D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0989BA-EE78-7BC1-B768-664079BC9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AB258-08B6-57BF-2449-3EC2E44E8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2516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0EC47-9CD8-DDD5-55D5-6A5F0347C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401884-EDA3-A271-1C7E-4E8285FDA7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7D7E2C4-3994-5C5F-CABE-D9AF20D5B4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3B9912-1704-9F51-F3D8-B86D2186D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0928740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4D940-BD86-710D-519E-67576F279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3D038E-5311-6753-299B-E13C35A66C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5451F1E-F5C9-D7AF-69EE-6EDEBB411A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9B04E0-C7F2-16E6-B10B-929DE3072A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98636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6CDCA-6759-158B-FF35-AF6DE0896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3944C0-1525-8E80-31F9-84E93B491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62DCD89-100B-5F15-9D63-96D442C6EE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D52EE5-4C62-D3FF-3EEA-65CD47D0D9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565974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0E1F09-E2C8-8475-47B1-046C6489A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1838990-C365-4179-E346-19C666824F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D8B74B-485A-5956-8457-269AA6291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1334D6-1008-7EC8-0C59-18777F82AD5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183885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1278CA-85C2-18FE-41A1-D8560AD73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6BD485-86AD-19FF-DDF5-2F7852062C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368EA6-9964-3275-3D30-7C589B055F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8F715A-8D61-45C8-FCE5-090EAE16F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78384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E90-FAFD-AE47-A6A5-531D881A9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993C63-FB60-385C-14CA-73D0BB0171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E839F2-E212-8AC2-F32C-6F9172D329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134C51-FD7A-5D59-88E9-AF826AE931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871019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DE1C92-92CB-6BE8-4DA6-052441C6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3CDCE9D-CF12-F6D3-37E2-0B82EF8C6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DA9FEB9-C7EF-D5D2-7C18-BC3EB56954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5D5893-CE19-500D-2558-5CF1341FC5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311370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E576F-1D01-3984-7371-93D37058F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F6FBFDE-1441-1A58-B6CF-124A0B8D3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C1F405-621A-0C48-99FD-416192F57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309E8A-9401-0798-4930-F922ADFBEF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55552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0D87D-17A6-9E3E-F9D9-AA8ED3B44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17F3C4-094D-0782-2A84-5153DF6BC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5B08AE-B15A-DBDA-62FA-019223FA3D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754-A92A-CA6A-D941-D6E4E4C14C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58364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F68EC-F2DC-26A8-D8E8-8A5DA29E5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F9880A-1140-0FAA-D484-DC44C6A24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5CE6730-D7DF-5F69-282A-BB7C916ADA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AE3FBA-3D16-082D-CFFC-413BA1B40A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1986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FDBB8-704B-8B99-372F-1580163D1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6F89D06-3D3E-AE0D-8D6A-24E77B82AC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8F4474-360F-218E-C458-6B1616363F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AEB69F-4B0E-07A1-756A-77225AF22B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552899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B38D4-2033-D269-92E2-472DD489A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FF330B-E197-FC28-0494-06EAABC3FB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58F670-6DD6-E601-1D5C-5E78E0C029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59EA6E-ACE1-35DA-C0A0-227592EE1A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40312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2026-03-24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2026-03-24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2026-03-24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Sunrise_problem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cikit-learn.org/stable/auto_examples/neighbors/plot_kde_1d.html" TargetMode="Externa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neighbors.KernelDensity.html#sklearn.neighbors.KernelDensity" TargetMode="External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seaborn.pydata.org/examples/layered_bivariate_plot.html" TargetMode="External"/><Relationship Id="rId3" Type="http://schemas.openxmlformats.org/officeDocument/2006/relationships/image" Target="../media/image18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regression_marginals.html" TargetMode="External"/><Relationship Id="rId5" Type="http://schemas.openxmlformats.org/officeDocument/2006/relationships/image" Target="../media/image19.png"/><Relationship Id="rId4" Type="http://schemas.openxmlformats.org/officeDocument/2006/relationships/hyperlink" Target="https://seaborn.pydata.org/examples/marginal_ticks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gi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g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gif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gi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unsupervised_learning.html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hyperlink" Target="https://seaborn.pydata.org/examples/joint_histogram.html" TargetMode="Externa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hexbin_marginals.html" TargetMode="External"/><Relationship Id="rId5" Type="http://schemas.openxmlformats.org/officeDocument/2006/relationships/image" Target="../media/image32.png"/><Relationship Id="rId4" Type="http://schemas.openxmlformats.org/officeDocument/2006/relationships/hyperlink" Target="https://seaborn.pydata.org/examples/scatterplot_matrix.html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hexbin_marginals.html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eaborn.pydata.org/examples/smooth_bivariate_kde.html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eaborn.pydata.org/examples/joint_kde.html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통계와 확률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/>
              <a:t>확률론에 들어가기 </a:t>
            </a:r>
            <a:r>
              <a:rPr lang="en-US" altLang="ko-KR" sz="24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90E2C1-BB1A-4FCC-4EBC-8B540F598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F241B0-03F6-4174-6351-DEA7C3022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022206E1-D9B3-1443-9A14-8F8C599535EA}"/>
              </a:ext>
            </a:extLst>
          </p:cNvPr>
          <p:cNvGrpSpPr/>
          <p:nvPr/>
        </p:nvGrpSpPr>
        <p:grpSpPr>
          <a:xfrm>
            <a:off x="1053852" y="1955011"/>
            <a:ext cx="10233947" cy="3778251"/>
            <a:chOff x="468977" y="832988"/>
            <a:chExt cx="11242060" cy="4180190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913BA925-346A-92DA-54AD-5E1487C17764}"/>
                </a:ext>
              </a:extLst>
            </p:cNvPr>
            <p:cNvGrpSpPr/>
            <p:nvPr/>
          </p:nvGrpSpPr>
          <p:grpSpPr>
            <a:xfrm>
              <a:off x="468977" y="832988"/>
              <a:ext cx="11242060" cy="4180190"/>
              <a:chOff x="-1551175" y="1060752"/>
              <a:chExt cx="9890065" cy="3159825"/>
            </a:xfrm>
          </p:grpSpPr>
          <p:sp>
            <p:nvSpPr>
              <p:cNvPr id="2" name="AutoShape 2" descr="숲 한가운데에 있는 형형색색의 나무들판">
                <a:extLst>
                  <a:ext uri="{FF2B5EF4-FFF2-40B4-BE49-F238E27FC236}">
                    <a16:creationId xmlns:a16="http://schemas.microsoft.com/office/drawing/2014/main" id="{92ADEB6C-595F-D022-1FA7-A6F276B90DD4}"/>
                  </a:ext>
                </a:extLst>
              </p:cNvPr>
              <p:cNvSpPr>
                <a:spLocks noChangeAspect="1" noChangeArrowheads="1"/>
              </p:cNvSpPr>
              <p:nvPr/>
            </p:nvSpPr>
            <p:spPr bwMode="auto">
              <a:xfrm>
                <a:off x="5942013" y="3276600"/>
                <a:ext cx="304800" cy="3048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ko-KR" altLang="en-US"/>
              </a:p>
            </p:txBody>
          </p:sp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A7DE69F3-CDFE-C669-D1BA-FDE0CCD5E7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1551175" y="1390154"/>
                <a:ext cx="4608510" cy="2830423"/>
              </a:xfrm>
              <a:prstGeom prst="rect">
                <a:avLst/>
              </a:prstGeom>
            </p:spPr>
          </p:pic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418EE12F-0606-75E2-2B43-F3AFCA4558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662365" y="3077522"/>
                <a:ext cx="2676525" cy="1143055"/>
              </a:xfrm>
              <a:prstGeom prst="rect">
                <a:avLst/>
              </a:prstGeom>
            </p:spPr>
          </p:pic>
          <p:pic>
            <p:nvPicPr>
              <p:cNvPr id="1032" name="Picture 8" descr="베이즈 정리(Bayes' Theorem)의 정의와 의미">
                <a:extLst>
                  <a:ext uri="{FF2B5EF4-FFF2-40B4-BE49-F238E27FC236}">
                    <a16:creationId xmlns:a16="http://schemas.microsoft.com/office/drawing/2014/main" id="{B067FD7D-5954-1B2D-36F6-A25C17C1F9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662365" y="1060752"/>
                <a:ext cx="2676525" cy="17145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09C1E87A-9767-8287-7253-CF05F7BA0A5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07481" y="1268760"/>
              <a:ext cx="3020609" cy="3744416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584390B-04B7-B557-EA80-3E403DB78D61}"/>
              </a:ext>
            </a:extLst>
          </p:cNvPr>
          <p:cNvSpPr txBox="1"/>
          <p:nvPr/>
        </p:nvSpPr>
        <p:spPr>
          <a:xfrm>
            <a:off x="1053852" y="938799"/>
            <a:ext cx="10301549" cy="871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Cambria" panose="02040503050406030204" pitchFamily="18" charset="0"/>
                <a:ea typeface="Cambria" panose="02040503050406030204" pitchFamily="18" charset="0"/>
              </a:rPr>
              <a:t>"</a:t>
            </a:r>
            <a:r>
              <a:rPr lang="ko-KR" altLang="en-US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사실이 바뀌면</a:t>
            </a:r>
            <a:r>
              <a:rPr lang="en-US" altLang="ko-KR" b="1" dirty="0">
                <a:latin typeface="Cambria" panose="02040503050406030204" pitchFamily="18" charset="0"/>
                <a:ea typeface="Cambria" panose="02040503050406030204" pitchFamily="18" charset="0"/>
              </a:rPr>
              <a:t>, </a:t>
            </a:r>
            <a:r>
              <a:rPr lang="ko-KR" altLang="en-US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나는 생각을 바꿉니다</a:t>
            </a:r>
            <a:r>
              <a:rPr lang="en-US" altLang="ko-KR" b="1" dirty="0">
                <a:latin typeface="Cambria" panose="02040503050406030204" pitchFamily="18" charset="0"/>
                <a:ea typeface="Cambria" panose="02040503050406030204" pitchFamily="18" charset="0"/>
              </a:rPr>
              <a:t>. </a:t>
            </a:r>
            <a:r>
              <a:rPr lang="ko-KR" altLang="en-US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당신은 어떻게 하십니까</a:t>
            </a:r>
            <a:r>
              <a:rPr lang="en-US" altLang="ko-KR" b="1" dirty="0">
                <a:latin typeface="Cambria" panose="02040503050406030204" pitchFamily="18" charset="0"/>
                <a:ea typeface="Cambria" panose="02040503050406030204" pitchFamily="18" charset="0"/>
              </a:rPr>
              <a:t>?"</a:t>
            </a:r>
            <a:endParaRPr lang="ko-KR" altLang="en-US" dirty="0">
              <a:latin typeface="Cambria" panose="02040503050406030204" pitchFamily="18" charset="0"/>
              <a:ea typeface="LG Smart UI Light" panose="020B0300000101010101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ko-KR" altLang="en-US" b="1" dirty="0">
                <a:latin typeface="Cambria" panose="02040503050406030204" pitchFamily="18" charset="0"/>
                <a:ea typeface="LG Smart UI Light" panose="020B0300000101010101" pitchFamily="50" charset="-127"/>
              </a:rPr>
              <a:t>“</a:t>
            </a:r>
            <a:r>
              <a:rPr lang="en-US" altLang="ko-KR" b="1" dirty="0">
                <a:latin typeface="Cambria" panose="02040503050406030204" pitchFamily="18" charset="0"/>
                <a:ea typeface="Cambria" panose="02040503050406030204" pitchFamily="18" charset="0"/>
              </a:rPr>
              <a:t>When the facts change, I change my mind. What do you do, sir?”   - Keynes, Economist</a:t>
            </a:r>
            <a:endParaRPr lang="en-US" altLang="ko-KR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109077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5A24-82DF-449D-2B2D-95454CE20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28C64F-9D89-54F0-37FA-27D8C00B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630866-87BA-AFD5-382F-50D5BE9390CE}"/>
              </a:ext>
            </a:extLst>
          </p:cNvPr>
          <p:cNvSpPr txBox="1"/>
          <p:nvPr/>
        </p:nvSpPr>
        <p:spPr>
          <a:xfrm>
            <a:off x="189756" y="319087"/>
            <a:ext cx="10225136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던지기를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/>
              <a:t>사용자가 직접 실제 동전의 확률과 시행 횟수를 조절하며 나의 믿음이 변하는 업데이트 과정을 실시간으로 관찰하게 </a:t>
            </a:r>
            <a:r>
              <a:rPr lang="en-US" altLang="ko-KR" sz="1600" dirty="0" err="1"/>
              <a:t>gradio</a:t>
            </a:r>
            <a:r>
              <a:rPr lang="ko-KR" altLang="en-US" sz="1600" dirty="0"/>
              <a:t> </a:t>
            </a:r>
            <a:r>
              <a:rPr lang="en-US" altLang="ko-KR" sz="1600" dirty="0"/>
              <a:t>UI</a:t>
            </a:r>
            <a:r>
              <a:rPr lang="ko-KR" altLang="en-US" sz="1600" dirty="0"/>
              <a:t>로 만들어 코드를 </a:t>
            </a:r>
            <a:r>
              <a:rPr lang="en-US" altLang="ko-KR" sz="1600" dirty="0"/>
              <a:t>Deploy</a:t>
            </a:r>
            <a:r>
              <a:rPr lang="ko-KR" altLang="en-US" sz="1600" dirty="0"/>
              <a:t>하고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실험을 바탕으로</a:t>
            </a:r>
            <a:r>
              <a:rPr lang="en-US" altLang="ko-KR" sz="1600" dirty="0"/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한강에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가장 큰 물고기의 크기는 몇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cm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본인의 실제 체험으로 대답하라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C62203-0371-F9F6-8F12-C596F99957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5860" y="1897934"/>
            <a:ext cx="9001000" cy="4329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44707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30008-E652-FD55-A1CF-7261BC14A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845F44B-D853-EA00-45FD-0D2DE87EA5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64E74C1-BB80-2DC1-32A9-30194E495362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지구의 나이는 </a:t>
            </a:r>
            <a:r>
              <a:rPr lang="ko-KR" altLang="en-US" sz="2000" dirty="0"/>
              <a:t>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45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억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4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천만년 이다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내일 해가 뜰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2D3492-9475-65D6-5F62-64413CD930A5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C170792-96F2-75E9-8112-7A784CED41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5860" y="2210192"/>
            <a:ext cx="5655120" cy="3641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CC548AE-6F75-4DDA-684C-2BC854639F3E}"/>
              </a:ext>
            </a:extLst>
          </p:cNvPr>
          <p:cNvSpPr txBox="1"/>
          <p:nvPr/>
        </p:nvSpPr>
        <p:spPr>
          <a:xfrm>
            <a:off x="7174532" y="2210193"/>
            <a:ext cx="3240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Sunrise_problem</a:t>
            </a:r>
            <a:endParaRPr lang="ko-KR" alt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4161207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3B0B1-AC43-276B-0D54-6930E9688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A7E9029-7CE6-C1E0-0D99-332796148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2307B2-E487-A983-92DA-289CC6D0FD3B}"/>
              </a:ext>
            </a:extLst>
          </p:cNvPr>
          <p:cNvSpPr txBox="1"/>
          <p:nvPr/>
        </p:nvSpPr>
        <p:spPr>
          <a:xfrm>
            <a:off x="333771" y="772144"/>
            <a:ext cx="11593289" cy="740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 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달라지기 때문에 마치 연속적인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데이터가 있는 것을 가정하여 </a:t>
            </a:r>
            <a:r>
              <a:rPr lang="ko-KR" altLang="en-US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알고리즘의 일종인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적용</a:t>
            </a:r>
          </a:p>
        </p:txBody>
      </p:sp>
      <p:pic>
        <p:nvPicPr>
          <p:cNvPr id="1026" name="Picture 2" descr="plot kde 1d">
            <a:extLst>
              <a:ext uri="{FF2B5EF4-FFF2-40B4-BE49-F238E27FC236}">
                <a16:creationId xmlns:a16="http://schemas.microsoft.com/office/drawing/2014/main" id="{7DD449E0-BF33-C8A4-69AA-AAAD508EC4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2" y="2111235"/>
            <a:ext cx="5338959" cy="4004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lot kde 1d">
            <a:extLst>
              <a:ext uri="{FF2B5EF4-FFF2-40B4-BE49-F238E27FC236}">
                <a16:creationId xmlns:a16="http://schemas.microsoft.com/office/drawing/2014/main" id="{6B677B4F-53D9-EB2B-C7F6-8CED5714B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090" y="2111235"/>
            <a:ext cx="5338959" cy="4004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645A50-527F-186B-8338-EA016CE6D133}"/>
              </a:ext>
            </a:extLst>
          </p:cNvPr>
          <p:cNvSpPr txBox="1"/>
          <p:nvPr/>
        </p:nvSpPr>
        <p:spPr>
          <a:xfrm>
            <a:off x="691571" y="1803458"/>
            <a:ext cx="11528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plot_kde_1d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2768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56E9A-45E7-D043-FDA7-79362BC37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D1AE30A-3957-5F96-9DF2-40DE686D6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9E9B033-09B7-4396-2827-F8A099E72BB4}"/>
              </a:ext>
            </a:extLst>
          </p:cNvPr>
          <p:cNvSpPr txBox="1"/>
          <p:nvPr/>
        </p:nvSpPr>
        <p:spPr>
          <a:xfrm>
            <a:off x="333771" y="772144"/>
            <a:ext cx="11593289" cy="10864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데이터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점들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바탕으로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 데이터가 어느 부분에 얼마나 밀집되어 있는지를 연속적인 </a:t>
            </a:r>
            <a:r>
              <a:rPr lang="ko-KR" altLang="en-US" sz="15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밀도 함수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추정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예측하는 </a:t>
            </a:r>
            <a:r>
              <a:rPr lang="ko-KR" altLang="en-US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라고 생각하라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 근처에 언덕을 만든다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코드를 실습하면서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 Density Estimation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scikit-learn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예측 모델과 동일하다는 것을 이해하고 토론</a:t>
            </a:r>
            <a:endParaRPr lang="en-US" altLang="ko-KR" sz="15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68EF6F-766E-6993-477E-C6800CE56AC7}"/>
              </a:ext>
            </a:extLst>
          </p:cNvPr>
          <p:cNvSpPr txBox="1"/>
          <p:nvPr/>
        </p:nvSpPr>
        <p:spPr>
          <a:xfrm>
            <a:off x="189756" y="2257127"/>
            <a:ext cx="12907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KernelDensity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07EA3B-810C-D140-B713-7A228588AEF7}"/>
              </a:ext>
            </a:extLst>
          </p:cNvPr>
          <p:cNvSpPr txBox="1"/>
          <p:nvPr/>
        </p:nvSpPr>
        <p:spPr>
          <a:xfrm>
            <a:off x="117748" y="260648"/>
            <a:ext cx="52565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(Option)</a:t>
            </a:r>
            <a:endParaRPr lang="ko-KR" altLang="en-US" sz="3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AC800E-0B32-3730-BBFB-EF85C7BEB4F9}"/>
              </a:ext>
            </a:extLst>
          </p:cNvPr>
          <p:cNvSpPr txBox="1"/>
          <p:nvPr/>
        </p:nvSpPr>
        <p:spPr>
          <a:xfrm>
            <a:off x="264005" y="2624883"/>
            <a:ext cx="3680816" cy="19389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from </a:t>
            </a:r>
            <a:r>
              <a:rPr lang="en-US" altLang="ko-KR" sz="1200" dirty="0" err="1">
                <a:latin typeface="Arial" panose="020B0604020202020204" pitchFamily="34" charset="0"/>
                <a:cs typeface="Arial" panose="020B0604020202020204" pitchFamily="34" charset="0"/>
              </a:rPr>
              <a:t>sklearn.neighbors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 import </a:t>
            </a:r>
            <a:r>
              <a:rPr lang="en-US" altLang="ko-KR" sz="1200" dirty="0" err="1">
                <a:latin typeface="Arial" panose="020B0604020202020204" pitchFamily="34" charset="0"/>
                <a:cs typeface="Arial" panose="020B0604020202020204" pitchFamily="34" charset="0"/>
              </a:rPr>
              <a:t>KernelDensity</a:t>
            </a:r>
            <a:endParaRPr lang="en-US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from </a:t>
            </a:r>
            <a:r>
              <a:rPr lang="en-US" altLang="ko-KR" sz="1200" dirty="0" err="1">
                <a:latin typeface="Arial" panose="020B0604020202020204" pitchFamily="34" charset="0"/>
                <a:cs typeface="Arial" panose="020B0604020202020204" pitchFamily="34" charset="0"/>
              </a:rPr>
              <a:t>sklearn.model_selection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 import </a:t>
            </a:r>
            <a:r>
              <a:rPr lang="en-US" altLang="ko-KR" sz="1200" dirty="0" err="1">
                <a:latin typeface="Arial" panose="020B0604020202020204" pitchFamily="34" charset="0"/>
                <a:cs typeface="Arial" panose="020B0604020202020204" pitchFamily="34" charset="0"/>
              </a:rPr>
              <a:t>train_test_split</a:t>
            </a:r>
            <a:endParaRPr lang="en-US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import </a:t>
            </a:r>
            <a:r>
              <a:rPr lang="en-US" altLang="ko-KR" sz="1200" dirty="0" err="1">
                <a:latin typeface="Arial" panose="020B0604020202020204" pitchFamily="34" charset="0"/>
                <a:cs typeface="Arial" panose="020B0604020202020204" pitchFamily="34" charset="0"/>
              </a:rPr>
              <a:t>numpy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 as np</a:t>
            </a:r>
          </a:p>
          <a:p>
            <a:r>
              <a:rPr lang="en-US" altLang="ko-KR" sz="1200" dirty="0" err="1">
                <a:latin typeface="Arial" panose="020B0604020202020204" pitchFamily="34" charset="0"/>
                <a:cs typeface="Arial" panose="020B0604020202020204" pitchFamily="34" charset="0"/>
              </a:rPr>
              <a:t>rng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altLang="ko-KR" sz="1200" dirty="0" err="1">
                <a:latin typeface="Arial" panose="020B0604020202020204" pitchFamily="34" charset="0"/>
                <a:cs typeface="Arial" panose="020B0604020202020204" pitchFamily="34" charset="0"/>
              </a:rPr>
              <a:t>np.random.RandomState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(42)</a:t>
            </a:r>
          </a:p>
          <a:p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X = </a:t>
            </a:r>
            <a:r>
              <a:rPr lang="en-US" altLang="ko-KR" sz="1200" dirty="0" err="1">
                <a:latin typeface="Arial" panose="020B0604020202020204" pitchFamily="34" charset="0"/>
                <a:cs typeface="Arial" panose="020B0604020202020204" pitchFamily="34" charset="0"/>
              </a:rPr>
              <a:t>rng.random_sample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((1000, 1)) # 100 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  <a:sym typeface="Wingdings" panose="05000000000000000000" pitchFamily="2" charset="2"/>
              </a:rPr>
              <a:t> 1000</a:t>
            </a:r>
            <a:endParaRPr lang="en-US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1200" dirty="0" err="1">
                <a:latin typeface="Arial" panose="020B0604020202020204" pitchFamily="34" charset="0"/>
                <a:cs typeface="Arial" panose="020B0604020202020204" pitchFamily="34" charset="0"/>
              </a:rPr>
              <a:t>X_train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altLang="ko-KR" sz="1200" dirty="0" err="1">
                <a:latin typeface="Arial" panose="020B0604020202020204" pitchFamily="34" charset="0"/>
                <a:cs typeface="Arial" panose="020B0604020202020204" pitchFamily="34" charset="0"/>
              </a:rPr>
              <a:t>X_test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altLang="ko-KR" sz="1200" dirty="0" err="1">
                <a:latin typeface="Arial" panose="020B0604020202020204" pitchFamily="34" charset="0"/>
                <a:cs typeface="Arial" panose="020B0604020202020204" pitchFamily="34" charset="0"/>
              </a:rPr>
              <a:t>train_test_split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(X, </a:t>
            </a:r>
            <a:r>
              <a:rPr lang="en-US" altLang="ko-KR" sz="1200" dirty="0" err="1">
                <a:latin typeface="Arial" panose="020B0604020202020204" pitchFamily="34" charset="0"/>
                <a:cs typeface="Arial" panose="020B0604020202020204" pitchFamily="34" charset="0"/>
              </a:rPr>
              <a:t>test_size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=0.2)</a:t>
            </a:r>
          </a:p>
          <a:p>
            <a:endParaRPr lang="en-US" altLang="ko-KR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altLang="ko-KR" sz="1200" dirty="0" err="1">
                <a:latin typeface="Arial" panose="020B0604020202020204" pitchFamily="34" charset="0"/>
                <a:cs typeface="Arial" panose="020B0604020202020204" pitchFamily="34" charset="0"/>
              </a:rPr>
              <a:t>kde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 = </a:t>
            </a:r>
            <a:r>
              <a:rPr lang="en-US" altLang="ko-KR" sz="1200" dirty="0" err="1">
                <a:latin typeface="Arial" panose="020B0604020202020204" pitchFamily="34" charset="0"/>
                <a:cs typeface="Arial" panose="020B0604020202020204" pitchFamily="34" charset="0"/>
              </a:rPr>
              <a:t>KernelDensity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(kernel='gaussian’, </a:t>
            </a:r>
          </a:p>
          <a:p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                  bandwidth=0.5).fit(</a:t>
            </a:r>
            <a:r>
              <a:rPr lang="en-US" altLang="ko-KR" sz="1200" dirty="0" err="1">
                <a:latin typeface="Arial" panose="020B0604020202020204" pitchFamily="34" charset="0"/>
                <a:cs typeface="Arial" panose="020B0604020202020204" pitchFamily="34" charset="0"/>
              </a:rPr>
              <a:t>X_train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r>
              <a:rPr lang="en-US" altLang="ko-KR" sz="1200" dirty="0" err="1">
                <a:latin typeface="Arial" panose="020B0604020202020204" pitchFamily="34" charset="0"/>
                <a:cs typeface="Arial" panose="020B0604020202020204" pitchFamily="34" charset="0"/>
              </a:rPr>
              <a:t>kde.score_samples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altLang="ko-KR" sz="1200" dirty="0" err="1">
                <a:latin typeface="Arial" panose="020B0604020202020204" pitchFamily="34" charset="0"/>
                <a:cs typeface="Arial" panose="020B0604020202020204" pitchFamily="34" charset="0"/>
              </a:rPr>
              <a:t>X_test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pic>
        <p:nvPicPr>
          <p:cNvPr id="11" name="Picture 4">
            <a:extLst>
              <a:ext uri="{FF2B5EF4-FFF2-40B4-BE49-F238E27FC236}">
                <a16:creationId xmlns:a16="http://schemas.microsoft.com/office/drawing/2014/main" id="{64AE1B48-8ECE-D2C4-D21C-B16612B97D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0196" y="2009844"/>
            <a:ext cx="3514622" cy="2283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ECE167D0-9A3F-A0C7-B25E-13AE80FCB8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5743" y="2007671"/>
            <a:ext cx="3514623" cy="2272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5B11048F-6798-B9E7-720B-66CE0B2ED2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0513" y="4438096"/>
            <a:ext cx="3548015" cy="2283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E8822495-7EBF-EF16-F77B-7E0349E37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5744" y="4435508"/>
            <a:ext cx="3514623" cy="2285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B853D5B-2D56-D0A8-40EA-4C8B4EFF118F}"/>
              </a:ext>
            </a:extLst>
          </p:cNvPr>
          <p:cNvSpPr txBox="1"/>
          <p:nvPr/>
        </p:nvSpPr>
        <p:spPr>
          <a:xfrm>
            <a:off x="4726260" y="2431921"/>
            <a:ext cx="127233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N = 80 (</a:t>
            </a: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학습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5692F82-29A9-958A-D88F-02D7C214C7D1}"/>
              </a:ext>
            </a:extLst>
          </p:cNvPr>
          <p:cNvSpPr txBox="1"/>
          <p:nvPr/>
        </p:nvSpPr>
        <p:spPr>
          <a:xfrm>
            <a:off x="8390140" y="2427662"/>
            <a:ext cx="127233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N = 20(</a:t>
            </a: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예측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5B24794-546E-28BF-B4C8-06C2165590C0}"/>
              </a:ext>
            </a:extLst>
          </p:cNvPr>
          <p:cNvSpPr txBox="1"/>
          <p:nvPr/>
        </p:nvSpPr>
        <p:spPr>
          <a:xfrm>
            <a:off x="4798268" y="5096217"/>
            <a:ext cx="127233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N = 800 (</a:t>
            </a: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학습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8F20A4-6F3D-FD5D-FFC9-F648C6694117}"/>
              </a:ext>
            </a:extLst>
          </p:cNvPr>
          <p:cNvSpPr txBox="1"/>
          <p:nvPr/>
        </p:nvSpPr>
        <p:spPr>
          <a:xfrm>
            <a:off x="8462148" y="5091958"/>
            <a:ext cx="127233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N = 200(</a:t>
            </a:r>
            <a:r>
              <a:rPr lang="ko-KR" altLang="en-US" sz="1200" dirty="0">
                <a:latin typeface="Arial" panose="020B0604020202020204" pitchFamily="34" charset="0"/>
                <a:cs typeface="Arial" panose="020B0604020202020204" pitchFamily="34" charset="0"/>
              </a:rPr>
              <a:t>예측</a:t>
            </a:r>
            <a:r>
              <a:rPr lang="en-US" altLang="ko-KR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7045246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7523F1-9E84-45F4-9B74-6CB839AB7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1FA74B4-DA0A-56DA-0544-FAE5819DD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B6ABD6-F4AC-966C-4C62-052327E25FEA}"/>
              </a:ext>
            </a:extLst>
          </p:cNvPr>
          <p:cNvSpPr txBox="1"/>
          <p:nvPr/>
        </p:nvSpPr>
        <p:spPr>
          <a:xfrm>
            <a:off x="333771" y="1090830"/>
            <a:ext cx="10657185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과거의 유한한 데이터로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학습하면 무한한 데이터에 대해 어떤 확률밀도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빈도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예측할 수 있게 된다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C95B0F-0DAB-C7AC-E32D-CD2C3F207BB2}"/>
              </a:ext>
            </a:extLst>
          </p:cNvPr>
          <p:cNvSpPr txBox="1"/>
          <p:nvPr/>
        </p:nvSpPr>
        <p:spPr>
          <a:xfrm>
            <a:off x="117748" y="260648"/>
            <a:ext cx="525658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(Option)</a:t>
            </a:r>
            <a:endParaRPr lang="ko-KR" altLang="en-US" sz="3200" b="1" dirty="0"/>
          </a:p>
        </p:txBody>
      </p:sp>
      <p:pic>
        <p:nvPicPr>
          <p:cNvPr id="3076" name="Picture 4">
            <a:extLst>
              <a:ext uri="{FF2B5EF4-FFF2-40B4-BE49-F238E27FC236}">
                <a16:creationId xmlns:a16="http://schemas.microsoft.com/office/drawing/2014/main" id="{0CD429C4-6578-1888-9C2B-65447BCE3C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436" y="2791343"/>
            <a:ext cx="5667738" cy="3565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>
            <a:extLst>
              <a:ext uri="{FF2B5EF4-FFF2-40B4-BE49-F238E27FC236}">
                <a16:creationId xmlns:a16="http://schemas.microsoft.com/office/drawing/2014/main" id="{059A1BEC-22DD-B3AD-6F0F-D50C50F57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31" y="2791343"/>
            <a:ext cx="5718749" cy="35650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E01E623-CF6D-8BB5-0C01-2D0B049F0A0E}"/>
              </a:ext>
            </a:extLst>
          </p:cNvPr>
          <p:cNvSpPr txBox="1"/>
          <p:nvPr/>
        </p:nvSpPr>
        <p:spPr>
          <a:xfrm>
            <a:off x="1701924" y="2492896"/>
            <a:ext cx="30005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Fitting/Learning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with </a:t>
            </a:r>
            <a:r>
              <a:rPr lang="en-US" altLang="ko-KR" sz="14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X_train</a:t>
            </a:r>
            <a:endParaRPr lang="ko-KR" altLang="en-US" sz="14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FF695-B43A-80F0-166A-A20838426628}"/>
              </a:ext>
            </a:extLst>
          </p:cNvPr>
          <p:cNvSpPr txBox="1"/>
          <p:nvPr/>
        </p:nvSpPr>
        <p:spPr>
          <a:xfrm>
            <a:off x="7894612" y="2483566"/>
            <a:ext cx="300052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with </a:t>
            </a:r>
            <a:r>
              <a:rPr lang="en-US" altLang="ko-KR" sz="14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X_test</a:t>
            </a:r>
            <a:endParaRPr lang="ko-KR" altLang="en-US" sz="1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3168D0-6D30-5919-E7E0-9978DB6F8F5A}"/>
              </a:ext>
            </a:extLst>
          </p:cNvPr>
          <p:cNvSpPr txBox="1"/>
          <p:nvPr/>
        </p:nvSpPr>
        <p:spPr>
          <a:xfrm>
            <a:off x="2109871" y="3717032"/>
            <a:ext cx="196831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N = 800 (</a:t>
            </a:r>
            <a:r>
              <a:rPr lang="ko-KR" altLang="en-US" dirty="0">
                <a:latin typeface="Arial" panose="020B0604020202020204" pitchFamily="34" charset="0"/>
                <a:cs typeface="Arial" panose="020B0604020202020204" pitchFamily="34" charset="0"/>
              </a:rPr>
              <a:t>학습</a:t>
            </a:r>
            <a:r>
              <a:rPr lang="en-US" altLang="ko-KR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BE6F822-48BA-1F7E-0757-3CAE89FF4603}"/>
                  </a:ext>
                </a:extLst>
              </p:cNvPr>
              <p:cNvSpPr txBox="1"/>
              <p:nvPr/>
            </p:nvSpPr>
            <p:spPr>
              <a:xfrm>
                <a:off x="7828620" y="3573016"/>
                <a:ext cx="1272337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dirty="0">
                    <a:latin typeface="Arial" panose="020B0604020202020204" pitchFamily="34" charset="0"/>
                    <a:cs typeface="Arial" panose="020B0604020202020204" pitchFamily="34" charset="0"/>
                  </a:rPr>
                  <a:t>N = </a:t>
                </a:r>
                <a14:m>
                  <m:oMath xmlns:m="http://schemas.openxmlformats.org/officeDocument/2006/math">
                    <m:r>
                      <a:rPr lang="en-US" altLang="ko-KR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 panose="020B0604020202020204" pitchFamily="34" charset="0"/>
                      </a:rPr>
                      <m:t>∞</m:t>
                    </m:r>
                  </m:oMath>
                </a14:m>
                <a:endParaRPr lang="ko-KR" altLang="en-US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BE6F822-48BA-1F7E-0757-3CAE89FF46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8620" y="3573016"/>
                <a:ext cx="1272337" cy="523220"/>
              </a:xfrm>
              <a:prstGeom prst="rect">
                <a:avLst/>
              </a:prstGeom>
              <a:blipFill>
                <a:blip r:embed="rId5"/>
                <a:stretch>
                  <a:fillRect l="-3828" b="-1046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7628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D5E62-CB36-B827-1BA3-B4530182CA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725E7A9-F779-E0D4-E4FF-DA785031A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5FE2CE-5738-A918-28A6-E6315AA8FEF3}"/>
              </a:ext>
            </a:extLst>
          </p:cNvPr>
          <p:cNvSpPr txBox="1"/>
          <p:nvPr/>
        </p:nvSpPr>
        <p:spPr>
          <a:xfrm>
            <a:off x="333771" y="772144"/>
            <a:ext cx="11593289" cy="740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bins 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개수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따라 이산적인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(Discrete)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데이터의 분포 모양이 달라지기 때문에 마치 연속적인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(Continuous)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데이터가 있는 것을 가정하여 </a:t>
            </a:r>
            <a:r>
              <a:rPr lang="ko-KR" altLang="en-US" sz="15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알고리즘의 일종인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KDE(Kernel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Density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Estimation)</a:t>
            </a:r>
            <a:r>
              <a:rPr lang="ko-KR" altLang="en-US" sz="15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적용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9B298B6-F9BF-8EE5-F13A-B2F536F594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1974" y="2227930"/>
            <a:ext cx="3506431" cy="3451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DC7664B-19D9-BD9B-4CC7-7D60AF9607BA}"/>
              </a:ext>
            </a:extLst>
          </p:cNvPr>
          <p:cNvSpPr txBox="1"/>
          <p:nvPr/>
        </p:nvSpPr>
        <p:spPr>
          <a:xfrm>
            <a:off x="621804" y="1916832"/>
            <a:ext cx="1641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Discrete Joint Plot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BDE53B17-5AC6-45F6-19EE-96D6EFCB3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37557" y="2208712"/>
            <a:ext cx="3458001" cy="3451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9C23A7-9FCE-2692-4C79-DBBB60AD1278}"/>
              </a:ext>
            </a:extLst>
          </p:cNvPr>
          <p:cNvSpPr txBox="1"/>
          <p:nvPr/>
        </p:nvSpPr>
        <p:spPr>
          <a:xfrm>
            <a:off x="4510236" y="1916832"/>
            <a:ext cx="18181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Continous</a:t>
            </a:r>
            <a:r>
              <a:rPr lang="en-US" altLang="ko-KR" sz="1400" dirty="0">
                <a:latin typeface="Britannic Bold" panose="020B0903060703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Marginals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D610D1B8-7160-0BE0-C302-F6BD804B72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44917" y="2195266"/>
            <a:ext cx="3587151" cy="34512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6E8D5E9-121C-8D0D-0028-9D6B92654033}"/>
              </a:ext>
            </a:extLst>
          </p:cNvPr>
          <p:cNvSpPr txBox="1"/>
          <p:nvPr/>
        </p:nvSpPr>
        <p:spPr>
          <a:xfrm>
            <a:off x="8267220" y="1878651"/>
            <a:ext cx="24160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Continous</a:t>
            </a:r>
            <a:r>
              <a:rPr lang="en-US" altLang="ko-KR" sz="1400" dirty="0">
                <a:latin typeface="Britannic Bold" panose="020B0903060703020204" pitchFamily="34" charset="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Joint Distribution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25687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7EC89-B3CB-BA5A-0662-2279988C6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540EF44-9D30-B434-EEA0-7F42F2D9C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FBE6393E-A3C4-3072-1FE8-2B1E7EB29E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316" y="2212065"/>
            <a:ext cx="4061251" cy="40612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>
            <a:extLst>
              <a:ext uri="{FF2B5EF4-FFF2-40B4-BE49-F238E27FC236}">
                <a16:creationId xmlns:a16="http://schemas.microsoft.com/office/drawing/2014/main" id="{DD092B8B-DB61-2789-3001-D69752A3EC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62691" y="1196752"/>
            <a:ext cx="6768752" cy="5076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1E64B0F-1A6D-C338-05EF-B38E08F6E50C}"/>
              </a:ext>
            </a:extLst>
          </p:cNvPr>
          <p:cNvSpPr txBox="1"/>
          <p:nvPr/>
        </p:nvSpPr>
        <p:spPr>
          <a:xfrm>
            <a:off x="261764" y="476672"/>
            <a:ext cx="770485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306"/>
              </a:spcBef>
              <a:spcAft>
                <a:spcPts val="1742"/>
              </a:spcAft>
              <a:buNone/>
            </a:pPr>
            <a:r>
              <a:rPr lang="en-US" altLang="ko-KR" sz="2400" b="1" i="0" dirty="0"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Intuitive Understanding of clustering algorithm</a:t>
            </a:r>
            <a:endParaRPr lang="en-US" altLang="ko-KR" sz="2400" b="0" i="0" dirty="0">
              <a:effectLst/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DE9E71-3D8F-E832-F77F-FEECBD8F92C1}"/>
              </a:ext>
            </a:extLst>
          </p:cNvPr>
          <p:cNvSpPr txBox="1"/>
          <p:nvPr/>
        </p:nvSpPr>
        <p:spPr>
          <a:xfrm>
            <a:off x="290228" y="11752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i="0" dirty="0">
                <a:effectLst/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1. K-Means Clustering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B3089A9-2BCD-79B3-1096-E2D2AD0F8441}"/>
              </a:ext>
            </a:extLst>
          </p:cNvPr>
          <p:cNvSpPr txBox="1"/>
          <p:nvPr/>
        </p:nvSpPr>
        <p:spPr>
          <a:xfrm>
            <a:off x="5014292" y="11752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b="1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computing the distances between points and group centers</a:t>
            </a:r>
          </a:p>
        </p:txBody>
      </p:sp>
    </p:spTree>
    <p:extLst>
      <p:ext uri="{BB962C8B-B14F-4D97-AF65-F5344CB8AC3E}">
        <p14:creationId xmlns:p14="http://schemas.microsoft.com/office/powerpoint/2010/main" val="3697954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28422-F9B1-EEF7-B9AB-3B0BC70BD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E49A640-B2B0-89C6-ADB6-4D35567BA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29128C5B-7B92-B3A3-C997-57B98AD12B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1924" y="2719164"/>
            <a:ext cx="3672408" cy="3672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7C37CC53-EDA0-5188-3E54-8BF68800A6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2364" y="918964"/>
            <a:ext cx="5472608" cy="5472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31AA513-E90A-DF13-30AC-27665957C759}"/>
              </a:ext>
            </a:extLst>
          </p:cNvPr>
          <p:cNvSpPr txBox="1"/>
          <p:nvPr/>
        </p:nvSpPr>
        <p:spPr>
          <a:xfrm>
            <a:off x="261764" y="46642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2. Mean-Shift Clustering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446277-F9BE-AC69-09ED-6CE7B7982E9E}"/>
              </a:ext>
            </a:extLst>
          </p:cNvPr>
          <p:cNvSpPr txBox="1"/>
          <p:nvPr/>
        </p:nvSpPr>
        <p:spPr>
          <a:xfrm>
            <a:off x="477788" y="972150"/>
            <a:ext cx="475252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Mean shift clustering is a sliding-window-based algorithm that attempts </a:t>
            </a:r>
            <a:r>
              <a:rPr lang="en-US" altLang="ko-KR" sz="1400" b="1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 find dense areas of data points</a:t>
            </a:r>
            <a:r>
              <a:rPr lang="en-US" altLang="ko-KR" sz="1400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1400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It is a centroid-based algorithm meaning that the goal is to locate the center points of each group/class, which works by updating candidates for center points to be the mean of the points within the sliding-window.</a:t>
            </a:r>
          </a:p>
        </p:txBody>
      </p:sp>
    </p:spTree>
    <p:extLst>
      <p:ext uri="{BB962C8B-B14F-4D97-AF65-F5344CB8AC3E}">
        <p14:creationId xmlns:p14="http://schemas.microsoft.com/office/powerpoint/2010/main" val="382195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F44AE-4A9E-B4D2-56E2-3AF39169F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656D96B-1380-A118-6FF7-55993749A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DB4B13D-7A0A-7418-1101-6AEC7BCAD7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4092" y="1732261"/>
            <a:ext cx="7685467" cy="4827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7182E7C-42A3-5831-4740-89C4F07C28FF}"/>
              </a:ext>
            </a:extLst>
          </p:cNvPr>
          <p:cNvSpPr txBox="1"/>
          <p:nvPr/>
        </p:nvSpPr>
        <p:spPr>
          <a:xfrm>
            <a:off x="261764" y="747109"/>
            <a:ext cx="87593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177"/>
              </a:spcBef>
              <a:spcAft>
                <a:spcPts val="1451"/>
              </a:spcAft>
              <a:buNone/>
            </a:pPr>
            <a:r>
              <a:rPr lang="en-US" altLang="ko-KR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3. Density-Based Spatial Clustering of Applications with Noise (DBSCAN)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6CE35F-99AB-B35E-C4D3-CEE20CC71DC4}"/>
              </a:ext>
            </a:extLst>
          </p:cNvPr>
          <p:cNvSpPr txBox="1"/>
          <p:nvPr/>
        </p:nvSpPr>
        <p:spPr>
          <a:xfrm>
            <a:off x="765820" y="1201326"/>
            <a:ext cx="7200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DBSCAN is a density-based clustered algorithm similar to mean-shift.</a:t>
            </a:r>
          </a:p>
        </p:txBody>
      </p:sp>
    </p:spTree>
    <p:extLst>
      <p:ext uri="{BB962C8B-B14F-4D97-AF65-F5344CB8AC3E}">
        <p14:creationId xmlns:p14="http://schemas.microsoft.com/office/powerpoint/2010/main" val="2053871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585763-5EBB-4160-A5F7-E69FEE7AF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EE7AE96-BDFA-FFA5-CC03-FF7CC4149F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D8346020-B8A4-B2E7-01A0-65FE360D0B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22203" y="1484784"/>
            <a:ext cx="5956389" cy="5112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859D103-1E30-85FD-F45D-41F42002EEAC}"/>
              </a:ext>
            </a:extLst>
          </p:cNvPr>
          <p:cNvSpPr txBox="1"/>
          <p:nvPr/>
        </p:nvSpPr>
        <p:spPr>
          <a:xfrm>
            <a:off x="621804" y="764704"/>
            <a:ext cx="95770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177"/>
              </a:spcBef>
              <a:spcAft>
                <a:spcPts val="1451"/>
              </a:spcAft>
              <a:buNone/>
            </a:pPr>
            <a:r>
              <a:rPr lang="en-US" altLang="ko-KR" b="1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4. Expectation–Maximization(EM) Clustering using Gaussian Mixture Models (GMM)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1626C6-998E-0504-FFFE-661D0B3FBF21}"/>
              </a:ext>
            </a:extLst>
          </p:cNvPr>
          <p:cNvSpPr txBox="1"/>
          <p:nvPr/>
        </p:nvSpPr>
        <p:spPr>
          <a:xfrm>
            <a:off x="477788" y="1772816"/>
            <a:ext cx="3528392" cy="25423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altLang="ko-KR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 </a:t>
            </a:r>
            <a:r>
              <a:rPr lang="en-US" altLang="ko-KR" b="1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find the parameters of the Gaussian for each cluster</a:t>
            </a:r>
            <a:r>
              <a:rPr lang="en-US" altLang="ko-KR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 (</a:t>
            </a:r>
            <a:r>
              <a:rPr lang="en-US" altLang="ko-KR" b="0" i="0" dirty="0" err="1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e.g</a:t>
            </a:r>
            <a:r>
              <a:rPr lang="en-US" altLang="ko-KR" b="0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the mean and standard deviation), we will use an optimization algorithm called Expectation–Maximization (EM)</a:t>
            </a:r>
          </a:p>
        </p:txBody>
      </p:sp>
    </p:spTree>
    <p:extLst>
      <p:ext uri="{BB962C8B-B14F-4D97-AF65-F5344CB8AC3E}">
        <p14:creationId xmlns:p14="http://schemas.microsoft.com/office/powerpoint/2010/main" val="446588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DACFD-95F0-B4D3-58CA-40388C27D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B241B89-1BFA-8DCC-D381-C76AADE38D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362E9AA5-F77D-895A-4B54-0735103C73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8308" y="980728"/>
            <a:ext cx="6535808" cy="52286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87BBD1-8C35-D005-A181-1EFF30A728CD}"/>
              </a:ext>
            </a:extLst>
          </p:cNvPr>
          <p:cNvSpPr txBox="1"/>
          <p:nvPr/>
        </p:nvSpPr>
        <p:spPr>
          <a:xfrm>
            <a:off x="7174532" y="560266"/>
            <a:ext cx="2592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i="0" dirty="0">
                <a:effectLst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K-Means Clustering</a:t>
            </a:r>
            <a:endParaRPr lang="ko-KR" altLang="en-US" b="1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8A81AD-0A5A-C66E-01BF-C8458B69ECE6}"/>
              </a:ext>
            </a:extLst>
          </p:cNvPr>
          <p:cNvSpPr txBox="1"/>
          <p:nvPr/>
        </p:nvSpPr>
        <p:spPr>
          <a:xfrm>
            <a:off x="333772" y="1124744"/>
            <a:ext cx="37593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Unsupervised_learning_scikit</a:t>
            </a:r>
            <a:r>
              <a:rPr lang="en-US" altLang="ko-KR" dirty="0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-learn</a:t>
            </a:r>
            <a:endParaRPr lang="ko-KR" altLang="en-US" dirty="0">
              <a:latin typeface="Britannic Bold" panose="020B0903060703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41873C-CACD-DC71-3CD6-DAD37A341E24}"/>
              </a:ext>
            </a:extLst>
          </p:cNvPr>
          <p:cNvSpPr txBox="1"/>
          <p:nvPr/>
        </p:nvSpPr>
        <p:spPr>
          <a:xfrm>
            <a:off x="333772" y="1628800"/>
            <a:ext cx="31037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latin typeface="Britannic Bold" panose="020B0903060703020204" pitchFamily="34" charset="0"/>
              </a:rPr>
              <a:t>관련 코드는 </a:t>
            </a:r>
            <a:r>
              <a:rPr lang="en-US" altLang="ko-KR" dirty="0" err="1">
                <a:latin typeface="Britannic Bold" panose="020B0903060703020204" pitchFamily="34" charset="0"/>
              </a:rPr>
              <a:t>eclass</a:t>
            </a:r>
            <a:r>
              <a:rPr lang="ko-KR" altLang="en-US" dirty="0">
                <a:latin typeface="Britannic Bold" panose="020B0903060703020204" pitchFamily="34" charset="0"/>
              </a:rPr>
              <a:t>에 </a:t>
            </a:r>
            <a:r>
              <a:rPr lang="en-US" altLang="ko-KR" dirty="0">
                <a:latin typeface="Britannic Bold" panose="020B0903060703020204" pitchFamily="34" charset="0"/>
              </a:rPr>
              <a:t>upload</a:t>
            </a:r>
            <a:endParaRPr lang="ko-KR" altLang="en-US" dirty="0"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190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99DDB-CF71-2269-C86C-A0C6B66D4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4480F933-025B-964F-DC78-EB0567125B9F}"/>
              </a:ext>
            </a:extLst>
          </p:cNvPr>
          <p:cNvSpPr/>
          <p:nvPr/>
        </p:nvSpPr>
        <p:spPr>
          <a:xfrm>
            <a:off x="549796" y="1890054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B865C5A-AC22-903F-65DE-B0B66C8E4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442AF8-60A9-DCE2-F679-9A9DD6247034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6523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D38B9-4195-271B-F272-05A2536DA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9FA146E-6A35-D140-39B9-7BE9A5FE2A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621179-F9A4-0781-E59A-8482B8B0AAB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Joint &amp; marginal histograms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AF047A-324A-5D47-FF11-216D60B123AB}"/>
              </a:ext>
            </a:extLst>
          </p:cNvPr>
          <p:cNvSpPr txBox="1"/>
          <p:nvPr/>
        </p:nvSpPr>
        <p:spPr>
          <a:xfrm>
            <a:off x="338480" y="1005885"/>
            <a:ext cx="11588580" cy="419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천문학자들이 외계 행성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(Exoplanets)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발견한 기록 데이터를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발견년도와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태양계로 부터의 거리의 시각화를 해석하라  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080" name="Picture 8">
            <a:extLst>
              <a:ext uri="{FF2B5EF4-FFF2-40B4-BE49-F238E27FC236}">
                <a16:creationId xmlns:a16="http://schemas.microsoft.com/office/drawing/2014/main" id="{DDB8136B-12C4-CB2C-48F8-C520F17098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320" y="2233055"/>
            <a:ext cx="4394499" cy="4364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31311A97-5308-C590-3D6E-7D50680CC2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4338" y="2139024"/>
            <a:ext cx="2407280" cy="1898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F3AA0C-6A6D-099B-EE5F-974060402A4F}"/>
              </a:ext>
            </a:extLst>
          </p:cNvPr>
          <p:cNvSpPr txBox="1"/>
          <p:nvPr/>
        </p:nvSpPr>
        <p:spPr>
          <a:xfrm>
            <a:off x="7891557" y="1831247"/>
            <a:ext cx="23214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</a:rPr>
              <a:t>sns.histplot</a:t>
            </a:r>
            <a:r>
              <a:rPr lang="en-US" altLang="ko-KR" sz="1400" dirty="0">
                <a:latin typeface="Britannic Bold" panose="020B0903060703020204" pitchFamily="34" charset="0"/>
              </a:rPr>
              <a:t>(discrete=True)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CC4989-4E1E-D890-423E-B6FB7D38B1AB}"/>
              </a:ext>
            </a:extLst>
          </p:cNvPr>
          <p:cNvSpPr txBox="1"/>
          <p:nvPr/>
        </p:nvSpPr>
        <p:spPr>
          <a:xfrm>
            <a:off x="909836" y="1873014"/>
            <a:ext cx="148951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joint_histogram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66D913-0B01-E354-6F96-A7108311FCC1}"/>
              </a:ext>
            </a:extLst>
          </p:cNvPr>
          <p:cNvSpPr txBox="1"/>
          <p:nvPr/>
        </p:nvSpPr>
        <p:spPr>
          <a:xfrm>
            <a:off x="7888209" y="4345492"/>
            <a:ext cx="29375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</a:rPr>
              <a:t>g.ax_joint.set</a:t>
            </a:r>
            <a:r>
              <a:rPr lang="en-US" altLang="ko-KR" sz="1400" dirty="0">
                <a:latin typeface="Britannic Bold" panose="020B0903060703020204" pitchFamily="34" charset="0"/>
              </a:rPr>
              <a:t>(</a:t>
            </a:r>
            <a:r>
              <a:rPr lang="en-US" altLang="ko-KR" sz="1400" dirty="0" err="1">
                <a:latin typeface="Britannic Bold" panose="020B0903060703020204" pitchFamily="34" charset="0"/>
              </a:rPr>
              <a:t>yscale</a:t>
            </a:r>
            <a:r>
              <a:rPr lang="en-US" altLang="ko-KR" sz="1400" dirty="0">
                <a:latin typeface="Britannic Bold" panose="020B0903060703020204" pitchFamily="34" charset="0"/>
              </a:rPr>
              <a:t>="log")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A634B299-49D6-52DE-08AC-3B5F6FDBB0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25464" y="4653136"/>
            <a:ext cx="2439718" cy="194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093A3CA7-10F6-B4D7-2B88-086C54CAC0FB}"/>
              </a:ext>
            </a:extLst>
          </p:cNvPr>
          <p:cNvCxnSpPr>
            <a:cxnSpLocks/>
            <a:endCxn id="4100" idx="1"/>
          </p:cNvCxnSpPr>
          <p:nvPr/>
        </p:nvCxnSpPr>
        <p:spPr>
          <a:xfrm>
            <a:off x="4150196" y="2420888"/>
            <a:ext cx="3764142" cy="66751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연결선: 구부러짐 17">
            <a:extLst>
              <a:ext uri="{FF2B5EF4-FFF2-40B4-BE49-F238E27FC236}">
                <a16:creationId xmlns:a16="http://schemas.microsoft.com/office/drawing/2014/main" id="{C8F46F1F-8EEB-CFD0-59E5-180DB3842FE3}"/>
              </a:ext>
            </a:extLst>
          </p:cNvPr>
          <p:cNvCxnSpPr>
            <a:cxnSpLocks/>
          </p:cNvCxnSpPr>
          <p:nvPr/>
        </p:nvCxnSpPr>
        <p:spPr>
          <a:xfrm>
            <a:off x="5014292" y="4751382"/>
            <a:ext cx="2873917" cy="110073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045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DCE2-17C1-A611-9B45-2FD6CF81B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76F4523-1057-C68A-630F-8E420669D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6F71B-9CAC-A913-6B18-46452EB8146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Pairplot</a:t>
            </a:r>
            <a:endParaRPr lang="ko-KR" altLang="en-US" sz="3200" b="1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655F8382-6E2B-3DFF-600B-F2EEAAA5E5BD}"/>
              </a:ext>
            </a:extLst>
          </p:cNvPr>
          <p:cNvGrpSpPr/>
          <p:nvPr/>
        </p:nvGrpSpPr>
        <p:grpSpPr>
          <a:xfrm>
            <a:off x="981844" y="2060848"/>
            <a:ext cx="9509954" cy="4586834"/>
            <a:chOff x="400882" y="992214"/>
            <a:chExt cx="11980731" cy="5778537"/>
          </a:xfrm>
        </p:grpSpPr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252B00A0-9CCA-2DC8-5D52-7E4F521D40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50709" y="1447580"/>
              <a:ext cx="6005581" cy="53012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965E5745-C1E2-1D24-BB69-4BED482DBA8C}"/>
                </a:ext>
              </a:extLst>
            </p:cNvPr>
            <p:cNvSpPr/>
            <p:nvPr/>
          </p:nvSpPr>
          <p:spPr>
            <a:xfrm>
              <a:off x="693812" y="3861048"/>
              <a:ext cx="1534064" cy="1389223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57037C7-933E-A3A7-A4E6-1C0B5AD00A6E}"/>
                </a:ext>
              </a:extLst>
            </p:cNvPr>
            <p:cNvSpPr txBox="1"/>
            <p:nvPr/>
          </p:nvSpPr>
          <p:spPr>
            <a:xfrm>
              <a:off x="400882" y="992214"/>
              <a:ext cx="3271960" cy="387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1400" dirty="0" err="1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sns.pairplot</a:t>
              </a:r>
              <a:r>
                <a:rPr lang="en-US" altLang="ko-KR" sz="1400" dirty="0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(</a:t>
              </a:r>
              <a:r>
                <a:rPr lang="en-US" altLang="ko-KR" sz="1400" dirty="0" err="1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df</a:t>
              </a:r>
              <a:r>
                <a:rPr lang="en-US" altLang="ko-KR" sz="1400" dirty="0">
                  <a:latin typeface="Britannic Bold" panose="020B090306070302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, hue="species")</a:t>
              </a:r>
              <a:endParaRPr lang="ko-KR" altLang="en-US" sz="1400" dirty="0">
                <a:latin typeface="Britannic Bold" panose="020B0903060703020204" pitchFamily="34" charset="0"/>
              </a:endParaRPr>
            </a:p>
          </p:txBody>
        </p:sp>
        <p:pic>
          <p:nvPicPr>
            <p:cNvPr id="3074" name="Picture 2">
              <a:extLst>
                <a:ext uri="{FF2B5EF4-FFF2-40B4-BE49-F238E27FC236}">
                  <a16:creationId xmlns:a16="http://schemas.microsoft.com/office/drawing/2014/main" id="{B1653977-6636-3D04-4EB3-D5CE03EBD37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86714" y="3946040"/>
              <a:ext cx="2844059" cy="282471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7" name="연결선: 구부러짐 6">
              <a:extLst>
                <a:ext uri="{FF2B5EF4-FFF2-40B4-BE49-F238E27FC236}">
                  <a16:creationId xmlns:a16="http://schemas.microsoft.com/office/drawing/2014/main" id="{B7A2B3B0-A523-FF6A-4790-9BDBEAAF94BC}"/>
                </a:ext>
              </a:extLst>
            </p:cNvPr>
            <p:cNvCxnSpPr>
              <a:cxnSpLocks/>
              <a:stCxn id="4" idx="3"/>
              <a:endCxn id="3074" idx="1"/>
            </p:cNvCxnSpPr>
            <p:nvPr/>
          </p:nvCxnSpPr>
          <p:spPr>
            <a:xfrm>
              <a:off x="2227875" y="4555660"/>
              <a:ext cx="7258839" cy="802736"/>
            </a:xfrm>
            <a:prstGeom prst="curved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FD26FBB-56B4-174A-C25B-F243F7986FA7}"/>
                </a:ext>
              </a:extLst>
            </p:cNvPr>
            <p:cNvSpPr txBox="1"/>
            <p:nvPr/>
          </p:nvSpPr>
          <p:spPr>
            <a:xfrm>
              <a:off x="9377926" y="3572127"/>
              <a:ext cx="2005747" cy="387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rtl="0">
                <a:defRPr lang="ko-kr"/>
              </a:defPPr>
              <a:lvl1pPr>
                <a:defRPr sz="1400">
                  <a:latin typeface="Britannic Bold" panose="020B0903060703020204" pitchFamily="34" charset="0"/>
                </a:defRPr>
              </a:lvl1pPr>
            </a:lstStyle>
            <a:p>
              <a:r>
                <a:rPr lang="en-US" altLang="ko-KR" dirty="0" err="1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hexbin_marginals</a:t>
              </a:r>
              <a:endParaRPr lang="ko-KR" altLang="en-US" dirty="0"/>
            </a:p>
          </p:txBody>
        </p:sp>
        <p:pic>
          <p:nvPicPr>
            <p:cNvPr id="3078" name="Picture 6">
              <a:extLst>
                <a:ext uri="{FF2B5EF4-FFF2-40B4-BE49-F238E27FC236}">
                  <a16:creationId xmlns:a16="http://schemas.microsoft.com/office/drawing/2014/main" id="{156B5172-BB88-2485-4909-5859E68013C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486714" y="1159732"/>
              <a:ext cx="2894899" cy="22872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C2931DD-8ED4-5AEF-DBB8-05B6F017A1E1}"/>
                </a:ext>
              </a:extLst>
            </p:cNvPr>
            <p:cNvSpPr/>
            <p:nvPr/>
          </p:nvSpPr>
          <p:spPr>
            <a:xfrm>
              <a:off x="693812" y="1401540"/>
              <a:ext cx="1534063" cy="1389222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400" dirty="0"/>
            </a:p>
          </p:txBody>
        </p:sp>
        <p:cxnSp>
          <p:nvCxnSpPr>
            <p:cNvPr id="17" name="연결선: 구부러짐 16">
              <a:extLst>
                <a:ext uri="{FF2B5EF4-FFF2-40B4-BE49-F238E27FC236}">
                  <a16:creationId xmlns:a16="http://schemas.microsoft.com/office/drawing/2014/main" id="{67D18B30-DE1B-E4AC-6DF9-B05D6302466D}"/>
                </a:ext>
              </a:extLst>
            </p:cNvPr>
            <p:cNvCxnSpPr>
              <a:cxnSpLocks/>
              <a:stCxn id="16" idx="3"/>
              <a:endCxn id="3078" idx="1"/>
            </p:cNvCxnSpPr>
            <p:nvPr/>
          </p:nvCxnSpPr>
          <p:spPr>
            <a:xfrm>
              <a:off x="2227875" y="2096150"/>
              <a:ext cx="7258839" cy="207215"/>
            </a:xfrm>
            <a:prstGeom prst="curvedConnector3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DAED1783-FAA9-B437-9357-5DA25F9E09DD}"/>
              </a:ext>
            </a:extLst>
          </p:cNvPr>
          <p:cNvSpPr txBox="1"/>
          <p:nvPr/>
        </p:nvSpPr>
        <p:spPr>
          <a:xfrm>
            <a:off x="338480" y="1005885"/>
            <a:ext cx="1158858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오른쪽　상단의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plot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pecies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조건으로 하는 데이터 분포이고 하단의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Hexbin_marginal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species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구분없이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전체 부리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(bill)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날개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(flipper)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대한 데이터 분포이고 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막대그래프나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곡선의 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Likelihood(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2098E6B-8CCB-8548-00BD-D91394A409B5}"/>
              </a:ext>
            </a:extLst>
          </p:cNvPr>
          <p:cNvSpPr txBox="1"/>
          <p:nvPr/>
        </p:nvSpPr>
        <p:spPr>
          <a:xfrm>
            <a:off x="8107558" y="1912267"/>
            <a:ext cx="2523357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dirty="0" err="1">
                <a:latin typeface="Britannic Bold" panose="020B0903060703020204" pitchFamily="34" charset="0"/>
              </a:rPr>
              <a:t>sns.kdeplot</a:t>
            </a:r>
            <a:r>
              <a:rPr lang="en-US" altLang="ko-KR" sz="1400" dirty="0">
                <a:latin typeface="Britannic Bold" panose="020B0903060703020204" pitchFamily="34" charset="0"/>
              </a:rPr>
              <a:t>(hue="species“)</a:t>
            </a:r>
          </a:p>
        </p:txBody>
      </p:sp>
    </p:spTree>
    <p:extLst>
      <p:ext uri="{BB962C8B-B14F-4D97-AF65-F5344CB8AC3E}">
        <p14:creationId xmlns:p14="http://schemas.microsoft.com/office/powerpoint/2010/main" val="4105585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88151-C46B-CD5E-E821-A0F68F3A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D6760EB-0648-59D8-3629-825719199C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C8D6A8-703D-996C-3882-67E139AAAB2E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Hexbin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plot with marginal distributions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93FFA3-F7AB-2DB1-F22A-1ECB6018AABD}"/>
              </a:ext>
            </a:extLst>
          </p:cNvPr>
          <p:cNvSpPr txBox="1"/>
          <p:nvPr/>
        </p:nvSpPr>
        <p:spPr>
          <a:xfrm>
            <a:off x="6094412" y="1772816"/>
            <a:ext cx="5832648" cy="395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중앙 육각형 격자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(Joint Distribution)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변수가 동시에 나타나는 빈도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이며 색이 진할수록 해당 데이터 포인트가 많이 몰려 있다는 뜻이며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결합 확률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P(X, Y)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높은 지점</a:t>
            </a:r>
            <a:endParaRPr lang="en-US" altLang="ko-KR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상단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/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우측 막대그래프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(Marginal Distribution)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변수 하나의 분포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주변 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P(X)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P(Y)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나타냅니다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상단 막대는 부리 길이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분포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우측 막대는 날개 길이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(Y)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분포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4D1BEF79-7545-09AC-1482-F1F72B45DA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804" y="1772816"/>
            <a:ext cx="485758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A2A39A-1188-3272-3076-8B01A836614A}"/>
              </a:ext>
            </a:extLst>
          </p:cNvPr>
          <p:cNvSpPr txBox="1"/>
          <p:nvPr/>
        </p:nvSpPr>
        <p:spPr>
          <a:xfrm>
            <a:off x="532365" y="1465039"/>
            <a:ext cx="16433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hexbin_marginals</a:t>
            </a:r>
            <a:r>
              <a:rPr lang="en-US" altLang="ko-KR" sz="1400" dirty="0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.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0749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0E86A2-4248-97AC-FD76-E718DA93B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E016F89-E512-3195-2CD1-E63F4BE17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ADA5E1-440C-4319-D6E8-C67E1A8E285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Smooth kernel density with marginal histograms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133849-803B-9112-5124-81C1CFD807DE}"/>
              </a:ext>
            </a:extLst>
          </p:cNvPr>
          <p:cNvSpPr txBox="1"/>
          <p:nvPr/>
        </p:nvSpPr>
        <p:spPr>
          <a:xfrm>
            <a:off x="5681710" y="1772816"/>
            <a:ext cx="6245349" cy="3593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비지도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학습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(Unsupervised Learning)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클러스터링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(Clustering)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밝게 빛나는 지점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밀도가 높은 곳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크게 두 군데로 적어도 두 개의 서로 다른 그룹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 또는 성별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존재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특징 선택 및 상관관계 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 Engineering)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변수 모두 분류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(Classification)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중요한 피처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생성 모델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(Generative Model)</a:t>
            </a: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관점</a:t>
            </a:r>
            <a:endParaRPr lang="en-US" altLang="ko-KR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주어진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밀도 지도를 학습하게 되면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모델은 실제 데이터에는 없지만 있을 법한 가상의 펭귄 데이터를 생성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(Generative)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할 수 있음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이상치 탐지 </a:t>
            </a:r>
            <a:r>
              <a:rPr lang="en-US" altLang="ko-KR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(Anomaly Detection)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7E774026-6B0D-36AC-C236-8061913518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840" y="1830039"/>
            <a:ext cx="4791492" cy="48245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1832F93-0E1B-65EF-A1BB-F020EC1B820F}"/>
              </a:ext>
            </a:extLst>
          </p:cNvPr>
          <p:cNvSpPr txBox="1"/>
          <p:nvPr/>
        </p:nvSpPr>
        <p:spPr>
          <a:xfrm>
            <a:off x="490933" y="1465039"/>
            <a:ext cx="41633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Smooth kernel density with marginal histograms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08652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8E4F1-FED3-9C83-19AF-9E59E4C9F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0488456-27E5-BF62-A9E2-DF222DCF85D5}"/>
              </a:ext>
            </a:extLst>
          </p:cNvPr>
          <p:cNvSpPr/>
          <p:nvPr/>
        </p:nvSpPr>
        <p:spPr>
          <a:xfrm>
            <a:off x="549796" y="2538126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35E3C63-50ED-8E84-C8E2-9646A70AC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395F424-19FC-3256-E8D0-D757E895DBDB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73997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66E70-34EB-0C3F-F0E4-511E719A77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2C2CE0A-4F75-02C8-46D1-9E791D348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198F10-51EE-9A67-5F61-2A00C33E2DBA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4" name="Picture 6">
            <a:extLst>
              <a:ext uri="{FF2B5EF4-FFF2-40B4-BE49-F238E27FC236}">
                <a16:creationId xmlns:a16="http://schemas.microsoft.com/office/drawing/2014/main" id="{E9A46731-E4C7-5727-B150-47F02419F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6460" y="1616461"/>
            <a:ext cx="5435897" cy="46658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3148E4A-B3B0-586F-1DE8-E19CB2D4077C}"/>
              </a:ext>
            </a:extLst>
          </p:cNvPr>
          <p:cNvSpPr txBox="1"/>
          <p:nvPr/>
        </p:nvSpPr>
        <p:spPr>
          <a:xfrm>
            <a:off x="338480" y="908720"/>
            <a:ext cx="11588580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이하인 경우에서 날개의 길이에 대한 조건부확률을 확률밀도함수로 시각화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(1/2)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060" name="Picture 12">
            <a:extLst>
              <a:ext uri="{FF2B5EF4-FFF2-40B4-BE49-F238E27FC236}">
                <a16:creationId xmlns:a16="http://schemas.microsoft.com/office/drawing/2014/main" id="{62F00511-FD76-49AB-7880-6A76D2E585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442" y="1643014"/>
            <a:ext cx="5465100" cy="46392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35945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0FAF3-4CB9-BECF-483D-600C95920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6EF1691-468D-099A-46B1-58B14A0314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A352C2-66CD-CAE7-94E4-26FF0A683EB2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EA1AC3BD-6565-1884-E002-03A1A38BB7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4063" y="1632195"/>
            <a:ext cx="5525102" cy="4690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5409503A-3995-715E-1826-7FC194EF1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4654" y="1628800"/>
            <a:ext cx="5435897" cy="46547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5CA785-F20C-4612-D30B-1C288EC4E701}"/>
              </a:ext>
            </a:extLst>
          </p:cNvPr>
          <p:cNvSpPr txBox="1"/>
          <p:nvPr/>
        </p:nvSpPr>
        <p:spPr>
          <a:xfrm>
            <a:off x="338480" y="908720"/>
            <a:ext cx="11588580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확률밀도함수로 시각화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(2/2)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4700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05F1E-F796-5B86-BB6D-1DE3E96BA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6DD476-E7B1-A9F8-818B-592447BC5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C2A59E69-1EBF-6473-FA56-31829809BB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931" y="2060848"/>
            <a:ext cx="10499133" cy="4295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AC3C7-4124-E1BC-E58C-1975BFACDB0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C4832A0-F0BF-374A-D564-5BA5865EAE85}"/>
              </a:ext>
            </a:extLst>
          </p:cNvPr>
          <p:cNvSpPr txBox="1"/>
          <p:nvPr/>
        </p:nvSpPr>
        <p:spPr>
          <a:xfrm>
            <a:off x="338480" y="1005885"/>
            <a:ext cx="11588580" cy="8697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부리길이가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이하와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50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이상인 경우에서 날개의 길이에 대한 조건부확률을 시각화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범위를 좁히면 히스토그램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확률밀도함수가 변하는 것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BB3ED63-FE5D-9994-B67A-770A8624D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802" y="2574157"/>
            <a:ext cx="1886298" cy="145064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FB7F972-34E1-4141-72BE-842F5F835B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4732" y="2626430"/>
            <a:ext cx="2133000" cy="1450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24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E7798-07DC-FE7E-30AA-DA0A29AE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0B41B6C-9F4C-8B94-632A-0CD19CF4E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9B8E04-000F-5C87-7A56-5BE6CF433C28}"/>
              </a:ext>
            </a:extLst>
          </p:cNvPr>
          <p:cNvSpPr txBox="1"/>
          <p:nvPr/>
        </p:nvSpPr>
        <p:spPr>
          <a:xfrm>
            <a:off x="1383587" y="1906012"/>
            <a:ext cx="252986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Joint kernel density estimate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1C0E21B-638F-5751-E709-85C0F8E75B6C}"/>
              </a:ext>
            </a:extLst>
          </p:cNvPr>
          <p:cNvSpPr txBox="1"/>
          <p:nvPr/>
        </p:nvSpPr>
        <p:spPr>
          <a:xfrm>
            <a:off x="6598468" y="1906012"/>
            <a:ext cx="37914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Britannic Bold" panose="020B0903060703020204" pitchFamily="34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Joint kernel density estimate</a:t>
            </a:r>
            <a:r>
              <a:rPr lang="en-US" altLang="ko-KR" sz="1400" dirty="0">
                <a:latin typeface="Britannic Bold" panose="020B0903060703020204" pitchFamily="34" charset="0"/>
              </a:rPr>
              <a:t>(hue =“species”)</a:t>
            </a:r>
            <a:endParaRPr lang="ko-KR" altLang="en-US" sz="1400" dirty="0">
              <a:latin typeface="Britannic Bold" panose="020B0903060703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BDBAD1-9294-DC49-5057-2D5162AB55EE}"/>
              </a:ext>
            </a:extLst>
          </p:cNvPr>
          <p:cNvSpPr txBox="1"/>
          <p:nvPr/>
        </p:nvSpPr>
        <p:spPr>
          <a:xfrm>
            <a:off x="490880" y="980728"/>
            <a:ext cx="11588580" cy="743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penguin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데이터에서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Chinstrap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종을 제외하고 종의 구분이 없는 경우와 있는 경우의 전체분포와 조건부 분포를 시각화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종의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구분에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따라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KDE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분포가 달라지는 것을 확인   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453F01-12DE-A1AA-9FA0-E02D648A6410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조건부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(Conditional distributions)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A2262D-A87E-8995-D384-602F9F8522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8978" y="2275344"/>
            <a:ext cx="4143375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29DC385-D588-F68C-1F46-6F38DF142A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7396" y="2286367"/>
            <a:ext cx="4143376" cy="4186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8493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419D0-2FDC-16D8-548C-E22332E56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90D8AA-8BC3-384F-3764-C1E73140B29F}"/>
              </a:ext>
            </a:extLst>
          </p:cNvPr>
          <p:cNvSpPr/>
          <p:nvPr/>
        </p:nvSpPr>
        <p:spPr>
          <a:xfrm>
            <a:off x="549796" y="3114190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EAB4A4B-43B1-86F2-5D53-994D5814B3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46FC76-358A-A88D-A4DC-DEFFF8B417C9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7129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D48443-75BE-9871-0739-0896D3DD3D33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결합확률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(joint distributions)</a:t>
            </a:r>
            <a:endParaRPr lang="ko-KR" altLang="en-US" sz="32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7A033E8-7497-399B-7ED7-D83E6988BE68}"/>
              </a:ext>
            </a:extLst>
          </p:cNvPr>
          <p:cNvSpPr txBox="1"/>
          <p:nvPr/>
        </p:nvSpPr>
        <p:spPr>
          <a:xfrm>
            <a:off x="338480" y="1005885"/>
            <a:ext cx="11588580" cy="414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동전과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주사위를 던졌을 때 동전 앞면과 주사위의 수자가 짝수가 나올 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결합확률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)?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F26D2F1C-13C2-7A5E-20F8-DEC1B703D5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996" y="2204864"/>
            <a:ext cx="6264696" cy="4277786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DF05CFF5-0ACF-1D02-6742-22846750DFB2}"/>
              </a:ext>
            </a:extLst>
          </p:cNvPr>
          <p:cNvSpPr/>
          <p:nvPr/>
        </p:nvSpPr>
        <p:spPr>
          <a:xfrm>
            <a:off x="3574132" y="3212976"/>
            <a:ext cx="648072" cy="5040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90E5466E-443E-A97E-011D-A08F7A137835}"/>
              </a:ext>
            </a:extLst>
          </p:cNvPr>
          <p:cNvSpPr/>
          <p:nvPr/>
        </p:nvSpPr>
        <p:spPr>
          <a:xfrm>
            <a:off x="3574132" y="4293096"/>
            <a:ext cx="648072" cy="5040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49B786E-AE08-9372-3173-F9EFFACDEE22}"/>
              </a:ext>
            </a:extLst>
          </p:cNvPr>
          <p:cNvSpPr/>
          <p:nvPr/>
        </p:nvSpPr>
        <p:spPr>
          <a:xfrm>
            <a:off x="3574132" y="5373216"/>
            <a:ext cx="648072" cy="5040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73BAC-720D-87BB-EAA7-730F4625F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BD8E640-463B-7E86-FADD-2FC0076FE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9864CA5-78A6-6583-F034-8DF3E7E2452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결합확률</a:t>
            </a:r>
            <a:r>
              <a:rPr lang="en-US" altLang="ko-KR" sz="3200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(joint distributions)</a:t>
            </a:r>
            <a:endParaRPr lang="ko-KR" altLang="en-US" sz="3200" b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7D7DA8-EB40-CC7E-60ED-3BAE167DDC85}"/>
              </a:ext>
            </a:extLst>
          </p:cNvPr>
          <p:cNvSpPr txBox="1"/>
          <p:nvPr/>
        </p:nvSpPr>
        <p:spPr>
          <a:xfrm>
            <a:off x="338480" y="1005885"/>
            <a:ext cx="11588580" cy="415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앞면과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주사위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나올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1/2 * 1/6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동전과 주사위가 나올 확률을 곱한다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5C700C0-8873-0ACA-48DA-B76F580B0A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77988" y="1963863"/>
            <a:ext cx="8052895" cy="439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610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4B49E-8DE0-447C-5C4F-CED65C391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26BA9F5B-E661-1F9C-4100-D698438A5CC1}"/>
              </a:ext>
            </a:extLst>
          </p:cNvPr>
          <p:cNvSpPr/>
          <p:nvPr/>
        </p:nvSpPr>
        <p:spPr>
          <a:xfrm>
            <a:off x="549796" y="3762262"/>
            <a:ext cx="8136904" cy="6748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9FA1B26-DC49-91C6-6DDB-18EF223A0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B17D90-540E-FE62-C6A0-B2BD4C0E315D}"/>
              </a:ext>
            </a:extLst>
          </p:cNvPr>
          <p:cNvSpPr txBox="1"/>
          <p:nvPr/>
        </p:nvSpPr>
        <p:spPr>
          <a:xfrm>
            <a:off x="1629916" y="620688"/>
            <a:ext cx="8928992" cy="5131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ko-KR" altLang="en-US" sz="4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결합확률분포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(Joint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조건부확률분포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(Conditional Probability</a:t>
            </a: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Distribution)</a:t>
            </a: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확률의 이해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r>
              <a:rPr lang="ko-KR" altLang="en-US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문제풀이</a:t>
            </a: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200000"/>
              </a:lnSpc>
              <a:buAutoNum type="arabicPeriod"/>
            </a:pPr>
            <a:endParaRPr lang="en-US" altLang="ko-KR" sz="20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>
              <a:lnSpc>
                <a:spcPct val="200000"/>
              </a:lnSpc>
            </a:pPr>
            <a:endParaRPr lang="ko-KR" altLang="en-US" sz="28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783400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2B9FD-6CF7-E754-B109-FC446EE034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E5AD546-E2AE-DC45-4882-656344547B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ACC3B7-FB12-6E26-92DE-A7C905718A63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2A5EE73-D32C-9EB5-7BF4-979657F5F594}"/>
              </a:ext>
            </a:extLst>
          </p:cNvPr>
          <p:cNvSpPr txBox="1"/>
          <p:nvPr/>
        </p:nvSpPr>
        <p:spPr>
          <a:xfrm>
            <a:off x="693811" y="1052736"/>
            <a:ext cx="10945216" cy="506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1, 2, 3, 4, 5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각각의 데이터는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Cluster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 어디에 속할까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시각화 그림에 대해 토론하라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8D7AB43-DF89-3BD3-85A6-F5BC7A6A23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3811" y="2132856"/>
            <a:ext cx="5174579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398DCFD-949D-CDDA-D1EE-BC24E69F75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8060" y="2132856"/>
            <a:ext cx="4152856" cy="41624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11DEB08-E888-0609-EDF3-3513CEC998A0}"/>
              </a:ext>
            </a:extLst>
          </p:cNvPr>
          <p:cNvSpPr txBox="1"/>
          <p:nvPr/>
        </p:nvSpPr>
        <p:spPr>
          <a:xfrm>
            <a:off x="1172929" y="2428146"/>
            <a:ext cx="268923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from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scipy.stats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 import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1: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(1, 1),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원형 분포 </a:t>
            </a:r>
            <a:endParaRPr lang="en-US" altLang="ko-KR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rv1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([1, 1], [[0.5, 0], [0, 0.5]])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#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클러스터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2: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중심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(3, 3), 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타원 분포 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</a:t>
            </a:r>
            <a:r>
              <a:rPr lang="ko-KR" altLang="en-US" sz="900" dirty="0">
                <a:solidFill>
                  <a:schemeClr val="bg1"/>
                </a:solidFill>
                <a:latin typeface="Arial Narrow" panose="020B0606020202030204" pitchFamily="34" charset="0"/>
              </a:rPr>
              <a:t>공분산 활용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) </a:t>
            </a:r>
          </a:p>
          <a:p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rv2 = </a:t>
            </a:r>
            <a:r>
              <a:rPr lang="en-US" altLang="ko-KR" sz="900" dirty="0" err="1">
                <a:solidFill>
                  <a:schemeClr val="bg1"/>
                </a:solidFill>
                <a:latin typeface="Arial Narrow" panose="020B0606020202030204" pitchFamily="34" charset="0"/>
              </a:rPr>
              <a:t>multivariate_normal</a:t>
            </a:r>
            <a:r>
              <a:rPr lang="en-US" altLang="ko-KR" sz="900" dirty="0">
                <a:solidFill>
                  <a:schemeClr val="bg1"/>
                </a:solidFill>
                <a:latin typeface="Arial Narrow" panose="020B0606020202030204" pitchFamily="34" charset="0"/>
              </a:rPr>
              <a:t>([3, 3], [[1.5, 0.8], [0.8, 0.6]]) </a:t>
            </a:r>
            <a:endParaRPr lang="ko-KR" altLang="en-US" sz="900" dirty="0">
              <a:solidFill>
                <a:schemeClr val="bg1"/>
              </a:solidFill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31352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25FE7E-2B7D-A71D-4FD2-830B605E6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880AE1D-BFBF-DF84-0F66-5CF026310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AF0CA0-5595-AC6D-B083-3EBAE23A9614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CB6E98-D7DF-2326-D250-C71DB2B73F1C}"/>
              </a:ext>
            </a:extLst>
          </p:cNvPr>
          <p:cNvSpPr txBox="1"/>
          <p:nvPr/>
        </p:nvSpPr>
        <p:spPr>
          <a:xfrm>
            <a:off x="909836" y="875966"/>
            <a:ext cx="10945216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1,2, 3, 4, 5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각각의 데이터는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Cluster 1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중에 어디에 속할까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시각화 그림에 대해 토론하라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값이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일 경우 어디에 속하는지 수자로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확률로 제시할 수 있을까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62ADCD0-BC77-3149-39F3-DCDB65091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64" y="2276872"/>
            <a:ext cx="4939310" cy="39732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0163F9-90B9-A8F1-5718-71EF8A59C8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2364" y="2319014"/>
            <a:ext cx="6351438" cy="2982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F4117D-32C9-4924-938F-DAEAFD3031F0}"/>
              </a:ext>
            </a:extLst>
          </p:cNvPr>
          <p:cNvSpPr txBox="1"/>
          <p:nvPr/>
        </p:nvSpPr>
        <p:spPr>
          <a:xfrm>
            <a:off x="5662363" y="5445224"/>
            <a:ext cx="635143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ü"/>
            </a:pPr>
            <a:r>
              <a:rPr lang="ko-KR" altLang="en-US" sz="1400" dirty="0" err="1"/>
              <a:t>러그</a:t>
            </a:r>
            <a:r>
              <a:rPr lang="ko-KR" altLang="en-US" sz="1400" dirty="0"/>
              <a:t> 플롯</a:t>
            </a:r>
            <a:r>
              <a:rPr lang="en-US" altLang="ko-KR" sz="1400" dirty="0"/>
              <a:t>(Rug Plot) : 2</a:t>
            </a:r>
            <a:r>
              <a:rPr lang="ko-KR" altLang="en-US" sz="1400" dirty="0"/>
              <a:t>차원 공간</a:t>
            </a:r>
            <a:r>
              <a:rPr lang="en-US" altLang="ko-KR" sz="1400" dirty="0"/>
              <a:t>(X, Y)</a:t>
            </a:r>
            <a:r>
              <a:rPr lang="ko-KR" altLang="en-US" sz="1400" dirty="0"/>
              <a:t>에 흩어져 있는 점들을 </a:t>
            </a:r>
            <a:r>
              <a:rPr lang="en-US" altLang="ko-KR" sz="1400" dirty="0"/>
              <a:t>Y</a:t>
            </a:r>
            <a:r>
              <a:rPr lang="ko-KR" altLang="en-US" sz="1400" dirty="0"/>
              <a:t>축 값을 무시하고 </a:t>
            </a:r>
            <a:r>
              <a:rPr lang="en-US" altLang="ko-KR" sz="1400" dirty="0"/>
              <a:t>X</a:t>
            </a:r>
            <a:r>
              <a:rPr lang="ko-KR" altLang="en-US" sz="1400" dirty="0"/>
              <a:t>축 바닥으로 뚝 떨어뜨려</a:t>
            </a:r>
            <a:r>
              <a:rPr lang="en-US" altLang="ko-KR" sz="1400" dirty="0"/>
              <a:t>(</a:t>
            </a:r>
            <a:r>
              <a:rPr lang="ko-KR" altLang="en-US" sz="1400" dirty="0"/>
              <a:t>투영시켜</a:t>
            </a:r>
            <a:r>
              <a:rPr lang="en-US" altLang="ko-KR" sz="1400" dirty="0"/>
              <a:t>), </a:t>
            </a:r>
            <a:r>
              <a:rPr lang="ko-KR" altLang="en-US" sz="1400" dirty="0"/>
              <a:t>실제 데이터가 어느 지점에 밀집해 있는지를 직선상의 눈금으로 표시</a:t>
            </a:r>
          </a:p>
        </p:txBody>
      </p:sp>
    </p:spTree>
    <p:extLst>
      <p:ext uri="{BB962C8B-B14F-4D97-AF65-F5344CB8AC3E}">
        <p14:creationId xmlns:p14="http://schemas.microsoft.com/office/powerpoint/2010/main" val="298990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1838</TotalTime>
  <Words>1366</Words>
  <Application>Microsoft Office PowerPoint</Application>
  <PresentationFormat>사용자 지정</PresentationFormat>
  <Paragraphs>182</Paragraphs>
  <Slides>29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43" baseType="lpstr">
      <vt:lpstr>맑은 고딕</vt:lpstr>
      <vt:lpstr>맑은 고딕 Semilight</vt:lpstr>
      <vt:lpstr>한컴 말랑말랑 Bold</vt:lpstr>
      <vt:lpstr>휴먼모음T</vt:lpstr>
      <vt:lpstr>ADLaM Display</vt:lpstr>
      <vt:lpstr>Arial</vt:lpstr>
      <vt:lpstr>Arial Narrow</vt:lpstr>
      <vt:lpstr>Britannic Bold</vt:lpstr>
      <vt:lpstr>Calibri Light</vt:lpstr>
      <vt:lpstr>Cambria</vt:lpstr>
      <vt:lpstr>Cambria Math</vt:lpstr>
      <vt:lpstr>Corbel</vt:lpstr>
      <vt:lpstr>Wingdings</vt:lpstr>
      <vt:lpstr>마케팅 16x9</vt:lpstr>
      <vt:lpstr>통계와 확률  - 확률론에 들어가기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조상구</cp:lastModifiedBy>
  <cp:revision>51</cp:revision>
  <dcterms:created xsi:type="dcterms:W3CDTF">2024-06-03T06:10:16Z</dcterms:created>
  <dcterms:modified xsi:type="dcterms:W3CDTF">2026-03-24T05:02:03Z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