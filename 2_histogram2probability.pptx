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2"/>
  </p:notesMasterIdLst>
  <p:handoutMasterIdLst>
    <p:handoutMasterId r:id="rId43"/>
  </p:handoutMasterIdLst>
  <p:sldIdLst>
    <p:sldId id="256" r:id="rId5"/>
    <p:sldId id="324" r:id="rId6"/>
    <p:sldId id="338" r:id="rId7"/>
    <p:sldId id="302" r:id="rId8"/>
    <p:sldId id="340" r:id="rId9"/>
    <p:sldId id="341" r:id="rId10"/>
    <p:sldId id="326" r:id="rId11"/>
    <p:sldId id="329" r:id="rId12"/>
    <p:sldId id="308" r:id="rId13"/>
    <p:sldId id="330" r:id="rId14"/>
    <p:sldId id="331" r:id="rId15"/>
    <p:sldId id="335" r:id="rId16"/>
    <p:sldId id="336" r:id="rId17"/>
    <p:sldId id="327" r:id="rId18"/>
    <p:sldId id="328" r:id="rId19"/>
    <p:sldId id="332" r:id="rId20"/>
    <p:sldId id="270" r:id="rId21"/>
    <p:sldId id="334" r:id="rId22"/>
    <p:sldId id="333" r:id="rId23"/>
    <p:sldId id="337" r:id="rId24"/>
    <p:sldId id="312" r:id="rId25"/>
    <p:sldId id="313" r:id="rId26"/>
    <p:sldId id="314" r:id="rId27"/>
    <p:sldId id="356" r:id="rId28"/>
    <p:sldId id="352" r:id="rId29"/>
    <p:sldId id="353" r:id="rId30"/>
    <p:sldId id="354" r:id="rId31"/>
    <p:sldId id="355" r:id="rId32"/>
    <p:sldId id="357" r:id="rId33"/>
    <p:sldId id="342" r:id="rId34"/>
    <p:sldId id="347" r:id="rId35"/>
    <p:sldId id="343" r:id="rId36"/>
    <p:sldId id="345" r:id="rId37"/>
    <p:sldId id="346" r:id="rId38"/>
    <p:sldId id="344" r:id="rId39"/>
    <p:sldId id="348" r:id="rId40"/>
    <p:sldId id="350" r:id="rId41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>
        <p:scale>
          <a:sx n="75" d="100"/>
          <a:sy n="75" d="100"/>
        </p:scale>
        <p:origin x="1267" y="27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2026-03-26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2026-03-26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359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B54B5-590A-2479-5223-33883286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1FB4FA-2D77-F113-2E39-921529EDA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CB6119-00F8-12BA-16DA-85CC1E3BB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E365D-FE81-1932-B100-D8C6516292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0895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F81B-CB31-7520-3EE7-553AF4679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91870D-CD75-0D49-61BE-5E96703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07D5D-B6CF-0255-CFC3-2D0990AEB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7FF11-BC9D-81CC-28FB-6E8527DCB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12160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CDCA-6759-158B-FF35-AF6DE089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944C0-1525-8E80-31F9-84E93B491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DCD89-100B-5F15-9D63-96D442C6E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D52EE5-4C62-D3FF-3EEA-65CD47D0D9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659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1C92-92CB-6BE8-4DA6-052441C6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DCE9D-CF12-F6D3-37E2-0B82EF8C6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FEB9-C7EF-D5D2-7C18-BC3EB5695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D5893-CE19-500D-2558-5CF1341FC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11370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576F-1D01-3984-7371-93D37058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6FBFDE-1441-1A58-B6CF-124A0B8D3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C1F405-621A-0C48-99FD-416192F57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309E8A-9401-0798-4930-F922ADFBEF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55552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0D87D-17A6-9E3E-F9D9-AA8ED3B4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7F3C4-094D-0782-2A84-5153DF6BC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B08AE-B15A-DBDA-62FA-019223FA3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754-A92A-CA6A-D941-D6E4E4C1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836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68EC-F2DC-26A8-D8E8-8A5DA29E5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F9880A-1140-0FAA-D484-DC44C6A24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E6730-D7DF-5F69-282A-BB7C916AD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E3FBA-3D16-082D-CFFC-413BA1B40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19860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FDBB8-704B-8B99-372F-1580163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89D06-3D3E-AE0D-8D6A-24E77B82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8F4474-360F-218E-C458-6B1616363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AEB69F-4B0E-07A1-756A-77225AF22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52899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3BBD-A9D1-EAD0-4ABD-EF3EE595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41FB98-6E70-56DE-D99C-6C67CCB160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1D7A4F-F09B-9B32-85C0-40088E9A5B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9C65BD-8C7A-8503-3490-EB8170B098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953745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3597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3C001-B4BF-9A4C-FC47-6A36AB3A7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364C27-3D53-BD83-473D-D78C1795C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533C0B-7AC3-1E46-8C98-FE5B44D263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21A3B8-4F6C-8447-64DB-25CAAB10CA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287496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30C78-DDB4-1E78-B620-B382326F9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4DE563C-B605-BF0F-0F4B-80F6258F85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BF9B86-0098-F157-B802-04DFAE906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614E2E-9079-4C48-51CC-3B2012E383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7494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6B6FF9-318A-C4B8-29DD-4BD04E7ED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D609D2-71F3-58BC-AEEC-5A1A56FFC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119521-7442-A3DE-317E-4657EC5116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BEBE56-AB22-B63D-CA87-CE96C91137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119028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B32FB-3EB0-AEBC-E40F-BB33BC9F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4E683-FE2F-BB63-1EB7-864D91D47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291276-1DA3-899E-6069-E2B42996E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AFABCD-20B6-37FA-41D5-F50DF3BD6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86141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1B0D6-A4AD-994F-1367-2754FEA37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45874B-3F3C-47C5-D0DD-0FFD71D3A6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54D28-BFFF-A11D-50D8-0008EB149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9E205E-CDD0-1877-858F-4FD8A214CE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62192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64BAA-A917-A39A-1229-BCCAA2E1A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090AB-C752-2E42-A6BB-40D09D7F6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A4F9E0-DE04-E22E-C490-7B3A708DB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31026-CACC-B009-6F0E-0E370FCFBD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44927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F873-EB0E-28FA-E976-8EF0A488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037E07-5777-D234-DA19-41F1575DA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8513D8-E2AB-E367-5122-73F0F8CEC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BE07F-8370-13D0-C9F3-F9E1E23CB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49714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2E22F-006A-C137-73D0-37043EFCE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475C01-7D6A-3A67-C950-C71725D26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F48C6-8DFC-F9C2-8200-5015F5A2F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BA67BF-4A4B-69F5-3BEF-F67995ACBE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43197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47F29-903A-491E-F84E-ACD475DBC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F54D30-5558-16BE-5C29-BD697440D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B9D372-E36C-03F3-E4EF-9A11D6FC6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ADE4FF-1675-7A3B-A914-A051B340FC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5128555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3F763-5BBB-8DC6-D182-705D2BEA0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889BA0-2D8E-E088-D04F-FE16D44AE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21449C-A84E-FC7A-F985-9B2733CD5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3525E9-1CE1-4591-8228-62ACBE9E75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11503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F2664-A999-DB12-55D9-A807D7EA5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D66684-8FD3-F45B-8CCF-D17CCA7F6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87F7D0-2734-AACF-E8A7-B644123B79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A23582-4684-FFA8-8372-3EC1895FB04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3017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2026-03-26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2026-03-26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2026-03-26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neighbors/plot_kde_1d.html" TargetMode="Externa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seaborn.pydata.org/examples/layered_bivariate_plot.html" TargetMode="External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regression_marginals.html" TargetMode="External"/><Relationship Id="rId5" Type="http://schemas.openxmlformats.org/officeDocument/2006/relationships/image" Target="../media/image11.png"/><Relationship Id="rId4" Type="http://schemas.openxmlformats.org/officeDocument/2006/relationships/hyperlink" Target="https://seaborn.pydata.org/examples/marginal_ticks.html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hyperlink" Target="https://seaborn.pydata.org/examples/joint_histogram.html" TargetMode="Externa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hexbin_marginals.html" TargetMode="External"/><Relationship Id="rId5" Type="http://schemas.openxmlformats.org/officeDocument/2006/relationships/image" Target="../media/image17.png"/><Relationship Id="rId4" Type="http://schemas.openxmlformats.org/officeDocument/2006/relationships/hyperlink" Target="https://seaborn.pydata.org/examples/scatterplot_matrix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hexbin_marginals.html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joint_kde.html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joint_kde.html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kaggle.com/code/shakedzy/alone-in-the-woods-using-theil-s-u-for-surviva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ancestor9/data/blob/main/customers.csv" TargetMode="External"/><Relationship Id="rId4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cestor9/mathematics-for-machine-learning/blob/main/scripts/solution_02_Joint_kernel_density_anomaly_detection.ipynb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neighbors.html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modules/generated/sklearn.ensemble.IsolationForest.html" TargetMode="External"/><Relationship Id="rId4" Type="http://schemas.openxmlformats.org/officeDocument/2006/relationships/hyperlink" Target="https://scikit-learn.org/stable/auto_examples/neighbors/plot_lof_outlier_detection.html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cestor9/mathematics-for-machine-learning/blob/main/scripts/Unsupervised_clustering_Kmeans_DBSCAN.ipynb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unsupervised_learning.html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gi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gif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gi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gif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gi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gi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unsupervised_learning.html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확률론에 들어가기 전 </a:t>
            </a:r>
            <a:r>
              <a:rPr lang="en-US" altLang="ko-KR" sz="24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1095758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C62203-0371-F9F6-8F12-C596F999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2553534"/>
            <a:ext cx="8064896" cy="387902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달라지기 때문에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연속적인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 가정하여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적용하면 예측이 가능</a:t>
            </a:r>
          </a:p>
        </p:txBody>
      </p:sp>
      <p:pic>
        <p:nvPicPr>
          <p:cNvPr id="1026" name="Picture 2" descr="plot kde 1d">
            <a:extLst>
              <a:ext uri="{FF2B5EF4-FFF2-40B4-BE49-F238E27FC236}">
                <a16:creationId xmlns:a16="http://schemas.microsoft.com/office/drawing/2014/main" id="{7DD449E0-BF33-C8A4-69AA-AAAD508EC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377109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ot kde 1d">
            <a:extLst>
              <a:ext uri="{FF2B5EF4-FFF2-40B4-BE49-F238E27FC236}">
                <a16:creationId xmlns:a16="http://schemas.microsoft.com/office/drawing/2014/main" id="{6B677B4F-53D9-EB2B-C7F6-8CED5714B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90" y="2377109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645A50-527F-186B-8338-EA016CE6D133}"/>
              </a:ext>
            </a:extLst>
          </p:cNvPr>
          <p:cNvSpPr txBox="1"/>
          <p:nvPr/>
        </p:nvSpPr>
        <p:spPr>
          <a:xfrm>
            <a:off x="691571" y="2069332"/>
            <a:ext cx="1152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plot_kde_1d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</a:t>
            </a:r>
            <a:r>
              <a:rPr lang="en-US" altLang="ko-KR" sz="3200" b="1" dirty="0"/>
              <a:t>, KDE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242768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5E62-CB36-B827-1BA3-B4530182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725E7A9-F779-E0D4-E4FF-DA785031A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298B6-F9BF-8EE5-F13A-B2F536F59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974" y="2930054"/>
            <a:ext cx="350643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C7664B-19D9-BD9B-4CC7-7D60AF9607BA}"/>
              </a:ext>
            </a:extLst>
          </p:cNvPr>
          <p:cNvSpPr txBox="1"/>
          <p:nvPr/>
        </p:nvSpPr>
        <p:spPr>
          <a:xfrm>
            <a:off x="621804" y="2617167"/>
            <a:ext cx="1641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Discrete Joint Plot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E53B17-5AC6-45F6-19EE-96D6EFCB3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7557" y="2910836"/>
            <a:ext cx="3458001" cy="3451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9C23A7-9FCE-2692-4C79-DBBB60AD1278}"/>
              </a:ext>
            </a:extLst>
          </p:cNvPr>
          <p:cNvSpPr txBox="1"/>
          <p:nvPr/>
        </p:nvSpPr>
        <p:spPr>
          <a:xfrm>
            <a:off x="4510236" y="2617167"/>
            <a:ext cx="18181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Marginals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610D1B8-7160-0BE0-C302-F6BD804B7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4917" y="2897390"/>
            <a:ext cx="358715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E8D5E9-121C-8D0D-0028-9D6B92654033}"/>
              </a:ext>
            </a:extLst>
          </p:cNvPr>
          <p:cNvSpPr txBox="1"/>
          <p:nvPr/>
        </p:nvSpPr>
        <p:spPr>
          <a:xfrm>
            <a:off x="8267220" y="2578986"/>
            <a:ext cx="2416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Joint Distribution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BD4D45-8A72-602D-1D37-DF2882666861}"/>
              </a:ext>
            </a:extLst>
          </p:cNvPr>
          <p:cNvSpPr txBox="1"/>
          <p:nvPr/>
        </p:nvSpPr>
        <p:spPr>
          <a:xfrm>
            <a:off x="621804" y="980728"/>
            <a:ext cx="10957580" cy="138082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아래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3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개의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Plots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을 차례대로 자세히 설명하라</a:t>
            </a:r>
            <a:endParaRPr lang="en-US" altLang="ko-KR" sz="16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mpg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축의 데이터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projection,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원의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크기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+mj-ea"/>
                <a:ea typeface="+mj-ea"/>
                <a:cs typeface="맑은 고딕 Semilight" panose="020B0502040204020203" pitchFamily="50" charset="-127"/>
              </a:rPr>
              <a:t>total_bill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KDE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discrete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와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continuous data type,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직선과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직선 주변의 폭 등의 의미</a:t>
            </a:r>
            <a:endParaRPr lang="en-US" altLang="ko-KR" sz="16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연속결합분포의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X, y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의 각각의 평균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공분산을 변화시키면서 등고선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자료의 퍼짐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방향 등에 대해 토론하라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F44713-66FD-7632-BE2B-EF2921C7532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52568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38B9-4195-271B-F272-05A2536D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FA146E-6A35-D140-39B9-7BE9A5FE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21179-F9A4-0781-E59A-8482B8B0AAB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Joint &amp; marginal histograms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AF047A-324A-5D47-FF11-216D60B123AB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천문학자들이 외계 행성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(Exoplanets)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발견한 기록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발견년도와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태양계로 부터의 거리의 시각화를 셀의 흑백농도를 중심으로 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동시확률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관점으로 해석하라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DDB8136B-12C4-CB2C-48F8-C520F1709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320" y="2233055"/>
            <a:ext cx="4394499" cy="436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1311A97-5308-C590-3D6E-7D50680CC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4338" y="2139024"/>
            <a:ext cx="2407280" cy="1898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3AA0C-6A6D-099B-EE5F-974060402A4F}"/>
              </a:ext>
            </a:extLst>
          </p:cNvPr>
          <p:cNvSpPr txBox="1"/>
          <p:nvPr/>
        </p:nvSpPr>
        <p:spPr>
          <a:xfrm>
            <a:off x="7891557" y="1831247"/>
            <a:ext cx="2321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sns.histplot</a:t>
            </a:r>
            <a:r>
              <a:rPr lang="en-US" altLang="ko-KR" sz="1400" dirty="0">
                <a:latin typeface="Britannic Bold" panose="020B0903060703020204" pitchFamily="34" charset="0"/>
              </a:rPr>
              <a:t>(discrete=True)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4989-4E1E-D890-423E-B6FB7D38B1AB}"/>
              </a:ext>
            </a:extLst>
          </p:cNvPr>
          <p:cNvSpPr txBox="1"/>
          <p:nvPr/>
        </p:nvSpPr>
        <p:spPr>
          <a:xfrm>
            <a:off x="909836" y="1873014"/>
            <a:ext cx="1489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joint_histogram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6D913-0B01-E354-6F96-A7108311FCC1}"/>
              </a:ext>
            </a:extLst>
          </p:cNvPr>
          <p:cNvSpPr txBox="1"/>
          <p:nvPr/>
        </p:nvSpPr>
        <p:spPr>
          <a:xfrm>
            <a:off x="7888209" y="4345492"/>
            <a:ext cx="29375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g.ax_joint.set</a:t>
            </a:r>
            <a:r>
              <a:rPr lang="en-US" altLang="ko-KR" sz="1400" dirty="0">
                <a:latin typeface="Britannic Bold" panose="020B0903060703020204" pitchFamily="34" charset="0"/>
              </a:rPr>
              <a:t>(</a:t>
            </a:r>
            <a:r>
              <a:rPr lang="en-US" altLang="ko-KR" sz="1400" dirty="0" err="1">
                <a:latin typeface="Britannic Bold" panose="020B0903060703020204" pitchFamily="34" charset="0"/>
              </a:rPr>
              <a:t>yscale</a:t>
            </a:r>
            <a:r>
              <a:rPr lang="en-US" altLang="ko-KR" sz="1400" dirty="0">
                <a:latin typeface="Britannic Bold" panose="020B0903060703020204" pitchFamily="34" charset="0"/>
              </a:rPr>
              <a:t>="log")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A634B299-49D6-52DE-08AC-3B5F6FDBB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64" y="4653136"/>
            <a:ext cx="2439718" cy="194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093A3CA7-10F6-B4D7-2B88-086C54CAC0FB}"/>
              </a:ext>
            </a:extLst>
          </p:cNvPr>
          <p:cNvCxnSpPr>
            <a:cxnSpLocks/>
            <a:endCxn id="4100" idx="1"/>
          </p:cNvCxnSpPr>
          <p:nvPr/>
        </p:nvCxnSpPr>
        <p:spPr>
          <a:xfrm>
            <a:off x="4150196" y="2420888"/>
            <a:ext cx="3764142" cy="66751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C8F46F1F-8EEB-CFD0-59E5-180DB3842FE3}"/>
              </a:ext>
            </a:extLst>
          </p:cNvPr>
          <p:cNvCxnSpPr>
            <a:cxnSpLocks/>
          </p:cNvCxnSpPr>
          <p:nvPr/>
        </p:nvCxnSpPr>
        <p:spPr>
          <a:xfrm>
            <a:off x="5014292" y="4751382"/>
            <a:ext cx="2873917" cy="110073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04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Pairplot</a:t>
            </a:r>
            <a:endParaRPr lang="ko-KR" altLang="en-US" sz="32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5F8382-6E2B-3DFF-600B-F2EEAAA5E5BD}"/>
              </a:ext>
            </a:extLst>
          </p:cNvPr>
          <p:cNvGrpSpPr/>
          <p:nvPr/>
        </p:nvGrpSpPr>
        <p:grpSpPr>
          <a:xfrm>
            <a:off x="981844" y="2060848"/>
            <a:ext cx="9509954" cy="4586834"/>
            <a:chOff x="400882" y="992214"/>
            <a:chExt cx="11980731" cy="5778537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252B00A0-9CCA-2DC8-5D52-7E4F521D40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709" y="1447580"/>
              <a:ext cx="6005581" cy="530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5E5745-C1E2-1D24-BB69-4BED482DBA8C}"/>
                </a:ext>
              </a:extLst>
            </p:cNvPr>
            <p:cNvSpPr/>
            <p:nvPr/>
          </p:nvSpPr>
          <p:spPr>
            <a:xfrm>
              <a:off x="693812" y="3861048"/>
              <a:ext cx="1534064" cy="138922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7037C7-933E-A3A7-A4E6-1C0B5AD00A6E}"/>
                </a:ext>
              </a:extLst>
            </p:cNvPr>
            <p:cNvSpPr txBox="1"/>
            <p:nvPr/>
          </p:nvSpPr>
          <p:spPr>
            <a:xfrm>
              <a:off x="400882" y="992214"/>
              <a:ext cx="3271960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sns.pairplot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(</a:t>
              </a:r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df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, hue="species")</a:t>
              </a:r>
              <a:endParaRPr lang="ko-KR" altLang="en-US" sz="1400" dirty="0">
                <a:latin typeface="Britannic Bold" panose="020B0903060703020204" pitchFamily="34" charset="0"/>
              </a:endParaRPr>
            </a:p>
          </p:txBody>
        </p:sp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1653977-6636-3D04-4EB3-D5CE03EBD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3946040"/>
              <a:ext cx="2844059" cy="28247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연결선: 구부러짐 6">
              <a:extLst>
                <a:ext uri="{FF2B5EF4-FFF2-40B4-BE49-F238E27FC236}">
                  <a16:creationId xmlns:a16="http://schemas.microsoft.com/office/drawing/2014/main" id="{B7A2B3B0-A523-FF6A-4790-9BDBEAAF94BC}"/>
                </a:ext>
              </a:extLst>
            </p:cNvPr>
            <p:cNvCxnSpPr>
              <a:cxnSpLocks/>
              <a:stCxn id="4" idx="3"/>
              <a:endCxn id="3074" idx="1"/>
            </p:cNvCxnSpPr>
            <p:nvPr/>
          </p:nvCxnSpPr>
          <p:spPr>
            <a:xfrm>
              <a:off x="2227875" y="4555660"/>
              <a:ext cx="7258839" cy="802736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D26FBB-56B4-174A-C25B-F243F7986FA7}"/>
                </a:ext>
              </a:extLst>
            </p:cNvPr>
            <p:cNvSpPr txBox="1"/>
            <p:nvPr/>
          </p:nvSpPr>
          <p:spPr>
            <a:xfrm>
              <a:off x="9377926" y="3572127"/>
              <a:ext cx="2005747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rtl="0">
                <a:defRPr lang="ko-kr"/>
              </a:defPPr>
              <a:lvl1pPr>
                <a:defRPr sz="1400">
                  <a:latin typeface="Britannic Bold" panose="020B0903060703020204" pitchFamily="34" charset="0"/>
                </a:defRPr>
              </a:lvl1pPr>
            </a:lstStyle>
            <a:p>
              <a:r>
                <a:rPr lang="en-US" altLang="ko-KR" dirty="0" err="1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hexbin_marginals</a:t>
              </a:r>
              <a:endParaRPr lang="ko-KR" altLang="en-US" dirty="0"/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156B5172-BB88-2485-4909-5859E68013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1159732"/>
              <a:ext cx="2894899" cy="22872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C2931DD-8ED4-5AEF-DBB8-05B6F017A1E1}"/>
                </a:ext>
              </a:extLst>
            </p:cNvPr>
            <p:cNvSpPr/>
            <p:nvPr/>
          </p:nvSpPr>
          <p:spPr>
            <a:xfrm>
              <a:off x="693812" y="1401540"/>
              <a:ext cx="1534063" cy="1389222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cxnSp>
          <p:nvCxnSpPr>
            <p:cNvPr id="17" name="연결선: 구부러짐 16">
              <a:extLst>
                <a:ext uri="{FF2B5EF4-FFF2-40B4-BE49-F238E27FC236}">
                  <a16:creationId xmlns:a16="http://schemas.microsoft.com/office/drawing/2014/main" id="{67D18B30-DE1B-E4AC-6DF9-B05D6302466D}"/>
                </a:ext>
              </a:extLst>
            </p:cNvPr>
            <p:cNvCxnSpPr>
              <a:cxnSpLocks/>
              <a:stCxn id="16" idx="3"/>
              <a:endCxn id="3078" idx="1"/>
            </p:cNvCxnSpPr>
            <p:nvPr/>
          </p:nvCxnSpPr>
          <p:spPr>
            <a:xfrm>
              <a:off x="2227875" y="2096150"/>
              <a:ext cx="7258839" cy="207215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AED1783-FAA9-B437-9357-5DA25F9E09DD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오른쪽　상단의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pecies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조건으로 하는 데이터 분포이고 하단의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Hexbin_marginal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구분없이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부리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날개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데이터 분포이고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막대그래프나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곡선의 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Likelihood(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098E6B-8CCB-8548-00BD-D91394A409B5}"/>
              </a:ext>
            </a:extLst>
          </p:cNvPr>
          <p:cNvSpPr txBox="1"/>
          <p:nvPr/>
        </p:nvSpPr>
        <p:spPr>
          <a:xfrm>
            <a:off x="8107558" y="1912267"/>
            <a:ext cx="2523357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Britannic Bold" panose="020B0903060703020204" pitchFamily="34" charset="0"/>
              </a:rPr>
              <a:t>sns.kdeplot</a:t>
            </a:r>
            <a:r>
              <a:rPr lang="en-US" altLang="ko-KR" sz="1400" dirty="0">
                <a:latin typeface="Britannic Bold" panose="020B0903060703020204" pitchFamily="34" charset="0"/>
              </a:rPr>
              <a:t>(hue="species“)</a:t>
            </a: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C8D6A8-703D-996C-3882-67E139AAAB2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Hexbin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plot with marginal distributions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3FFA3-F7AB-2DB1-F22A-1ECB6018AABD}"/>
              </a:ext>
            </a:extLst>
          </p:cNvPr>
          <p:cNvSpPr txBox="1"/>
          <p:nvPr/>
        </p:nvSpPr>
        <p:spPr>
          <a:xfrm>
            <a:off x="6094412" y="1772816"/>
            <a:ext cx="5832648" cy="395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 육각형 격자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(Joint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변수가 동시에 나타나는 빈도이며 색이 진할수록 해당 데이터 포인트가 많이 몰려 있다는 뜻이며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 확률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P(X, 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높은 지점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막대그래프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(Marginal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 하나의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 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나타냅니다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 막대는 부리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막대는 날개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1643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hexbin_marginals</a:t>
            </a:r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E4F1-FED3-9C83-19AF-9E59E4C9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488456-27E5-BF62-A9E2-DF222DCF85D5}"/>
              </a:ext>
            </a:extLst>
          </p:cNvPr>
          <p:cNvSpPr/>
          <p:nvPr/>
        </p:nvSpPr>
        <p:spPr>
          <a:xfrm>
            <a:off x="549796" y="2538126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35E3C63-50ED-8E84-C8E2-9646A70A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95F424-19FC-3256-E8D0-D757E895DBDB}"/>
              </a:ext>
            </a:extLst>
          </p:cNvPr>
          <p:cNvSpPr txBox="1"/>
          <p:nvPr/>
        </p:nvSpPr>
        <p:spPr>
          <a:xfrm>
            <a:off x="1629916" y="620688"/>
            <a:ext cx="8928992" cy="5746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Appendix. Clustering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알고리즘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99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확률밀도함수로 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598" y="1538862"/>
            <a:ext cx="5123628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110835" cy="41366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0849" y="2574157"/>
            <a:ext cx="1816536" cy="139699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700" y="2564904"/>
            <a:ext cx="2054114" cy="139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7798-07DC-FE7E-30AA-DA0A29AE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B41B6C-9F4C-8B94-632A-0CD19CF4E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B8E04-000F-5C87-7A56-5BE6CF433C28}"/>
              </a:ext>
            </a:extLst>
          </p:cNvPr>
          <p:cNvSpPr txBox="1"/>
          <p:nvPr/>
        </p:nvSpPr>
        <p:spPr>
          <a:xfrm>
            <a:off x="1383587" y="1969095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0E21B-638F-5751-E709-85C0F8E75B6C}"/>
              </a:ext>
            </a:extLst>
          </p:cNvPr>
          <p:cNvSpPr txBox="1"/>
          <p:nvPr/>
        </p:nvSpPr>
        <p:spPr>
          <a:xfrm>
            <a:off x="6598468" y="1969095"/>
            <a:ext cx="3791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r>
              <a:rPr lang="en-US" altLang="ko-KR" sz="1400" dirty="0">
                <a:latin typeface="Britannic Bold" panose="020B0903060703020204" pitchFamily="34" charset="0"/>
              </a:rPr>
              <a:t>(hue =“species”)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BAD1-9294-DC49-5057-2D5162AB55EE}"/>
              </a:ext>
            </a:extLst>
          </p:cNvPr>
          <p:cNvSpPr txBox="1"/>
          <p:nvPr/>
        </p:nvSpPr>
        <p:spPr>
          <a:xfrm>
            <a:off x="490880" y="980728"/>
            <a:ext cx="11588580" cy="829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종을 제외하고 종의 구분 여부에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전체분포와 조건부 분포를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분포가 달라지는 것을 확인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 확률과 동일함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453F01-12DE-A1AA-9FA0-E02D648A641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A2262D-A87E-8995-D384-602F9F852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8978" y="2275344"/>
            <a:ext cx="414337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29DC385-D588-F68C-1F46-6F38DF142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396" y="2286367"/>
            <a:ext cx="4143376" cy="418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4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19D0-2FDC-16D8-548C-E22332E56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90D8AA-8BC3-384F-3764-C1E73140B29F}"/>
              </a:ext>
            </a:extLst>
          </p:cNvPr>
          <p:cNvSpPr/>
          <p:nvPr/>
        </p:nvSpPr>
        <p:spPr>
          <a:xfrm>
            <a:off x="549796" y="311419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AB4A4B-43B1-86F2-5D53-994D5814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46FC76-358A-A88D-A4DC-DEFFF8B417C9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712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48443-75BE-9871-0739-0896D3DD3D3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A033E8-7497-399B-7ED7-D83E6988BE68}"/>
              </a:ext>
            </a:extLst>
          </p:cNvPr>
          <p:cNvSpPr txBox="1"/>
          <p:nvPr/>
        </p:nvSpPr>
        <p:spPr>
          <a:xfrm>
            <a:off x="338480" y="1005885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동전과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주사위를 던졌을 때 동전 앞면과 주사위의 수자가 짝수가 나올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)?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26D2F1C-13C2-7A5E-20F8-DEC1B703D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2204864"/>
            <a:ext cx="6264696" cy="427778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05CFF5-0ACF-1D02-6742-22846750DFB2}"/>
              </a:ext>
            </a:extLst>
          </p:cNvPr>
          <p:cNvSpPr/>
          <p:nvPr/>
        </p:nvSpPr>
        <p:spPr>
          <a:xfrm>
            <a:off x="3574132" y="321297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0E5466E-443E-A97E-011D-A08F7A137835}"/>
              </a:ext>
            </a:extLst>
          </p:cNvPr>
          <p:cNvSpPr/>
          <p:nvPr/>
        </p:nvSpPr>
        <p:spPr>
          <a:xfrm>
            <a:off x="3574132" y="429309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49B786E-AE08-9372-3173-F9EFFACDEE22}"/>
              </a:ext>
            </a:extLst>
          </p:cNvPr>
          <p:cNvSpPr/>
          <p:nvPr/>
        </p:nvSpPr>
        <p:spPr>
          <a:xfrm>
            <a:off x="3574132" y="537321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73BAC-720D-87BB-EAA7-730F4625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BD8E640-463B-7E86-FADD-2FC0076FE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64CA5-78A6-6583-F034-8DF3E7E2452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7D7DA8-EB40-CC7E-60ED-3BAE167DDC85}"/>
              </a:ext>
            </a:extLst>
          </p:cNvPr>
          <p:cNvSpPr txBox="1"/>
          <p:nvPr/>
        </p:nvSpPr>
        <p:spPr>
          <a:xfrm>
            <a:off x="338480" y="1005885"/>
            <a:ext cx="11588580" cy="415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앞면과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 * 1/6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동전과 주사위가 나올 확률을 곱한다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C700C0-8873-0ACA-48DA-B76F580B0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988" y="1963863"/>
            <a:ext cx="8052895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1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49E-8DE0-447C-5C4F-CED65C39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6BA9F5B-E661-1F9C-4100-D698438A5CC1}"/>
              </a:ext>
            </a:extLst>
          </p:cNvPr>
          <p:cNvSpPr/>
          <p:nvPr/>
        </p:nvSpPr>
        <p:spPr>
          <a:xfrm>
            <a:off x="549796" y="376226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FA1B26-DC49-91C6-6DDB-18EF223A0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B17D90-540E-FE62-C6A0-B2BD4C0E315D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834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B9FD-6CF7-E754-B109-FC446EE03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AD546-E2AE-DC45-4882-65634454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CC3B7-FB12-6E26-92DE-A7C905718A6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5EE73-D32C-9EB5-7BF4-979657F5F594}"/>
              </a:ext>
            </a:extLst>
          </p:cNvPr>
          <p:cNvSpPr txBox="1"/>
          <p:nvPr/>
        </p:nvSpPr>
        <p:spPr>
          <a:xfrm>
            <a:off x="693811" y="1052736"/>
            <a:ext cx="10945216" cy="506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D7AB43-DF89-3BD3-85A6-F5BC7A6A23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213285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398DCFD-949D-CDDA-D1EE-BC24E69F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213285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1DEB08-E888-0609-EDF3-3513CEC998A0}"/>
              </a:ext>
            </a:extLst>
          </p:cNvPr>
          <p:cNvSpPr txBox="1"/>
          <p:nvPr/>
        </p:nvSpPr>
        <p:spPr>
          <a:xfrm>
            <a:off x="1172929" y="242814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3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경우 어디에 속하는지 수자로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확률로 제시할 수 있을까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5662363" y="5445224"/>
            <a:ext cx="63514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400" dirty="0" err="1"/>
              <a:t>러그</a:t>
            </a:r>
            <a:r>
              <a:rPr lang="ko-KR" altLang="en-US" sz="1400" dirty="0"/>
              <a:t> 플롯</a:t>
            </a:r>
            <a:r>
              <a:rPr lang="en-US" altLang="ko-KR" sz="1400" dirty="0"/>
              <a:t>(Rug Plot) : 2</a:t>
            </a:r>
            <a:r>
              <a:rPr lang="ko-KR" altLang="en-US" sz="1400" dirty="0"/>
              <a:t>차원 공간</a:t>
            </a:r>
            <a:r>
              <a:rPr lang="en-US" altLang="ko-KR" sz="1400" dirty="0"/>
              <a:t>(X, Y)</a:t>
            </a:r>
            <a:r>
              <a:rPr lang="ko-KR" altLang="en-US" sz="1400" dirty="0"/>
              <a:t>에 흩어져 있는 점들을 </a:t>
            </a:r>
            <a:r>
              <a:rPr lang="en-US" altLang="ko-KR" sz="1400" dirty="0"/>
              <a:t>Y</a:t>
            </a:r>
            <a:r>
              <a:rPr lang="ko-KR" altLang="en-US" sz="1400" dirty="0"/>
              <a:t>축 값을 무시하고 </a:t>
            </a:r>
            <a:r>
              <a:rPr lang="en-US" altLang="ko-KR" sz="1400" dirty="0"/>
              <a:t>X</a:t>
            </a:r>
            <a:r>
              <a:rPr lang="ko-KR" altLang="en-US" sz="1400" dirty="0"/>
              <a:t>축 바닥으로 뚝 떨어뜨려</a:t>
            </a:r>
            <a:r>
              <a:rPr lang="en-US" altLang="ko-KR" sz="1400" dirty="0"/>
              <a:t>(</a:t>
            </a:r>
            <a:r>
              <a:rPr lang="ko-KR" altLang="en-US" sz="1400" dirty="0"/>
              <a:t>투영시켜</a:t>
            </a:r>
            <a:r>
              <a:rPr lang="en-US" altLang="ko-KR" sz="1400" dirty="0"/>
              <a:t>), </a:t>
            </a:r>
            <a:r>
              <a:rPr lang="ko-KR" altLang="en-US" sz="14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51A57-7963-F069-6B19-C29EE8FDC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B301409-FC0B-93A1-E3C6-44BC7892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30D26D-A9D0-2236-36E0-A89E242D0C0C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9087298-9315-D2FD-7110-FBB0AC9CF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7868" y="1412775"/>
            <a:ext cx="5112568" cy="5147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A7B01D-0855-07B6-72C7-06A99023DDC7}"/>
              </a:ext>
            </a:extLst>
          </p:cNvPr>
          <p:cNvSpPr txBox="1"/>
          <p:nvPr/>
        </p:nvSpPr>
        <p:spPr>
          <a:xfrm>
            <a:off x="1169518" y="1043443"/>
            <a:ext cx="5500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https://seaborn.pydata.org/examples/joint_kde.html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19D07-2A4F-882B-ECB2-939FE65B77D8}"/>
              </a:ext>
            </a:extLst>
          </p:cNvPr>
          <p:cNvSpPr txBox="1"/>
          <p:nvPr/>
        </p:nvSpPr>
        <p:spPr>
          <a:xfrm>
            <a:off x="6814492" y="1517966"/>
            <a:ext cx="5256584" cy="4245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“species”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범주형 값을 기준으로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각각 변수의 평균과 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공분산을 구하라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분산이나 공분산이 커지면 모양새는 어떻게 변하나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(remote island)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무엇인가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팽권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3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분류하기에 가장 좋은 변수는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중에서 무엇인지 결정하라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분류를 결정하는 변수의 어떤 특정 값이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(species)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분류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하는데 최적인가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570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DB2DCB-C9C7-FFF3-803D-5C78FEB19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666163-F6F1-738E-3F66-6669CD9B676E}"/>
              </a:ext>
            </a:extLst>
          </p:cNvPr>
          <p:cNvSpPr txBox="1"/>
          <p:nvPr/>
        </p:nvSpPr>
        <p:spPr>
          <a:xfrm>
            <a:off x="765820" y="1196752"/>
            <a:ext cx="11233248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alone-in-the-woods-using-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theil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-s-u-for-survival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참고하여 아래 데이터를 바탕으로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성별로 하고 다른 모든 변수를 입력변수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하여 상관관계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 모두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아래와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같이 구하고 결과를 토론하라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F51B27-8096-A2B2-E88A-5F08FD136A69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208EB97-D75C-37B9-BF3B-39DC3F52E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169" y="2760332"/>
            <a:ext cx="10114904" cy="20229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FE2F4D8-5C8D-3D53-0E7C-5E89E4BD1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46" y="5088070"/>
            <a:ext cx="10525532" cy="943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9525C-C7A0-A806-EA78-271C51F864A5}"/>
              </a:ext>
            </a:extLst>
          </p:cNvPr>
          <p:cNvSpPr txBox="1"/>
          <p:nvPr/>
        </p:nvSpPr>
        <p:spPr>
          <a:xfrm>
            <a:off x="765067" y="4762947"/>
            <a:ext cx="61139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https://github.com/ancestor9/data/blob/main/customers.csv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663936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algn="ctr"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이상치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탐지</a:t>
            </a:r>
            <a:r>
              <a:rPr lang="en-US" altLang="ko-KR" sz="24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6B4658-75AD-DCC5-47DD-8EDD6334C62D}"/>
              </a:ext>
            </a:extLst>
          </p:cNvPr>
          <p:cNvSpPr txBox="1"/>
          <p:nvPr/>
        </p:nvSpPr>
        <p:spPr>
          <a:xfrm>
            <a:off x="-10384" y="4628376"/>
            <a:ext cx="50246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solution_02_Joint_kernel_density_anomaly_detection.ipynb</a:t>
            </a:r>
            <a:endParaRPr lang="en-US" altLang="ko-KR" sz="1400" b="1" dirty="0"/>
          </a:p>
          <a:p>
            <a:endParaRPr lang="en-US" altLang="ko-KR" sz="1400" b="1" dirty="0"/>
          </a:p>
          <a:p>
            <a:r>
              <a:rPr lang="ko-KR" altLang="en-US" sz="1400" b="1" dirty="0"/>
              <a:t>코드 참고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842350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6598468" y="2780928"/>
            <a:ext cx="5112569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낙도의 데이터는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이상치인가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</a:t>
            </a:r>
            <a:r>
              <a:rPr lang="en-US" altLang="ko-KR" sz="3200" b="1" dirty="0"/>
              <a:t>, KDE</a:t>
            </a:r>
            <a:endParaRPr lang="ko-KR" altLang="en-US" sz="3200" b="1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0A35332-E9C3-44F4-F69A-5008C37F1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01" y="1135511"/>
            <a:ext cx="5176141" cy="5220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F01A0D-237A-D7B6-4006-0A69CFD72AFD}"/>
              </a:ext>
            </a:extLst>
          </p:cNvPr>
          <p:cNvSpPr txBox="1"/>
          <p:nvPr/>
        </p:nvSpPr>
        <p:spPr>
          <a:xfrm>
            <a:off x="5787838" y="1149076"/>
            <a:ext cx="5315972" cy="116955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seaborn as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;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sns.set_theme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(style="ticks")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penguins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("penguins") </a:t>
            </a:r>
          </a:p>
          <a:p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penguins.dropna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inplace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=True)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sns.jointplot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(data=penguins, x="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bill_length_mm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“,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                  y="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bill_depth_mm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", hue="species", kind="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", 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86307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9B450-B81F-E0E5-6456-59B5C0453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23D512-EFA6-33A1-6FB6-E074144A3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286B30-EE86-F874-22F5-0C9796332DF8}"/>
              </a:ext>
            </a:extLst>
          </p:cNvPr>
          <p:cNvSpPr txBox="1"/>
          <p:nvPr/>
        </p:nvSpPr>
        <p:spPr>
          <a:xfrm>
            <a:off x="5446340" y="1149076"/>
            <a:ext cx="5807140" cy="16661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변수를 기준으로 이상치 탐지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(Z-score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 중 한 변수라고 기준치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Z-score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초과하면 이상치로 설정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ED5C5-943C-913B-40B5-6C1FC96D19D9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1F21F5CA-1358-760C-7908-FC591C410C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77" y="1149076"/>
            <a:ext cx="5090982" cy="5187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2570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0EF5F-1C15-E190-B590-81B03C5C6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38C56AE-C9A3-9CDD-6C76-EEBBFECAE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E63FA2-5C05-DE6F-CCC0-23667ACBA528}"/>
              </a:ext>
            </a:extLst>
          </p:cNvPr>
          <p:cNvSpPr txBox="1"/>
          <p:nvPr/>
        </p:nvSpPr>
        <p:spPr>
          <a:xfrm>
            <a:off x="5590357" y="1149076"/>
            <a:ext cx="6167180" cy="2220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그룹핑하여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변수를 기준으로 이상치 탐지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(Z-score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사용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 중 한 변수라고 기준치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Z-score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2.5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초과하면 이상치로 설정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952F5-2F4E-0C6D-DF51-C1B08F456F45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/>
              <a:t>KDE, Scatter plot</a:t>
            </a:r>
            <a:endParaRPr lang="ko-KR" altLang="en-US" sz="3200" b="1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6CE906E-C036-2CED-E020-5907E661D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1169644"/>
            <a:ext cx="5097071" cy="5167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0574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15622" y="1484784"/>
            <a:ext cx="10957580" cy="30405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altLang="ko-KR" sz="2000" b="1" dirty="0">
                <a:latin typeface="+mj-ea"/>
                <a:ea typeface="+mj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Nearest Neighbors</a:t>
            </a:r>
            <a:r>
              <a:rPr lang="en-US" altLang="ko-KR" sz="2000" b="1" dirty="0">
                <a:latin typeface="+mj-ea"/>
                <a:ea typeface="+mj-ea"/>
              </a:rPr>
              <a:t> </a:t>
            </a:r>
            <a:r>
              <a:rPr lang="ko-KR" altLang="en-US" sz="2000" b="1" dirty="0">
                <a:latin typeface="+mj-ea"/>
                <a:ea typeface="+mj-ea"/>
              </a:rPr>
              <a:t>알고리즘으로 이상치 찾기</a:t>
            </a:r>
            <a:endParaRPr lang="en-US" altLang="ko-KR" sz="2000" b="1" dirty="0">
              <a:latin typeface="+mj-ea"/>
              <a:ea typeface="+mj-ea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altLang="ko-KR" sz="2000" b="1" dirty="0">
                <a:latin typeface="+mj-ea"/>
                <a:ea typeface="+mj-e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Outlier detection with Local Outlier Factor (LOF)</a:t>
            </a:r>
            <a:r>
              <a:rPr lang="en-US" altLang="ko-KR" sz="2000" b="1" dirty="0">
                <a:latin typeface="+mj-ea"/>
                <a:ea typeface="+mj-ea"/>
              </a:rPr>
              <a:t> </a:t>
            </a:r>
            <a:r>
              <a:rPr lang="ko-KR" altLang="en-US" sz="2000" b="1" dirty="0">
                <a:latin typeface="+mj-ea"/>
                <a:ea typeface="+mj-ea"/>
              </a:rPr>
              <a:t>알고리즘으로 이상치 찾기</a:t>
            </a:r>
            <a:endParaRPr lang="en-US" altLang="ko-KR" sz="2000" b="1" dirty="0">
              <a:latin typeface="+mj-ea"/>
              <a:ea typeface="+mj-ea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altLang="ko-KR" sz="2000" b="1" dirty="0" err="1">
                <a:latin typeface="+mj-ea"/>
                <a:ea typeface="+mj-ea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IsolationForest</a:t>
            </a:r>
            <a:r>
              <a:rPr lang="ko-KR" altLang="en-US" sz="2000" b="1" dirty="0">
                <a:latin typeface="+mj-ea"/>
                <a:ea typeface="+mj-ea"/>
              </a:rPr>
              <a:t> 알고리즘으로 이상치 찾기</a:t>
            </a:r>
            <a:endParaRPr lang="en-US" altLang="ko-KR" sz="2000" b="1" dirty="0">
              <a:latin typeface="+mj-ea"/>
              <a:ea typeface="+mj-ea"/>
            </a:endParaRPr>
          </a:p>
          <a:p>
            <a:pPr marL="342900" indent="-342900">
              <a:lnSpc>
                <a:spcPct val="250000"/>
              </a:lnSpc>
              <a:buFont typeface="+mj-lt"/>
              <a:buAutoNum type="arabicPeriod"/>
            </a:pPr>
            <a:r>
              <a:rPr lang="en-US" altLang="ko-KR" sz="2000" b="1" dirty="0">
                <a:latin typeface="+mj-ea"/>
                <a:ea typeface="+mj-ea"/>
              </a:rPr>
              <a:t>Autoencoder </a:t>
            </a:r>
            <a:r>
              <a:rPr lang="ko-KR" altLang="en-US" sz="2000" b="1" dirty="0">
                <a:latin typeface="+mj-ea"/>
                <a:ea typeface="+mj-ea"/>
              </a:rPr>
              <a:t>딥러닝 알고리즘으로 이상치 찾기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569537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2FEDA-2F05-808A-77AB-C0CEECE78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A99C8A-C2FD-097F-7298-4C6E02B4D4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algn="ctr"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Clustering - </a:t>
            </a:r>
            <a:br>
              <a:rPr lang="en-US" altLang="ko-KR" dirty="0"/>
            </a:br>
            <a:endParaRPr lang="ko-KR" altLang="en-US" sz="2400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8D5C8377-3FB9-5E4E-BCB9-764B1AB866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E5C012-D328-A4E3-2744-4D8AF8913C64}"/>
              </a:ext>
            </a:extLst>
          </p:cNvPr>
          <p:cNvSpPr txBox="1"/>
          <p:nvPr/>
        </p:nvSpPr>
        <p:spPr>
          <a:xfrm>
            <a:off x="16356" y="4149080"/>
            <a:ext cx="40671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Unsupervised_clustering_Kmeans_DBSCAN.ipynb</a:t>
            </a:r>
            <a:endParaRPr lang="en-US" altLang="ko-KR" sz="1400" b="1" dirty="0"/>
          </a:p>
          <a:p>
            <a:r>
              <a:rPr lang="ko-KR" altLang="en-US" sz="1400" b="1" dirty="0"/>
              <a:t>코드 참고</a:t>
            </a:r>
          </a:p>
        </p:txBody>
      </p:sp>
    </p:spTree>
    <p:extLst>
      <p:ext uri="{BB962C8B-B14F-4D97-AF65-F5344CB8AC3E}">
        <p14:creationId xmlns:p14="http://schemas.microsoft.com/office/powerpoint/2010/main" val="1088536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7EC89-B3CB-BA5A-0662-2279988C6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40EF44-9D30-B434-EEA0-7F42F2D9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E64B0F-1A6D-C338-05EF-B38E08F6E50C}"/>
              </a:ext>
            </a:extLst>
          </p:cNvPr>
          <p:cNvSpPr txBox="1"/>
          <p:nvPr/>
        </p:nvSpPr>
        <p:spPr>
          <a:xfrm>
            <a:off x="261764" y="476672"/>
            <a:ext cx="11161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306"/>
              </a:spcBef>
              <a:spcAft>
                <a:spcPts val="1742"/>
              </a:spcAft>
              <a:buNone/>
            </a:pPr>
            <a:r>
              <a:rPr lang="en-US" altLang="ko-KR" sz="2400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Intuitive Understanding of clustering, </a:t>
            </a:r>
            <a:r>
              <a:rPr lang="en-US" altLang="ko-KR" sz="2400" b="1" i="0" dirty="0" err="1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unsupervised_learning</a:t>
            </a:r>
            <a:endParaRPr lang="en-US" altLang="ko-KR" sz="2400" b="0" i="0" dirty="0"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867C1794-E33F-7E7D-AEBB-FE49A4F3B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0316" y="1445821"/>
            <a:ext cx="4032448" cy="496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62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83722-0056-6D49-E3E8-E7A415DD9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83BC0D7-6F4A-0548-7E5B-E9BA7893A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6A6C6E04-3F9D-6FAC-E732-156CC6E236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6" y="2212065"/>
            <a:ext cx="4061251" cy="4061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69C64D54-68C8-D07B-821B-BCA440A9F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691" y="1196752"/>
            <a:ext cx="6768752" cy="507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0CDD032-1075-E1AA-7ECF-4DAF870A4F2A}"/>
              </a:ext>
            </a:extLst>
          </p:cNvPr>
          <p:cNvSpPr txBox="1"/>
          <p:nvPr/>
        </p:nvSpPr>
        <p:spPr>
          <a:xfrm>
            <a:off x="290228" y="6206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1. K-Means Clustering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282DA6-9D6A-6964-F358-E8A9C7F3E409}"/>
              </a:ext>
            </a:extLst>
          </p:cNvPr>
          <p:cNvSpPr txBox="1"/>
          <p:nvPr/>
        </p:nvSpPr>
        <p:spPr>
          <a:xfrm>
            <a:off x="5014292" y="1175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computing the distances between points and group centers</a:t>
            </a:r>
          </a:p>
        </p:txBody>
      </p:sp>
    </p:spTree>
    <p:extLst>
      <p:ext uri="{BB962C8B-B14F-4D97-AF65-F5344CB8AC3E}">
        <p14:creationId xmlns:p14="http://schemas.microsoft.com/office/powerpoint/2010/main" val="5479115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28422-F9B1-EEF7-B9AB-3B0BC70B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49A640-B2B0-89C6-ADB6-4D35567BA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9128C5B-7B92-B3A3-C997-57B98AD12B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1924" y="2719164"/>
            <a:ext cx="3672408" cy="3672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C37CC53-EDA0-5188-3E54-8BF68800A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918964"/>
            <a:ext cx="5472608" cy="54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1AA513-E90A-DF13-30AC-27665957C759}"/>
              </a:ext>
            </a:extLst>
          </p:cNvPr>
          <p:cNvSpPr txBox="1"/>
          <p:nvPr/>
        </p:nvSpPr>
        <p:spPr>
          <a:xfrm>
            <a:off x="261764" y="4664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2. Mean-Shift Clustering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446277-F9BE-AC69-09ED-6CE7B7982E9E}"/>
              </a:ext>
            </a:extLst>
          </p:cNvPr>
          <p:cNvSpPr txBox="1"/>
          <p:nvPr/>
        </p:nvSpPr>
        <p:spPr>
          <a:xfrm>
            <a:off x="477788" y="972150"/>
            <a:ext cx="475252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Mean shift clustering is a sliding-window-based algorithm that attempts </a:t>
            </a:r>
            <a:r>
              <a:rPr lang="en-US" altLang="ko-KR" sz="1400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find dense areas of data points</a:t>
            </a: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 is a centroid-based algorithm meaning that the goal is to locate the center points of each group/class, which works by updating candidates for center points to be the mean of the points within the sliding-window.</a:t>
            </a:r>
          </a:p>
        </p:txBody>
      </p:sp>
    </p:spTree>
    <p:extLst>
      <p:ext uri="{BB962C8B-B14F-4D97-AF65-F5344CB8AC3E}">
        <p14:creationId xmlns:p14="http://schemas.microsoft.com/office/powerpoint/2010/main" val="2593954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44AE-4A9E-B4D2-56E2-3AF39169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56D96B-1380-A118-6FF7-55993749A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DB4B13D-7A0A-7418-1101-6AEC7BCAD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092" y="1732261"/>
            <a:ext cx="7685467" cy="482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182E7C-42A3-5831-4740-89C4F07C28FF}"/>
              </a:ext>
            </a:extLst>
          </p:cNvPr>
          <p:cNvSpPr txBox="1"/>
          <p:nvPr/>
        </p:nvSpPr>
        <p:spPr>
          <a:xfrm>
            <a:off x="261764" y="747109"/>
            <a:ext cx="8759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 Density-Based Spatial Clustering of Applications with Noise (DBSCAN)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6CE35F-99AB-B35E-C4D3-CEE20CC71DC4}"/>
              </a:ext>
            </a:extLst>
          </p:cNvPr>
          <p:cNvSpPr txBox="1"/>
          <p:nvPr/>
        </p:nvSpPr>
        <p:spPr>
          <a:xfrm>
            <a:off x="765820" y="1201326"/>
            <a:ext cx="72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DBSCAN is a density-based clustered algorithm similar to mean-shift.</a:t>
            </a:r>
          </a:p>
        </p:txBody>
      </p:sp>
    </p:spTree>
    <p:extLst>
      <p:ext uri="{BB962C8B-B14F-4D97-AF65-F5344CB8AC3E}">
        <p14:creationId xmlns:p14="http://schemas.microsoft.com/office/powerpoint/2010/main" val="3512481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5763-5EBB-4160-A5F7-E69FEE7AF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EE7AE96-BDFA-FFA5-CC03-FF7CC414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8346020-B8A4-B2E7-01A0-65FE360D0B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203" y="1484784"/>
            <a:ext cx="5956389" cy="5112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9D103-1E30-85FD-F45D-41F42002EEAC}"/>
              </a:ext>
            </a:extLst>
          </p:cNvPr>
          <p:cNvSpPr txBox="1"/>
          <p:nvPr/>
        </p:nvSpPr>
        <p:spPr>
          <a:xfrm>
            <a:off x="261764" y="548680"/>
            <a:ext cx="9577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4. Expectation–Maximization(EM) Clustering using Gaussian Mixture Models (GMM)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626C6-998E-0504-FFFE-661D0B3FBF21}"/>
              </a:ext>
            </a:extLst>
          </p:cNvPr>
          <p:cNvSpPr txBox="1"/>
          <p:nvPr/>
        </p:nvSpPr>
        <p:spPr>
          <a:xfrm>
            <a:off x="477788" y="1772816"/>
            <a:ext cx="3528392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 </a:t>
            </a:r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find the parameters of the Gaussian for each cluster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(</a:t>
            </a:r>
            <a:r>
              <a:rPr lang="en-US" altLang="ko-KR" b="0" i="0" dirty="0" err="1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mean and standard deviation), we will use an optimization algorithm called Expectation–Maximization (EM)</a:t>
            </a:r>
          </a:p>
        </p:txBody>
      </p:sp>
    </p:spTree>
    <p:extLst>
      <p:ext uri="{BB962C8B-B14F-4D97-AF65-F5344CB8AC3E}">
        <p14:creationId xmlns:p14="http://schemas.microsoft.com/office/powerpoint/2010/main" val="2749067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DACFD-95F0-B4D3-58CA-40388C27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241B89-1BFA-8DCC-D381-C76AADE3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2E9AA5-F77D-895A-4B54-0735103C7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308" y="980728"/>
            <a:ext cx="6535808" cy="522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87BBD1-8C35-D005-A181-1EFF30A728CD}"/>
              </a:ext>
            </a:extLst>
          </p:cNvPr>
          <p:cNvSpPr txBox="1"/>
          <p:nvPr/>
        </p:nvSpPr>
        <p:spPr>
          <a:xfrm>
            <a:off x="7174532" y="560266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K-Means Clustering</a:t>
            </a:r>
            <a:endParaRPr lang="ko-KR" alt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A81AD-0A5A-C66E-01BF-C8458B69ECE6}"/>
              </a:ext>
            </a:extLst>
          </p:cNvPr>
          <p:cNvSpPr txBox="1"/>
          <p:nvPr/>
        </p:nvSpPr>
        <p:spPr>
          <a:xfrm>
            <a:off x="333772" y="980728"/>
            <a:ext cx="3759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Unsupervised_learning_scikit</a:t>
            </a:r>
            <a:r>
              <a:rPr lang="en-US" altLang="ko-KR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-learn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1873C-CACD-DC71-3CD6-DAD37A341E24}"/>
              </a:ext>
            </a:extLst>
          </p:cNvPr>
          <p:cNvSpPr txBox="1"/>
          <p:nvPr/>
        </p:nvSpPr>
        <p:spPr>
          <a:xfrm>
            <a:off x="333772" y="1484784"/>
            <a:ext cx="31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Britannic Bold" panose="020B0903060703020204" pitchFamily="34" charset="0"/>
              </a:rPr>
              <a:t>관련 코드는 </a:t>
            </a:r>
            <a:r>
              <a:rPr lang="en-US" altLang="ko-KR" dirty="0" err="1">
                <a:latin typeface="Britannic Bold" panose="020B0903060703020204" pitchFamily="34" charset="0"/>
              </a:rPr>
              <a:t>eclass</a:t>
            </a:r>
            <a:r>
              <a:rPr lang="ko-KR" altLang="en-US" dirty="0">
                <a:latin typeface="Britannic Bold" panose="020B0903060703020204" pitchFamily="34" charset="0"/>
              </a:rPr>
              <a:t>에 </a:t>
            </a:r>
            <a:r>
              <a:rPr lang="en-US" altLang="ko-KR" dirty="0">
                <a:latin typeface="Britannic Bold" panose="020B0903060703020204" pitchFamily="34" charset="0"/>
              </a:rPr>
              <a:t>upload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8039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925AE-CB76-65EC-56B4-5A9BB96A5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1118E16-F328-30F2-DA8A-FE9726863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39AE50-7DCD-D85A-44C0-B3F4453DA6F4}"/>
              </a:ext>
            </a:extLst>
          </p:cNvPr>
          <p:cNvSpPr txBox="1"/>
          <p:nvPr/>
        </p:nvSpPr>
        <p:spPr>
          <a:xfrm>
            <a:off x="549796" y="863189"/>
            <a:ext cx="3240360" cy="295048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iris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데이터를 바탕으로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“sepal length”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“petal length”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변수를 사용하여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K-Means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clustering(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군집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2, 3, 4)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하고 원래 데이터와 비교하라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클러스터링은 정확한 예측이 중요한 업무에는 거의 사용하지 않는 이유는 정답을 모르기 때문 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AF21F-4947-63CB-E366-82AD9530F847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5ABC450-F7B0-8F57-E028-E4F55E7A71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0156" y="856384"/>
            <a:ext cx="7344123" cy="583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8897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F0AE-8FC1-8B2A-F83A-EEFAD343A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664124A-5C0E-35D8-D3DD-F4C910D8C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F8D8F-9F63-9B95-063B-CA39C860799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81019E-F8E1-85B3-BB24-92D7AFFE17B9}"/>
              </a:ext>
            </a:extLst>
          </p:cNvPr>
          <p:cNvSpPr txBox="1"/>
          <p:nvPr/>
        </p:nvSpPr>
        <p:spPr>
          <a:xfrm>
            <a:off x="549796" y="863189"/>
            <a:ext cx="3240360" cy="32736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iris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데이터를 바탕으로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“sepal length”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과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“petal length” 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변수를 사용하여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gaussian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mixture model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로 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clustering(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군집</a:t>
            </a:r>
            <a:r>
              <a:rPr lang="en-US" altLang="ko-KR" sz="1400" dirty="0">
                <a:latin typeface="+mj-ea"/>
                <a:ea typeface="+mj-ea"/>
                <a:cs typeface="맑은 고딕 Semilight" panose="020B0502040204020203" pitchFamily="50" charset="-127"/>
              </a:rPr>
              <a:t> 2, 3, 4)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하고 원래 데이터와 비교하라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클러스터링은 정확한 예측이 중요한 업무에는 거의 사용하지 않는 이유는 정답을 모르기 </a:t>
            </a:r>
            <a:r>
              <a:rPr lang="ko-KR" altLang="en-US" sz="1400" dirty="0" err="1">
                <a:latin typeface="+mj-ea"/>
                <a:ea typeface="+mj-ea"/>
                <a:cs typeface="맑은 고딕 Semilight" panose="020B0502040204020203" pitchFamily="50" charset="-127"/>
              </a:rPr>
              <a:t>떄문</a:t>
            </a:r>
            <a:r>
              <a:rPr lang="ko-KR" altLang="en-US" sz="14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endParaRPr lang="en-US" altLang="ko-KR" sz="14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8854446-D958-3A76-2C69-3D635AC6EF02}"/>
              </a:ext>
            </a:extLst>
          </p:cNvPr>
          <p:cNvGrpSpPr/>
          <p:nvPr/>
        </p:nvGrpSpPr>
        <p:grpSpPr>
          <a:xfrm>
            <a:off x="3790156" y="476672"/>
            <a:ext cx="7344816" cy="6120679"/>
            <a:chOff x="3797279" y="404664"/>
            <a:chExt cx="7257369" cy="6192688"/>
          </a:xfrm>
        </p:grpSpPr>
        <p:pic>
          <p:nvPicPr>
            <p:cNvPr id="3" name="Picture 4">
              <a:extLst>
                <a:ext uri="{FF2B5EF4-FFF2-40B4-BE49-F238E27FC236}">
                  <a16:creationId xmlns:a16="http://schemas.microsoft.com/office/drawing/2014/main" id="{CBBD6CE3-3582-4011-0765-CFFC2EF318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7279" y="404664"/>
              <a:ext cx="7223368" cy="6192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8A816957-EC56-51F8-4672-C45C12254431}"/>
                </a:ext>
              </a:extLst>
            </p:cNvPr>
            <p:cNvSpPr/>
            <p:nvPr/>
          </p:nvSpPr>
          <p:spPr>
            <a:xfrm rot="19936634">
              <a:off x="8117242" y="1045931"/>
              <a:ext cx="2924269" cy="813822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0EFA566-0522-BFED-DB7F-6686DE29FF37}"/>
                </a:ext>
              </a:extLst>
            </p:cNvPr>
            <p:cNvSpPr/>
            <p:nvPr/>
          </p:nvSpPr>
          <p:spPr>
            <a:xfrm rot="21089476">
              <a:off x="7571417" y="2574474"/>
              <a:ext cx="1767138" cy="596588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244CE771-4F65-659C-491A-001EC0840F05}"/>
                </a:ext>
              </a:extLst>
            </p:cNvPr>
            <p:cNvSpPr/>
            <p:nvPr/>
          </p:nvSpPr>
          <p:spPr>
            <a:xfrm rot="21089476">
              <a:off x="4040590" y="5726579"/>
              <a:ext cx="1767138" cy="596588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2DDFE770-2696-6A79-600F-CBCB34787C28}"/>
                </a:ext>
              </a:extLst>
            </p:cNvPr>
            <p:cNvSpPr/>
            <p:nvPr/>
          </p:nvSpPr>
          <p:spPr>
            <a:xfrm rot="20246666">
              <a:off x="4863765" y="3932889"/>
              <a:ext cx="2739594" cy="56311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F60C08AB-FACF-1783-F53F-EEEF4B90772C}"/>
                </a:ext>
              </a:extLst>
            </p:cNvPr>
            <p:cNvSpPr/>
            <p:nvPr/>
          </p:nvSpPr>
          <p:spPr>
            <a:xfrm rot="20246666">
              <a:off x="4574937" y="4552611"/>
              <a:ext cx="2216321" cy="563111"/>
            </a:xfrm>
            <a:prstGeom prst="ellipse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02DDB85-5382-13F1-5C91-7AFEC129393C}"/>
                </a:ext>
              </a:extLst>
            </p:cNvPr>
            <p:cNvSpPr/>
            <p:nvPr/>
          </p:nvSpPr>
          <p:spPr>
            <a:xfrm rot="20246666">
              <a:off x="9585365" y="3871673"/>
              <a:ext cx="1469283" cy="452175"/>
            </a:xfrm>
            <a:prstGeom prst="ellipse">
              <a:avLst/>
            </a:prstGeom>
            <a:noFill/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11FC77-5ACF-C25C-960C-B644BFA6E0B4}"/>
                </a:ext>
              </a:extLst>
            </p:cNvPr>
            <p:cNvSpPr/>
            <p:nvPr/>
          </p:nvSpPr>
          <p:spPr>
            <a:xfrm rot="402981">
              <a:off x="8698428" y="4301482"/>
              <a:ext cx="1458180" cy="56311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C85FE29-EB7F-86EF-5A35-67A3D60C5D62}"/>
                </a:ext>
              </a:extLst>
            </p:cNvPr>
            <p:cNvSpPr/>
            <p:nvPr/>
          </p:nvSpPr>
          <p:spPr>
            <a:xfrm rot="21089476">
              <a:off x="7568983" y="5729298"/>
              <a:ext cx="1767138" cy="596588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923FEB0F-D6FB-71D4-D7CA-2EEC0244464C}"/>
                </a:ext>
              </a:extLst>
            </p:cNvPr>
            <p:cNvSpPr/>
            <p:nvPr/>
          </p:nvSpPr>
          <p:spPr>
            <a:xfrm rot="21089476">
              <a:off x="8037783" y="4721729"/>
              <a:ext cx="1767138" cy="525597"/>
            </a:xfrm>
            <a:prstGeom prst="ellipse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6965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1782</TotalTime>
  <Words>1515</Words>
  <Application>Microsoft Office PowerPoint</Application>
  <PresentationFormat>사용자 지정</PresentationFormat>
  <Paragraphs>217</Paragraphs>
  <Slides>37</Slides>
  <Notes>36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50" baseType="lpstr">
      <vt:lpstr>맑은 고딕</vt:lpstr>
      <vt:lpstr>맑은 고딕 Semilight</vt:lpstr>
      <vt:lpstr>한컴 말랑말랑 Bold</vt:lpstr>
      <vt:lpstr>휴먼모음T</vt:lpstr>
      <vt:lpstr>ADLaM Display</vt:lpstr>
      <vt:lpstr>Arial</vt:lpstr>
      <vt:lpstr>Arial Narrow</vt:lpstr>
      <vt:lpstr>Britannic Bold</vt:lpstr>
      <vt:lpstr>Calibri Light</vt:lpstr>
      <vt:lpstr>Cambria</vt:lpstr>
      <vt:lpstr>Corbel</vt:lpstr>
      <vt:lpstr>Wingdings</vt:lpstr>
      <vt:lpstr>마케팅 16x9</vt:lpstr>
      <vt:lpstr>통계와 확률  - 확률론에 들어가기 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통계와 확률  - 이상치 탐지-  </vt:lpstr>
      <vt:lpstr>PowerPoint 프레젠테이션</vt:lpstr>
      <vt:lpstr>PowerPoint 프레젠테이션</vt:lpstr>
      <vt:lpstr>PowerPoint 프레젠테이션</vt:lpstr>
      <vt:lpstr>PowerPoint 프레젠테이션</vt:lpstr>
      <vt:lpstr>통계와 확률  - Clustering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51</cp:revision>
  <dcterms:created xsi:type="dcterms:W3CDTF">2024-06-03T06:10:16Z</dcterms:created>
  <dcterms:modified xsi:type="dcterms:W3CDTF">2026-03-25T15:12:48Z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