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56" r:id="rId5"/>
    <p:sldId id="324" r:id="rId6"/>
    <p:sldId id="338" r:id="rId7"/>
    <p:sldId id="326" r:id="rId8"/>
    <p:sldId id="329" r:id="rId9"/>
    <p:sldId id="308" r:id="rId10"/>
    <p:sldId id="330" r:id="rId11"/>
    <p:sldId id="331" r:id="rId12"/>
    <p:sldId id="335" r:id="rId13"/>
    <p:sldId id="336" r:id="rId14"/>
    <p:sldId id="327" r:id="rId15"/>
    <p:sldId id="328" r:id="rId16"/>
    <p:sldId id="332" r:id="rId17"/>
    <p:sldId id="270" r:id="rId18"/>
    <p:sldId id="334" r:id="rId19"/>
    <p:sldId id="333" r:id="rId20"/>
    <p:sldId id="311" r:id="rId21"/>
    <p:sldId id="337" r:id="rId22"/>
    <p:sldId id="312" r:id="rId23"/>
    <p:sldId id="314" r:id="rId24"/>
    <p:sldId id="313" r:id="rId25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2026-03-21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8F37-DCD9-3001-E354-B3A6D1C1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6D4E07-A396-E1F7-0919-72AF00F19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E06E1-13C1-3C32-46CB-92506A498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1BFDC5-8668-119F-E940-FF2F60314D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75713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F81B-CB31-7520-3EE7-553AF4679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91870D-CD75-0D49-61BE-5E9670316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407D5D-B6CF-0255-CFC3-2D0990AEB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A7FF11-BC9D-81CC-28FB-6E8527DCB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12160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6CDCA-6759-158B-FF35-AF6DE0896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3944C0-1525-8E80-31F9-84E93B491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2DCD89-100B-5F15-9D63-96D442C6E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D52EE5-4C62-D3FF-3EEA-65CD47D0D9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5659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E1F09-E2C8-8475-47B1-046C6489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838990-C365-4179-E346-19C666824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8B74B-485A-5956-8457-269AA6291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1334D6-1008-7EC8-0C59-18777F82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3885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8CA-85C2-18FE-41A1-D8560AD73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D485-86AD-19FF-DDF5-2F7852062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368EA6-9964-3275-3D30-7C589B055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F715A-8D61-45C8-FCE5-090EAE16F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78384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1C92-92CB-6BE8-4DA6-052441C6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CDCE9D-CF12-F6D3-37E2-0B82EF8C6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A9FEB9-C7EF-D5D2-7C18-BC3EB5695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D5893-CE19-500D-2558-5CF1341FC5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1137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E576F-1D01-3984-7371-93D37058F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6FBFDE-1441-1A58-B6CF-124A0B8D3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C1F405-621A-0C48-99FD-416192F57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309E8A-9401-0798-4930-F922ADFBEF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55552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0D87D-17A6-9E3E-F9D9-AA8ED3B44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17F3C4-094D-0782-2A84-5153DF6BC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B08AE-B15A-DBDA-62FA-019223FA3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754-A92A-CA6A-D941-D6E4E4C14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836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F68EC-F2DC-26A8-D8E8-8A5DA29E5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F9880A-1140-0FAA-D484-DC44C6A24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CE6730-D7DF-5F69-282A-BB7C916AD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AE3FBA-3D16-082D-CFFC-413BA1B40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19860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7E520-FF7F-20A8-E377-78305AF96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AE50F1-693B-0691-2048-B3C5FAFE5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21687F-E7B6-0FDE-EB52-8F958A348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CF5345-3860-C129-6BFC-83F6901FF4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85861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FDBB8-704B-8B99-372F-1580163D1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F89D06-3D3E-AE0D-8D6A-24E77B82A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8F4474-360F-218E-C458-6B1616363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AEB69F-4B0E-07A1-756A-77225AF22B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552899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38D4-2033-D269-92E2-472DD489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FF330B-E197-FC28-0494-06EAABC3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58F670-6DD6-E601-1D5C-5E78E0C0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59EA6E-ACE1-35DA-C0A0-227592EE1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0312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3BBD-A9D1-EAD0-4ABD-EF3EE595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41FB98-6E70-56DE-D99C-6C67CCB16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1D7A4F-F09B-9B32-85C0-40088E9A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C65BD-8C7A-8503-3490-EB8170B09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95374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2026-03-21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hyperlink" Target="https://seaborn.pydata.org/examples/joint_histogram.html" TargetMode="Externa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hexbin_marginals.html" TargetMode="External"/><Relationship Id="rId5" Type="http://schemas.openxmlformats.org/officeDocument/2006/relationships/image" Target="../media/image12.png"/><Relationship Id="rId4" Type="http://schemas.openxmlformats.org/officeDocument/2006/relationships/hyperlink" Target="https://seaborn.pydata.org/examples/scatterplot_matrix.html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hexbin_marginals.html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eaborn.pydata.org/examples/joint_kde.html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www.kaggle.com/code/shakedzy/alone-in-the-woods-using-theil-s-u-for-surviva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ncestor9/data/blob/main/customers.csv" TargetMode="Externa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joint_kde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통계와 확률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/>
              <a:t>확률론에 들어가기 </a:t>
            </a:r>
            <a:r>
              <a:rPr lang="en-US" altLang="ko-KR" sz="24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22206E1-D9B3-1443-9A14-8F8C599535EA}"/>
              </a:ext>
            </a:extLst>
          </p:cNvPr>
          <p:cNvGrpSpPr/>
          <p:nvPr/>
        </p:nvGrpSpPr>
        <p:grpSpPr>
          <a:xfrm>
            <a:off x="1053852" y="1955011"/>
            <a:ext cx="10233947" cy="3778251"/>
            <a:chOff x="468977" y="832988"/>
            <a:chExt cx="11242060" cy="4180190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13BA925-346A-92DA-54AD-5E1487C17764}"/>
                </a:ext>
              </a:extLst>
            </p:cNvPr>
            <p:cNvGrpSpPr/>
            <p:nvPr/>
          </p:nvGrpSpPr>
          <p:grpSpPr>
            <a:xfrm>
              <a:off x="468977" y="832988"/>
              <a:ext cx="11242060" cy="4180190"/>
              <a:chOff x="-1551175" y="1060752"/>
              <a:chExt cx="9890065" cy="3159825"/>
            </a:xfrm>
          </p:grpSpPr>
          <p:sp>
            <p:nvSpPr>
              <p:cNvPr id="2" name="AutoShape 2" descr="숲 한가운데에 있는 형형색색의 나무들판">
                <a:extLst>
                  <a:ext uri="{FF2B5EF4-FFF2-40B4-BE49-F238E27FC236}">
                    <a16:creationId xmlns:a16="http://schemas.microsoft.com/office/drawing/2014/main" id="{92ADEB6C-595F-D022-1FA7-A6F276B90DD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5942013" y="3276600"/>
                <a:ext cx="304800" cy="3048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A7DE69F3-CDFE-C669-D1BA-FDE0CCD5E7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551175" y="1390154"/>
                <a:ext cx="4608510" cy="2830423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18EE12F-0606-75E2-2B43-F3AFCA4558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62365" y="3077522"/>
                <a:ext cx="2676525" cy="1143055"/>
              </a:xfrm>
              <a:prstGeom prst="rect">
                <a:avLst/>
              </a:prstGeom>
            </p:spPr>
          </p:pic>
          <p:pic>
            <p:nvPicPr>
              <p:cNvPr id="1032" name="Picture 8" descr="베이즈 정리(Bayes' Theorem)의 정의와 의미">
                <a:extLst>
                  <a:ext uri="{FF2B5EF4-FFF2-40B4-BE49-F238E27FC236}">
                    <a16:creationId xmlns:a16="http://schemas.microsoft.com/office/drawing/2014/main" id="{B067FD7D-5954-1B2D-36F6-A25C17C1F9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662365" y="1060752"/>
                <a:ext cx="2676525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09C1E87A-9767-8287-7253-CF05F7BA0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07481" y="1268760"/>
              <a:ext cx="3020609" cy="3744416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871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189756" y="319087"/>
            <a:ext cx="10225136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/>
              <a:t>사용자가 직접 실제 동전의 확률과 시행 횟수를 조절하며 나의 믿음이 변하는 업데이트 과정을 실시간으로 관찰하게 </a:t>
            </a:r>
            <a:r>
              <a:rPr lang="en-US" altLang="ko-KR" sz="1600" dirty="0" err="1"/>
              <a:t>gradio</a:t>
            </a:r>
            <a:r>
              <a:rPr lang="ko-KR" altLang="en-US" sz="1600" dirty="0"/>
              <a:t> </a:t>
            </a:r>
            <a:r>
              <a:rPr lang="en-US" altLang="ko-KR" sz="1600" dirty="0"/>
              <a:t>UI</a:t>
            </a:r>
            <a:r>
              <a:rPr lang="ko-KR" altLang="en-US" sz="1600" dirty="0"/>
              <a:t>로 만들어 코드를 </a:t>
            </a:r>
            <a:r>
              <a:rPr lang="en-US" altLang="ko-KR" sz="1600" dirty="0"/>
              <a:t>Deploy</a:t>
            </a:r>
            <a:r>
              <a:rPr lang="ko-KR" altLang="en-US" sz="1600" dirty="0"/>
              <a:t>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실험을 바탕으로</a:t>
            </a:r>
            <a:r>
              <a:rPr lang="en-US" altLang="ko-KR" sz="1600" dirty="0"/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본인의 실제 체험으로 대답하라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C62203-0371-F9F6-8F12-C596F9995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897934"/>
            <a:ext cx="9649072" cy="4640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99DDB-CF71-2269-C86C-A0C6B66D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480F933-025B-964F-DC78-EB0567125B9F}"/>
              </a:ext>
            </a:extLst>
          </p:cNvPr>
          <p:cNvSpPr/>
          <p:nvPr/>
        </p:nvSpPr>
        <p:spPr>
          <a:xfrm>
            <a:off x="549796" y="189005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865C5A-AC22-903F-65DE-B0B66C8E4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442AF8-60A9-DCE2-F679-9A9DD6247034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652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D38B9-4195-271B-F272-05A2536DA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FA146E-6A35-D140-39B9-7BE9A5FE2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621179-F9A4-0781-E59A-8482B8B0AAB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Joint &amp; marginal histograms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AF047A-324A-5D47-FF11-216D60B123AB}"/>
              </a:ext>
            </a:extLst>
          </p:cNvPr>
          <p:cNvSpPr txBox="1"/>
          <p:nvPr/>
        </p:nvSpPr>
        <p:spPr>
          <a:xfrm>
            <a:off x="338480" y="1005885"/>
            <a:ext cx="11588580" cy="419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천문학자들이 외계 행성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(Exoplanets)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발견한 기록 데이터를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발견년도와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태양계로 부터의 거리의 시각화를 해석하라  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DDB8136B-12C4-CB2C-48F8-C520F1709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320" y="2233055"/>
            <a:ext cx="4394499" cy="436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31311A97-5308-C590-3D6E-7D50680CC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4338" y="2139024"/>
            <a:ext cx="2407280" cy="1898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F3AA0C-6A6D-099B-EE5F-974060402A4F}"/>
              </a:ext>
            </a:extLst>
          </p:cNvPr>
          <p:cNvSpPr txBox="1"/>
          <p:nvPr/>
        </p:nvSpPr>
        <p:spPr>
          <a:xfrm>
            <a:off x="7891557" y="1831247"/>
            <a:ext cx="2321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</a:rPr>
              <a:t>sns.histplot</a:t>
            </a:r>
            <a:r>
              <a:rPr lang="en-US" altLang="ko-KR" sz="1400" dirty="0">
                <a:latin typeface="Britannic Bold" panose="020B0903060703020204" pitchFamily="34" charset="0"/>
              </a:rPr>
              <a:t>(discrete=True)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C4989-4E1E-D890-423E-B6FB7D38B1AB}"/>
              </a:ext>
            </a:extLst>
          </p:cNvPr>
          <p:cNvSpPr txBox="1"/>
          <p:nvPr/>
        </p:nvSpPr>
        <p:spPr>
          <a:xfrm>
            <a:off x="909836" y="1873014"/>
            <a:ext cx="1489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joint_histogram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66D913-0B01-E354-6F96-A7108311FCC1}"/>
              </a:ext>
            </a:extLst>
          </p:cNvPr>
          <p:cNvSpPr txBox="1"/>
          <p:nvPr/>
        </p:nvSpPr>
        <p:spPr>
          <a:xfrm>
            <a:off x="7888209" y="4345492"/>
            <a:ext cx="29375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</a:rPr>
              <a:t>g.ax_joint.set</a:t>
            </a:r>
            <a:r>
              <a:rPr lang="en-US" altLang="ko-KR" sz="1400" dirty="0">
                <a:latin typeface="Britannic Bold" panose="020B0903060703020204" pitchFamily="34" charset="0"/>
              </a:rPr>
              <a:t>(</a:t>
            </a:r>
            <a:r>
              <a:rPr lang="en-US" altLang="ko-KR" sz="1400" dirty="0" err="1">
                <a:latin typeface="Britannic Bold" panose="020B0903060703020204" pitchFamily="34" charset="0"/>
              </a:rPr>
              <a:t>yscale</a:t>
            </a:r>
            <a:r>
              <a:rPr lang="en-US" altLang="ko-KR" sz="1400" dirty="0">
                <a:latin typeface="Britannic Bold" panose="020B0903060703020204" pitchFamily="34" charset="0"/>
              </a:rPr>
              <a:t>="log")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A634B299-49D6-52DE-08AC-3B5F6FDBB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5464" y="4653136"/>
            <a:ext cx="2439718" cy="194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093A3CA7-10F6-B4D7-2B88-086C54CAC0FB}"/>
              </a:ext>
            </a:extLst>
          </p:cNvPr>
          <p:cNvCxnSpPr>
            <a:cxnSpLocks/>
            <a:endCxn id="4100" idx="1"/>
          </p:cNvCxnSpPr>
          <p:nvPr/>
        </p:nvCxnSpPr>
        <p:spPr>
          <a:xfrm>
            <a:off x="4150196" y="2420888"/>
            <a:ext cx="3764142" cy="66751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C8F46F1F-8EEB-CFD0-59E5-180DB3842FE3}"/>
              </a:ext>
            </a:extLst>
          </p:cNvPr>
          <p:cNvCxnSpPr>
            <a:cxnSpLocks/>
          </p:cNvCxnSpPr>
          <p:nvPr/>
        </p:nvCxnSpPr>
        <p:spPr>
          <a:xfrm>
            <a:off x="5014292" y="4751382"/>
            <a:ext cx="2873917" cy="110073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04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Pairplot</a:t>
            </a:r>
            <a:endParaRPr lang="ko-KR" altLang="en-US" sz="32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5F8382-6E2B-3DFF-600B-F2EEAAA5E5BD}"/>
              </a:ext>
            </a:extLst>
          </p:cNvPr>
          <p:cNvGrpSpPr/>
          <p:nvPr/>
        </p:nvGrpSpPr>
        <p:grpSpPr>
          <a:xfrm>
            <a:off x="981844" y="2060848"/>
            <a:ext cx="9509954" cy="4586834"/>
            <a:chOff x="400882" y="992214"/>
            <a:chExt cx="11980731" cy="5778537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252B00A0-9CCA-2DC8-5D52-7E4F521D40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0709" y="1447580"/>
              <a:ext cx="6005581" cy="53012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965E5745-C1E2-1D24-BB69-4BED482DBA8C}"/>
                </a:ext>
              </a:extLst>
            </p:cNvPr>
            <p:cNvSpPr/>
            <p:nvPr/>
          </p:nvSpPr>
          <p:spPr>
            <a:xfrm>
              <a:off x="693812" y="3861048"/>
              <a:ext cx="1534064" cy="1389223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7037C7-933E-A3A7-A4E6-1C0B5AD00A6E}"/>
                </a:ext>
              </a:extLst>
            </p:cNvPr>
            <p:cNvSpPr txBox="1"/>
            <p:nvPr/>
          </p:nvSpPr>
          <p:spPr>
            <a:xfrm>
              <a:off x="400882" y="992214"/>
              <a:ext cx="3271960" cy="387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sns.pairplot</a:t>
              </a:r>
              <a:r>
                <a:rPr lang="en-US" altLang="ko-KR" sz="1400" dirty="0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(</a:t>
              </a:r>
              <a:r>
                <a:rPr lang="en-US" altLang="ko-KR" sz="1400" dirty="0" err="1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df</a:t>
              </a:r>
              <a:r>
                <a:rPr lang="en-US" altLang="ko-KR" sz="1400" dirty="0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, hue="species")</a:t>
              </a:r>
              <a:endParaRPr lang="ko-KR" altLang="en-US" sz="1400" dirty="0">
                <a:latin typeface="Britannic Bold" panose="020B0903060703020204" pitchFamily="34" charset="0"/>
              </a:endParaRPr>
            </a:p>
          </p:txBody>
        </p:sp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B1653977-6636-3D04-4EB3-D5CE03EBD3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86714" y="3946040"/>
              <a:ext cx="2844059" cy="28247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7" name="연결선: 구부러짐 6">
              <a:extLst>
                <a:ext uri="{FF2B5EF4-FFF2-40B4-BE49-F238E27FC236}">
                  <a16:creationId xmlns:a16="http://schemas.microsoft.com/office/drawing/2014/main" id="{B7A2B3B0-A523-FF6A-4790-9BDBEAAF94BC}"/>
                </a:ext>
              </a:extLst>
            </p:cNvPr>
            <p:cNvCxnSpPr>
              <a:cxnSpLocks/>
              <a:stCxn id="4" idx="3"/>
              <a:endCxn id="3074" idx="1"/>
            </p:cNvCxnSpPr>
            <p:nvPr/>
          </p:nvCxnSpPr>
          <p:spPr>
            <a:xfrm>
              <a:off x="2227875" y="4555660"/>
              <a:ext cx="7258839" cy="802736"/>
            </a:xfrm>
            <a:prstGeom prst="curved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D26FBB-56B4-174A-C25B-F243F7986FA7}"/>
                </a:ext>
              </a:extLst>
            </p:cNvPr>
            <p:cNvSpPr txBox="1"/>
            <p:nvPr/>
          </p:nvSpPr>
          <p:spPr>
            <a:xfrm>
              <a:off x="9377926" y="3572127"/>
              <a:ext cx="2005747" cy="387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rtl="0">
                <a:defRPr lang="ko-kr"/>
              </a:defPPr>
              <a:lvl1pPr>
                <a:defRPr sz="1400">
                  <a:latin typeface="Britannic Bold" panose="020B0903060703020204" pitchFamily="34" charset="0"/>
                </a:defRPr>
              </a:lvl1pPr>
            </a:lstStyle>
            <a:p>
              <a:r>
                <a:rPr lang="en-US" altLang="ko-KR" dirty="0" err="1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hexbin_marginals</a:t>
              </a:r>
              <a:endParaRPr lang="ko-KR" altLang="en-US" dirty="0"/>
            </a:p>
          </p:txBody>
        </p:sp>
        <p:pic>
          <p:nvPicPr>
            <p:cNvPr id="3078" name="Picture 6">
              <a:extLst>
                <a:ext uri="{FF2B5EF4-FFF2-40B4-BE49-F238E27FC236}">
                  <a16:creationId xmlns:a16="http://schemas.microsoft.com/office/drawing/2014/main" id="{156B5172-BB88-2485-4909-5859E68013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86714" y="1159732"/>
              <a:ext cx="2894899" cy="22872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C2931DD-8ED4-5AEF-DBB8-05B6F017A1E1}"/>
                </a:ext>
              </a:extLst>
            </p:cNvPr>
            <p:cNvSpPr/>
            <p:nvPr/>
          </p:nvSpPr>
          <p:spPr>
            <a:xfrm>
              <a:off x="693812" y="1401540"/>
              <a:ext cx="1534063" cy="1389222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cxnSp>
          <p:nvCxnSpPr>
            <p:cNvPr id="17" name="연결선: 구부러짐 16">
              <a:extLst>
                <a:ext uri="{FF2B5EF4-FFF2-40B4-BE49-F238E27FC236}">
                  <a16:creationId xmlns:a16="http://schemas.microsoft.com/office/drawing/2014/main" id="{67D18B30-DE1B-E4AC-6DF9-B05D6302466D}"/>
                </a:ext>
              </a:extLst>
            </p:cNvPr>
            <p:cNvCxnSpPr>
              <a:cxnSpLocks/>
              <a:stCxn id="16" idx="3"/>
              <a:endCxn id="3078" idx="1"/>
            </p:cNvCxnSpPr>
            <p:nvPr/>
          </p:nvCxnSpPr>
          <p:spPr>
            <a:xfrm>
              <a:off x="2227875" y="2096150"/>
              <a:ext cx="7258839" cy="207215"/>
            </a:xfrm>
            <a:prstGeom prst="curved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DAED1783-FAA9-B437-9357-5DA25F9E09DD}"/>
              </a:ext>
            </a:extLst>
          </p:cNvPr>
          <p:cNvSpPr txBox="1"/>
          <p:nvPr/>
        </p:nvSpPr>
        <p:spPr>
          <a:xfrm>
            <a:off x="338480" y="1005885"/>
            <a:ext cx="11588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오른쪽　상단의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pecies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조건으로 하는 데이터 분포이고 하단의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Hexbin_marginal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species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구분없이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전체 부리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날개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데이터 분포이고 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막대그래프나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곡선의 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Likelihood(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098E6B-8CCB-8548-00BD-D91394A409B5}"/>
              </a:ext>
            </a:extLst>
          </p:cNvPr>
          <p:cNvSpPr txBox="1"/>
          <p:nvPr/>
        </p:nvSpPr>
        <p:spPr>
          <a:xfrm>
            <a:off x="8107558" y="1912267"/>
            <a:ext cx="2523357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 err="1">
                <a:latin typeface="Britannic Bold" panose="020B0903060703020204" pitchFamily="34" charset="0"/>
              </a:rPr>
              <a:t>sns.kdeplot</a:t>
            </a:r>
            <a:r>
              <a:rPr lang="en-US" altLang="ko-KR" sz="1400" dirty="0">
                <a:latin typeface="Britannic Bold" panose="020B0903060703020204" pitchFamily="34" charset="0"/>
              </a:rPr>
              <a:t>(hue="species“)</a:t>
            </a: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C8D6A8-703D-996C-3882-67E139AAAB2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Hexbin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plot with marginal distributions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93FFA3-F7AB-2DB1-F22A-1ECB6018AABD}"/>
              </a:ext>
            </a:extLst>
          </p:cNvPr>
          <p:cNvSpPr txBox="1"/>
          <p:nvPr/>
        </p:nvSpPr>
        <p:spPr>
          <a:xfrm>
            <a:off x="6094412" y="1772816"/>
            <a:ext cx="5832648" cy="395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중앙 육각형 격자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(Joint Distribution)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변수가 동시에 나타나는 빈도이며 색이 진할수록 해당 데이터 포인트가 많이 몰려 있다는 뜻이며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결합 확률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P(X, 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높은 지점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상단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우측 막대그래프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(Marginal Distribution)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변수 하나의 분포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 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나타냅니다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상단 막대는 부리 길이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분포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우측 막대는 날개 길이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분포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16433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hexbin_marginals</a:t>
            </a:r>
            <a:r>
              <a:rPr lang="en-US" altLang="ko-KR" sz="1400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8E4F1-FED3-9C83-19AF-9E59E4C9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488456-27E5-BF62-A9E2-DF222DCF85D5}"/>
              </a:ext>
            </a:extLst>
          </p:cNvPr>
          <p:cNvSpPr/>
          <p:nvPr/>
        </p:nvSpPr>
        <p:spPr>
          <a:xfrm>
            <a:off x="549796" y="2538126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35E3C63-50ED-8E84-C8E2-9646A70AC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95F424-19FC-3256-E8D0-D757E895DBDB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997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6E70-34EB-0C3F-F0E4-511E719A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2C2CE0A-4F75-02C8-46D1-9E791D348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98F10-51EE-9A67-5F61-2A00C33E2DB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9A46731-E4C7-5727-B150-47F02419F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460" y="1616461"/>
            <a:ext cx="5435897" cy="466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148E4A-B3B0-586F-1DE8-E19CB2D4077C}"/>
              </a:ext>
            </a:extLst>
          </p:cNvPr>
          <p:cNvSpPr txBox="1"/>
          <p:nvPr/>
        </p:nvSpPr>
        <p:spPr>
          <a:xfrm>
            <a:off x="338480" y="908720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확률밀도함수로　시각화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60" name="Picture 12">
            <a:extLst>
              <a:ext uri="{FF2B5EF4-FFF2-40B4-BE49-F238E27FC236}">
                <a16:creationId xmlns:a16="http://schemas.microsoft.com/office/drawing/2014/main" id="{62F00511-FD76-49AB-7880-6A76D2E58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2" y="1643014"/>
            <a:ext cx="5465100" cy="463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45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FAF3-4CB9-BECF-483D-600C95920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EF1691-468D-099A-46B1-58B14A031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352C2-66CD-CAE7-94E4-26FF0A683EB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A1AC3BD-6565-1884-E002-03A1A38BB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063" y="1632195"/>
            <a:ext cx="5525102" cy="4690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5409503A-3995-715E-1826-7FC194EF1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4654" y="1628800"/>
            <a:ext cx="5435897" cy="4654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AF28AC-A607-8077-A231-1EF39363F518}"/>
              </a:ext>
            </a:extLst>
          </p:cNvPr>
          <p:cNvSpPr txBox="1"/>
          <p:nvPr/>
        </p:nvSpPr>
        <p:spPr>
          <a:xfrm>
            <a:off x="338480" y="908720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00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2060848"/>
            <a:ext cx="10110835" cy="4136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B3ED63-FE5D-9994-B67A-770A8624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849" y="2574157"/>
            <a:ext cx="1816536" cy="139699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B7F972-34E1-4141-72BE-842F5F835B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700" y="2564904"/>
            <a:ext cx="2054114" cy="1396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7798-07DC-FE7E-30AA-DA0A29AE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B41B6C-9F4C-8B94-632A-0CD19CF4E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9B8E04-000F-5C87-7A56-5BE6CF433C28}"/>
              </a:ext>
            </a:extLst>
          </p:cNvPr>
          <p:cNvSpPr txBox="1"/>
          <p:nvPr/>
        </p:nvSpPr>
        <p:spPr>
          <a:xfrm>
            <a:off x="1383587" y="1906012"/>
            <a:ext cx="25298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 kernel density estimate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C0E21B-638F-5751-E709-85C0F8E75B6C}"/>
              </a:ext>
            </a:extLst>
          </p:cNvPr>
          <p:cNvSpPr txBox="1"/>
          <p:nvPr/>
        </p:nvSpPr>
        <p:spPr>
          <a:xfrm>
            <a:off x="6598468" y="1906012"/>
            <a:ext cx="3791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 kernel density estimate</a:t>
            </a:r>
            <a:r>
              <a:rPr lang="en-US" altLang="ko-KR" sz="1400" dirty="0">
                <a:latin typeface="Britannic Bold" panose="020B0903060703020204" pitchFamily="34" charset="0"/>
              </a:rPr>
              <a:t>(hue =“species”)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BDBAD1-9294-DC49-5057-2D5162AB55EE}"/>
              </a:ext>
            </a:extLst>
          </p:cNvPr>
          <p:cNvSpPr txBox="1"/>
          <p:nvPr/>
        </p:nvSpPr>
        <p:spPr>
          <a:xfrm>
            <a:off x="490880" y="1158285"/>
            <a:ext cx="11588580" cy="743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penguin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Chinstrap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종을 제외하고 종의 구분이 없는 경우와 있는 경우의 전체분포와 조건부 분포를 시각화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따라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분포가 달라지는 것을 확인 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453F01-12DE-A1AA-9FA0-E02D648A641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A2262D-A87E-8995-D384-602F9F852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8978" y="2275344"/>
            <a:ext cx="414337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29DC385-D588-F68C-1F46-6F38DF142A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396" y="2286367"/>
            <a:ext cx="4143376" cy="4186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849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419D0-2FDC-16D8-548C-E22332E56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90D8AA-8BC3-384F-3764-C1E73140B29F}"/>
              </a:ext>
            </a:extLst>
          </p:cNvPr>
          <p:cNvSpPr/>
          <p:nvPr/>
        </p:nvSpPr>
        <p:spPr>
          <a:xfrm>
            <a:off x="549796" y="311419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EAB4A4B-43B1-86F2-5D53-994D5814B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46FC76-358A-A88D-A4DC-DEFFF8B417C9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7129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48443-75BE-9871-0739-0896D3DD3D33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결합확률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(joint distributions)</a:t>
            </a:r>
            <a:endParaRPr lang="ko-KR" altLang="en-US" sz="3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A033E8-7497-399B-7ED7-D83E6988BE68}"/>
              </a:ext>
            </a:extLst>
          </p:cNvPr>
          <p:cNvSpPr txBox="1"/>
          <p:nvPr/>
        </p:nvSpPr>
        <p:spPr>
          <a:xfrm>
            <a:off x="338480" y="1005885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동전과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주사위를 던졌을 때 동전 앞면과 주사위의 수자가 짝수가 나올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결합확률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)?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26D2F1C-13C2-7A5E-20F8-DEC1B703D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996" y="2204864"/>
            <a:ext cx="6264696" cy="4277786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DF05CFF5-0ACF-1D02-6742-22846750DFB2}"/>
              </a:ext>
            </a:extLst>
          </p:cNvPr>
          <p:cNvSpPr/>
          <p:nvPr/>
        </p:nvSpPr>
        <p:spPr>
          <a:xfrm>
            <a:off x="3574132" y="321297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0E5466E-443E-A97E-011D-A08F7A137835}"/>
              </a:ext>
            </a:extLst>
          </p:cNvPr>
          <p:cNvSpPr/>
          <p:nvPr/>
        </p:nvSpPr>
        <p:spPr>
          <a:xfrm>
            <a:off x="3574132" y="429309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49B786E-AE08-9372-3173-F9EFFACDEE22}"/>
              </a:ext>
            </a:extLst>
          </p:cNvPr>
          <p:cNvSpPr/>
          <p:nvPr/>
        </p:nvSpPr>
        <p:spPr>
          <a:xfrm>
            <a:off x="3574132" y="537321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73BAC-720D-87BB-EAA7-730F4625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BD8E640-463B-7E86-FADD-2FC0076FE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864CA5-78A6-6583-F034-8DF3E7E2452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결합확률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(joint distributions)</a:t>
            </a:r>
            <a:endParaRPr lang="ko-KR" altLang="en-US" sz="3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7D7DA8-EB40-CC7E-60ED-3BAE167DDC85}"/>
              </a:ext>
            </a:extLst>
          </p:cNvPr>
          <p:cNvSpPr txBox="1"/>
          <p:nvPr/>
        </p:nvSpPr>
        <p:spPr>
          <a:xfrm>
            <a:off x="338480" y="1005885"/>
            <a:ext cx="11588580" cy="415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앞면과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 * 1/6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동전과 주사위가 나올 확률을 곱한다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5C700C0-8873-0ACA-48DA-B76F580B0A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988" y="1963863"/>
            <a:ext cx="8052895" cy="439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10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49E-8DE0-447C-5C4F-CED65C391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6BA9F5B-E661-1F9C-4100-D698438A5CC1}"/>
              </a:ext>
            </a:extLst>
          </p:cNvPr>
          <p:cNvSpPr/>
          <p:nvPr/>
        </p:nvSpPr>
        <p:spPr>
          <a:xfrm>
            <a:off x="549796" y="376226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9FA1B26-DC49-91C6-6DDB-18EF223A0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B17D90-540E-FE62-C6A0-B2BD4C0E315D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834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764D3-A67A-791D-965C-7310444EC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8513452-4DAF-C356-4425-F660DCC7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F19938-A90F-375E-27C2-72092386179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36D5AE-6B05-6BD7-F072-47EF5DA8845E}"/>
              </a:ext>
            </a:extLst>
          </p:cNvPr>
          <p:cNvSpPr txBox="1"/>
          <p:nvPr/>
        </p:nvSpPr>
        <p:spPr>
          <a:xfrm>
            <a:off x="621804" y="948926"/>
            <a:ext cx="10945216" cy="788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/>
              <a:t>사용자가 직접 실제 동전의 확률과 시행 횟수를 조절하며 베이지안 업데이트 과정을 실시간으로 관찰하게 </a:t>
            </a:r>
            <a:r>
              <a:rPr lang="en-US" altLang="ko-KR" sz="1600" dirty="0" err="1"/>
              <a:t>gradio</a:t>
            </a:r>
            <a:r>
              <a:rPr lang="ko-KR" altLang="en-US" sz="1600" dirty="0"/>
              <a:t> </a:t>
            </a:r>
            <a:r>
              <a:rPr lang="en-US" altLang="ko-KR" sz="1600" dirty="0"/>
              <a:t>UI</a:t>
            </a:r>
            <a:r>
              <a:rPr lang="ko-KR" altLang="en-US" sz="1600" dirty="0"/>
              <a:t>로 만들어 코드를 </a:t>
            </a:r>
            <a:r>
              <a:rPr lang="en-US" altLang="ko-KR" sz="1600" dirty="0"/>
              <a:t>Deploy</a:t>
            </a:r>
            <a:r>
              <a:rPr lang="ko-KR" altLang="en-US" sz="1600" dirty="0"/>
              <a:t>하라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BD454F1-9FC1-E27F-9719-C4EF17DA9F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619" y="1841300"/>
            <a:ext cx="9766820" cy="469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459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2B9FD-6CF7-E754-B109-FC446EE03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E5AD546-E2AE-DC45-4882-656344547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ACC3B7-FB12-6E26-92DE-A7C905718A63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5EE73-D32C-9EB5-7BF4-979657F5F594}"/>
              </a:ext>
            </a:extLst>
          </p:cNvPr>
          <p:cNvSpPr txBox="1"/>
          <p:nvPr/>
        </p:nvSpPr>
        <p:spPr>
          <a:xfrm>
            <a:off x="693811" y="1052736"/>
            <a:ext cx="10945216" cy="506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1, 2, 3, 4, 5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각각의 데이터는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Cluster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 어디에 속할까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8D7AB43-DF89-3BD3-85A6-F5BC7A6A23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1" y="2132856"/>
            <a:ext cx="5174579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398DCFD-949D-CDDA-D1EE-BC24E69F7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060" y="2132856"/>
            <a:ext cx="4152856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11DEB08-E888-0609-EDF3-3513CEC998A0}"/>
              </a:ext>
            </a:extLst>
          </p:cNvPr>
          <p:cNvSpPr txBox="1"/>
          <p:nvPr/>
        </p:nvSpPr>
        <p:spPr>
          <a:xfrm>
            <a:off x="1172929" y="2428146"/>
            <a:ext cx="268923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from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scipy.stats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 import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1: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(1, 1),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원형 분포 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rv1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([1, 1], [[0.5, 0], [0, 0.5]])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2: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(3, 3),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타원 분포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공분산 활용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rv2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([3, 3], [[1.5, 0.8], [0.8, 0.6]]) </a:t>
            </a:r>
            <a:endParaRPr lang="ko-KR" altLang="en-US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135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FE7E-2B7D-A71D-4FD2-830B605E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80AE1D-BFBF-DF84-0F66-5CF02631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F0CA0-5595-AC6D-B083-3EBAE23A961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B6E98-D7DF-2326-D250-C71DB2B73F1C}"/>
              </a:ext>
            </a:extLst>
          </p:cNvPr>
          <p:cNvSpPr txBox="1"/>
          <p:nvPr/>
        </p:nvSpPr>
        <p:spPr>
          <a:xfrm>
            <a:off x="909836" y="875966"/>
            <a:ext cx="10945216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1,2, 3, 4, 5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각각의 데이터는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Cluster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 어디에 속할까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시각화 그림에 대해 토론하라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경우 어디에 속하는지 수자로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확률로 제시할 수 있을까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2ADCD0-BC77-3149-39F3-DCDB65091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2276872"/>
            <a:ext cx="4939310" cy="3973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0163F9-90B9-A8F1-5718-71EF8A59C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2319014"/>
            <a:ext cx="6351438" cy="298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F4117D-32C9-4924-938F-DAEAFD3031F0}"/>
              </a:ext>
            </a:extLst>
          </p:cNvPr>
          <p:cNvSpPr txBox="1"/>
          <p:nvPr/>
        </p:nvSpPr>
        <p:spPr>
          <a:xfrm>
            <a:off x="5662363" y="5445224"/>
            <a:ext cx="635143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400" dirty="0" err="1"/>
              <a:t>러그</a:t>
            </a:r>
            <a:r>
              <a:rPr lang="ko-KR" altLang="en-US" sz="1400" dirty="0"/>
              <a:t> 플롯</a:t>
            </a:r>
            <a:r>
              <a:rPr lang="en-US" altLang="ko-KR" sz="1400" dirty="0"/>
              <a:t>(Rug Plot) : 2</a:t>
            </a:r>
            <a:r>
              <a:rPr lang="ko-KR" altLang="en-US" sz="1400" dirty="0"/>
              <a:t>차원 공간</a:t>
            </a:r>
            <a:r>
              <a:rPr lang="en-US" altLang="ko-KR" sz="1400" dirty="0"/>
              <a:t>(X, Y)</a:t>
            </a:r>
            <a:r>
              <a:rPr lang="ko-KR" altLang="en-US" sz="1400" dirty="0"/>
              <a:t>에 흩어져 있는 점들을 </a:t>
            </a:r>
            <a:r>
              <a:rPr lang="en-US" altLang="ko-KR" sz="1400" dirty="0"/>
              <a:t>Y</a:t>
            </a:r>
            <a:r>
              <a:rPr lang="ko-KR" altLang="en-US" sz="1400" dirty="0"/>
              <a:t>축 값을 무시하고 </a:t>
            </a:r>
            <a:r>
              <a:rPr lang="en-US" altLang="ko-KR" sz="1400" dirty="0"/>
              <a:t>X</a:t>
            </a:r>
            <a:r>
              <a:rPr lang="ko-KR" altLang="en-US" sz="1400" dirty="0"/>
              <a:t>축 바닥으로 뚝 떨어뜨려</a:t>
            </a:r>
            <a:r>
              <a:rPr lang="en-US" altLang="ko-KR" sz="1400" dirty="0"/>
              <a:t>(</a:t>
            </a:r>
            <a:r>
              <a:rPr lang="ko-KR" altLang="en-US" sz="1400" dirty="0"/>
              <a:t>투영시켜</a:t>
            </a:r>
            <a:r>
              <a:rPr lang="en-US" altLang="ko-KR" sz="1400" dirty="0"/>
              <a:t>), </a:t>
            </a:r>
            <a:r>
              <a:rPr lang="ko-KR" altLang="en-US" sz="1400" dirty="0"/>
              <a:t>실제 데이터가 어느 지점에 밀집해 있는지를 직선상의 눈금으로 표시</a:t>
            </a:r>
          </a:p>
        </p:txBody>
      </p:sp>
    </p:spTree>
    <p:extLst>
      <p:ext uri="{BB962C8B-B14F-4D97-AF65-F5344CB8AC3E}">
        <p14:creationId xmlns:p14="http://schemas.microsoft.com/office/powerpoint/2010/main" val="298990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DB2DCB-C9C7-FFF3-803D-5C78FEB1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66163-F6F1-738E-3F66-6669CD9B676E}"/>
              </a:ext>
            </a:extLst>
          </p:cNvPr>
          <p:cNvSpPr txBox="1"/>
          <p:nvPr/>
        </p:nvSpPr>
        <p:spPr>
          <a:xfrm>
            <a:off x="765820" y="1196752"/>
            <a:ext cx="11233248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참고하여 아래 데이터를 바탕으로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성별로 하고 다른 모든 변수를 입력변수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하여 상관관계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 모두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아래와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같이 구하고 결과를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51B27-8096-A2B2-E88A-5F08FD136A69}"/>
              </a:ext>
            </a:extLst>
          </p:cNvPr>
          <p:cNvSpPr txBox="1"/>
          <p:nvPr/>
        </p:nvSpPr>
        <p:spPr>
          <a:xfrm>
            <a:off x="117748" y="260648"/>
            <a:ext cx="52565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(Option)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08EB97-D75C-37B9-BF3B-39DC3F52E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69" y="2760332"/>
            <a:ext cx="10114904" cy="20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E2F4D8-5C8D-3D53-0E7C-5E89E4BD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46" y="5088070"/>
            <a:ext cx="10525532" cy="943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89525C-C7A0-A806-EA78-271C51F864A5}"/>
              </a:ext>
            </a:extLst>
          </p:cNvPr>
          <p:cNvSpPr txBox="1"/>
          <p:nvPr/>
        </p:nvSpPr>
        <p:spPr>
          <a:xfrm>
            <a:off x="765067" y="4762947"/>
            <a:ext cx="61139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663936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1A57-7963-F069-6B19-C29EE8FD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B301409-FC0B-93A1-E3C6-44BC7892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30D26D-A9D0-2236-36E0-A89E242D0C0C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9087298-9315-D2FD-7110-FBB0AC9C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868" y="1412775"/>
            <a:ext cx="5112568" cy="514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A7B01D-0855-07B6-72C7-06A99023DDC7}"/>
              </a:ext>
            </a:extLst>
          </p:cNvPr>
          <p:cNvSpPr txBox="1"/>
          <p:nvPr/>
        </p:nvSpPr>
        <p:spPr>
          <a:xfrm>
            <a:off x="1169518" y="1043443"/>
            <a:ext cx="5500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https://seaborn.pydata.org/examples/joint_kde.html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19D07-2A4F-882B-ECB2-939FE65B77D8}"/>
              </a:ext>
            </a:extLst>
          </p:cNvPr>
          <p:cNvSpPr txBox="1"/>
          <p:nvPr/>
        </p:nvSpPr>
        <p:spPr>
          <a:xfrm>
            <a:off x="6814492" y="1517966"/>
            <a:ext cx="5256584" cy="4245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“species”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범주형 값을 기준으로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각각 변수의 평균과 분산을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변수간의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공분산을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분산이나 공분산이 커지면 모양새는 어떻게 변하나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낙도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(remote island)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무엇인가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팽권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3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(species)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분류하기에 가장 좋은 변수는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중에서 무엇인지 결정하라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분류를 결정하는 변수의 어떤 특정 값이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(species)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분류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하는데 최적인가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5708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1663</TotalTime>
  <Words>920</Words>
  <Application>Microsoft Office PowerPoint</Application>
  <PresentationFormat>사용자 지정</PresentationFormat>
  <Paragraphs>125</Paragraphs>
  <Slides>21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Corbel</vt:lpstr>
      <vt:lpstr>Wingdings</vt:lpstr>
      <vt:lpstr>마케팅 16x9</vt:lpstr>
      <vt:lpstr>통계와 확률  - 확률론에 들어가기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44</cp:revision>
  <dcterms:created xsi:type="dcterms:W3CDTF">2024-06-03T06:10:16Z</dcterms:created>
  <dcterms:modified xsi:type="dcterms:W3CDTF">2026-03-20T21:31:41Z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