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8"/>
  </p:notesMasterIdLst>
  <p:sldIdLst>
    <p:sldId id="256" r:id="rId2"/>
    <p:sldId id="266" r:id="rId3"/>
    <p:sldId id="282" r:id="rId4"/>
    <p:sldId id="910" r:id="rId5"/>
    <p:sldId id="911" r:id="rId6"/>
    <p:sldId id="923" r:id="rId7"/>
    <p:sldId id="917" r:id="rId8"/>
    <p:sldId id="919" r:id="rId9"/>
    <p:sldId id="924" r:id="rId10"/>
    <p:sldId id="922" r:id="rId11"/>
    <p:sldId id="930" r:id="rId12"/>
    <p:sldId id="932" r:id="rId13"/>
    <p:sldId id="931" r:id="rId14"/>
    <p:sldId id="933" r:id="rId15"/>
    <p:sldId id="285" r:id="rId16"/>
    <p:sldId id="925" r:id="rId17"/>
    <p:sldId id="265" r:id="rId18"/>
    <p:sldId id="271" r:id="rId19"/>
    <p:sldId id="819" r:id="rId20"/>
    <p:sldId id="820" r:id="rId21"/>
    <p:sldId id="275" r:id="rId22"/>
    <p:sldId id="276" r:id="rId23"/>
    <p:sldId id="272" r:id="rId24"/>
    <p:sldId id="279" r:id="rId25"/>
    <p:sldId id="270" r:id="rId26"/>
    <p:sldId id="259" r:id="rId27"/>
    <p:sldId id="912" r:id="rId28"/>
    <p:sldId id="288" r:id="rId29"/>
    <p:sldId id="913" r:id="rId30"/>
    <p:sldId id="268" r:id="rId31"/>
    <p:sldId id="269" r:id="rId32"/>
    <p:sldId id="260" r:id="rId33"/>
    <p:sldId id="818" r:id="rId34"/>
    <p:sldId id="926" r:id="rId35"/>
    <p:sldId id="929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51" autoAdjust="0"/>
    <p:restoredTop sz="94660"/>
  </p:normalViewPr>
  <p:slideViewPr>
    <p:cSldViewPr snapToGrid="0">
      <p:cViewPr varScale="1">
        <p:scale>
          <a:sx n="80" d="100"/>
          <a:sy n="80" d="100"/>
        </p:scale>
        <p:origin x="93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888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Big-Data-Science/blob/main/C1/w1/lab/C1_W1_Lab_2_solving_linear_systems_2_variables.ipynb" TargetMode="External"/><Relationship Id="rId7" Type="http://schemas.openxmlformats.org/officeDocument/2006/relationships/hyperlink" Target="https://github.com/ancestor9/Mathematics-for-Big-Data-Science/tree/main" TargetMode="External"/><Relationship Id="rId2" Type="http://schemas.openxmlformats.org/officeDocument/2006/relationships/hyperlink" Target="https://github.com/ancestor9/Mathematics-for-Big-Data-Science/blob/main/C1/w1/lab/C1_W1_Lab_1_introduction_to_numpy_arrays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ncestor9/Mathematics-for-Big-Data-Science/blob/main/C1/w3/lab/C1_W3_Lab_2_matrix_multiplication.ipynb" TargetMode="External"/><Relationship Id="rId5" Type="http://schemas.openxmlformats.org/officeDocument/2006/relationships/hyperlink" Target="https://github.com/ancestor9/Mathematics-for-Big-Data-Science/blob/main/C1/w3/lab/C1_W3_Lab_1_vector_operations.ipynb" TargetMode="External"/><Relationship Id="rId4" Type="http://schemas.openxmlformats.org/officeDocument/2006/relationships/hyperlink" Target="https://github.com/ancestor9/Mathematics-for-Big-Data-Science/blob/main/C1/w2/C1w2_ungraded_lab.ipyn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3.wdp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microsoft.com/office/2007/relationships/hdphoto" Target="../media/hdphoto6.wdp"/><Relationship Id="rId4" Type="http://schemas.openxmlformats.org/officeDocument/2006/relationships/image" Target="../media/image33.png"/><Relationship Id="rId9" Type="http://schemas.microsoft.com/office/2007/relationships/hdphoto" Target="../media/hdphoto8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data/blob/main/human_data.csv" TargetMode="Externa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jakevdp.github.io/PythonDataScienceHandboo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230.png"/><Relationship Id="rId7" Type="http://schemas.openxmlformats.org/officeDocument/2006/relationships/image" Target="../media/image27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5" Type="http://schemas.openxmlformats.org/officeDocument/2006/relationships/image" Target="../media/image250.png"/><Relationship Id="rId10" Type="http://schemas.openxmlformats.org/officeDocument/2006/relationships/image" Target="../media/image302.png"/><Relationship Id="rId4" Type="http://schemas.openxmlformats.org/officeDocument/2006/relationships/image" Target="../media/image240.png"/><Relationship Id="rId9" Type="http://schemas.openxmlformats.org/officeDocument/2006/relationships/image" Target="../media/image29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01.png"/><Relationship Id="rId7" Type="http://schemas.openxmlformats.org/officeDocument/2006/relationships/image" Target="../media/image3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10" Type="http://schemas.openxmlformats.org/officeDocument/2006/relationships/image" Target="../media/image371.png"/><Relationship Id="rId4" Type="http://schemas.openxmlformats.org/officeDocument/2006/relationships/image" Target="../media/image311.png"/><Relationship Id="rId9" Type="http://schemas.openxmlformats.org/officeDocument/2006/relationships/image" Target="../media/image3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270.png"/><Relationship Id="rId7" Type="http://schemas.openxmlformats.org/officeDocument/2006/relationships/image" Target="../media/image49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370.png"/><Relationship Id="rId4" Type="http://schemas.openxmlformats.org/officeDocument/2006/relationships/image" Target="../media/image310.png"/><Relationship Id="rId9" Type="http://schemas.openxmlformats.org/officeDocument/2006/relationships/image" Target="../media/image3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cipesds.tistory.com/entry/%EC%B4%88%EA%B0%84%EB%8B%A8-%EC%84%A0%ED%98%95%EB%8C%80%EC%88%98-%ED%96%89%EB%A0%AC%EC%9D%98-%EA%B8%B0%ED%95%98%ED%95%99%EC%A0%81%EC%9D%B8-%EC%9D%98%EB%AF%B8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hyperlink" Target="https://www.youtube.com/watch?v=fNk_zzaMoSs&amp;list=PLZHQObOWTQDPD3MizzM2xVFitgF8hE_a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4BC4CC-119D-4066-611C-7FF8F69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-1"/>
            <a:ext cx="7315200" cy="68341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4571"/>
            <a:ext cx="4876801" cy="2509213"/>
          </a:xfrm>
        </p:spPr>
        <p:txBody>
          <a:bodyPr>
            <a:normAutofit/>
          </a:bodyPr>
          <a:lstStyle/>
          <a:p>
            <a:r>
              <a:rPr lang="ko-KR" altLang="en-US" sz="5400" dirty="0"/>
              <a:t>선형대수</a:t>
            </a:r>
            <a:br>
              <a:rPr lang="en-US" altLang="ko-KR" sz="5400" dirty="0"/>
            </a:br>
            <a:r>
              <a:rPr lang="en-US" altLang="ko-KR" sz="3200" dirty="0"/>
              <a:t>-</a:t>
            </a:r>
            <a:r>
              <a:rPr lang="ko-KR" altLang="en-US" sz="3200" dirty="0"/>
              <a:t>행렬과 벡터</a:t>
            </a:r>
            <a:r>
              <a:rPr lang="en-US" altLang="ko-KR" sz="3200" dirty="0"/>
              <a:t>-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99986"/>
            <a:ext cx="4876801" cy="1371599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 Spring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조상구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BC7E252-AF9C-7707-B610-3002F1588D0E}"/>
              </a:ext>
            </a:extLst>
          </p:cNvPr>
          <p:cNvSpPr/>
          <p:nvPr/>
        </p:nvSpPr>
        <p:spPr>
          <a:xfrm>
            <a:off x="712721" y="190500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992DD-2A1A-471D-D61E-522358216252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28201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C9B65-F8EA-6AA1-1DA5-2D80DF7B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대수</a:t>
            </a:r>
            <a:r>
              <a:rPr lang="en-US" altLang="ko-KR" cap="none" dirty="0"/>
              <a:t>(Algebra)</a:t>
            </a:r>
            <a:endParaRPr lang="ko-KR" altLang="en-US" cap="none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F94065A-3B86-1519-6348-51928857D0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Algebra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기호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(symbol) 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(value)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관계를 다루고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</a:p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Python namespace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이름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(name) 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객체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(object)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매핑을 관리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/>
              <p:nvPr/>
            </p:nvSpPr>
            <p:spPr>
              <a:xfrm>
                <a:off x="1114424" y="2588389"/>
                <a:ext cx="4200525" cy="35474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Algebra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관점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이름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기호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), 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값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“참조” 즉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기호 → 값으로 매핑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2588389"/>
                <a:ext cx="4200525" cy="3547446"/>
              </a:xfrm>
              <a:prstGeom prst="rect">
                <a:avLst/>
              </a:prstGeom>
              <a:blipFill>
                <a:blip r:embed="rId2"/>
                <a:stretch>
                  <a:fillRect l="-1597" b="-1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/>
              <p:nvPr/>
            </p:nvSpPr>
            <p:spPr>
              <a:xfrm>
                <a:off x="6095687" y="2588389"/>
                <a:ext cx="4562788" cy="35474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Python Namespace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관점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ko-KR" altLang="en-US" sz="2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  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# 3(class)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객체화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→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객체를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 y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→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5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객체를 가리킴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이걸 저장하는 공간이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namespace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(name) →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(object)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매핑 테이블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687" y="2588389"/>
                <a:ext cx="4562788" cy="3547446"/>
              </a:xfrm>
              <a:prstGeom prst="rect">
                <a:avLst/>
              </a:prstGeom>
              <a:blipFill>
                <a:blip r:embed="rId3"/>
                <a:stretch>
                  <a:fillRect l="-1471" b="-1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B4F9C7F-8274-24E6-8EA8-8A570044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39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304F-FC2F-A538-0931-D7B1771D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A8CB-E405-4FEF-CDED-A37652BB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선형함수</a:t>
            </a:r>
            <a:r>
              <a:rPr lang="en-US" altLang="ko-KR" cap="none" dirty="0"/>
              <a:t>(Linear Function)</a:t>
            </a:r>
            <a:endParaRPr lang="ko-KR" altLang="en-US" cap="none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29EE5B-BFD1-8809-A749-306ED8DFBF0A}"/>
              </a:ext>
            </a:extLst>
          </p:cNvPr>
          <p:cNvGrpSpPr/>
          <p:nvPr/>
        </p:nvGrpSpPr>
        <p:grpSpPr>
          <a:xfrm>
            <a:off x="2178017" y="1931722"/>
            <a:ext cx="7061233" cy="3283085"/>
            <a:chOff x="2054192" y="2331772"/>
            <a:chExt cx="5270533" cy="356704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971382-875A-BF7A-1785-11393B840C39}"/>
                </a:ext>
              </a:extLst>
            </p:cNvPr>
            <p:cNvSpPr txBox="1"/>
            <p:nvPr/>
          </p:nvSpPr>
          <p:spPr>
            <a:xfrm>
              <a:off x="2054192" y="2724745"/>
              <a:ext cx="5270533" cy="283789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en-US" altLang="ko-KR" dirty="0">
                <a:latin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en-US" altLang="ko-KR" dirty="0">
                <a:latin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ko-KR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6" name="순서도: 병합 5">
              <a:extLst>
                <a:ext uri="{FF2B5EF4-FFF2-40B4-BE49-F238E27FC236}">
                  <a16:creationId xmlns:a16="http://schemas.microsoft.com/office/drawing/2014/main" id="{1E1541FB-0C6A-321E-7ADC-5BC63BC6B524}"/>
                </a:ext>
              </a:extLst>
            </p:cNvPr>
            <p:cNvSpPr/>
            <p:nvPr/>
          </p:nvSpPr>
          <p:spPr>
            <a:xfrm>
              <a:off x="2146877" y="2331772"/>
              <a:ext cx="971550" cy="785943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순서도: 병합 6">
              <a:extLst>
                <a:ext uri="{FF2B5EF4-FFF2-40B4-BE49-F238E27FC236}">
                  <a16:creationId xmlns:a16="http://schemas.microsoft.com/office/drawing/2014/main" id="{60294CFB-26C5-82B6-DCC8-9F27A3CD1C1B}"/>
                </a:ext>
              </a:extLst>
            </p:cNvPr>
            <p:cNvSpPr/>
            <p:nvPr/>
          </p:nvSpPr>
          <p:spPr>
            <a:xfrm rot="10800000">
              <a:off x="6238876" y="5112874"/>
              <a:ext cx="971550" cy="785943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D7DE41-32EE-EE34-C3E1-308A5088B793}"/>
                  </a:ext>
                </a:extLst>
              </p:cNvPr>
              <p:cNvSpPr txBox="1"/>
              <p:nvPr/>
            </p:nvSpPr>
            <p:spPr>
              <a:xfrm rot="20064678">
                <a:off x="2018053" y="1306677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D7DE41-32EE-EE34-C3E1-308A5088B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64678">
                <a:off x="2018053" y="1306677"/>
                <a:ext cx="1219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34146-BAD5-EADA-76D9-AF1012DD4199}"/>
                  </a:ext>
                </a:extLst>
              </p:cNvPr>
              <p:cNvSpPr txBox="1"/>
              <p:nvPr/>
            </p:nvSpPr>
            <p:spPr>
              <a:xfrm>
                <a:off x="2243959" y="3018534"/>
                <a:ext cx="7685703" cy="1673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입력을 더하면 → 출력도 더해진다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 :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입력을 </a:t>
                </a:r>
                <a:r>
                  <a:rPr lang="ko-KR" altLang="en-US" dirty="0" err="1">
                    <a:latin typeface="Cambria Math" panose="02040503050406030204" pitchFamily="18" charset="0"/>
                  </a:rPr>
                  <a:t>스케일하면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→ 출력도 같이 </a:t>
                </a:r>
                <a:r>
                  <a:rPr lang="ko-KR" altLang="en-US" dirty="0" err="1">
                    <a:latin typeface="Cambria Math" panose="02040503050406030204" pitchFamily="18" charset="0"/>
                  </a:rPr>
                  <a:t>스케일된다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.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: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비틀림 없이 ‘비례적으로’ 변하는 직선구조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34146-BAD5-EADA-76D9-AF1012DD4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959" y="3018534"/>
                <a:ext cx="7685703" cy="1673215"/>
              </a:xfrm>
              <a:prstGeom prst="rect">
                <a:avLst/>
              </a:prstGeom>
              <a:blipFill>
                <a:blip r:embed="rId3"/>
                <a:stretch>
                  <a:fillRect l="-476" b="-4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EB480-4A35-C4F4-BE57-3C06B2219C9B}"/>
                  </a:ext>
                </a:extLst>
              </p:cNvPr>
              <p:cNvSpPr txBox="1"/>
              <p:nvPr/>
            </p:nvSpPr>
            <p:spPr>
              <a:xfrm>
                <a:off x="8626416" y="5416871"/>
                <a:ext cx="14537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EB480-4A35-C4F4-BE57-3C06B221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6416" y="5416871"/>
                <a:ext cx="1453796" cy="461665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슬라이드 번호 개체 틀 3">
            <a:extLst>
              <a:ext uri="{FF2B5EF4-FFF2-40B4-BE49-F238E27FC236}">
                <a16:creationId xmlns:a16="http://schemas.microsoft.com/office/drawing/2014/main" id="{0CD98FFA-12FD-5A9E-DFC9-8989FC42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272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657C-F326-66CF-F9AE-DF09B5F2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132A9-54DB-5517-163B-69B92639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/>
              <a:t>Linear or</a:t>
            </a:r>
            <a:r>
              <a:rPr lang="ko-KR" altLang="en-US" cap="none" dirty="0"/>
              <a:t> </a:t>
            </a:r>
            <a:r>
              <a:rPr lang="en-US" altLang="ko-KR" cap="none" dirty="0"/>
              <a:t>Non</a:t>
            </a:r>
            <a:r>
              <a:rPr lang="ko-KR" altLang="en-US" cap="none" dirty="0"/>
              <a:t> </a:t>
            </a:r>
            <a:r>
              <a:rPr lang="en-US" altLang="ko-KR" cap="none" dirty="0"/>
              <a:t>Linear</a:t>
            </a:r>
            <a:endParaRPr lang="ko-KR" altLang="en-US" cap="non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156FA-95F7-B6E9-AB18-0E882F029FB2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1000125"/>
            <a:ext cx="8826260" cy="518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47DEB5-DB96-83A6-DAE5-4D8FF0E3C3F9}"/>
                  </a:ext>
                </a:extLst>
              </p:cNvPr>
              <p:cNvSpPr txBox="1"/>
              <p:nvPr/>
            </p:nvSpPr>
            <p:spPr>
              <a:xfrm>
                <a:off x="14287" y="1870591"/>
                <a:ext cx="28670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en-US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47DEB5-DB96-83A6-DAE5-4D8FF0E3C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" y="1870591"/>
                <a:ext cx="2867025" cy="646331"/>
              </a:xfrm>
              <a:prstGeom prst="rect">
                <a:avLst/>
              </a:prstGeom>
              <a:blipFill>
                <a:blip r:embed="rId3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슬라이드 번호 개체 틀 3">
            <a:extLst>
              <a:ext uri="{FF2B5EF4-FFF2-40B4-BE49-F238E27FC236}">
                <a16:creationId xmlns:a16="http://schemas.microsoft.com/office/drawing/2014/main" id="{E7DB5585-9534-1A21-C090-FC9C1204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040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A493E-8D46-98E3-D750-4F972874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072AFC8-2EFD-4D64-4991-E43E31F71508}"/>
              </a:ext>
            </a:extLst>
          </p:cNvPr>
          <p:cNvSpPr/>
          <p:nvPr/>
        </p:nvSpPr>
        <p:spPr>
          <a:xfrm>
            <a:off x="712721" y="255270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AB2ED9-C4A4-2333-3427-E407C2B17733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174582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F1D5-A05D-AEED-E98C-0554BDE9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6DE98D62-C4CA-D083-42E1-7177B699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7</a:t>
            </a:fld>
            <a:endParaRPr lang="en-US" sz="2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67647D6-E586-4953-AC23-D502780608A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850" y="2193800"/>
            <a:ext cx="4501673" cy="217822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CCCE8E2-148B-F3D0-98EB-9A973DD2A5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2253348"/>
            <a:ext cx="4963722" cy="19406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555B3B8-885E-712C-52AB-4FCF7DF05CE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4503381"/>
            <a:ext cx="3813060" cy="10687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25F1F7-D7B1-B08D-29F3-0FD4E2185785}"/>
              </a:ext>
            </a:extLst>
          </p:cNvPr>
          <p:cNvSpPr txBox="1"/>
          <p:nvPr/>
        </p:nvSpPr>
        <p:spPr>
          <a:xfrm>
            <a:off x="581025" y="1723384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연립선형방정식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(System of Linear Equations)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336A03-1E2E-2809-4249-9EFC05E6C4E5}"/>
              </a:ext>
            </a:extLst>
          </p:cNvPr>
          <p:cNvSpPr txBox="1"/>
          <p:nvPr/>
        </p:nvSpPr>
        <p:spPr>
          <a:xfrm>
            <a:off x="6372225" y="1759253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(Matrix Form)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AAC71A-5047-7A37-F9D5-0326B3C078B1}"/>
                  </a:ext>
                </a:extLst>
              </p:cNvPr>
              <p:cNvSpPr txBox="1"/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AAC71A-5047-7A37-F9D5-0326B3C07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67F56509-EA45-5AA7-1053-C90C622B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/>
              <a:t>System of Linear Equations </a:t>
            </a:r>
            <a:endParaRPr lang="ko-KR" altLang="en-US" cap="none" dirty="0"/>
          </a:p>
        </p:txBody>
      </p:sp>
    </p:spTree>
    <p:extLst>
      <p:ext uri="{BB962C8B-B14F-4D97-AF65-F5344CB8AC3E}">
        <p14:creationId xmlns:p14="http://schemas.microsoft.com/office/powerpoint/2010/main" val="658483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E815-8EE0-6D4F-49BA-C6278346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achine learning diagram">
            <a:extLst>
              <a:ext uri="{FF2B5EF4-FFF2-40B4-BE49-F238E27FC236}">
                <a16:creationId xmlns:a16="http://schemas.microsoft.com/office/drawing/2014/main" id="{31270F37-CD94-038F-97E6-AE82E6BD2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4" y="2004685"/>
            <a:ext cx="8001000" cy="411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4DB45C27-D83E-EE3E-E745-CF19291C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8</a:t>
            </a:fld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F2B967-4D3A-6B9F-38C9-F2A6A2228496}"/>
              </a:ext>
            </a:extLst>
          </p:cNvPr>
          <p:cNvSpPr txBox="1"/>
          <p:nvPr/>
        </p:nvSpPr>
        <p:spPr>
          <a:xfrm>
            <a:off x="1168736" y="971581"/>
            <a:ext cx="5784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재변환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(Representation of Matrix Form)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57AEF1-25C0-B3CE-02E0-5D8B8A57783D}"/>
                  </a:ext>
                </a:extLst>
              </p:cNvPr>
              <p:cNvSpPr txBox="1"/>
              <p:nvPr/>
            </p:nvSpPr>
            <p:spPr>
              <a:xfrm>
                <a:off x="8398762" y="1543020"/>
                <a:ext cx="1207750" cy="461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𝐴𝑘</m:t>
                      </m:r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57AEF1-25C0-B3CE-02E0-5D8B8A577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762" y="1543020"/>
                <a:ext cx="1207750" cy="461665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01B753E0-A9F7-C1CD-878C-99AD89CD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/>
              <a:t>Deep learning </a:t>
            </a:r>
            <a:endParaRPr lang="ko-KR" altLang="en-US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4F41C-ACA8-BC68-D537-75F1A153ECFB}"/>
                  </a:ext>
                </a:extLst>
              </p:cNvPr>
              <p:cNvSpPr txBox="1"/>
              <p:nvPr/>
            </p:nvSpPr>
            <p:spPr>
              <a:xfrm>
                <a:off x="6325964" y="1543020"/>
                <a:ext cx="1284511" cy="461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𝐵𝑧</m:t>
                      </m:r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4F41C-ACA8-BC68-D537-75F1A153E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964" y="1543020"/>
                <a:ext cx="128451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0FEA2-D7E8-7C24-AE89-3CF0ED6080C8}"/>
                  </a:ext>
                </a:extLst>
              </p:cNvPr>
              <p:cNvSpPr txBox="1"/>
              <p:nvPr/>
            </p:nvSpPr>
            <p:spPr>
              <a:xfrm>
                <a:off x="2307119" y="1543020"/>
                <a:ext cx="904875" cy="461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0FEA2-D7E8-7C24-AE89-3CF0ED608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19" y="1543020"/>
                <a:ext cx="9048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E7DBA2-42ED-882B-39DC-76331AFEBB83}"/>
                  </a:ext>
                </a:extLst>
              </p:cNvPr>
              <p:cNvSpPr txBox="1"/>
              <p:nvPr/>
            </p:nvSpPr>
            <p:spPr>
              <a:xfrm>
                <a:off x="4081716" y="1543020"/>
                <a:ext cx="1284511" cy="461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E7DBA2-42ED-882B-39DC-76331AFEB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716" y="1543020"/>
                <a:ext cx="1284511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90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D4AA-CF5F-4EFB-2604-B1E4314C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E92BF9F-AED6-6BBA-DF89-DD03B721F532}"/>
              </a:ext>
            </a:extLst>
          </p:cNvPr>
          <p:cNvSpPr/>
          <p:nvPr/>
        </p:nvSpPr>
        <p:spPr>
          <a:xfrm>
            <a:off x="712721" y="318135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72458-EB29-DC49-19CA-B99C351CE2AD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2974209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FBAE2-088E-398A-A555-BB8494B1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962BDD78-DA65-389B-029C-A6795F47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10</a:t>
            </a:fld>
            <a:endParaRPr 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55C34F-9E02-4309-86EC-1C160E9F0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행렬과 벡터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48B2B-FDED-8D25-FA5B-147EF38E5AEE}"/>
              </a:ext>
            </a:extLst>
          </p:cNvPr>
          <p:cNvSpPr txBox="1"/>
          <p:nvPr/>
        </p:nvSpPr>
        <p:spPr>
          <a:xfrm>
            <a:off x="3686175" y="2876864"/>
            <a:ext cx="5753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Introduction To </a:t>
            </a:r>
            <a:r>
              <a:rPr lang="en-US" altLang="ko-KR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Numpy</a:t>
            </a:r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Arrays</a:t>
            </a:r>
            <a:endParaRPr lang="en-US" altLang="ko-KR" dirty="0"/>
          </a:p>
          <a:p>
            <a:r>
              <a:rPr lang="en-US" altLang="ko-K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Solving Linear Systems : 2 Variables</a:t>
            </a:r>
            <a:endParaRPr lang="en-US" altLang="ko-KR" dirty="0"/>
          </a:p>
          <a:p>
            <a:endParaRPr lang="en-US" altLang="ko-KR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altLang="ko-KR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Solving Linear Systems : 3 Variables</a:t>
            </a:r>
            <a:endParaRPr lang="en-US" altLang="ko-KR" dirty="0"/>
          </a:p>
          <a:p>
            <a:endParaRPr lang="en-US" altLang="ko-KR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altLang="ko-KR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altLang="ko-KR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Vector Operations</a:t>
            </a:r>
            <a:endParaRPr lang="en-US" altLang="ko-KR" dirty="0"/>
          </a:p>
          <a:p>
            <a:r>
              <a:rPr lang="en-US" altLang="ko-KR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Matrix Multiplication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15850-FC9A-41D5-A164-32A60D0DBA7E}"/>
              </a:ext>
            </a:extLst>
          </p:cNvPr>
          <p:cNvSpPr txBox="1"/>
          <p:nvPr/>
        </p:nvSpPr>
        <p:spPr>
          <a:xfrm>
            <a:off x="2457450" y="1673618"/>
            <a:ext cx="436600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Mathematics-for-Big-Data-Science</a:t>
            </a:r>
            <a:endParaRPr lang="en-US" altLang="ko-KR" sz="2400" dirty="0"/>
          </a:p>
          <a:p>
            <a:endParaRPr lang="en-US" altLang="ko-KR" dirty="0"/>
          </a:p>
          <a:p>
            <a:r>
              <a:rPr lang="en-US" altLang="ko-KR" dirty="0"/>
              <a:t>C1 </a:t>
            </a:r>
          </a:p>
          <a:p>
            <a:endParaRPr lang="en-US" altLang="ko-KR" dirty="0"/>
          </a:p>
          <a:p>
            <a:r>
              <a:rPr lang="en-US" altLang="ko-KR" dirty="0"/>
              <a:t>	w1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w2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</a:p>
          <a:p>
            <a:endParaRPr lang="en-US" altLang="ko-KR" dirty="0"/>
          </a:p>
          <a:p>
            <a:r>
              <a:rPr lang="en-US" altLang="ko-KR" dirty="0"/>
              <a:t>	w3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965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3CF63-9FB1-E1C2-0664-FAEFB8B14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CE5C447-24AA-9032-6029-B679A29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11</a:t>
            </a:fld>
            <a:endParaRPr 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F011B8-1EC7-E3D6-0915-4F268DAA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행렬과 벡터의 연산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B4BCBE8-032C-6AA3-4A13-F2968A001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14697" y="1487218"/>
            <a:ext cx="3578484" cy="106200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AED55F4-5183-ED3B-AB2D-858B6DC21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7048" y="3468974"/>
            <a:ext cx="4559683" cy="115435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242B8AD-DE21-C14A-C0D8-07E53F75FC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7033" y="3457430"/>
            <a:ext cx="3174463" cy="116589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517EA1-9024-3A60-F1AF-F315FE771E97}"/>
              </a:ext>
            </a:extLst>
          </p:cNvPr>
          <p:cNvSpPr txBox="1"/>
          <p:nvPr/>
        </p:nvSpPr>
        <p:spPr>
          <a:xfrm>
            <a:off x="4696557" y="2728171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 x 2 </a:t>
            </a:r>
            <a:r>
              <a:rPr lang="ko-KR" altLang="en-US" dirty="0"/>
              <a:t>행렬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4E7529-D1E4-BC4E-7345-99EC69B168F3}"/>
              </a:ext>
            </a:extLst>
          </p:cNvPr>
          <p:cNvSpPr txBox="1"/>
          <p:nvPr/>
        </p:nvSpPr>
        <p:spPr>
          <a:xfrm>
            <a:off x="6873342" y="2728171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 x 1 </a:t>
            </a:r>
            <a:r>
              <a:rPr lang="ko-KR" altLang="en-US" dirty="0"/>
              <a:t>벡터</a:t>
            </a:r>
          </a:p>
        </p:txBody>
      </p:sp>
    </p:spTree>
    <p:extLst>
      <p:ext uri="{BB962C8B-B14F-4D97-AF65-F5344CB8AC3E}">
        <p14:creationId xmlns:p14="http://schemas.microsoft.com/office/powerpoint/2010/main" val="4115293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39A0-66FA-CD4F-D4E1-32BA35D0B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654849C9-29FF-F40D-CD73-EE50785B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12</a:t>
            </a:fld>
            <a:endParaRPr 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BEBB228-B7E9-F283-345E-B5BAACFF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행렬과 벡터의 연산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50E7C2-8B21-809C-7531-57EE312CA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09" y="4341883"/>
            <a:ext cx="2796782" cy="173751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57C1C42-814B-C5EA-6952-5C18701C9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663" y="829387"/>
            <a:ext cx="5767387" cy="581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81E2EE42-F7CC-8EFA-BEEF-C4A70A119C93}"/>
              </a:ext>
            </a:extLst>
          </p:cNvPr>
          <p:cNvGrpSpPr/>
          <p:nvPr/>
        </p:nvGrpSpPr>
        <p:grpSpPr>
          <a:xfrm>
            <a:off x="1030484" y="1752496"/>
            <a:ext cx="2194750" cy="723963"/>
            <a:chOff x="1030484" y="1752496"/>
            <a:chExt cx="2194750" cy="72396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1FBEEE6-BD5E-1007-7749-B818070C8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0484" y="1752496"/>
              <a:ext cx="2194750" cy="72396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2C58EDB-3F9F-2119-AF63-2AFEB4C60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8105" y="1766157"/>
              <a:ext cx="1089754" cy="624894"/>
            </a:xfrm>
            <a:prstGeom prst="rect">
              <a:avLst/>
            </a:prstGeom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0AD9695E-7597-3C21-5CFB-AEC9ABE25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8862" y="5437216"/>
            <a:ext cx="746825" cy="2819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6BE22F2-BE4F-49DC-3CF5-38E1C20A0A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0194" y="1956673"/>
            <a:ext cx="952583" cy="24386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E926C2A-23B6-55B8-11C5-570CD83B0E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998" y="1752496"/>
            <a:ext cx="967824" cy="26672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C0E395D-964D-8CCC-94C3-1EDD870409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484" y="2830884"/>
            <a:ext cx="2095682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0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A7E90-8365-D46C-2B02-7BDDA0E48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B140D831-8A2F-E09A-9AEE-AD151792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13</a:t>
            </a:fld>
            <a:endParaRPr 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469E7C-9CF5-8A29-11AB-5D778704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행렬과 벡터의 연산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74FAC4-95F0-C3FA-50AA-98CF70A2A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4793" y="1358233"/>
            <a:ext cx="3447474" cy="9820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4C917E1-F2D9-AEE9-59E2-5511B46C3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8043" y="3427730"/>
            <a:ext cx="2997355" cy="10025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B2B4855-7CFA-1278-AB2F-73BC29A861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39622" y="3427730"/>
            <a:ext cx="3017817" cy="9411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5E5B446-0F96-7776-002D-FBF361141D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5616" y="3402155"/>
            <a:ext cx="3652070" cy="99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2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93AD-1D97-BD8A-11D1-F088717D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95623242-E813-AD03-1C79-9F00687C9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14</a:t>
            </a:fld>
            <a:endParaRPr lang="en-US" sz="2000" dirty="0"/>
          </a:p>
        </p:txBody>
      </p:sp>
      <p:pic>
        <p:nvPicPr>
          <p:cNvPr id="8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852721A-D519-D285-7386-4872F435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9EE15145-BCEF-E882-99CB-7964B4200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713" y="0"/>
            <a:ext cx="61261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D8084-2B35-7745-BB58-51DB56F0A881}"/>
              </a:ext>
            </a:extLst>
          </p:cNvPr>
          <p:cNvSpPr txBox="1"/>
          <p:nvPr/>
        </p:nvSpPr>
        <p:spPr>
          <a:xfrm>
            <a:off x="1140618" y="906230"/>
            <a:ext cx="8536781" cy="16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human_data.csv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 키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몸무게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발 크기를 산술평균 값을 관측치별로 구하고 어떤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index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사람이 가장 값이 큰가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몸무게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발 크기 등의 값 등은 자료 스케일링을 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array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연산으로 구하라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3667CC0-C8EC-BF6E-A42E-AA92B3DED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668" y="2660374"/>
            <a:ext cx="3318230" cy="374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16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871F-6794-7500-6128-87B66287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634C58-AE6C-176B-F945-6D8030D9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 err="1"/>
              <a:t>Numpy</a:t>
            </a:r>
            <a:r>
              <a:rPr lang="en-US" altLang="ko-KR" cap="none" dirty="0"/>
              <a:t> </a:t>
            </a:r>
            <a:r>
              <a:rPr lang="ko-KR" altLang="en-US" cap="none" dirty="0"/>
              <a:t>배우기</a:t>
            </a:r>
            <a:r>
              <a:rPr lang="en-US" altLang="ko-KR" cap="none" dirty="0"/>
              <a:t>(Option)</a:t>
            </a:r>
            <a:endParaRPr lang="ko-KR" altLang="en-US" cap="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EBB09-87BF-A3B4-9FCE-50B0C858CD85}"/>
              </a:ext>
            </a:extLst>
          </p:cNvPr>
          <p:cNvSpPr txBox="1"/>
          <p:nvPr/>
        </p:nvSpPr>
        <p:spPr>
          <a:xfrm>
            <a:off x="1009650" y="1400175"/>
            <a:ext cx="403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24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en-US" altLang="ko-KR" sz="2400" dirty="0"/>
              <a:t> </a:t>
            </a:r>
            <a:endParaRPr lang="ko-KR" altLang="en-US" sz="2400" dirty="0"/>
          </a:p>
        </p:txBody>
      </p:sp>
      <p:pic>
        <p:nvPicPr>
          <p:cNvPr id="1026" name="Picture 2" descr="Book Cover">
            <a:extLst>
              <a:ext uri="{FF2B5EF4-FFF2-40B4-BE49-F238E27FC236}">
                <a16:creationId xmlns:a16="http://schemas.microsoft.com/office/drawing/2014/main" id="{60892FA3-13A3-1621-652A-7A89672067C6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900" y="2448369"/>
            <a:ext cx="1929990" cy="254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A3FA131-6112-9A87-0CD9-C1A63FEEC93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82096" y="2363131"/>
            <a:ext cx="3876230" cy="26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3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34FC-E499-F18D-86F6-87717BA5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12D521-939C-02F3-30BA-6F660253FE91}"/>
              </a:ext>
            </a:extLst>
          </p:cNvPr>
          <p:cNvSpPr/>
          <p:nvPr/>
        </p:nvSpPr>
        <p:spPr>
          <a:xfrm>
            <a:off x="712721" y="3781425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0960E-8C55-FC63-C8CD-F10F1DFFA9A0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3340020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293B-460C-9230-F381-B0364AA3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0AE2C-28FF-1039-9A16-E84B181F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4C64AF-EF0E-EBD8-8093-7DE3D6BBB899}"/>
              </a:ext>
            </a:extLst>
          </p:cNvPr>
          <p:cNvCxnSpPr>
            <a:cxnSpLocks/>
          </p:cNvCxnSpPr>
          <p:nvPr/>
        </p:nvCxnSpPr>
        <p:spPr>
          <a:xfrm>
            <a:off x="361325" y="3629309"/>
            <a:ext cx="5086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8D289A-2471-E2AE-B6E6-B49E2097CF5D}"/>
              </a:ext>
            </a:extLst>
          </p:cNvPr>
          <p:cNvSpPr txBox="1"/>
          <p:nvPr/>
        </p:nvSpPr>
        <p:spPr>
          <a:xfrm>
            <a:off x="228600" y="370550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44CD66-B49C-B14B-F5CB-619727F2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67086" y="2591736"/>
            <a:ext cx="5668613" cy="32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6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A1CC-8648-9F67-9936-401B49A3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2634D-69DE-B1FA-0C1A-E45A7D84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52E407F-6FCE-2AF3-B4C9-590554943A06}"/>
              </a:ext>
            </a:extLst>
          </p:cNvPr>
          <p:cNvGrpSpPr/>
          <p:nvPr/>
        </p:nvGrpSpPr>
        <p:grpSpPr>
          <a:xfrm>
            <a:off x="2286315" y="2000250"/>
            <a:ext cx="5219700" cy="4730560"/>
            <a:chOff x="2286315" y="2000250"/>
            <a:chExt cx="5219700" cy="4730560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F7EF1AA-F153-6183-97D0-69F9B4F583E3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50869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202B12-A258-8108-186D-F5C99EE6F804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CFDE16B-292D-CEE7-D26B-874B0FDAC37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025460"/>
              <a:ext cx="0" cy="448011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889A9A-9BF1-DC08-AE34-A7451EE113CD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62EAC99-6513-A21E-6BBF-96E177971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3" y="2000250"/>
              <a:ext cx="2419350" cy="430590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C578CA-2FF6-CF4B-98EE-2B1A44B150DD}"/>
              </a:ext>
            </a:extLst>
          </p:cNvPr>
          <p:cNvSpPr/>
          <p:nvPr/>
        </p:nvSpPr>
        <p:spPr>
          <a:xfrm>
            <a:off x="5036255" y="3333500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내용 개체 틀 3">
            <a:extLst>
              <a:ext uri="{FF2B5EF4-FFF2-40B4-BE49-F238E27FC236}">
                <a16:creationId xmlns:a16="http://schemas.microsoft.com/office/drawing/2014/main" id="{13052355-1119-0517-A20A-A305BD682A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915466" y="1932871"/>
            <a:ext cx="2036761" cy="13025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/>
              <p:nvPr/>
            </p:nvSpPr>
            <p:spPr>
              <a:xfrm>
                <a:off x="5269364" y="3575707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64" y="3575707"/>
                <a:ext cx="121732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7A27F945-2837-878D-1E14-9A8919FB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18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2700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6DF6-FB18-4294-55E9-C6DBA31A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내용 개체 틀 3">
            <a:extLst>
              <a:ext uri="{FF2B5EF4-FFF2-40B4-BE49-F238E27FC236}">
                <a16:creationId xmlns:a16="http://schemas.microsoft.com/office/drawing/2014/main" id="{129CA579-ACE9-8864-C8FC-DB2CB0CF67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622754" y="2219501"/>
            <a:ext cx="2036761" cy="13025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9A9540-1A43-29C2-FDDD-0FC6C798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41751FB-CCED-D8B7-A89F-2C9659857CB8}"/>
              </a:ext>
            </a:extLst>
          </p:cNvPr>
          <p:cNvGrpSpPr/>
          <p:nvPr/>
        </p:nvGrpSpPr>
        <p:grpSpPr>
          <a:xfrm>
            <a:off x="228915" y="2013945"/>
            <a:ext cx="5219700" cy="4730560"/>
            <a:chOff x="2286315" y="2000250"/>
            <a:chExt cx="5219700" cy="473056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F931236-F7E9-00A7-B658-C585F7F5A16B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50869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237D04F-3639-48C8-2FB6-4B4C978881E0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C1372A1-72AD-FF90-5EDE-A9675328608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025460"/>
              <a:ext cx="0" cy="448011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40E2898-EE5A-3D43-1F94-A94D6D1B5225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B198DBB6-2805-CBDB-BED2-D6F2E99DD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3" y="2000250"/>
              <a:ext cx="2419350" cy="430590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6A4DB8-F24A-7254-51A8-F5FB6291CB29}"/>
              </a:ext>
            </a:extLst>
          </p:cNvPr>
          <p:cNvSpPr/>
          <p:nvPr/>
        </p:nvSpPr>
        <p:spPr>
          <a:xfrm>
            <a:off x="2978855" y="3347195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/>
              <p:nvPr/>
            </p:nvSpPr>
            <p:spPr>
              <a:xfrm>
                <a:off x="3131468" y="3617062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468" y="3617062"/>
                <a:ext cx="121732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/>
              <p:nvPr/>
            </p:nvSpPr>
            <p:spPr>
              <a:xfrm>
                <a:off x="6792116" y="2214694"/>
                <a:ext cx="3352456" cy="133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4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4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2214694"/>
                <a:ext cx="3352456" cy="13390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/>
              <p:nvPr/>
            </p:nvSpPr>
            <p:spPr>
              <a:xfrm>
                <a:off x="5448615" y="3986394"/>
                <a:ext cx="4443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615" y="3986394"/>
                <a:ext cx="44435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/>
              <p:nvPr/>
            </p:nvSpPr>
            <p:spPr>
              <a:xfrm>
                <a:off x="2745191" y="1723062"/>
                <a:ext cx="4507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1" y="1723062"/>
                <a:ext cx="450764" cy="461665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타원 35">
            <a:extLst>
              <a:ext uri="{FF2B5EF4-FFF2-40B4-BE49-F238E27FC236}">
                <a16:creationId xmlns:a16="http://schemas.microsoft.com/office/drawing/2014/main" id="{A198A072-9A80-F113-3D6E-1A73198F53F6}"/>
              </a:ext>
            </a:extLst>
          </p:cNvPr>
          <p:cNvSpPr/>
          <p:nvPr/>
        </p:nvSpPr>
        <p:spPr>
          <a:xfrm>
            <a:off x="8346847" y="2041167"/>
            <a:ext cx="687578" cy="170080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F8F0BE2-B48C-FF81-58BB-7A85CE8092B1}"/>
              </a:ext>
            </a:extLst>
          </p:cNvPr>
          <p:cNvSpPr/>
          <p:nvPr/>
        </p:nvSpPr>
        <p:spPr>
          <a:xfrm>
            <a:off x="9148418" y="2020388"/>
            <a:ext cx="687578" cy="17008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/>
              <p:nvPr/>
            </p:nvSpPr>
            <p:spPr>
              <a:xfrm>
                <a:off x="6792116" y="4586427"/>
                <a:ext cx="20310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00B05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ko-KR" altLang="en-US" sz="2400" b="1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00B050"/>
                    </a:solidFill>
                  </a:rPr>
                  <a:t>lands</a:t>
                </a:r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4586427"/>
                <a:ext cx="2031069" cy="461665"/>
              </a:xfrm>
              <a:prstGeom prst="rect">
                <a:avLst/>
              </a:prstGeom>
              <a:blipFill>
                <a:blip r:embed="rId7"/>
                <a:stretch>
                  <a:fillRect l="-4505" t="-10526" r="-3904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/>
              <p:nvPr/>
            </p:nvSpPr>
            <p:spPr>
              <a:xfrm>
                <a:off x="9174517" y="4577707"/>
                <a:ext cx="20374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FF000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ko-KR" alt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lands</a:t>
                </a:r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517" y="4577707"/>
                <a:ext cx="2037481" cy="461665"/>
              </a:xfrm>
              <a:prstGeom prst="rect">
                <a:avLst/>
              </a:prstGeom>
              <a:blipFill>
                <a:blip r:embed="rId8"/>
                <a:stretch>
                  <a:fillRect l="-4491" t="-10526" r="-3892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D458F58-935A-1653-73BC-4F5FF3AFBF2A}"/>
              </a:ext>
            </a:extLst>
          </p:cNvPr>
          <p:cNvCxnSpPr>
            <a:cxnSpLocks/>
          </p:cNvCxnSpPr>
          <p:nvPr/>
        </p:nvCxnSpPr>
        <p:spPr>
          <a:xfrm flipV="1">
            <a:off x="8056207" y="3726137"/>
            <a:ext cx="570365" cy="898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1E6DBA1-4305-2ABF-E831-B71B539AECE9}"/>
              </a:ext>
            </a:extLst>
          </p:cNvPr>
          <p:cNvCxnSpPr>
            <a:cxnSpLocks/>
          </p:cNvCxnSpPr>
          <p:nvPr/>
        </p:nvCxnSpPr>
        <p:spPr>
          <a:xfrm flipH="1" flipV="1">
            <a:off x="9491715" y="3725751"/>
            <a:ext cx="688561" cy="8822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/>
              <p:nvPr/>
            </p:nvSpPr>
            <p:spPr>
              <a:xfrm>
                <a:off x="7139056" y="5164622"/>
                <a:ext cx="1404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ko-KR" altLang="en-US" dirty="0">
                    <a:solidFill>
                      <a:srgbClr val="00B050"/>
                    </a:solidFill>
                    <a:latin typeface="+mj-ea"/>
                    <a:ea typeface="+mj-ea"/>
                  </a:rPr>
                  <a:t> 축에 투영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56" y="5164622"/>
                <a:ext cx="1404552" cy="369332"/>
              </a:xfrm>
              <a:prstGeom prst="rect">
                <a:avLst/>
              </a:prstGeom>
              <a:blipFill>
                <a:blip r:embed="rId9"/>
                <a:stretch>
                  <a:fillRect t="-8197" r="-3030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/>
              <p:nvPr/>
            </p:nvSpPr>
            <p:spPr>
              <a:xfrm>
                <a:off x="9516927" y="5164622"/>
                <a:ext cx="14093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𝑦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 축에</a:t>
                </a:r>
                <a:r>
                  <a:rPr lang="en-US" altLang="ko-KR" dirty="0">
                    <a:solidFill>
                      <a:srgbClr val="FF0000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투영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927" y="5164622"/>
                <a:ext cx="1409360" cy="369332"/>
              </a:xfrm>
              <a:prstGeom prst="rect">
                <a:avLst/>
              </a:prstGeom>
              <a:blipFill>
                <a:blip r:embed="rId10"/>
                <a:stretch>
                  <a:fillRect t="-8197" r="-3463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6709EDC-A34A-45F5-7DEA-B64FDB64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19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3153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6047-1098-D4A9-F3E4-BF4B5CC0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6DE6C-07CA-F0F1-E6D9-13C50AF8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BB8FF3-4604-4774-4B17-379BC3468D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92116" y="4017793"/>
            <a:ext cx="4805524" cy="1389766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5B7846-3221-540A-BE0D-265F91EC9DCF}"/>
              </a:ext>
            </a:extLst>
          </p:cNvPr>
          <p:cNvGrpSpPr/>
          <p:nvPr/>
        </p:nvGrpSpPr>
        <p:grpSpPr>
          <a:xfrm>
            <a:off x="171140" y="2021434"/>
            <a:ext cx="5086975" cy="4480115"/>
            <a:chOff x="2228540" y="2007739"/>
            <a:chExt cx="5086975" cy="448011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4A685D7-7142-7FF7-0385-F3B28E3CA7AF}"/>
                </a:ext>
              </a:extLst>
            </p:cNvPr>
            <p:cNvCxnSpPr>
              <a:cxnSpLocks/>
            </p:cNvCxnSpPr>
            <p:nvPr/>
          </p:nvCxnSpPr>
          <p:spPr>
            <a:xfrm>
              <a:off x="2228540" y="5455075"/>
              <a:ext cx="508697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60C97EA0-D6BC-35AD-7E07-12F4B4482B87}"/>
                </a:ext>
              </a:extLst>
            </p:cNvPr>
            <p:cNvCxnSpPr>
              <a:cxnSpLocks/>
            </p:cNvCxnSpPr>
            <p:nvPr/>
          </p:nvCxnSpPr>
          <p:spPr>
            <a:xfrm>
              <a:off x="3914778" y="2007739"/>
              <a:ext cx="0" cy="44801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3CC60D-3812-9308-967F-3D2A15B26A06}"/>
              </a:ext>
            </a:extLst>
          </p:cNvPr>
          <p:cNvSpPr/>
          <p:nvPr/>
        </p:nvSpPr>
        <p:spPr>
          <a:xfrm>
            <a:off x="2038347" y="5074071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/>
              <p:nvPr/>
            </p:nvSpPr>
            <p:spPr>
              <a:xfrm>
                <a:off x="2306830" y="4965183"/>
                <a:ext cx="20610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830" y="4965183"/>
                <a:ext cx="206107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/>
              <p:nvPr/>
            </p:nvSpPr>
            <p:spPr>
              <a:xfrm>
                <a:off x="4929940" y="5103010"/>
                <a:ext cx="3577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940" y="5103010"/>
                <a:ext cx="35779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/>
              <p:nvPr/>
            </p:nvSpPr>
            <p:spPr>
              <a:xfrm>
                <a:off x="1307329" y="1854736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29" y="1854736"/>
                <a:ext cx="38343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F42118F-F82A-7332-0FAC-BA17BA95771E}"/>
              </a:ext>
            </a:extLst>
          </p:cNvPr>
          <p:cNvCxnSpPr>
            <a:cxnSpLocks/>
          </p:cNvCxnSpPr>
          <p:nvPr/>
        </p:nvCxnSpPr>
        <p:spPr>
          <a:xfrm flipH="1">
            <a:off x="1660986" y="1662825"/>
            <a:ext cx="938932" cy="47099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9513CA9-1FF2-667A-7575-59ED74DD0EDD}"/>
              </a:ext>
            </a:extLst>
          </p:cNvPr>
          <p:cNvGrpSpPr/>
          <p:nvPr/>
        </p:nvGrpSpPr>
        <p:grpSpPr>
          <a:xfrm>
            <a:off x="363921" y="4476615"/>
            <a:ext cx="1354218" cy="787525"/>
            <a:chOff x="6655650" y="2150299"/>
            <a:chExt cx="1692562" cy="1103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/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3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F91148E-CDA5-C323-15C9-30E0A0313DA4}"/>
                </a:ext>
              </a:extLst>
            </p:cNvPr>
            <p:cNvSpPr/>
            <p:nvPr/>
          </p:nvSpPr>
          <p:spPr>
            <a:xfrm>
              <a:off x="7834763" y="2150299"/>
              <a:ext cx="420323" cy="110381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DE10634-30DE-1535-F053-C155E2687217}"/>
                </a:ext>
              </a:extLst>
            </p:cNvPr>
            <p:cNvSpPr/>
            <p:nvPr/>
          </p:nvSpPr>
          <p:spPr>
            <a:xfrm>
              <a:off x="7364141" y="2150299"/>
              <a:ext cx="443256" cy="1103812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32D8F7B-60F2-055B-F150-41CD16A22885}"/>
              </a:ext>
            </a:extLst>
          </p:cNvPr>
          <p:cNvCxnSpPr>
            <a:cxnSpLocks/>
          </p:cNvCxnSpPr>
          <p:nvPr/>
        </p:nvCxnSpPr>
        <p:spPr>
          <a:xfrm flipH="1">
            <a:off x="1261516" y="2304898"/>
            <a:ext cx="2830430" cy="4025469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/>
              <p:nvPr/>
            </p:nvSpPr>
            <p:spPr>
              <a:xfrm>
                <a:off x="3995368" y="2367847"/>
                <a:ext cx="1687578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=(2,3)</m:t>
                      </m:r>
                    </m:oMath>
                  </m:oMathPara>
                </a14:m>
                <a:endParaRPr lang="ko-KR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368" y="2367847"/>
                <a:ext cx="1687578" cy="377219"/>
              </a:xfrm>
              <a:prstGeom prst="rect">
                <a:avLst/>
              </a:prstGeom>
              <a:blipFill>
                <a:blip r:embed="rId7"/>
                <a:stretch>
                  <a:fillRect t="-8065" b="-14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/>
              <p:nvPr/>
            </p:nvSpPr>
            <p:spPr>
              <a:xfrm>
                <a:off x="1954485" y="1879697"/>
                <a:ext cx="1690976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=(1,4)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485" y="1879697"/>
                <a:ext cx="1690976" cy="377219"/>
              </a:xfrm>
              <a:prstGeom prst="rect">
                <a:avLst/>
              </a:prstGeom>
              <a:blipFill>
                <a:blip r:embed="rId8"/>
                <a:stretch>
                  <a:fillRect t="-8065" b="-14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6B9350-ECBC-D96D-85CF-14BC15D81B2E}"/>
              </a:ext>
            </a:extLst>
          </p:cNvPr>
          <p:cNvSpPr/>
          <p:nvPr/>
        </p:nvSpPr>
        <p:spPr>
          <a:xfrm>
            <a:off x="2599918" y="3337474"/>
            <a:ext cx="260349" cy="2422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/>
              <p:nvPr/>
            </p:nvSpPr>
            <p:spPr>
              <a:xfrm>
                <a:off x="2860267" y="3254111"/>
                <a:ext cx="18203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=(4, 11)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267" y="3254111"/>
                <a:ext cx="182037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EB578A-2D81-A6E7-36E3-01CEA339EF66}"/>
                  </a:ext>
                </a:extLst>
              </p:cNvPr>
              <p:cNvSpPr txBox="1"/>
              <p:nvPr/>
            </p:nvSpPr>
            <p:spPr>
              <a:xfrm>
                <a:off x="6792116" y="2214694"/>
                <a:ext cx="4107535" cy="921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∗1+</m:t>
                                </m:r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2∗1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3∗1+</m:t>
                                </m:r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4∗2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EB578A-2D81-A6E7-36E3-01CEA339E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2214694"/>
                <a:ext cx="4107535" cy="9217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59570-57A6-4A56-6583-6F15679B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20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2065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E690-F2AD-18B4-D988-8AEE6085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F44F4-1686-2B4C-B786-2BBD121C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432D000-AAD7-424D-68F9-3340C35A3C36}"/>
              </a:ext>
            </a:extLst>
          </p:cNvPr>
          <p:cNvCxnSpPr>
            <a:cxnSpLocks/>
          </p:cNvCxnSpPr>
          <p:nvPr/>
        </p:nvCxnSpPr>
        <p:spPr>
          <a:xfrm>
            <a:off x="456890" y="4197775"/>
            <a:ext cx="50869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CBFC49-A98C-36D0-1878-7FFFEFF36A68}"/>
              </a:ext>
            </a:extLst>
          </p:cNvPr>
          <p:cNvSpPr txBox="1"/>
          <p:nvPr/>
        </p:nvSpPr>
        <p:spPr>
          <a:xfrm>
            <a:off x="32416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8C6DF1-B97D-F199-5033-64331BCC3A7E}"/>
              </a:ext>
            </a:extLst>
          </p:cNvPr>
          <p:cNvCxnSpPr>
            <a:cxnSpLocks/>
          </p:cNvCxnSpPr>
          <p:nvPr/>
        </p:nvCxnSpPr>
        <p:spPr>
          <a:xfrm>
            <a:off x="280987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EE0933-37D0-5B7A-EF49-7D3E7E68A636}"/>
              </a:ext>
            </a:extLst>
          </p:cNvPr>
          <p:cNvSpPr txBox="1"/>
          <p:nvPr/>
        </p:nvSpPr>
        <p:spPr>
          <a:xfrm rot="16200000">
            <a:off x="267015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9770E7-D05C-D9DA-D98D-1366B9D2D1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2377217"/>
            <a:ext cx="1503361" cy="9810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98E98A-995F-336E-D8D6-82E48810C9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02223" y="3358239"/>
            <a:ext cx="1280266" cy="5258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689E68-6A28-53EE-75F3-C2D0E09D822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3691819"/>
            <a:ext cx="1280271" cy="548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06CAE5-178C-DC5D-E74B-8EF5E3F67EA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67120" y="3697535"/>
            <a:ext cx="1597887" cy="54297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11805A-4319-468A-B660-5363D357BFFB}"/>
              </a:ext>
            </a:extLst>
          </p:cNvPr>
          <p:cNvSpPr/>
          <p:nvPr/>
        </p:nvSpPr>
        <p:spPr>
          <a:xfrm>
            <a:off x="3073399" y="3358224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826B98-1D71-4910-55B7-EE49E4BBF56A}"/>
              </a:ext>
            </a:extLst>
          </p:cNvPr>
          <p:cNvSpPr/>
          <p:nvPr/>
        </p:nvSpPr>
        <p:spPr>
          <a:xfrm>
            <a:off x="4474513" y="2335507"/>
            <a:ext cx="260349" cy="2422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1DE4A-D272-D340-D9A6-538BC397CD81}"/>
              </a:ext>
            </a:extLst>
          </p:cNvPr>
          <p:cNvSpPr txBox="1"/>
          <p:nvPr/>
        </p:nvSpPr>
        <p:spPr>
          <a:xfrm>
            <a:off x="9385999" y="2345081"/>
            <a:ext cx="2714628" cy="17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벡터</a:t>
            </a:r>
            <a:r>
              <a:rPr lang="en-US" altLang="ko-KR" dirty="0"/>
              <a:t> v</a:t>
            </a:r>
            <a:r>
              <a:rPr lang="ko-KR" altLang="en-US" dirty="0"/>
              <a:t>가 행렬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ko-KR" altLang="en-US" dirty="0" err="1"/>
              <a:t>내적하는</a:t>
            </a:r>
            <a:r>
              <a:rPr lang="ko-KR" altLang="en-US" dirty="0"/>
              <a:t> 선형변환을 하면 </a:t>
            </a:r>
            <a:r>
              <a:rPr lang="en-US" altLang="ko-KR" dirty="0"/>
              <a:t>Av = (5,5) </a:t>
            </a:r>
            <a:r>
              <a:rPr lang="ko-KR" altLang="en-US" dirty="0"/>
              <a:t>로 위치 이동하게 됨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1D4E1-1C00-2913-FD43-03EE8C0C200D}"/>
              </a:ext>
            </a:extLst>
          </p:cNvPr>
          <p:cNvSpPr txBox="1"/>
          <p:nvPr/>
        </p:nvSpPr>
        <p:spPr>
          <a:xfrm>
            <a:off x="6139367" y="1975749"/>
            <a:ext cx="157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행렬 </a:t>
            </a:r>
            <a:r>
              <a:rPr lang="en-US" altLang="ko-KR" dirty="0"/>
              <a:t>= </a:t>
            </a:r>
            <a:r>
              <a:rPr lang="ko-KR" altLang="en-US" dirty="0"/>
              <a:t>함수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25EF52E-72EE-3C3E-9A88-70B9DC9F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21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8087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C0271E0-83DB-4699-2D1D-D4EC4FBB26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01144" y="2411707"/>
            <a:ext cx="2036761" cy="130258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23EC9D9-E1E5-486D-524D-A0C034D9B291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33EA56-E119-9E2E-EBFA-3E843E65458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792C78-4F30-BAD6-12FC-138766A35512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E44BCE-2E3C-9E9E-D923-0EEE18AB9631}"/>
              </a:ext>
            </a:extLst>
          </p:cNvPr>
          <p:cNvSpPr/>
          <p:nvPr/>
        </p:nvSpPr>
        <p:spPr>
          <a:xfrm>
            <a:off x="2359026" y="3429000"/>
            <a:ext cx="841374" cy="7687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801FD-463E-32A8-962F-C2F5391655F2}"/>
              </a:ext>
            </a:extLst>
          </p:cNvPr>
          <p:cNvSpPr txBox="1"/>
          <p:nvPr/>
        </p:nvSpPr>
        <p:spPr>
          <a:xfrm>
            <a:off x="5182225" y="2105546"/>
            <a:ext cx="6619250" cy="336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/>
              <a:t>행렬 </a:t>
            </a:r>
            <a:r>
              <a:rPr lang="en-US" altLang="ko-KR" dirty="0"/>
              <a:t>A = [(2,1), (3,4)] </a:t>
            </a:r>
            <a:r>
              <a:rPr lang="ko-KR" altLang="en-US" dirty="0"/>
              <a:t>의 행렬인 경우 </a:t>
            </a:r>
            <a:r>
              <a:rPr lang="en-US" altLang="ko-KR" dirty="0"/>
              <a:t>v=(1,2)</a:t>
            </a:r>
            <a:r>
              <a:rPr lang="ko-KR" altLang="en-US" dirty="0"/>
              <a:t>는 어떻게 </a:t>
            </a:r>
            <a:r>
              <a:rPr lang="ko-KR" altLang="en-US" b="1" dirty="0"/>
              <a:t>변환</a:t>
            </a:r>
            <a:r>
              <a:rPr lang="ko-KR" altLang="en-US" dirty="0"/>
              <a:t>되는가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 </a:t>
            </a:r>
            <a:r>
              <a:rPr lang="ko-KR" altLang="en-US" dirty="0"/>
              <a:t>아래와 같은 정방형의 모든 실수는 </a:t>
            </a:r>
            <a:r>
              <a:rPr lang="en-US" altLang="ko-KR" dirty="0"/>
              <a:t>A</a:t>
            </a:r>
            <a:r>
              <a:rPr lang="ko-KR" altLang="en-US" dirty="0"/>
              <a:t>행렬과 </a:t>
            </a:r>
            <a:r>
              <a:rPr lang="ko-KR" altLang="en-US" dirty="0" err="1"/>
              <a:t>내적하면</a:t>
            </a:r>
            <a:r>
              <a:rPr lang="ko-KR" altLang="en-US" dirty="0"/>
              <a:t> 어떻게 </a:t>
            </a:r>
            <a:r>
              <a:rPr lang="ko-KR" altLang="en-US" b="1" dirty="0"/>
              <a:t>변환</a:t>
            </a:r>
            <a:r>
              <a:rPr lang="ko-KR" altLang="en-US" dirty="0"/>
              <a:t>되는지 파이썬 코드로 작성하고 시각화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/>
              <a:t>선형변환</a:t>
            </a:r>
            <a:r>
              <a:rPr lang="en-US" altLang="ko-KR" b="1" dirty="0"/>
              <a:t>(Linear Transformation)</a:t>
            </a:r>
            <a:r>
              <a:rPr lang="ko-KR" altLang="en-US" dirty="0"/>
              <a:t>의 결과를 기하학적 의미를 </a:t>
            </a:r>
            <a:r>
              <a:rPr lang="ko-KR" altLang="en-US" b="1" dirty="0"/>
              <a:t>투영</a:t>
            </a:r>
            <a:r>
              <a:rPr lang="en-US" altLang="ko-KR" b="1" dirty="0"/>
              <a:t>(Projection)</a:t>
            </a:r>
            <a:r>
              <a:rPr lang="ko-KR" altLang="en-US" dirty="0"/>
              <a:t>의 관점에서 설명하라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FB67B-47AD-E2B1-F02D-7438ED6D3A02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26A2FD-DA73-FEBD-A534-047C269A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22</a:t>
            </a:fld>
            <a:endParaRPr lang="en-US" sz="2000" dirty="0"/>
          </a:p>
        </p:txBody>
      </p:sp>
      <p:pic>
        <p:nvPicPr>
          <p:cNvPr id="8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E244AAB-51AC-B107-48A5-3CF643F4F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05136CFE-E7F8-CC96-5386-1047EDE8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713" y="0"/>
            <a:ext cx="61261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649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ED26979-3036-435B-0822-871DA230CA78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AD771A1-25B1-665A-99F0-AD771F07CDA4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7F301B5-9970-FCB6-2C79-A057D8D23F0E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CF34E6-3C08-D401-489F-98201AD4E32F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B46C8-7DA9-65B3-928C-F55479A8125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/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1099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/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/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blipFill>
                <a:blip r:embed="rId5"/>
                <a:stretch>
                  <a:fillRect l="-289" t="-6667" r="-3179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59CE4A2-11E8-3782-9C37-54E0B00FD94F}"/>
              </a:ext>
            </a:extLst>
          </p:cNvPr>
          <p:cNvSpPr txBox="1"/>
          <p:nvPr/>
        </p:nvSpPr>
        <p:spPr>
          <a:xfrm>
            <a:off x="5784127" y="3165498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두 행이 완전히 동일하며 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모든 벡터</a:t>
            </a: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(x, y)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를 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(x+2y,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x+2y)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벡터로 선형변환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배치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80E0E523-FCA2-AA24-9EA5-9380D86B3195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81818" y="1907079"/>
            <a:ext cx="612529" cy="12044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DAF44130-B832-9483-C9DF-EFD357270E48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5953125" y="2203025"/>
            <a:ext cx="1512041" cy="687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75E9DE-B0B6-C8D5-A524-BAACE5A8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23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6040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48C2-D67B-5ADB-18B1-80FE0EBB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F82DA0A-412B-C75A-C675-E78A772EB5B4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E36533-3E78-9C9E-2D7B-3CD87C1D7E1E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C11FE9-3D39-67F5-9B81-39ABA9F3C151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3A923B-0F3D-C793-CBDF-EB2CBE8E86F4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F449C-DC59-EB8D-209F-4B2964F89FCF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/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733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/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blipFill>
                <a:blip r:embed="rId4"/>
                <a:stretch>
                  <a:fillRect l="-3583" t="-6522" r="-3909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417510F-FA8E-6162-4468-EC4812C7C296}"/>
              </a:ext>
            </a:extLst>
          </p:cNvPr>
          <p:cNvSpPr txBox="1"/>
          <p:nvPr/>
        </p:nvSpPr>
        <p:spPr>
          <a:xfrm>
            <a:off x="3979335" y="3290089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</a:t>
            </a:r>
            <a:r>
              <a:rPr lang="ko-KR" alt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내적하여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투영하여 배치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붕괴시키는 행렬변환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07E2D664-2BE6-2DF1-837C-3787AEF194CA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54644" y="1578833"/>
            <a:ext cx="967949" cy="15054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4903B8ED-A4E2-90BE-7A88-0777CA4B0F30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6254197" y="1847605"/>
            <a:ext cx="1516216" cy="9308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9EBD0C9-2937-E546-104C-A70FBE6A99F3}"/>
              </a:ext>
            </a:extLst>
          </p:cNvPr>
          <p:cNvCxnSpPr>
            <a:cxnSpLocks/>
          </p:cNvCxnSpPr>
          <p:nvPr/>
        </p:nvCxnSpPr>
        <p:spPr>
          <a:xfrm flipV="1">
            <a:off x="7615956" y="4163027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A6B7B48-EFB1-1809-928C-471F9BC07E28}"/>
              </a:ext>
            </a:extLst>
          </p:cNvPr>
          <p:cNvCxnSpPr>
            <a:cxnSpLocks/>
          </p:cNvCxnSpPr>
          <p:nvPr/>
        </p:nvCxnSpPr>
        <p:spPr>
          <a:xfrm>
            <a:off x="9968944" y="1990714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3B2C7D-9653-5102-80B2-FEFBC0BFFAEF}"/>
              </a:ext>
            </a:extLst>
          </p:cNvPr>
          <p:cNvSpPr txBox="1"/>
          <p:nvPr/>
        </p:nvSpPr>
        <p:spPr>
          <a:xfrm rot="16200000">
            <a:off x="7412550" y="415872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DD22D-5F31-7D85-4E49-D7CCEC85C019}"/>
              </a:ext>
            </a:extLst>
          </p:cNvPr>
          <p:cNvSpPr txBox="1"/>
          <p:nvPr/>
        </p:nvSpPr>
        <p:spPr>
          <a:xfrm>
            <a:off x="7486650" y="419777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28" name="그래픽 27" descr="별">
            <a:extLst>
              <a:ext uri="{FF2B5EF4-FFF2-40B4-BE49-F238E27FC236}">
                <a16:creationId xmlns:a16="http://schemas.microsoft.com/office/drawing/2014/main" id="{B1997F87-A73F-E620-983C-A239734A3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5239" y="3159667"/>
            <a:ext cx="485496" cy="485496"/>
          </a:xfrm>
          <a:prstGeom prst="rect">
            <a:avLst/>
          </a:prstGeom>
        </p:spPr>
      </p:pic>
      <p:pic>
        <p:nvPicPr>
          <p:cNvPr id="31" name="그래픽 30" descr="별">
            <a:extLst>
              <a:ext uri="{FF2B5EF4-FFF2-40B4-BE49-F238E27FC236}">
                <a16:creationId xmlns:a16="http://schemas.microsoft.com/office/drawing/2014/main" id="{1C6B1354-D5CB-5B29-DCCA-3AAA1F5158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53327" y="2704498"/>
            <a:ext cx="485496" cy="485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/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blipFill>
                <a:blip r:embed="rId9"/>
                <a:stretch>
                  <a:fillRect l="-7595" t="-6667" r="-8228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/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blipFill>
                <a:blip r:embed="rId10"/>
                <a:stretch>
                  <a:fillRect l="-9231" t="-8889" r="-10000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FF4B92F-31B4-3C2F-14FE-6DE1FFDEBE8D}"/>
              </a:ext>
            </a:extLst>
          </p:cNvPr>
          <p:cNvCxnSpPr>
            <a:cxnSpLocks/>
          </p:cNvCxnSpPr>
          <p:nvPr/>
        </p:nvCxnSpPr>
        <p:spPr>
          <a:xfrm flipV="1">
            <a:off x="8485488" y="2556473"/>
            <a:ext cx="3128002" cy="31626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7E8495C-891C-0D45-AD9C-65537885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885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3566-E0E2-3682-76F4-6A2B0A52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5D4C1-4B4A-A66E-82C3-386E6AB7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EC279A-BA05-1914-9046-3B18C4C7FD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94924" y="4277515"/>
            <a:ext cx="7402300" cy="11517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933761-F6C1-E88D-6DC1-6D5645B5AE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94924" y="2300419"/>
            <a:ext cx="7330316" cy="11037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B0C35-8920-5211-45F2-08E4D70B1F95}"/>
              </a:ext>
            </a:extLst>
          </p:cNvPr>
          <p:cNvSpPr txBox="1"/>
          <p:nvPr/>
        </p:nvSpPr>
        <p:spPr>
          <a:xfrm>
            <a:off x="466725" y="18453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2</a:t>
            </a:r>
            <a:r>
              <a:rPr lang="ko-KR" altLang="en-US" sz="1800" dirty="0"/>
              <a:t>개 벡터</a:t>
            </a:r>
            <a:r>
              <a:rPr lang="en-US" altLang="ko-KR" sz="1800" dirty="0"/>
              <a:t>(points), (1,2), (2,1)</a:t>
            </a:r>
            <a:r>
              <a:rPr lang="ko-KR" altLang="en-US" sz="1800" dirty="0"/>
              <a:t>에 행렬</a:t>
            </a:r>
            <a:r>
              <a:rPr lang="en-US" altLang="ko-KR" dirty="0"/>
              <a:t>[(2,1), (1,4)] </a:t>
            </a:r>
            <a:r>
              <a:rPr lang="ko-KR" altLang="en-US" dirty="0"/>
              <a:t>와의</a:t>
            </a:r>
            <a:r>
              <a:rPr lang="en-US" altLang="ko-KR" dirty="0"/>
              <a:t> </a:t>
            </a:r>
            <a:r>
              <a:rPr lang="ko-KR" altLang="en-US" sz="1800" dirty="0"/>
              <a:t>내적</a:t>
            </a:r>
            <a:endParaRPr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CF57BCDF-6F41-7650-72C3-22B4E223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25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0224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F355-C241-D22E-F97C-7287CE73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기하학적 이해</a:t>
            </a:r>
          </a:p>
        </p:txBody>
      </p: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id="{A12FC27B-0BD4-A5AB-B0E5-D080A53513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011C37-30DB-6272-D93F-F9473458E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2014537"/>
            <a:ext cx="7286625" cy="3977757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A5E0A35-FE29-17FD-803F-F2999E5C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26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4048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E36D-A1FE-2B89-FE3D-9D9496F8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8B66B-CC98-38AF-CD8F-4481BD3C8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선형대수</a:t>
            </a:r>
            <a:r>
              <a:rPr lang="en-US" altLang="ko-KR" cap="none" dirty="0"/>
              <a:t>(Linear Algebra)</a:t>
            </a:r>
            <a:endParaRPr lang="ko-KR" altLang="en-US" cap="none" dirty="0"/>
          </a:p>
        </p:txBody>
      </p:sp>
      <p:sp>
        <p:nvSpPr>
          <p:cNvPr id="17" name="슬라이드 번호 개체 틀 3">
            <a:extLst>
              <a:ext uri="{FF2B5EF4-FFF2-40B4-BE49-F238E27FC236}">
                <a16:creationId xmlns:a16="http://schemas.microsoft.com/office/drawing/2014/main" id="{3FD9B8B1-9B96-0622-DDFB-0F4F31A1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27</a:t>
            </a:fld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11">
                <a:extLst>
                  <a:ext uri="{FF2B5EF4-FFF2-40B4-BE49-F238E27FC236}">
                    <a16:creationId xmlns:a16="http://schemas.microsoft.com/office/drawing/2014/main" id="{5EFD9993-AB58-C007-9AEC-3E30F10655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774" y="1243142"/>
                <a:ext cx="10363826" cy="46052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“벡터와 행렬을 이용해 ‘선형 관계</a:t>
                </a:r>
                <a:r>
                  <a:rPr lang="en-US" altLang="ko-KR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(linear relationship)’</a:t>
                </a:r>
                <a:r>
                  <a:rPr lang="ko-KR" altLang="en-US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‘공간의 </a:t>
                </a:r>
                <a:r>
                  <a:rPr lang="ko-KR" altLang="en-US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변환’을</a:t>
                </a:r>
                <a:r>
                  <a:rPr lang="ko-KR" altLang="en-US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다루는 학문”</a:t>
                </a:r>
                <a:endParaRPr lang="en-US" altLang="ko-KR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 공간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선형 변환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연립 선형 방정식 등을 연구하는 수학의 한 분야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데이터를 공간으로 보고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머신러닝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모델을 ‘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변환’으로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이해하는 언어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선형변환식 </a:t>
                </a:r>
                <a14:m>
                  <m:oMath xmlns:m="http://schemas.openxmlformats.org/officeDocument/2006/math">
                    <m:r>
                      <a:rPr lang="en-US" altLang="ko-KR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기하학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공간을 어떻게 움직이고 변환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회전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확대/축소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기울이기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투영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지 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머신러닝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관측치는 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모델은 </a:t>
                </a:r>
                <a14:m>
                  <m:oMath xmlns:m="http://schemas.openxmlformats.org/officeDocument/2006/math">
                    <m:r>
                      <a:rPr lang="en-US" altLang="ko-KR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ko-KR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4" name="내용 개체 틀 11">
                <a:extLst>
                  <a:ext uri="{FF2B5EF4-FFF2-40B4-BE49-F238E27FC236}">
                    <a16:creationId xmlns:a16="http://schemas.microsoft.com/office/drawing/2014/main" id="{5EFD9993-AB58-C007-9AEC-3E30F1065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74" y="1243142"/>
                <a:ext cx="10363826" cy="4605207"/>
              </a:xfrm>
              <a:prstGeom prst="rect">
                <a:avLst/>
              </a:prstGeom>
              <a:blipFill>
                <a:blip r:embed="rId2"/>
                <a:stretch>
                  <a:fillRect l="-529" t="-2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987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9566F-70DB-C9B6-52A4-104A38E7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16294A1E-74B1-2647-D02F-0AFC5B92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28</a:t>
            </a:fld>
            <a:endParaRPr lang="en-US" sz="2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AA135C1-5E58-DE61-BCE2-F4353E5850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850" y="2193800"/>
            <a:ext cx="4501673" cy="217822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E1D530D-01A2-F7EA-0FF5-EB0FA91ED6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2253348"/>
            <a:ext cx="4963722" cy="19406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572FC41-B531-852F-1649-5E8F5EBE594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4503381"/>
            <a:ext cx="3813060" cy="10687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A72315-8774-4D80-E39B-8177669F955B}"/>
              </a:ext>
            </a:extLst>
          </p:cNvPr>
          <p:cNvSpPr txBox="1"/>
          <p:nvPr/>
        </p:nvSpPr>
        <p:spPr>
          <a:xfrm>
            <a:off x="581025" y="1723384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연립선형방정식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(System of Linear Equations)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900D0B-A8C8-F9A7-91B3-310F01FD50E4}"/>
              </a:ext>
            </a:extLst>
          </p:cNvPr>
          <p:cNvSpPr txBox="1"/>
          <p:nvPr/>
        </p:nvSpPr>
        <p:spPr>
          <a:xfrm>
            <a:off x="6372225" y="1759253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(Matrix Form)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F76A69-7661-C8AE-AE9E-3E2C0DFAADC8}"/>
                  </a:ext>
                </a:extLst>
              </p:cNvPr>
              <p:cNvSpPr txBox="1"/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F76A69-7661-C8AE-AE9E-3E2C0DFAA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776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DE559-9E4F-069B-91D6-E604FED2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17B1727C-5907-1409-048E-992C18E5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29</a:t>
            </a:fld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01F750-2BE1-DE02-C234-81213451B1E8}"/>
                  </a:ext>
                </a:extLst>
              </p:cNvPr>
              <p:cNvSpPr txBox="1"/>
              <p:nvPr/>
            </p:nvSpPr>
            <p:spPr>
              <a:xfrm>
                <a:off x="1195244" y="811930"/>
                <a:ext cx="7375444" cy="3825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20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의미를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열벡터들의 선형 결합으로 기하학적 해석을 하면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열벡터들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우리가 움직일 수 있는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방향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’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들이고 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성분들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그 방향으로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얼마나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갈 것인가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? 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최종 도착지  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01F750-2BE1-DE02-C234-81213451B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244" y="811930"/>
                <a:ext cx="7375444" cy="3825214"/>
              </a:xfrm>
              <a:prstGeom prst="rect">
                <a:avLst/>
              </a:prstGeom>
              <a:blipFill>
                <a:blip r:embed="rId2"/>
                <a:stretch>
                  <a:fillRect l="-744" b="-14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2D68391-FF3C-2777-472E-9EDC54C5E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96" y="1466676"/>
            <a:ext cx="2576183" cy="10923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DDF7A5-028A-2163-E3F4-A553257F0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595" y="1262802"/>
            <a:ext cx="1149180" cy="14964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F736873-AD7E-F993-D94C-4865EBA23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692" y="4272114"/>
            <a:ext cx="3422283" cy="20015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0D2E58B-7FE1-13B5-097D-2D7EF2873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996" y="2856923"/>
            <a:ext cx="4427219" cy="130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38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D2289-F2DD-C99C-21A0-D359B3CC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투영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AC9B519-750B-3AD9-C9B3-C647051B7BB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570875" y="2015277"/>
            <a:ext cx="7738080" cy="422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35C1BC-D100-A1E8-B66D-30FE5BBBCD42}"/>
              </a:ext>
            </a:extLst>
          </p:cNvPr>
          <p:cNvSpPr txBox="1"/>
          <p:nvPr/>
        </p:nvSpPr>
        <p:spPr>
          <a:xfrm>
            <a:off x="8394680" y="2029696"/>
            <a:ext cx="36544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첫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모든 데이터를 직선 하나에 강제로 정렬시키는 투영 </a:t>
            </a:r>
            <a:r>
              <a:rPr lang="en-US" altLang="ko-KR" dirty="0">
                <a:latin typeface="+mj-ea"/>
                <a:ea typeface="+mj-ea"/>
              </a:rPr>
              <a:t>(Singular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두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데이터를 새로운 좌표축으로 재배치하되 평면을 유지하는 투영 </a:t>
            </a:r>
            <a:r>
              <a:rPr lang="en-US" altLang="ko-KR" dirty="0">
                <a:latin typeface="+mj-ea"/>
                <a:ea typeface="+mj-ea"/>
              </a:rPr>
              <a:t>(Non-singular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이 투영 개념은 데이터 분석에서 중요한 주성분 분석</a:t>
            </a:r>
            <a:r>
              <a:rPr lang="en-US" altLang="ko-KR" dirty="0">
                <a:latin typeface="+mj-ea"/>
                <a:ea typeface="+mj-ea"/>
              </a:rPr>
              <a:t>(PCA)</a:t>
            </a:r>
            <a:r>
              <a:rPr lang="ko-KR" altLang="en-US" dirty="0">
                <a:latin typeface="+mj-ea"/>
                <a:ea typeface="+mj-ea"/>
              </a:rPr>
              <a:t>의 기초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E0299473-7BDA-1153-07AF-73989810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30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141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3F07D-BFD3-3D69-893B-98637309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Transformation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5E212C3C-7C78-67D1-9717-69125629532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913774" y="1957388"/>
            <a:ext cx="8418804" cy="459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376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3DBC6-35B0-DF34-8BB2-2CFA82E8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행렬과 내적은 선형변환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67A665-D8BD-3BDD-A95C-EA8AF2CDD90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75" y="2014539"/>
            <a:ext cx="5182225" cy="33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9EFB63E-667B-21BC-A172-32BE45A4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374" y="2014539"/>
            <a:ext cx="5390677" cy="332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D1C23-1819-2AC4-B5F5-C6A7D08A2267}"/>
              </a:ext>
            </a:extLst>
          </p:cNvPr>
          <p:cNvSpPr txBox="1"/>
          <p:nvPr/>
        </p:nvSpPr>
        <p:spPr>
          <a:xfrm>
            <a:off x="838200" y="5734658"/>
            <a:ext cx="3344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자료원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행렬의 기하학적인 의미와 해석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CB9CBD-CF82-DC51-07A4-4A338003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32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3553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990D-7C65-6C21-31D3-EC7CB375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20CEC-BF00-1556-F0BA-6AF560EF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491CE45-07B6-3F10-9D80-86C15F831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120178"/>
            <a:ext cx="4373450" cy="274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B99FAD7-67C0-95AC-D700-A35DDC7C501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48" y="2522484"/>
            <a:ext cx="5056802" cy="342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1B9A48-9B38-5029-B7E7-030E2344A517}"/>
              </a:ext>
            </a:extLst>
          </p:cNvPr>
          <p:cNvSpPr txBox="1"/>
          <p:nvPr/>
        </p:nvSpPr>
        <p:spPr>
          <a:xfrm>
            <a:off x="504825" y="2244389"/>
            <a:ext cx="424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Gaussian Random Noise Data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를 생성하고 행렬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anum Gothic"/>
              </a:rPr>
              <a:t>선형변환하면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D3EB99-B1E1-2A0D-C54E-009CFE595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503" y="3143249"/>
            <a:ext cx="2345545" cy="15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2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A18B-FAA7-A506-D0B5-C7938B68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CA6B15B-3BEA-CA85-1730-791BB6E9CB82}"/>
              </a:ext>
            </a:extLst>
          </p:cNvPr>
          <p:cNvSpPr/>
          <p:nvPr/>
        </p:nvSpPr>
        <p:spPr>
          <a:xfrm>
            <a:off x="712721" y="4448175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C9790-71DE-406F-C8F5-99AE5A86103D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3860172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C0FFB-B417-9558-006F-9ED5DA9E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4BA7CBA0-C74A-FDCD-C73F-A4882EE3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35</a:t>
            </a:fld>
            <a:endParaRPr lang="en-US" sz="2000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0194681C-3BD1-E94B-9059-492F08DE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327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DA01-A99B-61BF-C97A-C1A5B76EE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98281-CD11-B99F-2C6A-35C343FE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선형대수</a:t>
            </a:r>
            <a:r>
              <a:rPr lang="en-US" altLang="ko-KR" dirty="0"/>
              <a:t>(linear</a:t>
            </a:r>
            <a:r>
              <a:rPr lang="ko-KR" altLang="en-US" dirty="0"/>
              <a:t> </a:t>
            </a:r>
            <a:r>
              <a:rPr lang="en-US" altLang="ko-KR" dirty="0"/>
              <a:t>algebra)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A373E53-19CA-74B5-49AE-464E7176A6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“벡터와 행렬을 이용해 ‘선형 관계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relationship)’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‘공간의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변환’을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다루는 학문”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동영상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장까지 사전학습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90304-2C81-BE6E-89E5-F6D9190D9914}"/>
              </a:ext>
            </a:extLst>
          </p:cNvPr>
          <p:cNvSpPr txBox="1"/>
          <p:nvPr/>
        </p:nvSpPr>
        <p:spPr>
          <a:xfrm>
            <a:off x="1409700" y="2515058"/>
            <a:ext cx="3813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Essence of linear algebra</a:t>
            </a:r>
            <a:endParaRPr lang="ko-KR" altLang="en-US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8879A5-87AD-8D96-775A-B094426E6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325" y="3116426"/>
            <a:ext cx="3038775" cy="29513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41D3EF-810D-D94A-03B8-586E28C1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3116426"/>
            <a:ext cx="4487741" cy="294615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538A5-1423-86C7-259F-7E5AF284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36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15504132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2112</TotalTime>
  <Words>1258</Words>
  <Application>Microsoft Office PowerPoint</Application>
  <PresentationFormat>와이드스크린</PresentationFormat>
  <Paragraphs>243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7" baseType="lpstr">
      <vt:lpstr>Nanum Gothic</vt:lpstr>
      <vt:lpstr>맑은 고딕</vt:lpstr>
      <vt:lpstr>맑은 고딕 Semilight</vt:lpstr>
      <vt:lpstr>한컴 말랑말랑 Bold</vt:lpstr>
      <vt:lpstr>ADLaM Display</vt:lpstr>
      <vt:lpstr>Arial</vt:lpstr>
      <vt:lpstr>Calibri Light</vt:lpstr>
      <vt:lpstr>Cambria Math</vt:lpstr>
      <vt:lpstr>Tw Cen MT</vt:lpstr>
      <vt:lpstr>Wingdings</vt:lpstr>
      <vt:lpstr>물방울</vt:lpstr>
      <vt:lpstr>선형대수 -행렬과 벡터-</vt:lpstr>
      <vt:lpstr>PowerPoint 프레젠테이션</vt:lpstr>
      <vt:lpstr>대수(Algebra)</vt:lpstr>
      <vt:lpstr>선형함수(Linear Function)</vt:lpstr>
      <vt:lpstr>Linear or Non Linear</vt:lpstr>
      <vt:lpstr>PowerPoint 프레젠테이션</vt:lpstr>
      <vt:lpstr>System of Linear Equations </vt:lpstr>
      <vt:lpstr>Deep learning </vt:lpstr>
      <vt:lpstr>PowerPoint 프레젠테이션</vt:lpstr>
      <vt:lpstr>행렬과 벡터</vt:lpstr>
      <vt:lpstr>행렬과 벡터의 연산</vt:lpstr>
      <vt:lpstr>행렬과 벡터의 연산</vt:lpstr>
      <vt:lpstr>행렬과 벡터의 연산</vt:lpstr>
      <vt:lpstr>Hands-on</vt:lpstr>
      <vt:lpstr>Numpy 배우기(Option)</vt:lpstr>
      <vt:lpstr>PowerPoint 프레젠테이션</vt:lpstr>
      <vt:lpstr>1차원 직선에서의 선형변환에 대해 생각하기</vt:lpstr>
      <vt:lpstr>1차원 직선에서의 선형변환에 대해 생각하기</vt:lpstr>
      <vt:lpstr>2차원 평면에서의 선형변환에 대해 생각하기</vt:lpstr>
      <vt:lpstr>2차원 평면에서의 선형변환에 대해 생각하기</vt:lpstr>
      <vt:lpstr>2차원 평면에서의 선형변환에 대해 생각하기</vt:lpstr>
      <vt:lpstr>Hands-on</vt:lpstr>
      <vt:lpstr>PowerPoint 프레젠테이션</vt:lpstr>
      <vt:lpstr>PowerPoint 프레젠테이션</vt:lpstr>
      <vt:lpstr>선형변환</vt:lpstr>
      <vt:lpstr>기하학적 이해</vt:lpstr>
      <vt:lpstr>선형대수(Linear Algebra)</vt:lpstr>
      <vt:lpstr>PowerPoint 프레젠테이션</vt:lpstr>
      <vt:lpstr>PowerPoint 프레젠테이션</vt:lpstr>
      <vt:lpstr>투영</vt:lpstr>
      <vt:lpstr>Kernel Transformation</vt:lpstr>
      <vt:lpstr>행렬과 내적은 선형변환</vt:lpstr>
      <vt:lpstr>선형변환</vt:lpstr>
      <vt:lpstr>PowerPoint 프레젠테이션</vt:lpstr>
      <vt:lpstr>Appendix</vt:lpstr>
      <vt:lpstr>선형대수(linear algebra)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34</cp:revision>
  <dcterms:created xsi:type="dcterms:W3CDTF">2026-03-09T22:59:08Z</dcterms:created>
  <dcterms:modified xsi:type="dcterms:W3CDTF">2026-04-09T21:03:13Z</dcterms:modified>
</cp:coreProperties>
</file>