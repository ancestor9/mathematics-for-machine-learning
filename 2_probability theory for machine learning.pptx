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256" r:id="rId5"/>
    <p:sldId id="314" r:id="rId6"/>
    <p:sldId id="361" r:id="rId7"/>
    <p:sldId id="360" r:id="rId8"/>
    <p:sldId id="313" r:id="rId9"/>
    <p:sldId id="270" r:id="rId10"/>
    <p:sldId id="271" r:id="rId11"/>
    <p:sldId id="273" r:id="rId12"/>
    <p:sldId id="362" r:id="rId13"/>
    <p:sldId id="272" r:id="rId14"/>
    <p:sldId id="276" r:id="rId15"/>
    <p:sldId id="306" r:id="rId16"/>
    <p:sldId id="307" r:id="rId17"/>
    <p:sldId id="303" r:id="rId18"/>
    <p:sldId id="309" r:id="rId19"/>
    <p:sldId id="310" r:id="rId20"/>
    <p:sldId id="311" r:id="rId21"/>
    <p:sldId id="312" r:id="rId22"/>
    <p:sldId id="316" r:id="rId23"/>
    <p:sldId id="308" r:id="rId24"/>
    <p:sldId id="299" r:id="rId25"/>
    <p:sldId id="363" r:id="rId26"/>
    <p:sldId id="277" r:id="rId27"/>
    <p:sldId id="364" r:id="rId28"/>
    <p:sldId id="275" r:id="rId29"/>
    <p:sldId id="279" r:id="rId30"/>
    <p:sldId id="278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8" r:id="rId39"/>
    <p:sldId id="305" r:id="rId40"/>
    <p:sldId id="304" r:id="rId41"/>
    <p:sldId id="287" r:id="rId42"/>
    <p:sldId id="289" r:id="rId43"/>
    <p:sldId id="290" r:id="rId44"/>
    <p:sldId id="291" r:id="rId45"/>
    <p:sldId id="292" r:id="rId46"/>
    <p:sldId id="365" r:id="rId47"/>
    <p:sldId id="293" r:id="rId48"/>
    <p:sldId id="300" r:id="rId49"/>
    <p:sldId id="368" r:id="rId50"/>
    <p:sldId id="367" r:id="rId51"/>
    <p:sldId id="302" r:id="rId52"/>
    <p:sldId id="317" r:id="rId53"/>
    <p:sldId id="301" r:id="rId54"/>
    <p:sldId id="359" r:id="rId55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5602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2026-03-14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2A46-096E-01F3-4F5A-B103B0E1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E9A7F-3EAA-AE59-A376-AA828E7C9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318BF-8FC5-BDB6-D473-12D760F04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CC461-529A-3A44-C6E7-DF119867C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40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6020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55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9C03-7ED9-E18F-2704-FAAEAED1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A04D1D-D6EF-0A87-11EC-F8B7A52CC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4788F-B000-9A16-1526-CBDD7B483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B442F-FF04-49E8-21D8-AED1C028C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135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172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992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B7FC-E2D0-DB9D-3756-8AB32711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A1CA5-2D7A-A065-73C6-014CA1AD1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8B974-8872-EACB-53AD-8FBAF245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8BAC-3FEA-A5AB-83B2-0849471A2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6192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E8D5A-D51F-1C5A-6E1C-7E7CFFD9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FDDC52-2D6D-9F68-47BD-A3A6FA72F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3978E6-2168-14AF-C3F5-302A5E4C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A7C7C-47A3-65B7-64BF-164C1F10F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073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0CF6-5920-0CA6-3F8E-4850E12E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7576B-A27F-3199-150D-042D26DF7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642E0-0FB1-797D-CF35-4685A4F2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CA476-B9CA-43B9-2413-0B0B9C902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699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5E63-A183-1C57-974D-F76ABC5A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FF3AA1-E3EE-970D-F440-E030D26D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E2F409-9F5B-7A50-BA35-321510B4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7FAF3B-8B17-5685-DF3B-DA15093D2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328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56F7-E313-A6F3-9D3A-ACD09FE9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9F812C-E674-BA17-5EB0-B3A76C44E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25E0EB-8D28-8EFD-B525-E8A6E815E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979DA1-EA29-36B5-34E9-5FEB8C390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462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0413-F5A8-585F-2275-1E7A943E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BADD07-D324-3C0E-E1C5-F02F19BDE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34B8-39C6-4267-3F2A-22734AB77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805EAA-3A32-3084-63A2-F512E0B53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6459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45E9-E1F5-B9BE-691C-57348341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18331-D45B-5866-6D13-7712ABE15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03AE31-B135-DF83-161D-65DA11877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EBEE0-D778-0150-3509-210174990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7694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22411-9270-E6DB-FEBE-D46F8926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56ED2C-BF78-CEC5-FBBC-5DC4A6079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7732F5-3792-F895-162D-C2AD0B405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5A7E7-5426-4348-9A86-EB4EE2581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8398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E121C-7738-75D6-0814-6A4E7CB0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A3E81-B9FA-E91D-7C38-C8ED94736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01535F-59A7-36A0-5D62-31F70F035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2A0D9-A0EE-C08B-64CD-FA00E4A03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3969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1AD0-4C3D-624F-60D5-D6B10979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E39F4-6A0C-4A9C-8B5C-ABADDEE5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EE43D-9CFD-3468-D78B-FF731CBFE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231CF-5B5C-C65B-77E3-2B290203E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135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72669-78C2-F717-9704-0E894CBD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B16FEF-5E87-D8CE-BD8E-41E60A986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FBE45-66DE-47AF-1B30-E4AD74745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ED67A-0522-075F-7C24-93992D1BF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28970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80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0713-FD03-D49C-FBF0-0EF02047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B0937-21B6-B13F-3650-F4F6DF3C2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D0767-8F2A-2DCC-2223-41675819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E6568-4A54-77FA-F9F1-1AE7B4089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0046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36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854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991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324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1592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765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566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981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9216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1751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9104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F7BB-F0AD-4DAF-9FC7-AB22B819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F8231D-BFAF-ED2F-4D76-6AAA07BFA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5D4824-F3C3-47FE-8282-3E9B08602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669B45-2404-4D36-0865-E80A334F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665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5807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352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90807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7985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2910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5D09-9630-A0FD-FC35-81F7718C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B0427-9D47-D5BB-6BC3-909D99355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112FA0-4D0B-3533-41B3-61991C397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D6190-EF8A-6106-9D3E-ABF957FE3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7351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5359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1AD0-4C3D-624F-60D5-D6B10979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E39F4-6A0C-4A9C-8B5C-ABADDEE5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EE43D-9CFD-3468-D78B-FF731CBFE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231CF-5B5C-C65B-77E3-2B290203E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1350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EFE3-73D3-9DD8-CC0B-02DAD6F5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A6AB7A-4F1A-F373-9342-044F29B94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3DE742-A51D-C802-AC73-A63F1B1AB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FCA30D-1800-86C7-F3CD-65794497F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447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C352-D5B7-6775-5989-ACEF0EEF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FD1DF0-4C8F-0BAE-18E6-3DCD0864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B2904B-32C4-1767-279B-6CA68D62E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FAC79-AB10-F320-DF1E-C29C6C2BD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579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A826-7FE2-3F7D-9283-FAF6D13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48CFC-448A-2634-6548-6E7CE2607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6286E9-0EA3-AB3D-2263-D8DD3F483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550C5-9CCC-0B92-3694-E327587CB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3873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3883-22E2-74B0-638B-F1F6D640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B8F7A6-7066-B0AB-DAD0-5C5710C6F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CBF5FB-FB93-E0CF-F82D-81443BA94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8B9AF-15EA-3736-58A8-36CA7A6D5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9933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BA54-3E23-8531-EFF8-D7921108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0DF9E-AD58-C646-0B5D-B623B9AF2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7059EA-816D-B7E8-820C-C5FE0264B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E07F8-E011-1C30-D9D5-B76C650B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9134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224A4-BD79-ADE3-0612-3D0127EE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3DE38A-05C2-841E-275C-6BF027ECF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397C85-8D51-81C4-DF17-278661B82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156AAA-5B38-B406-3CD6-05BBC3BF5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24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2026-03-14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2026-03-14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6qxA9JDLSpw?feature=shar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unrise_problem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hyperlink" Target="https://en.wikipedia.org/wiki/Naive_Bayes_classifier" TargetMode="Externa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hyperlink" Target="https://github.com/ancestor9/data/blob/main/human_data.csv" TargetMode="External"/><Relationship Id="rId4" Type="http://schemas.openxmlformats.org/officeDocument/2006/relationships/hyperlink" Target="https://scikit-learn.org/stable/modules/naive_bay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확률론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5014292" y="1772816"/>
            <a:ext cx="6840760" cy="177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신은 주사위를 던진다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확률과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놀라움은 반비례한다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.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90AE170-3683-EFA7-B712-EC521F940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586522"/>
            <a:ext cx="3960440" cy="594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746B46-6FD0-13D0-FF25-E75F1625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B6B37E-3E6C-5B69-5427-E7ED1A35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87" y="1124744"/>
            <a:ext cx="7719453" cy="496855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87794CA-12A4-DEAA-75BE-6CB405CE5401}"/>
              </a:ext>
            </a:extLst>
          </p:cNvPr>
          <p:cNvSpPr/>
          <p:nvPr/>
        </p:nvSpPr>
        <p:spPr>
          <a:xfrm>
            <a:off x="189756" y="338469"/>
            <a:ext cx="4742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(Random variable)</a:t>
            </a:r>
          </a:p>
        </p:txBody>
      </p:sp>
    </p:spTree>
    <p:extLst>
      <p:ext uri="{BB962C8B-B14F-4D97-AF65-F5344CB8AC3E}">
        <p14:creationId xmlns:p14="http://schemas.microsoft.com/office/powerpoint/2010/main" val="368296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E74E-A16C-1718-57CD-D7D3F76F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6EAA2F-CBE2-932B-4F5D-1CF91899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563F3-94EF-9491-D44B-803618076A71}"/>
              </a:ext>
            </a:extLst>
          </p:cNvPr>
          <p:cNvSpPr txBox="1"/>
          <p:nvPr/>
        </p:nvSpPr>
        <p:spPr>
          <a:xfrm>
            <a:off x="261764" y="1268760"/>
            <a:ext cx="11161240" cy="167937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이하가 될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주사기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주사위의 합이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10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이상일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569A8-2444-3755-61EB-DBEDF50AFA7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50749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확률론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theory)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은 사건의 빈도를 분석</a:t>
            </a:r>
            <a:endParaRPr lang="ko-KR" altLang="en-US" sz="28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04891"/>
              </p:ext>
            </p:extLst>
          </p:nvPr>
        </p:nvGraphicFramePr>
        <p:xfrm>
          <a:off x="3502124" y="1916832"/>
          <a:ext cx="763284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281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817877067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594679281"/>
                    </a:ext>
                  </a:extLst>
                </a:gridCol>
              </a:tblGrid>
              <a:tr h="343361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24275"/>
                  </a:ext>
                </a:extLst>
              </a:tr>
              <a:tr h="371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표본</a:t>
                      </a:r>
                      <a:r>
                        <a:rPr lang="en-US" altLang="ko-KR" sz="2000" baseline="0" dirty="0"/>
                        <a:t> </a:t>
                      </a:r>
                      <a:r>
                        <a:rPr lang="ko-KR" altLang="en-US" sz="2000" baseline="0" dirty="0"/>
                        <a:t>공간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HH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HT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TH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TT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0152"/>
                  </a:ext>
                </a:extLst>
              </a:tr>
              <a:tr h="371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사건의</a:t>
                      </a:r>
                      <a:r>
                        <a:rPr lang="en-US" altLang="ko-KR" sz="2000" dirty="0"/>
                        <a:t> </a:t>
                      </a:r>
                      <a:r>
                        <a:rPr lang="ko-KR" altLang="en-US" sz="2000" dirty="0" err="1"/>
                        <a:t>출현빈도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24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21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28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732645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96" y="2259678"/>
            <a:ext cx="2431702" cy="1602229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69412"/>
              </p:ext>
            </p:extLst>
          </p:nvPr>
        </p:nvGraphicFramePr>
        <p:xfrm>
          <a:off x="3502124" y="3251034"/>
          <a:ext cx="7632845" cy="14713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44281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817877067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594679281"/>
                    </a:ext>
                  </a:extLst>
                </a:gridCol>
              </a:tblGrid>
              <a:tr h="1471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확률변수 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(Random Variable)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P(X=24)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24/100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P(X=24)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21/100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P(X=24)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28/100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=P(X=27)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= 27/100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732645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509973" y="1844824"/>
            <a:ext cx="27318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두 개의 동전을 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100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회 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Toss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 </a:t>
            </a:r>
            <a:endParaRPr lang="ko-KR" altLang="en-US" sz="16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5720"/>
              </p:ext>
            </p:extLst>
          </p:nvPr>
        </p:nvGraphicFramePr>
        <p:xfrm>
          <a:off x="3502124" y="4867906"/>
          <a:ext cx="7632845" cy="57963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44281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5088564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</a:tblGrid>
              <a:tr h="579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kern="1200" dirty="0"/>
                        <a:t>확률의 총합은 </a:t>
                      </a:r>
                      <a:r>
                        <a:rPr lang="en-US" altLang="ko-KR" sz="2000" kern="1200" dirty="0"/>
                        <a:t>1</a:t>
                      </a:r>
                      <a:endParaRPr lang="ko-KR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P(X=24)</a:t>
                      </a:r>
                      <a:r>
                        <a:rPr lang="en-US" altLang="ko-KR" sz="2000" baseline="0" dirty="0"/>
                        <a:t> + </a:t>
                      </a:r>
                      <a:r>
                        <a:rPr lang="en-US" altLang="ko-KR" sz="2000" dirty="0"/>
                        <a:t>P(X=24) + P(X=24) + P(X=27) =1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73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4742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(Random variable)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990465"/>
              </p:ext>
            </p:extLst>
          </p:nvPr>
        </p:nvGraphicFramePr>
        <p:xfrm>
          <a:off x="2854049" y="2636912"/>
          <a:ext cx="907300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7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619233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744697576"/>
                    </a:ext>
                  </a:extLst>
                </a:gridCol>
                <a:gridCol w="1224133">
                  <a:extLst>
                    <a:ext uri="{9D8B030D-6E8A-4147-A177-3AD203B41FA5}">
                      <a16:colId xmlns:a16="http://schemas.microsoft.com/office/drawing/2014/main" val="132265970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61868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242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확률변수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</a:t>
                      </a:r>
                      <a:r>
                        <a:rPr lang="en-US" altLang="ko-KR" baseline="0" dirty="0"/>
                        <a:t> 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 = 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01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확률</a:t>
                      </a:r>
                      <a:r>
                        <a:rPr lang="en-US" altLang="ko-KR" dirty="0"/>
                        <a:t>(Probability)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P(X =1)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P(X =2)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P(X =3)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=4)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=5)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=6)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3957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2618753"/>
            <a:ext cx="1495634" cy="158137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09973" y="1844824"/>
            <a:ext cx="20286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주사위를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무한 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Toss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 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720807" y="4635499"/>
            <a:ext cx="110622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확률 변수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(Random variable)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란 표본공간에서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일정한 확률을 가지고 발생하는 사건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(Event)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에 수치를 일대일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(1:1)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대응시킨 함수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(Function)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 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7917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9168" y="1843950"/>
            <a:ext cx="1101722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확률변수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(Random variable)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의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분포를 알 수 있다면 모든 것을 알 수 있다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우리는 모집단의 확률변수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(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키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나이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소득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등등의 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parameter)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의 분포를 전수조사를 하지 않으면 알 수가 없기 때문에 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Sampling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을 통해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,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Sample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의 확률변수의 분포를 알고 모집단의 확률변수를 추정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(Inference)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할 뿐이다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따라서 확률 분포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(Probability Distribution of random variable)</a:t>
            </a: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의 종류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557313-FC0D-740B-56FB-FCDB49BCBF61}"/>
              </a:ext>
            </a:extLst>
          </p:cNvPr>
          <p:cNvSpPr/>
          <p:nvPr/>
        </p:nvSpPr>
        <p:spPr>
          <a:xfrm>
            <a:off x="765820" y="764704"/>
            <a:ext cx="3985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확률변수를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모두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알려면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248672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737-4D84-A348-6FE1-9D35471C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BF54B44-AEF4-5A91-28A0-B7F04F80476A}"/>
              </a:ext>
            </a:extLst>
          </p:cNvPr>
          <p:cNvSpPr/>
          <p:nvPr/>
        </p:nvSpPr>
        <p:spPr>
          <a:xfrm>
            <a:off x="598421" y="220486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19A402-6026-8725-BF04-5D3962A6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A1178-92B0-2653-5C2D-55676F0F0DEC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28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이산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vs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연속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(Discrete vs Continuous Variables)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형 변수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5820" y="1480069"/>
            <a:ext cx="10813564" cy="874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동전의 앞과 뒤면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주사위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카드의 종류 등은 수자가 양의 정수로 셀 수 있으면 </a:t>
            </a:r>
            <a:r>
              <a:rPr lang="ko-KR" altLang="en-US" b="1" dirty="0">
                <a:solidFill>
                  <a:srgbClr val="313131"/>
                </a:solidFill>
                <a:latin typeface="PT Sans"/>
              </a:rPr>
              <a:t>이산</a:t>
            </a:r>
            <a:r>
              <a:rPr lang="en-US" altLang="ko-KR" b="1" dirty="0">
                <a:solidFill>
                  <a:srgbClr val="313131"/>
                </a:solidFill>
                <a:latin typeface="PT Sans"/>
              </a:rPr>
              <a:t>(Discrete, </a:t>
            </a:r>
            <a:r>
              <a:rPr lang="ko-KR" altLang="en-US" b="1" dirty="0">
                <a:solidFill>
                  <a:srgbClr val="313131"/>
                </a:solidFill>
                <a:latin typeface="PT Sans"/>
              </a:rPr>
              <a:t>離散</a:t>
            </a:r>
            <a:r>
              <a:rPr lang="en-US" altLang="ko-KR" b="1" dirty="0">
                <a:solidFill>
                  <a:srgbClr val="313131"/>
                </a:solidFill>
                <a:latin typeface="PT Sans"/>
              </a:rPr>
              <a:t>)</a:t>
            </a:r>
            <a:endParaRPr lang="en-US" altLang="ko-KR" sz="1600" b="1" dirty="0">
              <a:solidFill>
                <a:srgbClr val="313131"/>
              </a:solidFill>
              <a:latin typeface="PT Sans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키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몸무게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시간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</a:rPr>
              <a:t>, </a:t>
            </a:r>
            <a:r>
              <a:rPr lang="ko-KR" altLang="en-US" sz="1600" b="1" dirty="0">
                <a:solidFill>
                  <a:srgbClr val="313131"/>
                </a:solidFill>
                <a:latin typeface="PT Sans"/>
              </a:rPr>
              <a:t>나이 등은 연속되어 관측하지 못하면 </a:t>
            </a:r>
            <a:r>
              <a:rPr lang="en-US" altLang="ko-KR" sz="1600" b="1" dirty="0">
                <a:solidFill>
                  <a:srgbClr val="313131"/>
                </a:solidFill>
                <a:latin typeface="PT Sans"/>
                <a:sym typeface="Wingdings" panose="05000000000000000000" pitchFamily="2" charset="2"/>
              </a:rPr>
              <a:t>	</a:t>
            </a:r>
            <a:r>
              <a:rPr lang="ko-KR" altLang="en-US" b="1" dirty="0">
                <a:solidFill>
                  <a:srgbClr val="313131"/>
                </a:solidFill>
                <a:latin typeface="PT Sans"/>
                <a:sym typeface="Wingdings" panose="05000000000000000000" pitchFamily="2" charset="2"/>
              </a:rPr>
              <a:t>연속</a:t>
            </a:r>
            <a:r>
              <a:rPr lang="en-US" altLang="ko-KR" b="1" dirty="0">
                <a:solidFill>
                  <a:srgbClr val="313131"/>
                </a:solidFill>
                <a:latin typeface="PT Sans"/>
              </a:rPr>
              <a:t>(Continuous, </a:t>
            </a:r>
            <a:r>
              <a:rPr lang="ko-KR" altLang="en-US" b="1" dirty="0">
                <a:solidFill>
                  <a:srgbClr val="313131"/>
                </a:solidFill>
                <a:latin typeface="PT Sans"/>
              </a:rPr>
              <a:t>連續</a:t>
            </a:r>
            <a:r>
              <a:rPr lang="en-US" altLang="ko-KR" b="1" dirty="0">
                <a:solidFill>
                  <a:srgbClr val="313131"/>
                </a:solidFill>
                <a:latin typeface="PT Sans"/>
              </a:rPr>
              <a:t>)</a:t>
            </a:r>
            <a:endParaRPr lang="en-US" altLang="ko-KR" sz="1600" b="1" dirty="0">
              <a:solidFill>
                <a:srgbClr val="313131"/>
              </a:solidFill>
              <a:latin typeface="PT San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423B1F-95FC-3C82-A06C-8B557E5F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11" y="2852936"/>
            <a:ext cx="6934801" cy="35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이산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vs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연속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(Discrete vs Continuous Variables)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0" y="2996952"/>
            <a:ext cx="4128993" cy="30243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275" y="2980913"/>
            <a:ext cx="4438836" cy="30243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764" y="1988840"/>
            <a:ext cx="817247" cy="864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29275" y="2128500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실제로 시간과 나이</a:t>
            </a:r>
            <a:r>
              <a:rPr lang="en-US" altLang="ko-KR" sz="1600" dirty="0"/>
              <a:t>(age)</a:t>
            </a:r>
            <a:r>
              <a:rPr lang="ko-KR" altLang="en-US" sz="1600" dirty="0"/>
              <a:t>는 존재하고 관측할 수 있는가</a:t>
            </a:r>
            <a:r>
              <a:rPr lang="en-US" altLang="ko-KR" sz="1600" dirty="0"/>
              <a:t>?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1</a:t>
            </a:r>
            <a:r>
              <a:rPr lang="ko-KR" altLang="en-US" sz="1600" dirty="0"/>
              <a:t>시</a:t>
            </a:r>
            <a:r>
              <a:rPr lang="en-US" altLang="ko-KR" sz="1600" dirty="0"/>
              <a:t>10</a:t>
            </a:r>
            <a:r>
              <a:rPr lang="ko-KR" altLang="en-US" sz="1600" dirty="0"/>
              <a:t>분에 버스를 탈 확률은</a:t>
            </a:r>
            <a:r>
              <a:rPr lang="en-US" altLang="ko-KR" sz="1600" dirty="0"/>
              <a:t>? </a:t>
            </a:r>
            <a:r>
              <a:rPr lang="ko-KR" altLang="en-US" sz="1600" dirty="0"/>
              <a:t> </a:t>
            </a:r>
            <a:r>
              <a:rPr lang="en-US" altLang="ko-KR" sz="1600" dirty="0"/>
              <a:t>No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7357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D918-8BCD-4EBB-F52D-33E99BB3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14A3B-E05C-E16C-694A-3329F7D3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DB3DE-4AE5-6516-34E6-E1AE5629E858}"/>
              </a:ext>
            </a:extLst>
          </p:cNvPr>
          <p:cNvSpPr txBox="1"/>
          <p:nvPr/>
        </p:nvSpPr>
        <p:spPr>
          <a:xfrm>
            <a:off x="261764" y="1268760"/>
            <a:ext cx="11161240" cy="167937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주사위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이하가 될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개의 주사기 던지기 게임에서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주사위의 합이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10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이상일 확률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34609-F5D1-B602-90AB-5C18E527F48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58134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7604-2327-5558-3C23-5FD763C9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902671-99DC-0704-3E05-870C0172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6FA2E-CCA4-9C6D-219C-3A10969775BC}"/>
              </a:ext>
            </a:extLst>
          </p:cNvPr>
          <p:cNvSpPr txBox="1"/>
          <p:nvPr/>
        </p:nvSpPr>
        <p:spPr>
          <a:xfrm>
            <a:off x="117747" y="260648"/>
            <a:ext cx="8617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이산 확률변수</a:t>
            </a:r>
            <a:r>
              <a:rPr lang="en-US" altLang="ko-KR" sz="3200" b="1" dirty="0"/>
              <a:t>(Discrete Random Variable)</a:t>
            </a:r>
            <a:endParaRPr lang="ko-KR" altLang="en-US" sz="32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4ED5F4-1C31-1FD4-F302-EAB4A567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" y="1035446"/>
            <a:ext cx="11133062" cy="2520280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A0AA3B4A-A17D-3D7E-5AE2-8EDF1FCF3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09" y="3895604"/>
            <a:ext cx="3612002" cy="285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CEAFFF4A-8D79-A378-369A-56B6E02C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658" y="3890051"/>
            <a:ext cx="3528392" cy="283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0CDE06-E314-A126-4F17-CAACB24A8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51" y="3895604"/>
            <a:ext cx="1310754" cy="21947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F59C48F-849A-7E71-1840-89EEB34D7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4767" y="3895404"/>
            <a:ext cx="1508891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3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BBAE-FFE3-2677-8A21-7FF742C9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E3B10F-0B9A-C967-A286-C4EE0011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AA3EE-1640-1C9A-ED1B-40A28CF70D13}"/>
              </a:ext>
            </a:extLst>
          </p:cNvPr>
          <p:cNvSpPr txBox="1"/>
          <p:nvPr/>
        </p:nvSpPr>
        <p:spPr>
          <a:xfrm>
            <a:off x="261764" y="1268760"/>
            <a:ext cx="11161240" cy="112537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확률변수를 키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(Height)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 가정하고 당신의 키의 확률을 구하라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밀도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(density)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잴 수 있는가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DD9AE-E24D-E2F0-6A63-F8A55D75E0B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986AD7-3E7B-5919-60EE-F74CB411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4" y="2924944"/>
            <a:ext cx="4937358" cy="28083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3746ED-F49D-BDFF-E16A-9CEA0E945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356" y="2924944"/>
            <a:ext cx="480159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5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6E5B-1A28-3E3C-99D5-65BF6F82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783AFE-83D0-3344-C4F2-E7B4020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A55D5-EC0F-8BFA-9085-308AA4EAE59E}"/>
                  </a:ext>
                </a:extLst>
              </p:cNvPr>
              <p:cNvSpPr txBox="1"/>
              <p:nvPr/>
            </p:nvSpPr>
            <p:spPr>
              <a:xfrm>
                <a:off x="418144" y="845423"/>
                <a:ext cx="11161240" cy="1980927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히스토그램과 확률밀도함수 관계를 설명하라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(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상식적으로 이해하지 마라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확률밀도는 직접 측정되는 값이 아니라 확률을 이용해 계산되는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”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비율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” 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개념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(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미분 값으로 존재하지 않는 값이다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)</a:t>
                </a:r>
                <a:endPara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/>
                        <m:t>𝑓</m:t>
                      </m:r>
                      <m:d>
                        <m:dPr>
                          <m:ctrlPr>
                            <a:rPr lang="ko-KR" altLang="en-US" sz="1600" i="1"/>
                          </m:ctrlPr>
                        </m:dPr>
                        <m:e>
                          <m:r>
                            <a:rPr lang="ko-KR" altLang="en-US" sz="1600" i="1"/>
                            <m:t>𝑥</m:t>
                          </m:r>
                        </m:e>
                      </m:d>
                      <m:r>
                        <a:rPr lang="en-US" altLang="ko-KR" sz="1600"/>
                        <m:t>=</m:t>
                      </m:r>
                      <m:limLow>
                        <m:limLowPr>
                          <m:ctrlPr>
                            <a:rPr lang="ko-KR" altLang="en-US" sz="1600" i="1"/>
                          </m:ctrlPr>
                        </m:limLowPr>
                        <m:e>
                          <m:func>
                            <m:funcPr>
                              <m:ctrlPr>
                                <a:rPr lang="ko-KR" altLang="en-US" sz="16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/>
                                <m:t>lim</m:t>
                              </m:r>
                            </m:fName>
                            <m:e/>
                          </m:func>
                        </m:e>
                        <m:lim>
                          <m:r>
                            <m:rPr>
                              <m:sty m:val="p"/>
                            </m:rPr>
                            <a:rPr lang="en-US" altLang="ko-KR" sz="1600"/>
                            <m:t>Δ</m:t>
                          </m:r>
                          <m:r>
                            <a:rPr lang="ko-KR" altLang="en-US" sz="1600" i="1"/>
                            <m:t>𝑥</m:t>
                          </m:r>
                          <m:r>
                            <a:rPr lang="ko-KR" altLang="en-US" sz="1600"/>
                            <m:t>→</m:t>
                          </m:r>
                          <m:r>
                            <a:rPr lang="en-US" altLang="ko-KR" sz="1600"/>
                            <m:t>0</m:t>
                          </m:r>
                        </m:lim>
                      </m:limLow>
                      <m:f>
                        <m:fPr>
                          <m:ctrlPr>
                            <a:rPr lang="ko-KR" altLang="en-US" sz="1600" i="1"/>
                          </m:ctrlPr>
                        </m:fPr>
                        <m:num>
                          <m:r>
                            <a:rPr lang="ko-KR" altLang="en-US" sz="1600" i="1"/>
                            <m:t>𝑃</m:t>
                          </m:r>
                          <m:d>
                            <m:dPr>
                              <m:ctrlPr>
                                <a:rPr lang="ko-KR" altLang="en-US" sz="1600" i="1"/>
                              </m:ctrlPr>
                            </m:dPr>
                            <m:e>
                              <m:r>
                                <a:rPr lang="ko-KR" altLang="en-US" sz="1600" i="1"/>
                                <m:t>𝑥</m:t>
                              </m:r>
                              <m:r>
                                <a:rPr lang="ko-KR" altLang="en-US" sz="1600"/>
                                <m:t>≤</m:t>
                              </m:r>
                              <m:r>
                                <a:rPr lang="ko-KR" altLang="en-US" sz="1600" i="1"/>
                                <m:t>𝑋</m:t>
                              </m:r>
                              <m:r>
                                <a:rPr lang="ko-KR" altLang="en-US" sz="1600"/>
                                <m:t>≤</m:t>
                              </m:r>
                              <m:r>
                                <a:rPr lang="ko-KR" altLang="en-US" sz="1600" i="1"/>
                                <m:t>𝑥</m:t>
                              </m:r>
                              <m:r>
                                <a:rPr lang="en-US" altLang="ko-KR" sz="1600"/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600"/>
                                <m:t>Δ</m:t>
                              </m:r>
                              <m:r>
                                <a:rPr lang="ko-KR" altLang="en-US" sz="1600" i="1"/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1600"/>
                            <m:t>Δ</m:t>
                          </m:r>
                          <m:r>
                            <a:rPr lang="ko-KR" altLang="en-US" sz="1600" i="1"/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확률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=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면적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,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 밀도 </a:t>
                </a:r>
                <a:r>
                  <a:rPr lang="en-US" altLang="ko-KR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= </a:t>
                </a:r>
                <a:r>
                  <a:rPr lang="ko-KR" altLang="en-US" sz="1600" dirty="0">
                    <a:latin typeface="휴먼모음T" panose="02030504000101010101" pitchFamily="18" charset="-127"/>
                    <a:ea typeface="휴먼모음T" panose="02030504000101010101" pitchFamily="18" charset="-127"/>
                  </a:rPr>
                  <a:t>높이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A55D5-EC0F-8BFA-9085-308AA4EAE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4" y="845423"/>
                <a:ext cx="11161240" cy="1980927"/>
              </a:xfrm>
              <a:prstGeom prst="rect">
                <a:avLst/>
              </a:prstGeom>
              <a:blipFill>
                <a:blip r:embed="rId3"/>
                <a:stretch>
                  <a:fillRect l="-218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4B46042-8D95-9C25-0AB5-B8CC2ED30D73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A6584D-678B-00D4-793F-7C3C72BCA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89" y="2996952"/>
            <a:ext cx="4811395" cy="35302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E6A1CD-1241-5345-77CB-DDF545F41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242" y="2980767"/>
            <a:ext cx="4355615" cy="35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786C-8452-461E-DB54-7B13E230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0BF5E10-4D5D-0E3D-AAD9-533E3BC3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C001F-94A0-9406-88DB-65BB35B0FFDB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AFA978D-4556-7909-45B1-FF0CCC1DC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88" y="3109192"/>
            <a:ext cx="10414892" cy="255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7951D-D81F-F753-1AB0-EC313649BA77}"/>
              </a:ext>
            </a:extLst>
          </p:cNvPr>
          <p:cNvSpPr txBox="1"/>
          <p:nvPr/>
        </p:nvSpPr>
        <p:spPr>
          <a:xfrm>
            <a:off x="418144" y="845423"/>
            <a:ext cx="11508916" cy="101059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데이터에서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“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total_bill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”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변수를 기준으로 </a:t>
            </a:r>
            <a:r>
              <a:rPr lang="de-DE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bandwidths = [1, 2, 4, 8, 12]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인</a:t>
            </a:r>
            <a:r>
              <a:rPr lang="de-DE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경우 히스토그램을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시각화하라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변수도 다양한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바탕으로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시각화하라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131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F8B4-D898-4FE3-C256-2D663CCE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20291-B8E6-441E-E52B-A382EE57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C7B0E-D0AF-23E6-20B5-63656A6721A8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96D0-9A5A-8596-29E5-AD843E2F5D09}"/>
              </a:ext>
            </a:extLst>
          </p:cNvPr>
          <p:cNvSpPr txBox="1"/>
          <p:nvPr/>
        </p:nvSpPr>
        <p:spPr>
          <a:xfrm>
            <a:off x="418144" y="845423"/>
            <a:ext cx="11508916" cy="225004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어떤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모집단을 가장 잘 보여주고 있는가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토론하고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solution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제시하라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아래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방법을 참고하라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수식 기반 규칙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(Freedman–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Diaconis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Scott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등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Cross-Validation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Bootstrap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Monte Carlo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 시뮬레이션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E64D0E2-0FF0-7906-8CC6-F3EC0DCC9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470" y="3667118"/>
            <a:ext cx="3876068" cy="257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3FE636D-D3F6-E7E3-E6AF-0D5FC550E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437" y="3667118"/>
            <a:ext cx="3876068" cy="260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D0028F-DA36-E744-8355-A4846CDE9604}"/>
              </a:ext>
            </a:extLst>
          </p:cNvPr>
          <p:cNvSpPr txBox="1"/>
          <p:nvPr/>
        </p:nvSpPr>
        <p:spPr>
          <a:xfrm>
            <a:off x="921355" y="3148823"/>
            <a:ext cx="3577362" cy="46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Cross-Validation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5ADB6-5579-DB33-7D74-E88D42FCE7DB}"/>
              </a:ext>
            </a:extLst>
          </p:cNvPr>
          <p:cNvSpPr txBox="1"/>
          <p:nvPr/>
        </p:nvSpPr>
        <p:spPr>
          <a:xfrm>
            <a:off x="5878388" y="3082306"/>
            <a:ext cx="3357458" cy="46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Bootstrap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64623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EC05-258B-CBA8-ABB9-5342CFFB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2CB4BE-311D-239F-DDBF-C0F05B43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A6E16-2EC6-295A-B539-93B34BEAE9C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4215A-8A70-CB54-9D21-BDC8122C59E5}"/>
              </a:ext>
            </a:extLst>
          </p:cNvPr>
          <p:cNvSpPr txBox="1"/>
          <p:nvPr/>
        </p:nvSpPr>
        <p:spPr>
          <a:xfrm>
            <a:off x="418144" y="845423"/>
            <a:ext cx="5100204" cy="563558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Histogram(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오른쪽 그림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은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에서 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 곡선의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데이터의 특성을 기반으로 자동으로 계산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기본적으로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Scott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규칙이나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Silverman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규칙과 같은 방법을 사용하여 최적의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추정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따라서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코드에서 특정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값이 명시적으로 설정된 것이 아니라 데이터에 따라 동적으로 결정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유효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bandwidth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 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2.9590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=10,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다양한 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시각화해 보아라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! (50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개로 하면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9874A61-F8FF-3079-13C6-EA0B1C784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92" y="812885"/>
            <a:ext cx="4329516" cy="350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7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2611-A7A1-851B-91E1-7E4CA8E8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8F7825-2356-BD5A-6BF7-BE241161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1E4E40-9920-95E4-3C23-5F78B603D3F1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96B66-0F0F-AD72-6FA0-ED4F393E91B5}"/>
              </a:ext>
            </a:extLst>
          </p:cNvPr>
          <p:cNvSpPr txBox="1"/>
          <p:nvPr/>
        </p:nvSpPr>
        <p:spPr>
          <a:xfrm>
            <a:off x="375958" y="980728"/>
            <a:ext cx="11436908" cy="101059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tips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데이터의 총 매출액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en-US" altLang="ko-KR" sz="1600" dirty="0" err="1"/>
              <a:t>total_bill</a:t>
            </a:r>
            <a:r>
              <a:rPr lang="en-US" altLang="ko-KR" sz="1600" dirty="0"/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으로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sns.histplot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(data,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=?,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kde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=True)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분산과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편향을 토론하고 발표하라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Binwidth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 높으면 노인인가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청년인가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분산과 편향은 각각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어떤가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 (Hyperparameter Tuning)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3A8957B-8DE1-416B-BAB3-7711697A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742" y="2395911"/>
            <a:ext cx="9976464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노인과 그의 10대 초반의 손녀가 모래사장에서 날기 위해 연을 준비하고 있다.">
            <a:extLst>
              <a:ext uri="{FF2B5EF4-FFF2-40B4-BE49-F238E27FC236}">
                <a16:creationId xmlns:a16="http://schemas.microsoft.com/office/drawing/2014/main" id="{AD346533-DB8E-78AA-FCE2-4393B1050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3" y="2381303"/>
            <a:ext cx="1791099" cy="119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4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DB1FC-FA00-8A5B-93A2-45FA9014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7D0911-F317-C20F-9ED7-4D63DC3E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CD7EF-0328-6311-76C9-0EC2001BF1CA}"/>
              </a:ext>
            </a:extLst>
          </p:cNvPr>
          <p:cNvSpPr txBox="1"/>
          <p:nvPr/>
        </p:nvSpPr>
        <p:spPr>
          <a:xfrm>
            <a:off x="261764" y="1268760"/>
            <a:ext cx="11161240" cy="51815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확률밀도함수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=PDF(Probability Density Function)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누적확률밀도함수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=CDF(Cumulative Distribution Function)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6A8E8-F46D-B882-CD19-F702C4184415}"/>
              </a:ext>
            </a:extLst>
          </p:cNvPr>
          <p:cNvSpPr txBox="1"/>
          <p:nvPr/>
        </p:nvSpPr>
        <p:spPr>
          <a:xfrm>
            <a:off x="117748" y="260648"/>
            <a:ext cx="993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연속형 확률변수</a:t>
            </a:r>
            <a:r>
              <a:rPr lang="en-US" altLang="ko-KR" sz="3200" b="1" dirty="0"/>
              <a:t>(Continuous Random Variable)</a:t>
            </a:r>
            <a:endParaRPr lang="ko-KR" altLang="en-US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0F50A4-825A-ABD9-B68B-EDE2FC2A6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64" y="1988840"/>
            <a:ext cx="9537318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9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BFDF-043C-D416-8A82-CFA167E4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44CB5B-45F9-105B-6990-2F9C08E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21184-37EF-AC7E-BD87-A4D8546D0FD6}"/>
              </a:ext>
            </a:extLst>
          </p:cNvPr>
          <p:cNvSpPr txBox="1"/>
          <p:nvPr/>
        </p:nvSpPr>
        <p:spPr>
          <a:xfrm>
            <a:off x="765820" y="1196752"/>
            <a:ext cx="11233248" cy="431791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키와 몸무게 등 무한한 실수 값을 값으로 하는 확률변수의 연속확률밀도 함수인가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당신의 키를 확률로 구할 수 있는가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Likelihood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에 대해 설명하라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연속확률밀도 함수의 밀도의 의미와 이산확률질량 함수의 질량의 의미를 설명하라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양자 역학의 빛의 파동설과 입자설에 대해 설명하라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152FC-1579-E1AE-98F9-EEC881A49A2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95457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E592-91C4-33F7-AABF-0D38957D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002C89-B43D-5CD1-AC62-40F09F0C9282}"/>
              </a:ext>
            </a:extLst>
          </p:cNvPr>
          <p:cNvSpPr/>
          <p:nvPr/>
        </p:nvSpPr>
        <p:spPr>
          <a:xfrm>
            <a:off x="598421" y="347423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B1ABEE2-B3AC-0D1F-5C46-5A166B81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CB671-6FA8-153A-D9F5-AFBE4E30AF40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340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이산형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</a:t>
            </a:r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기대값과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80407"/>
              </p:ext>
            </p:extLst>
          </p:nvPr>
        </p:nvGraphicFramePr>
        <p:xfrm>
          <a:off x="1557908" y="1916832"/>
          <a:ext cx="9073008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7">
                  <a:extLst>
                    <a:ext uri="{9D8B030D-6E8A-4147-A177-3AD203B41FA5}">
                      <a16:colId xmlns:a16="http://schemas.microsoft.com/office/drawing/2014/main" val="287144223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4609489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5349110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61923300"/>
                    </a:ext>
                  </a:extLst>
                </a:gridCol>
                <a:gridCol w="1224133">
                  <a:extLst>
                    <a:ext uri="{9D8B030D-6E8A-4147-A177-3AD203B41FA5}">
                      <a16:colId xmlns:a16="http://schemas.microsoft.com/office/drawing/2014/main" val="7446975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32265970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261868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3242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확률변수 </a:t>
                      </a:r>
                      <a:r>
                        <a:rPr lang="en-US" altLang="ko-KR" sz="1600" dirty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</a:t>
                      </a:r>
                      <a:r>
                        <a:rPr lang="en-US" altLang="ko-KR" sz="1600" baseline="0" dirty="0"/>
                        <a:t> 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= 6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01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확률</a:t>
                      </a:r>
                      <a:r>
                        <a:rPr lang="en-US" altLang="ko-KR" sz="1600" dirty="0"/>
                        <a:t>(Probability)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P(X =1) =1/6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P(X =2) =1/6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P(X =3) =1/6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=4)</a:t>
                      </a:r>
                      <a:r>
                        <a:rPr lang="en-US" altLang="ko-KR" sz="1600" dirty="0"/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=5)</a:t>
                      </a:r>
                      <a:r>
                        <a:rPr lang="en-US" altLang="ko-KR" sz="1600" dirty="0"/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Corbel"/>
                          <a:ea typeface="HY중고딕" panose="02030600000101010101" pitchFamily="18" charset="-127"/>
                          <a:cs typeface="+mn-cs"/>
                        </a:rPr>
                        <a:t>P(X =6)</a:t>
                      </a:r>
                      <a:r>
                        <a:rPr lang="en-US" altLang="ko-KR" sz="1600" dirty="0"/>
                        <a:t> =1/6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Corbel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39572"/>
                  </a:ext>
                </a:extLst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898" y="3356992"/>
            <a:ext cx="3067478" cy="237205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68" y="3356992"/>
            <a:ext cx="707806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4A9B-1D9E-9BEC-0C9D-41CFEB45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1BF237D-153C-A49F-C3D0-25C7655BE83A}"/>
              </a:ext>
            </a:extLst>
          </p:cNvPr>
          <p:cNvSpPr/>
          <p:nvPr/>
        </p:nvSpPr>
        <p:spPr>
          <a:xfrm>
            <a:off x="598421" y="412230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D1503E-938B-93E6-F7E1-D009295A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0C209-B81A-81D0-EC40-74FBAB65EE81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298991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pic>
        <p:nvPicPr>
          <p:cNvPr id="1026" name="Picture 2" descr="Statistics in Marketing - Discrete Probability Distributions |  Bernard-ML&lt;a/b&g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44" y="1516959"/>
            <a:ext cx="6949367" cy="483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765820" y="764704"/>
            <a:ext cx="5981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확률분포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(Probability Distribution))</a:t>
            </a:r>
          </a:p>
        </p:txBody>
      </p:sp>
    </p:spTree>
    <p:extLst>
      <p:ext uri="{BB962C8B-B14F-4D97-AF65-F5344CB8AC3E}">
        <p14:creationId xmlns:p14="http://schemas.microsoft.com/office/powerpoint/2010/main" val="300555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092" y="1099103"/>
            <a:ext cx="6542088" cy="543981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65820" y="764704"/>
            <a:ext cx="1595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확률분포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4125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10" name="직사각형 9"/>
          <p:cNvSpPr/>
          <p:nvPr/>
        </p:nvSpPr>
        <p:spPr>
          <a:xfrm>
            <a:off x="765820" y="764704"/>
            <a:ext cx="85689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313131"/>
                </a:solidFill>
                <a:latin typeface="PT Sans"/>
              </a:rPr>
              <a:t>연속형</a:t>
            </a:r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 </a:t>
            </a:r>
            <a:r>
              <a:rPr lang="ko-KR" altLang="en-US" sz="2800" b="1" dirty="0">
                <a:solidFill>
                  <a:srgbClr val="313131"/>
                </a:solidFill>
                <a:latin typeface="PT Sans"/>
              </a:rPr>
              <a:t>확률변수의 평균과 분산</a:t>
            </a:r>
            <a:endParaRPr lang="en-US" altLang="ko-KR" sz="2800" b="1" dirty="0">
              <a:solidFill>
                <a:srgbClr val="313131"/>
              </a:solidFill>
              <a:latin typeface="PT San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52" y="2204864"/>
            <a:ext cx="4438836" cy="30243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137" y="2204864"/>
            <a:ext cx="2562583" cy="7716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202" y="4005064"/>
            <a:ext cx="5020376" cy="704948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2710428" y="1916832"/>
            <a:ext cx="0" cy="3816424"/>
          </a:xfrm>
          <a:prstGeom prst="line">
            <a:avLst/>
          </a:prstGeom>
          <a:ln w="127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790156" y="1916832"/>
            <a:ext cx="0" cy="3816424"/>
          </a:xfrm>
          <a:prstGeom prst="line">
            <a:avLst/>
          </a:prstGeom>
          <a:ln w="127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2735595" y="5517232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971151" y="5836622"/>
            <a:ext cx="563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latinLnBrk="1">
              <a:defRPr/>
            </a:pPr>
            <a:r>
              <a:rPr lang="en-US" altLang="ko-KR" dirty="0">
                <a:solidFill>
                  <a:srgbClr val="404040"/>
                </a:solidFill>
                <a:latin typeface="Arial Narrow" panose="020B0606020202030204" pitchFamily="34" charset="0"/>
              </a:rPr>
              <a:t>P(X &lt;= 185)</a:t>
            </a:r>
            <a:r>
              <a:rPr lang="en-US" altLang="ko-KR" dirty="0">
                <a:latin typeface="Arial Narrow" panose="020B0606020202030204" pitchFamily="34" charset="0"/>
              </a:rPr>
              <a:t> - </a:t>
            </a:r>
            <a:r>
              <a:rPr lang="en-US" altLang="ko-KR" dirty="0">
                <a:solidFill>
                  <a:srgbClr val="404040"/>
                </a:solidFill>
                <a:latin typeface="Arial Narrow" panose="020B0606020202030204" pitchFamily="34" charset="0"/>
              </a:rPr>
              <a:t>P(X &lt;= 135) = </a:t>
            </a:r>
            <a:r>
              <a:rPr lang="ko-KR" altLang="en-US" dirty="0">
                <a:solidFill>
                  <a:srgbClr val="404040"/>
                </a:solidFill>
                <a:latin typeface="Arial Narrow" panose="020B0606020202030204" pitchFamily="34" charset="0"/>
              </a:rPr>
              <a:t>키가 </a:t>
            </a:r>
            <a:r>
              <a:rPr lang="en-US" altLang="ko-KR" dirty="0">
                <a:solidFill>
                  <a:srgbClr val="404040"/>
                </a:solidFill>
                <a:latin typeface="Arial Narrow" panose="020B0606020202030204" pitchFamily="34" charset="0"/>
              </a:rPr>
              <a:t> 135</a:t>
            </a:r>
            <a:r>
              <a:rPr lang="ko-KR" altLang="en-US" dirty="0">
                <a:solidFill>
                  <a:srgbClr val="404040"/>
                </a:solidFill>
                <a:latin typeface="Arial Narrow" panose="020B0606020202030204" pitchFamily="34" charset="0"/>
              </a:rPr>
              <a:t>이상 </a:t>
            </a:r>
            <a:r>
              <a:rPr lang="en-US" altLang="ko-KR" dirty="0">
                <a:solidFill>
                  <a:srgbClr val="404040"/>
                </a:solidFill>
                <a:latin typeface="Arial Narrow" panose="020B0606020202030204" pitchFamily="34" charset="0"/>
              </a:rPr>
              <a:t>185</a:t>
            </a:r>
            <a:r>
              <a:rPr lang="ko-KR" altLang="en-US" dirty="0">
                <a:solidFill>
                  <a:srgbClr val="404040"/>
                </a:solidFill>
                <a:latin typeface="Arial Narrow" panose="020B0606020202030204" pitchFamily="34" charset="0"/>
              </a:rPr>
              <a:t>이하인 확률</a:t>
            </a:r>
            <a:r>
              <a:rPr lang="en-US" altLang="ko-KR" dirty="0">
                <a:latin typeface="Arial Narrow" panose="020B0606020202030204" pitchFamily="34" charset="0"/>
              </a:rPr>
              <a:t> </a:t>
            </a:r>
            <a:endParaRPr lang="ko-KR" altLang="en-US" dirty="0">
              <a:solidFill>
                <a:srgbClr val="40404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62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887028"/>
            <a:ext cx="8922255" cy="54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8" y="2685197"/>
            <a:ext cx="4969093" cy="31100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041" y="2685197"/>
            <a:ext cx="5112568" cy="320968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57053" y="1683061"/>
            <a:ext cx="60140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</a:t>
            </a:r>
            <a:r>
              <a:rPr lang="ko-KR" altLang="en-US" sz="1600" dirty="0">
                <a:latin typeface="Arial Narrow" panose="020B0606020202030204" pitchFamily="34" charset="0"/>
              </a:rPr>
              <a:t>번을 앞 면이 나올 회수는 </a:t>
            </a:r>
            <a:r>
              <a:rPr lang="en-US" altLang="ko-KR" sz="1600" dirty="0">
                <a:latin typeface="Arial Narrow" panose="020B0606020202030204" pitchFamily="34" charset="0"/>
              </a:rPr>
              <a:t>? 55, 45, 50 </a:t>
            </a:r>
            <a:r>
              <a:rPr lang="ko-KR" altLang="en-US" sz="1600" dirty="0">
                <a:latin typeface="Arial Narrow" panose="020B0606020202030204" pitchFamily="34" charset="0"/>
              </a:rPr>
              <a:t>등 글쎄 </a:t>
            </a:r>
            <a:r>
              <a:rPr lang="ko-KR" altLang="en-US" sz="1600" dirty="0" err="1">
                <a:latin typeface="Arial Narrow" panose="020B0606020202030204" pitchFamily="34" charset="0"/>
              </a:rPr>
              <a:t>케박</a:t>
            </a:r>
            <a:endParaRPr lang="en-US" altLang="ko-KR" sz="1600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</a:t>
            </a:r>
            <a:r>
              <a:rPr lang="ko-KR" altLang="en-US" sz="1600" dirty="0">
                <a:latin typeface="Arial Narrow" panose="020B0606020202030204" pitchFamily="34" charset="0"/>
              </a:rPr>
              <a:t>번을 던져서 앞면</a:t>
            </a:r>
            <a:r>
              <a:rPr lang="en-US" altLang="ko-KR" sz="1600" dirty="0">
                <a:latin typeface="Arial Narrow" panose="020B0606020202030204" pitchFamily="34" charset="0"/>
              </a:rPr>
              <a:t>(</a:t>
            </a:r>
            <a:r>
              <a:rPr lang="ko-KR" altLang="en-US" sz="1600" dirty="0">
                <a:latin typeface="Arial Narrow" panose="020B0606020202030204" pitchFamily="34" charset="0"/>
              </a:rPr>
              <a:t>성공확률</a:t>
            </a:r>
            <a:r>
              <a:rPr lang="en-US" altLang="ko-KR" sz="1600" dirty="0">
                <a:latin typeface="Arial Narrow" panose="020B0606020202030204" pitchFamily="34" charset="0"/>
              </a:rPr>
              <a:t>(0.5))</a:t>
            </a:r>
            <a:r>
              <a:rPr lang="ko-KR" altLang="en-US" sz="1600" dirty="0">
                <a:latin typeface="Arial Narrow" panose="020B0606020202030204" pitchFamily="34" charset="0"/>
              </a:rPr>
              <a:t>이 나올 횟수</a:t>
            </a:r>
            <a:r>
              <a:rPr lang="en-US" altLang="ko-KR" sz="1600" dirty="0">
                <a:latin typeface="Arial Narrow" panose="020B0606020202030204" pitchFamily="34" charset="0"/>
              </a:rPr>
              <a:t>, </a:t>
            </a:r>
            <a:r>
              <a:rPr lang="ko-KR" altLang="en-US" sz="1600" dirty="0">
                <a:latin typeface="Arial Narrow" panose="020B0606020202030204" pitchFamily="34" charset="0"/>
              </a:rPr>
              <a:t>이 시행을 </a:t>
            </a:r>
            <a:r>
              <a:rPr lang="en-US" altLang="ko-KR" sz="1600" dirty="0">
                <a:latin typeface="Arial Narrow" panose="020B0606020202030204" pitchFamily="34" charset="0"/>
              </a:rPr>
              <a:t>10000</a:t>
            </a:r>
            <a:r>
              <a:rPr lang="ko-KR" altLang="en-US" sz="1600" dirty="0">
                <a:latin typeface="Arial Narrow" panose="020B0606020202030204" pitchFamily="34" charset="0"/>
              </a:rPr>
              <a:t>번 수행 해서 빈도를 보면 되겠네</a:t>
            </a:r>
            <a:r>
              <a:rPr lang="en-US" altLang="ko-KR" sz="1600" dirty="0">
                <a:latin typeface="Arial Narrow" panose="020B0606020202030204" pitchFamily="34" charset="0"/>
              </a:rPr>
              <a:t>.</a:t>
            </a:r>
            <a:endParaRPr lang="ko-KR" altLang="en-US" sz="1600" b="0" dirty="0">
              <a:effectLst/>
              <a:latin typeface="Arial Narrow" panose="020B060602020203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1764" y="1760006"/>
            <a:ext cx="49743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Arial Narrow" panose="020B0606020202030204" pitchFamily="34" charset="0"/>
              </a:rPr>
              <a:t>동전을 </a:t>
            </a:r>
            <a:r>
              <a:rPr lang="en-US" altLang="ko-KR" sz="1600" dirty="0">
                <a:latin typeface="Arial Narrow" panose="020B0606020202030204" pitchFamily="34" charset="0"/>
              </a:rPr>
              <a:t>1000</a:t>
            </a:r>
            <a:r>
              <a:rPr lang="ko-KR" altLang="en-US" sz="1600" dirty="0">
                <a:latin typeface="Arial Narrow" panose="020B0606020202030204" pitchFamily="34" charset="0"/>
              </a:rPr>
              <a:t>번 던져 앞면과 뒷면이 나온 회수</a:t>
            </a:r>
            <a:r>
              <a:rPr lang="en-US" altLang="ko-KR" sz="1600" dirty="0">
                <a:latin typeface="Arial Narrow" panose="020B0606020202030204" pitchFamily="34" charset="0"/>
              </a:rPr>
              <a:t>(</a:t>
            </a:r>
            <a:r>
              <a:rPr lang="ko-KR" altLang="en-US" sz="1600" dirty="0">
                <a:latin typeface="Arial Narrow" panose="020B0606020202030204" pitchFamily="34" charset="0"/>
              </a:rPr>
              <a:t>도수</a:t>
            </a:r>
            <a:r>
              <a:rPr lang="en-US" altLang="ko-KR" sz="1600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57053" y="692317"/>
            <a:ext cx="2576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이항 분포</a:t>
            </a:r>
            <a:endParaRPr lang="en-US" altLang="ko-KR" sz="2000" b="1" dirty="0">
              <a:solidFill>
                <a:srgbClr val="212121"/>
              </a:solidFill>
              <a:latin typeface="Roboto"/>
            </a:endParaRPr>
          </a:p>
          <a:p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Binomial distribution</a:t>
            </a:r>
            <a:endParaRPr lang="en-US" altLang="ko-KR" sz="2000" b="1" i="0" dirty="0">
              <a:solidFill>
                <a:srgbClr val="212121"/>
              </a:solidFill>
              <a:effectLst/>
              <a:latin typeface="Roboto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5780" y="692696"/>
            <a:ext cx="25859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베르누이</a:t>
            </a:r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 </a:t>
            </a:r>
            <a:r>
              <a:rPr lang="ko-KR" altLang="en-US" sz="2000" b="1" dirty="0">
                <a:solidFill>
                  <a:srgbClr val="212121"/>
                </a:solidFill>
                <a:latin typeface="Roboto"/>
              </a:rPr>
              <a:t>시행</a:t>
            </a:r>
            <a:endParaRPr lang="en-US" altLang="ko-KR" sz="2000" b="1" dirty="0">
              <a:solidFill>
                <a:srgbClr val="212121"/>
              </a:solidFill>
              <a:latin typeface="Roboto"/>
            </a:endParaRPr>
          </a:p>
          <a:p>
            <a:r>
              <a:rPr lang="en-US" altLang="ko-KR" sz="2000" b="1" dirty="0">
                <a:solidFill>
                  <a:srgbClr val="212121"/>
                </a:solidFill>
                <a:latin typeface="Roboto"/>
              </a:rPr>
              <a:t>Bernoulli distribution</a:t>
            </a:r>
            <a:endParaRPr lang="en-US" altLang="ko-KR" sz="2000" b="1" i="0" dirty="0">
              <a:solidFill>
                <a:srgbClr val="212121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075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1628800"/>
            <a:ext cx="7776864" cy="34350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669" y="1552313"/>
            <a:ext cx="8497486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1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360235"/>
            <a:ext cx="8660268" cy="59961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772" y="2492896"/>
            <a:ext cx="2049193" cy="255023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262764" y="5094885"/>
            <a:ext cx="25939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i="1" dirty="0">
                <a:solidFill>
                  <a:srgbClr val="333333"/>
                </a:solidFill>
                <a:latin typeface="-apple-system"/>
              </a:rPr>
              <a:t>Gaussian distribution(</a:t>
            </a:r>
            <a:r>
              <a:rPr lang="ko-KR" altLang="en-US" sz="1100" b="1" i="1" dirty="0" err="1">
                <a:solidFill>
                  <a:srgbClr val="333333"/>
                </a:solidFill>
                <a:latin typeface="-apple-system"/>
              </a:rPr>
              <a:t>가우시안</a:t>
            </a:r>
            <a:r>
              <a:rPr lang="ko-KR" altLang="en-US" sz="1100" b="1" i="1" dirty="0">
                <a:solidFill>
                  <a:srgbClr val="333333"/>
                </a:solidFill>
                <a:latin typeface="-apple-system"/>
              </a:rPr>
              <a:t> 분포</a:t>
            </a:r>
            <a:r>
              <a:rPr lang="en-US" altLang="ko-KR" sz="1100" b="1" i="1" dirty="0">
                <a:solidFill>
                  <a:srgbClr val="333333"/>
                </a:solidFill>
                <a:latin typeface="-apple-system"/>
              </a:rPr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3161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2494012" y="764704"/>
            <a:ext cx="7006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https://www.youtube.com/shorts/6qxA9JDLSpw?feature=share</a:t>
            </a:r>
            <a:r>
              <a:rPr lang="ko-KR" altLang="en-US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164" y="1480432"/>
            <a:ext cx="3820058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33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672064"/>
            <a:ext cx="8150502" cy="570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6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34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60" y="1340768"/>
            <a:ext cx="10224283" cy="43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6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35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0" y="1529702"/>
            <a:ext cx="10929188" cy="4608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5980" y="645665"/>
            <a:ext cx="1587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/>
              <a:t>원자료</a:t>
            </a:r>
            <a:endParaRPr lang="en-US" altLang="ko-KR" b="1" dirty="0"/>
          </a:p>
          <a:p>
            <a:pPr algn="ctr"/>
            <a:r>
              <a:rPr lang="en-US" altLang="ko-KR" b="1" dirty="0"/>
              <a:t>(</a:t>
            </a:r>
            <a:r>
              <a:rPr lang="en-US" altLang="ko-KR" b="1" dirty="0" err="1"/>
              <a:t>Orignal</a:t>
            </a:r>
            <a:r>
              <a:rPr lang="en-US" altLang="ko-KR" b="1" dirty="0"/>
              <a:t> Data)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46340" y="645665"/>
            <a:ext cx="1902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/>
              <a:t>평균중심화</a:t>
            </a:r>
            <a:endParaRPr lang="en-US" altLang="ko-KR" b="1" dirty="0"/>
          </a:p>
          <a:p>
            <a:pPr algn="ctr"/>
            <a:r>
              <a:rPr lang="en-US" altLang="ko-KR" b="1" dirty="0"/>
              <a:t>(Mean Centering)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902724" y="645665"/>
            <a:ext cx="1927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표준화</a:t>
            </a:r>
            <a:endParaRPr lang="en-US" altLang="ko-KR" b="1" dirty="0"/>
          </a:p>
          <a:p>
            <a:pPr algn="ctr"/>
            <a:r>
              <a:rPr lang="en-US" altLang="ko-KR" b="1" dirty="0"/>
              <a:t>(Standardization)</a:t>
            </a:r>
            <a:endParaRPr lang="ko-KR" altLang="en-US" b="1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006180" y="978525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7678588" y="968830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5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FE3-9249-75D6-3038-AC8C61D6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FA40D8-ACB6-10D4-2522-32F773F1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1E131-6EC6-9AF6-8EE4-8FA35B3A69F2}"/>
              </a:ext>
            </a:extLst>
          </p:cNvPr>
          <p:cNvSpPr txBox="1"/>
          <p:nvPr/>
        </p:nvSpPr>
        <p:spPr>
          <a:xfrm>
            <a:off x="261764" y="1268760"/>
            <a:ext cx="6048672" cy="470391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초나라 양춘백설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/>
              <a:t>陽春白雪</a:t>
            </a:r>
            <a:r>
              <a:rPr lang="en-US" altLang="ko-KR" sz="1600" dirty="0"/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과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Long-Tail Distribution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에 대해 주변의 실제 상황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유튜브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조회 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에 대해 예를 들어라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아래 내용을 파이썬 코드로 모의실험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(simulation)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하여 설명하라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	1️⃣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유튜브 조회수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Long-Tail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시뮬레이션</a:t>
            </a:r>
            <a:b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</a:b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	2️⃣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부의 불평등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(Pareto 80/20)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생성 실험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(Pareto distribution)</a:t>
            </a:r>
            <a:b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</a:b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	3️⃣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네트워크 성장 모델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en-US" altLang="ko-KR" sz="1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Barabási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–Albert) </a:t>
            </a:r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실험</a:t>
            </a: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lnSpc>
                <a:spcPct val="200000"/>
              </a:lnSpc>
            </a:pPr>
            <a:endParaRPr lang="en-US" altLang="ko-KR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Long-Tail Distribution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머신러닝의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불균형 데이터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(Imbalanced data)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인한 학습의 어려움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9E8B3-FDAF-488B-031D-4CE2820ED70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6" name="Picture 2" descr="A graph of a sharply sloped power-law distribution curve. The x-axis is items and the y-axis is popularity.">
            <a:extLst>
              <a:ext uri="{FF2B5EF4-FFF2-40B4-BE49-F238E27FC236}">
                <a16:creationId xmlns:a16="http://schemas.microsoft.com/office/drawing/2014/main" id="{04C8A289-FF78-8BE3-9F6C-09D9D649A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35" y="1268760"/>
            <a:ext cx="5268949" cy="473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42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8E1E5-D16B-943F-24E2-0CF293C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37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34D2AA-A27B-7A54-4084-BC43A781A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6" y="1916832"/>
            <a:ext cx="5759331" cy="388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AE3E526-6D30-8BC9-EB0F-07796576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911" y="1916832"/>
            <a:ext cx="5976664" cy="388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09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38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916832"/>
            <a:ext cx="4777171" cy="32755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476" y="1916832"/>
            <a:ext cx="4799254" cy="3312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49996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정규분포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8559" y="141277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표준정규분포</a:t>
            </a:r>
          </a:p>
        </p:txBody>
      </p:sp>
    </p:spTree>
    <p:extLst>
      <p:ext uri="{BB962C8B-B14F-4D97-AF65-F5344CB8AC3E}">
        <p14:creationId xmlns:p14="http://schemas.microsoft.com/office/powerpoint/2010/main" val="72694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39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404664"/>
            <a:ext cx="8611871" cy="60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40</a:t>
            </a:fld>
            <a:endParaRPr lang="en-US" altLang="ko-KR" noProof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2" y="1196752"/>
            <a:ext cx="9939333" cy="39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9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41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8" y="476672"/>
            <a:ext cx="9782709" cy="56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0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42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4" y="1484784"/>
            <a:ext cx="9232796" cy="479342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33772" y="692696"/>
            <a:ext cx="11089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dirty="0"/>
              <a:t>주사위 개수가 증가함에 따라 합의 분포</a:t>
            </a:r>
            <a:r>
              <a:rPr lang="en-US" altLang="ko-KR" b="1" dirty="0"/>
              <a:t>(1000 trials/dice)</a:t>
            </a:r>
            <a:r>
              <a:rPr lang="ko-KR" altLang="en-US" b="1" dirty="0"/>
              <a:t>가 점점 정규분포에 가까워지는 것</a:t>
            </a:r>
            <a:r>
              <a:rPr lang="en-US" altLang="ko-KR" b="1" dirty="0"/>
              <a:t>(</a:t>
            </a:r>
            <a:r>
              <a:rPr lang="ko-KR" altLang="en-US" b="1" dirty="0"/>
              <a:t>중심극한정리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3628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CC26-4A6F-3EA6-8212-862648D1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1C6FDF6-4C1F-E672-780E-582262BBC0EF}"/>
              </a:ext>
            </a:extLst>
          </p:cNvPr>
          <p:cNvSpPr/>
          <p:nvPr/>
        </p:nvSpPr>
        <p:spPr>
          <a:xfrm>
            <a:off x="598421" y="544522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2CCE3C-C8AB-36C2-563E-166AEFF8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B3A6C-81F2-1538-0FA3-857F7B49C526}"/>
              </a:ext>
            </a:extLst>
          </p:cNvPr>
          <p:cNvSpPr txBox="1"/>
          <p:nvPr/>
        </p:nvSpPr>
        <p:spPr>
          <a:xfrm>
            <a:off x="1629916" y="147612"/>
            <a:ext cx="8928992" cy="589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 변수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Variable)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이산형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(Discrete)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연속형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(Continuous)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확률변수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분산과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편향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 &amp; Bias)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기대값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(Expectation)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과 분산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(variance)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(Random Distribution)</a:t>
            </a:r>
          </a:p>
          <a:p>
            <a:pPr marL="971550" lvl="1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베르누이분포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이항분포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, </a:t>
            </a:r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정규분포</a:t>
            </a:r>
            <a:endParaRPr lang="en-US" altLang="ko-KR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 확률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Probability)</a:t>
            </a:r>
          </a:p>
        </p:txBody>
      </p:sp>
    </p:spTree>
    <p:extLst>
      <p:ext uri="{BB962C8B-B14F-4D97-AF65-F5344CB8AC3E}">
        <p14:creationId xmlns:p14="http://schemas.microsoft.com/office/powerpoint/2010/main" val="13379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44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333772" y="692696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조건부 확률</a:t>
            </a:r>
            <a:r>
              <a:rPr lang="en-US" altLang="ko-KR" sz="2000" dirty="0">
                <a:solidFill>
                  <a:srgbClr val="202124"/>
                </a:solidFill>
                <a:latin typeface="Arial" panose="020B0604020202020204" pitchFamily="34" charset="0"/>
              </a:rPr>
              <a:t>(Conditional probability)</a:t>
            </a:r>
            <a:r>
              <a:rPr lang="ko-KR" alt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이란 </a:t>
            </a:r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어떤 사건이 일어났다는 전제하에 다른 사건이 일어날 확률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1844824"/>
            <a:ext cx="5613632" cy="42484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716" y="1844824"/>
            <a:ext cx="2319519" cy="134087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8797075" y="3284984"/>
            <a:ext cx="16081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독립인</a:t>
            </a:r>
            <a:r>
              <a:rPr lang="en-US" altLang="ko-KR" sz="2000" dirty="0">
                <a:solidFill>
                  <a:srgbClr val="040C28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040C28"/>
                </a:solidFill>
                <a:latin typeface="Arial" panose="020B0604020202020204" pitchFamily="34" charset="0"/>
              </a:rPr>
              <a:t>경우</a:t>
            </a:r>
            <a:r>
              <a:rPr lang="en-US" altLang="ko-KR" sz="2000" dirty="0">
                <a:solidFill>
                  <a:srgbClr val="040C28"/>
                </a:solidFill>
                <a:latin typeface="Arial" panose="020B0604020202020204" pitchFamily="34" charset="0"/>
              </a:rPr>
              <a:t> </a:t>
            </a:r>
            <a:endParaRPr lang="ko-KR" altLang="en-US" sz="20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7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BFDF-043C-D416-8A82-CFA167E4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44CB5B-45F9-105B-6990-2F9C08EB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21184-37EF-AC7E-BD87-A4D8546D0FD6}"/>
              </a:ext>
            </a:extLst>
          </p:cNvPr>
          <p:cNvSpPr txBox="1"/>
          <p:nvPr/>
        </p:nvSpPr>
        <p:spPr>
          <a:xfrm>
            <a:off x="765820" y="1196752"/>
            <a:ext cx="11233248" cy="189417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경찰이 살인 사건 현장에서 희귀한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격자무늬 지문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발견했는데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지문은 전체 인구의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0.1%/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만이 가지고 있음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경찰은 유력한 용의자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'A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씨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체포했고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검사 결과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씨 또한 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격자무늬 지문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가지고 있음이 밝혀졌다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 사람이 범인일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152FC-1579-E1AE-98F9-EEC881A49A22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9E7DC3-F439-12EB-B4E1-5C079270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44" y="3645024"/>
            <a:ext cx="5570703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1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6E8C-3047-0470-498D-41421A6D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BDF0A5-F981-006E-020D-906837F0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A43B7-5508-E688-5359-700A342EC58F}"/>
              </a:ext>
            </a:extLst>
          </p:cNvPr>
          <p:cNvSpPr txBox="1"/>
          <p:nvPr/>
        </p:nvSpPr>
        <p:spPr>
          <a:xfrm>
            <a:off x="765820" y="1196752"/>
            <a:ext cx="11233248" cy="327134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홍길동이란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학생은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ADsP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시험문제에 대해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80%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 알고 있다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홍길동이란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학생이 실수할 확률은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문제당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 정도는 산만해서 틀린다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ADsP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문제는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 선다형 문제로 찍어서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맞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출 확률은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¼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홍길동 학생이 문제를 맞출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홍길동 학생이 문제를 틀릴 확률은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홍길동이 문제를 맞혔다면</a:t>
            </a:r>
            <a:r>
              <a:rPr lang="en-US" altLang="ko-KR" sz="2000" dirty="0"/>
              <a:t>, </a:t>
            </a:r>
            <a:r>
              <a:rPr lang="ko-KR" altLang="en-US" sz="2000" dirty="0"/>
              <a:t>그가 실제로 알고 풀었을 확률은</a:t>
            </a:r>
            <a:r>
              <a:rPr lang="en-US" altLang="ko-KR" sz="2000" dirty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/>
              <a:t>홍길동이 문제를 틀렸다면</a:t>
            </a:r>
            <a:r>
              <a:rPr lang="en-US" altLang="ko-KR" sz="2000" dirty="0"/>
              <a:t>, </a:t>
            </a:r>
            <a:r>
              <a:rPr lang="ko-KR" altLang="en-US" sz="2000" dirty="0"/>
              <a:t>그가 실제로 알고도 틀렸을 확률</a:t>
            </a:r>
            <a:r>
              <a:rPr lang="en-US" altLang="ko-KR" sz="20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B289C-E8B8-C97D-4CD8-61207F7E273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42888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6959-3FDA-7BAB-FE1C-37C38430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2CCF16-E4C8-B281-2560-EF8AC6BA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47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1CD95-6DF8-C777-DD11-8433525A9632}"/>
              </a:ext>
            </a:extLst>
          </p:cNvPr>
          <p:cNvSpPr txBox="1"/>
          <p:nvPr/>
        </p:nvSpPr>
        <p:spPr>
          <a:xfrm>
            <a:off x="765820" y="1196752"/>
            <a:ext cx="11233248" cy="143250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사전지식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도시의 택시 중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85%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녹색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15%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청색입니다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밤에 뺑소니 사고가 났고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한 목격자가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청색 택시였다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라고 증언했는데 목격자의 판별 정확도는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80%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질문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실제로 사고를 낸 택시가 청색일 확률은 얼마일까요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AF396-AAAE-5BAE-BFB3-B38F66CABDB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64898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0008-E652-FD55-A1CF-7261BC1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45F44B-D853-EA00-45FD-0D2DE87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48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74C1-BB80-2DC1-32A9-30194E495362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지구의 나이는 </a:t>
            </a:r>
            <a:r>
              <a:rPr lang="ko-KR" altLang="en-US" sz="2000" dirty="0"/>
              <a:t>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45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억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천만년 이다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내일 해가 뜰 확률을 구하라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D3492-9475-65D6-5F62-64413CD930A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170792-96F2-75E9-8112-7A784CED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0" y="2210192"/>
            <a:ext cx="5655120" cy="36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548AE-6F75-4DDA-684C-2BC854639F3E}"/>
              </a:ext>
            </a:extLst>
          </p:cNvPr>
          <p:cNvSpPr txBox="1"/>
          <p:nvPr/>
        </p:nvSpPr>
        <p:spPr>
          <a:xfrm>
            <a:off x="7174532" y="221019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Sunrise_problem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61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D8A3-0388-8113-D2CF-A0414DB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2F37FC-577D-E28A-0EF4-69CA6EF2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49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34FB6-54F8-A43B-EAFC-A8A9D54A3F02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Monty Hall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A6D30-646E-36BC-7791-0F150C5DE16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64143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D9F4-C5F3-CD85-C853-83775420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45B113-8CB5-040D-DE1A-2D4127E6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50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D9FC8-F9C2-78CD-B7EA-3FBF014A1E3A}"/>
              </a:ext>
            </a:extLst>
          </p:cNvPr>
          <p:cNvSpPr txBox="1"/>
          <p:nvPr/>
        </p:nvSpPr>
        <p:spPr>
          <a:xfrm>
            <a:off x="765820" y="1196752"/>
            <a:ext cx="11233248" cy="92916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동체가 손상되었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는데도 귀환할 확률은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(Missing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from survivor ship)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식당에서 식중독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48E73-6700-E57D-39E0-0BB7C83E0458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8B99A4-028F-D2F5-27B8-D8DFC915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19" y="2481834"/>
            <a:ext cx="4494805" cy="42396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EABA99-C9AC-6EFA-A206-7B58BDD2A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52" y="2477246"/>
            <a:ext cx="4735865" cy="174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1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47B6-ECBC-9557-4609-3A2333274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AA98C7-779B-AE4A-7378-DE24D481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51</a:t>
            </a:fld>
            <a:endParaRPr lang="en-US" altLang="ko-KR" noProof="0" dirty="0"/>
          </a:p>
        </p:txBody>
      </p:sp>
      <p:sp>
        <p:nvSpPr>
          <p:cNvPr id="5" name="AutoShape 4" descr="data:image/png;base64,iVBORw0KGgoAAAANSUhEUgAAAh8AAAGdCAYAAACyzRGfAAAAOXRFWHRTb2Z0d2FyZQBNYXRwbG90bGliIHZlcnNpb24zLjcuMSwgaHR0cHM6Ly9tYXRwbG90bGliLm9yZy/bCgiHAAAACXBIWXMAAA9hAAAPYQGoP6dpAAAjy0lEQVR4nO3df1BVdf7H8dcFBUEBQ0VgBUUzrESyXyxb61oyKDmV6bSlbmk/rAwrsx9GW6bWhGljTjOmO03+aPu1NZtaWpa/0G1FS4tR240RBjIV1DS4igkon+8fjfe7V5Afcu/nci/Px8yZ4Z7z4Xzenz5yz6tzzz3HYYwxAgAAsCTI1wUAAID2hfABAACsInwAAACrCB8AAMAqwgcAALCK8AEAAKwifAAAAKsIHwAAwKoOvi7gXHV1dTp48KAiIiLkcDh8XQ4AAGgGY4yOHz+u+Ph4BQU1fm6jzYWPgwcPKiEhwddlAACAC/DTTz+pV69ejbZpc+EjIiJC0m/FR0ZG+rgaAADQHE6nUwkJCa7jeGPaXPg4+1FLZGQk4QMAAD/TnEsmuOAUAABYRfgAAABWET4AAIBVbe6aDwAA/JUxRqdPn9aZM2d8XYpXdOzYUcHBwa3eD+EDAAAPqKmpUVlZmU6ePOnrUrzG4XCoV69e6tKlS6v2Q/gAAKCV6urqVFJSouDgYMXHxyskJCTgbpRpjNGRI0e0f/9+9e/fv1VnQAgfAAC0Uk1Njerq6pSQkKDw8HBfl+M1PXr0UGlpqWpra1sVPrjgFAAAD2nqtuL+zlNncwL7vxIAAGhzCB8AAMCqFl3zkZubq48//lg//PCDwsLC9Ic//EGvvPKKkpOTXW2GDh2qzZs3u/3egw8+qMWLF3umYgAA/EifZ9ZY66t0zkhrfbVGi858bN68WdnZ2dq2bZvWrVun2tpaZWZmqqqqyq3dpEmTVFZW5lrmzp3r0aIBAID/atGZj7Vr17q9XrZsmWJiYrRz504NGTLEtT48PFyxsbGeqRAAAASUVl3zUVlZKUmKjo52W//uu++qe/fuGjhwoHJychq94Up1dbWcTqfbAgAAvO/IkSOKjY3Vyy+/7Fq3detWhYSEaMOGDV7r94Lv81FXV6epU6fquuuu08CBA13rx40bp969eys+Pl67du3S9OnTVVhYqI8//rjB/eTm5mrWrFkXWkZAau7ng/7y2R4AoG3q0aOHlixZolGjRikzM1PJycm66667NGXKFA0bNsxr/V5w+MjOztaePXv01Vdfua1/4IEHXD+npKQoLi5Ow4YNU3Fxsfr161dvPzk5OZo2bZrrtdPpVEJCwoWWBQAAWuCmm27SpEmTNH78eF199dXq3LmzcnNzvdrnBYWPKVOmaPXq1dqyZYt69erVaNu0tDRJUlFRUYPhIzQ0VKGhoRdSBgAA8IBXX31VAwcO1EcffaSdO3d6/bjcoms+jDGaMmWKVqxYoY0bNyopKanJ3ykoKJAkxcXFXVCBAADAu4qLi3Xw4EHV1dWptLTU6/216MxHdna23nvvPa1atUoREREqLy+XJEVFRSksLEzFxcV67733dNNNN6lbt27atWuXHn/8cQ0ZMkSDBg3yygAAAMCFq6mp0V/+8hfdcccdSk5O1v3336/du3crJibGa322KHwsWrRI0m83EvtfS5cu1cSJExUSEqL169drwYIFqqqqUkJCgsaMGaPnnnvOYwUDAADP+etf/6rKykq9/vrr6tKliz777DPde++9Wr16tdf6bFH4MMY0uj0hIaHe3U0BAGjP2vI3E/Py8rRgwQJt2rRJkZGRkqS///3vSk1N1aJFizR58mSv9HvB33YBAAD+bejQoaqtrXVb16dPH9d9vLyFB8sBAACrCB8AAMAqwgcAALCK8AEAAKwifAAAAKsIHwAAwCrCBwAAsIrwAQAArCJ8AAAAq7jDKQAA3jQzymJf3r0zqadw5gMAAFhF+AAAoJ16++231a1bN1VXV7utHzVqlO666y6v9Uv4AACgnbr99tt15swZffLJJ651hw8f1po1a3Tvvfd6rV/CBwAA7VRYWJjGjRunpUuXuta98847SkxM1NChQ73WL+EDAIB2bNKkSfryyy914MABSdKyZcs0ceJEORwOr/XJt10AAGjHBg8erNTUVL399tvKzMzU999/rzVr1ni1T8IHAADt3P33368FCxbowIEDysjIUEJCglf742MXAADauXHjxmn//v168803vXqh6VmEDwAA2rmoqCiNGTNGXbp00ahRo7zeHx+7AADgTX5y19EDBw5o/PjxCg0N9XpfhA8AANqxX375RXl5ecrLy9Mbb7xhpU/CBwAA7djgwYP1yy+/6JVXXlFycrKVPgkfAAC0Y6Wlpdb75IJTAABgFeEDAABYRfgAAABWET4AAIBVhA8AAGAV4QMAAFhF+AAAAFZxnw8AALwoZXmKtb52T9htra/W4MwHAACwivABAEA7VVpaKofDUW8ZOnSoV/vlYxcAANqphIQElZWVuV6Xl5crIyNDQ4YM8Wq/hA8AANqp4OBgxcbGSpJOnTqlUaNGKT09XTNnzvRqv4QPoK2aGeXFfVd6b9+tYPPCvHP5y4V6gLfce++9On78uNatW6egIO9elUH4AACgnXvppZf0xRdf6Ouvv1ZERITX+yN8AADQjv3zn//U7Nmz9fnnn6tfv35W+iR8AADQTu3Zs0d33323pk+frssvv1zl5eWSpJCQEEVHR3utX75qCwBAO7Vjxw6dPHlSL730kuLi4lzL6NGjvdovZz4AAPCitnwx88SJEzVx4kTr/XLmAwAAWEX4AAAAVhE+AACAVYQPAABgFeEDAABYRfgAAMBDjDG+LsGrPDU+wgcAAK3UsWNHSdLJkyd9XIl31dTUSPrtgXStwX0+AABopeDgYHXt2lWHDx+WJIWHh8vhcPi4Ks+qq6vTkSNHFB4erg4dWhcfCB8AAHjA2UfTnw0ggSgoKEiJiYmtDlaEDwAAPMDhcCguLk4xMTGqra31dTleERISoqCg1l+xQfgAAMCDgoODW31NRKDjglMAAGAV4QMAAFhF+AAAAFYRPgAAgFWEDwAAYBXhAwAAWNWi8JGbm6trrrlGERERiomJ0ahRo1RYWOjW5tSpU8rOzla3bt3UpUsXjRkzRocOHfJo0QAAwH+1KHxs3rxZ2dnZ2rZtm9atW6fa2lplZmaqqqrK1ebxxx/Xp59+qo8++kibN2/WwYMHNXr0aI8XDgAA/FOLbjK2du1at9fLli1TTEyMdu7cqSFDhqiyslJvvfWW3nvvPd14442SpKVLl+rSSy/Vtm3b9Pvf/95zlQMAAL/Uqms+KisrJUnR0dGSpJ07d6q2tlYZGRmuNgMGDFBiYqLy8/Nb0xUAAAgQF3x79bq6Ok2dOlXXXXedBg4cKEkqLy9XSEiIunbt6ta2Z8+eKi8vb3A/1dXVqq6udr12Op0XWhIAAPADFxw+srOztWfPHn311VetKiA3N1ezZs1q1T4AeE7K8hRflwAgwF3Qxy5TpkzR6tWrtWnTJvXq1cu1PjY2VjU1NaqoqHBrf+jQIdejhs+Vk5OjyspK1/LTTz9dSEkAAMBPtCh8GGM0ZcoUrVixQhs3blRSUpLb9quuukodO3bUhg0bXOsKCwu1b98+paenN7jP0NBQRUZGui0AACBwtehjl+zsbL333ntatWqVIiIiXNdxREVFKSwsTFFRUbrvvvs0bdo0RUdHKzIyUo888ojS09P5pgsAAJDUwvCxaNEiSdLQoUPd1i9dulQTJ06UJL322msKCgrSmDFjVF1dreHDh+uNN97wSLEAAMD/tSh8GGOabNOpUyctXLhQCxcuvOCiAABA4OLZLgAAwCrCBwAAsIrwAQAArCJ8AAAAqwgfAADAKsIHAACwivABAACsInwAAACrLviptgAAz/Hl04R3T9jts77RPnHmAwAAWEX4AAAAVhE+AACAVYQPAABgFeEDAABYRfgAAABWET4AAIBVhA8AAGAV4QMAAFhF+AAAAFYRPgAAgFWEDwAAYBXhAwAAWEX4AAAAVhE+AACAVYQPAABgFeEDAABYRfgAAABWET4AAIBVhA8AAGAV4QMAAFhF+AAAAFYRPgAAgFWEDwAAYBXhAwAAWEX4AAAAVhE+AACAVR18XQAuXJ9n1jSrXemckV6upI2bGeXFfVd6b98AEKA48wEAAKwifAAAAKsIHwAAwCrCBwAAsIrwAQAArCJ8AAAAqwgfAADAKsIHAACwivABAACsInwAAACrCB8AAMAqwgcAALCK8AEAAKwifAAAAKsIHwAAwCrCBwAAsIrwAQAArCJ8AAAAqwgfAADAKsIHAACwivABAACsInwAAACrCB8AAMCqFoePLVu26Oabb1Z8fLwcDodWrlzptn3ixIlyOBxuy4gRIzxVLwAA8HMtDh9VVVVKTU3VwoULz9tmxIgRKisrcy3vv/9+q4oEAACBo0NLfyErK0tZWVmNtgkNDVVsbOwFFwUAAAKXV675yMvLU0xMjJKTkzV58mQdPXr0vG2rq6vldDrdFgAAELhafOajKSNGjNDo0aOVlJSk4uJiPfvss8rKylJ+fr6Cg4Prtc/NzdWsWbM8XQYAtEjK8hRflwC0Gx4PH3feeafr55SUFA0aNEj9+vVTXl6ehg0bVq99Tk6Opk2b5nrtdDqVkJDg6bIAAEAb4fWv2vbt21fdu3dXUVFRg9tDQ0MVGRnptgAAgMDl9fCxf/9+HT16VHFxcd7uCgAA+IEWf+xy4sQJt7MYJSUlKigoUHR0tKKjozVr1iyNGTNGsbGxKi4u1tNPP62LL75Yw4cP92jhAADAP7U4fOzYsUM33HCD6/XZ6zUmTJigRYsWadeuXVq+fLkqKioUHx+vzMxMvfjiiwoNDfVc1QAAwG+1OHwMHTpUxpjzbv/iiy9aVRAAAAhsPNsFAABYRfgAAABWET4AAIBVhA8AAGAV4QMAAFhF+AAAAFYRPgAAgFUef7Ac0K7MjPJ1BQDgdzjzAQAArCJ8AAAAqwgfAADAKsIHAACwivABAACsInwAAACrCB8AAMAqwgcAALCK8AEAAKwifAAAAKsIHwAAwCrCBwAAsIrwAQAArOKpthb1eWaNr0sAAMDnOPMBAACsInwAAACrCB8AAMAqwgcAALCK8AEAAKwifAAAAKsIHwAAwCrCBwAAsIrwAQAArCJ8AAAAqwgfAADAKsIHAACwivABAACsInwAAACrCB8AAMAqwgcAALCK8AEAAKwifAAAAKsIHwAAwCrCBwAAsIrwAQAArCJ8AAAAqwgfAADAKsIHAACwivABAACsInwAAACrCB8AAMCqDr4uAN7X55k1zW5bOmekFytpxMwo3/TbXjX23zsp0V4dANolznwAAACrCB8AAMAqwgcAALCK8AEAAKwifAAAAKsIHwAAwCrCBwAAsIrwAQAArCJ8AAAAq1ocPrZs2aKbb75Z8fHxcjgcWrlypdt2Y4xmzJihuLg4hYWFKSMjQ3v37vVUvQAAwM+1OHxUVVUpNTVVCxcubHD73Llz9frrr2vx4sXavn27OnfurOHDh+vUqVOtLhYAAPi/Fj/bJSsrS1lZWQ1uM8ZowYIFeu6553TrrbdKkt5++2317NlTK1eu1J133tm6agEAgN/z6DUfJSUlKi8vV0ZGhmtdVFSU0tLSlJ+f3+DvVFdXy+l0ui0AACBweTR8lJeXS5J69uzptr5nz56ubefKzc1VVFSUa0lISPBkSQAAoI3x+bddcnJyVFlZ6Vp++uknX5cEAAC8yKPhIzY2VpJ06NAht/WHDh1ybTtXaGioIiMj3RYAABC4PBo+kpKSFBsbqw0bNrjWOZ1Obd++Xenp6Z7sCgAA+KkWf9vlxIkTKioqcr0uKSlRQUGBoqOjlZiYqKlTp+qll15S//79lZSUpOeff17x8fEaNWqUJ+sGAAB+qsXhY8eOHbrhhhtcr6dNmyZJmjBhgpYtW6ann35aVVVVeuCBB1RRUaHrr79ea9euVadOnTxXNQAA8FstDh9Dhw6VMea82x0Oh2bPnq3Zs2e3qjAAABCYfP5tFwAA0L4QPgAAgFWEDwAAYBXhAwAAWEX4AAAAVhE+AACAVYQPAABgFeEDAABY1eKbjCGw9XlmzXm3lXYaZ7ESAECg4swHAACwivABAACsInwAAACrCB8AAMAqwgcAALCK8AEAAKwifAAAAKsIHwAAwCrCBwAAsIrwAQAArCJ8AAAAqwgfAADAKsIHAACwiqfankdjT3cFAHhGyvIUn/W9e8Jun/Xd3nHmAwAAWEX4AAAAVhE+AACAVYQPAABgFeEDAABYRfgAAABWET4AAIBVhA8AAGAV4QMAAFhF+AAAAFYRPgAAgFWEDwAAYBXhAwAAWEX4AAAAVhE+AACAVYQPAABgFeEDAABYRfgAAABWET4AAIBVhA8AAGAV4QMAAFhF+AAAAFYRPgAAgFWEDwAAYBXhAwAAWEX4AAAAVhE+AACAVR18XQCA+lKSEn1dAgB4DWc+AACAVYQPAABgFeEDAABYRfgAAABWET4AAIBVhA8AAGAV4QMAAFhF+AAAAFYRPgAAgFUeDx8zZ86Uw+FwWwYMGODpbgAAgJ/yyu3VL7/8cq1fv/7/O+nAXdwBAMBvvJIKOnTooNjYWG/sGgAA+DmvXPOxd+9excfHq2/fvho/frz27dt33rbV1dVyOp1uCwAACFweP/ORlpamZcuWKTk5WWVlZZo1a5b++Mc/as+ePYqIiKjXPjc3V7NmzfJ0GQCAZkpZnuLrEtDOOIwxxpsdVFRUqHfv3po/f77uu+++eturq6tVXV3teu10OpWQkKDKykpFRkZ6s7RG9Xlmjc/6bqtKO43zdQntRkpSoq9LAALe7gm7fV1CQHE6nYqKimrW8dvrV4J27dpVl1xyiYqKihrcHhoaqtDQUG+XAQAA2giv3+fjxIkTKi4uVlxcnLe7AgAAfsDj4ePJJ5/U5s2bVVpaqq1bt+q2225TcHCwxo4d6+muAACAH/L4xy779+/X2LFjdfToUfXo0UPXX3+9tm3bph49eni6KwAA4Ic8Hj4++OADT+8SAAAEEJ7tAgAArCJ8AAAAqwgfAADAKsIHAACwivABAACsInwAAACrCB8AAMAqrz/bBXbx8DcAQFvHmQ8AAGAV4QMAAFhF+AAAAFYRPgAAgFWEDwAAYBXhAwAAWEX4AAAAVhE+AACAVYQPAABgFeEDAABYRfgAAABWET4AAIBVhA8AAGBVu3uqbZ9n1vi6BPiBlKREX5cAAAGLMx8AAMAqwgcAALCK8AEAAKwifAAAAKsIHwAAwCrCBwAAsIrwAQAArCJ8AAAAqwgfAADAKsIHAACwivABAACsInwAAACrCB8AAMCqdvdUWwAA2oKU5Sk+63v3hN0+61vizAcAALCM8AEAAKwifAAAAKsIHwAAwCrCBwAAsIrwAQAArCJ8AAAAqwgfAADAKsIHAACwivABAACsInwAAACrCB8AAMAqwgcAALCKp9r6QGmncb4uAQAAn+HMBwAAsIrwAQAArCJ8AAAAqwgfAADAKsIHAACwivABAACsInwAAACrCB8AAMAqwgcAALDKa+Fj4cKF6tOnjzp16qS0tDR9/fXX3uoKAAD4Ea+Ej3/84x+aNm2aXnjhBX377bdKTU3V8OHDdfjwYW90BwAA/IhXwsf8+fM1adIk3XPPPbrsssu0ePFihYeHa8mSJd7oDgAA+BGPP1iupqZGO3fuVE5OjmtdUFCQMjIylJ+fX699dXW1qqurXa8rKyslSU6n09OlSZLqqk96Zb8t4XQYX5eAJpz59YyvSwDgZd46zjSXL99nvDH2s/s0puljnMfDx88//6wzZ86oZ8+ebut79uypH374oV773NxczZo1q976hIQET5fWZkT5ugA0w399XQAAL4ua3H7fjb059uPHjysqqvH9ezx8tFROTo6mTZvmel1XV6djx46pW7ducjgcTf6+0+lUQkKCfvrpJ0VGRnqzVJ8I9PFJgT/GQB+fFPhjDPTxSYwxEPh6fMYYHT9+XPHx8U229Xj46N69u4KDg3Xo0CG39YcOHVJsbGy99qGhoQoNDXVb17Vr1xb3GxkZGZD/mM4K9PFJgT/GQB+fFPhjDPTxSYwxEPhyfE2d8TjL4xechoSE6KqrrtKGDRtc6+rq6rRhwwalp6d7ujsAAOBnvPKxy7Rp0zRhwgRdffXVuvbaa7VgwQJVVVXpnnvu8UZ3AADAj3glfNxxxx06cuSIZsyYofLycl1xxRVau3ZtvYtQPSE0NFQvvPBCvY9uAkWgj08K/DEG+vikwB9joI9PYoyBwJ/G5zDN+U4MAACAh/BsFwAAYBXhAwAAWEX4AAAAVhE+AACAVX4RPnJzc3XNNdcoIiJCMTExGjVqlAoLC93aDB06VA6Hw2156KGHfFRxy8ycObNe7QMGDHBtP3XqlLKzs9WtWzd16dJFY8aMqXcTt7auT58+9cbocDiUnZ0tyT/nb8uWLbr55psVHx8vh8OhlStXum03xmjGjBmKi4tTWFiYMjIytHfvXrc2x44d0/jx4xUZGamuXbvqvvvu04kTJyyO4vwaG19tba2mT5+ulJQUde7cWfHx8br77rt18OBBt300NO9z5syxPJLza2oOJ06cWK/+ESNGuLXx1zmU1ODfpMPh0Lx581xt2vIcNufY0Jz3z3379mnkyJEKDw9XTEyMnnrqKZ0+fdrmUM6rqTEeO3ZMjzzyiJKTkxUWFqbExEQ9+uijruekndXQPH/wwQe2h+PiF+Fj8+bNys7O1rZt27Ru3TrV1tYqMzNTVVVVbu0mTZqksrIy1zJ37lwfVdxyl19+uVvtX331lWvb448/rk8//VQfffSRNm/erIMHD2r06NE+rLblvvnmG7fxrVu3TpJ0++23u9r42/xVVVUpNTVVCxcubHD73Llz9frrr2vx4sXavn27OnfurOHDh+vUqVOuNuPHj9f333+vdevWafXq1dqyZYseeOABW0NoVGPjO3nypL799ls9//zz+vbbb/Xxxx+rsLBQt9xyS722s2fPdpvXRx55xEb5zdLUHErSiBEj3Op///333bb76xxKchtXWVmZlixZIofDoTFjxri1a6tz2JxjQ1Pvn2fOnNHIkSNVU1OjrVu3avny5Vq2bJlmzJjhiyHV09QYDx48qIMHD+rVV1/Vnj17tGzZMq1du1b33XdfvX0tXbrUbR5HjRpleTT/w/ihw4cPG0lm8+bNrnV/+tOfzGOPPea7olrhhRdeMKmpqQ1uq6ioMB07djQfffSRa91///tfI8nk5+dbqtDzHnvsMdOvXz9TV1dnjPHv+TPGGElmxYoVrtd1dXUmNjbWzJs3z7WuoqLChIaGmvfff98YY8x//vMfI8l88803rjaff/65cTgc5sCBA9Zqb45zx9eQr7/+2kgyP/74o2td7969zWuvvebd4jykoTFOmDDB3Hrrref9nUCbw1tvvdXceOONbuv8aQ7PPTY05/3zs88+M0FBQaa8vNzVZtGiRSYyMtJUV1fbHUAzNHT8O9eHH35oQkJCTG1trWtdc+bfJr8483Gus6eToqOj3da/++676t69uwYOHKicnBydPHnSF+VdkL179yo+Pl59+/bV+PHjtW/fPknSzp07VVtbq4yMDFfbAQMGKDExUfn5+b4qt1Vqamr0zjvv6N5773V7eKA/z9+5SkpKVF5e7jZvUVFRSktLc81bfn6+unbtqquvvtrVJiMjQ0FBQdq+fbv1mlursrJSDoej3rOZ5syZo27dumnw4MGaN29emzmd3Vx5eXmKiYlRcnKyJk+erKNHj7q2BdIcHjp0SGvWrGnw/5j9ZQ7PPTY05/0zPz9fKSkpbjfBHD58uJxOp77//nuL1TfP+Y5/57aJjIxUhw7u9xHNzs5W9+7dde2112rJkiUyPrzNl8+fattSdXV1mjp1qq677joNHDjQtX7cuHHq3bu34uPjtWvXLk2fPl2FhYX6+OOPfVht86SlpWnZsmVKTk5WWVmZZs2apT/+8Y/as2ePysvLFRISUu8NvWfPniovL/dNwa20cuVKVVRUaOLEia51/jx/DTk7N+fe1fd/5628vFwxMTFu2zt06KDo6Gi/m9tTp05p+vTpGjt2rNsDrR599FFdeeWVio6O1tatW5WTk6OysjLNnz/fh9U234gRIzR69GglJSWpuLhYzz77rLKyspSfn6/g4OCAmsPly5crIiKi3ke6/jKHDR0bmvP+WV5e3uDf6dltbcn5jn//6+eff9aLL75Y76O/2bNn68Ybb1R4eLi+/PJLPfzwwzpx4oQeffRRG6XX43fhIzs7W3v27HG7JkKS23/olJQUxcXFadiwYSouLla/fv1sl9kiWVlZrp8HDRqktLQ09e7dWx9++KHCwsJ8WJl3vPXWW8rKynJ77LI/z197V1tbqz//+c8yxmjRokVu26ZNm+b6edCgQQoJCdGDDz6o3Nxcv7gF9J133un6OSUlRYMGDVK/fv2Ul5enYcOG+bAyz1uyZInGjx+vTp06ua33lzk837EhkDQ1RqfTqZEjR+qyyy7TzJkz3bY9//zzrp8HDx6sqqoqzZs3z2fhw68+dpkyZYpWr16tTZs2qVevXo22TUtLkyQVFRXZKM2junbtqksuuURFRUWKjY1VTU2NKioq3NocOnRIsbGxvimwFX788UetX79e999/f6Pt/Hn+JLnm5tyr6v933mJjY3X48GG37adPn9axY8f8Zm7PBo8ff/xR69ata/Ix3mlpaTp9+rRKS0vtFOhhffv2Vffu3V3/LgNhDiXpX//6lwoLC5v8u5Ta5hye79jQnPfP2NjYBv9Oz25rK5o6/h0/flwjRoxQRESEVqxYoY4dOza6v7S0NO3fv1/V1dXeKrlRfhE+jDGaMmWKVqxYoY0bNyopKanJ3ykoKJAkxcXFebk6zztx4oSKi4sVFxenq666Sh07dtSGDRtc2wsLC7Vv3z6lp6f7sMoLs3TpUsXExGjkyJGNtvPn+ZOkpKQkxcbGus2b0+nU9u3bXfOWnp6uiooK7dy509Vm48aNqqurc4Wvtuxs8Ni7d6/Wr1+vbt26Nfk7BQUFCgoKqvdRhb/Yv3+/jh496vp36e9zeNZbb72lq666SqmpqU22bUtz2NSxoTnvn+np6dq9e7dbiDwbpC+77DI7A2lEc45/TqdTmZmZCgkJ0SeffFLv7FVDCgoKdNFFF/nu7JVPL3dtpsmTJ5uoqCiTl5dnysrKXMvJkyeNMcYUFRWZ2bNnmx07dpiSkhKzatUq07dvXzNkyBAfV948TzzxhMnLyzMlJSXm3//+t8nIyDDdu3c3hw8fNsYY89BDD5nExESzceNGs2PHDpOenm7S09N9XHXLnTlzxiQmJprp06e7rffX+Tt+/Lj57rvvzHfffWckmfnz55vvvvvO9W2POXPmmK5du5pVq1aZXbt2mVtvvdUkJSWZX3/91bWPESNGmMGDB5vt27ebr776yvTv39+MHTvWV0Ny09j4ampqzC233GJ69eplCgoK3P4uz35DYOvWrea1114zBQUFpri42LzzzjumR48e5u677/bxyP5fY2M8fvy4efLJJ01+fr4pKSkx69evN1deeaXp37+/OXXqlGsf/jqHZ1VWVprw8HCzaNGier/f1uewqWODMU2/f54+fdoMHDjQZGZmmoKCArN27VrTo0cPk5OT44sh1dPUGCsrK01aWppJSUkxRUVFbm1Onz5tjDHmk08+MW+++abZvXu32bt3r3njjTdMeHi4mTFjhs/G5RfhQ1KDy9KlS40xxuzbt88MGTLEREdHm9DQUHPxxRebp556ylRWVvq28Ga64447TFxcnAkJCTG/+93vzB133GGKiopc23/99Vfz8MMPm4suusiEh4eb2267zZSVlfmw4gvzxRdfGEmmsLDQbb2/zt+mTZsa/Hc5YcIEY8xvX7d9/vnnTc+ePU1oaKgZNmxYvbEfPXrUjB071nTp0sVERkaae+65xxw/ftwHo6mvsfGVlJSc9+9y06ZNxhhjdu7cadLS0kxUVJTp1KmTufTSS83LL7/sduD2tcbGePLkSZOZmWl69OhhOnbsaHr37m0mTZrk9pVMY/x3Ds/629/+ZsLCwkxFRUW932/rc9jUscGY5r1/lpaWmqysLBMWFma6d+9unnjiCbevqfpSU2M83xxLMiUlJcaY377+fcUVV5guXbqYzp07m9TUVLN48WJz5swZn43LYYwPv2sDAADaHb+45gMAAAQOwgcAALCK8AEAAKwifAAAAKsIHwAAwCrCBwAAsIrwAQAArCJ8AAAAqwgfAADAKsIHAACwivABAACsInwAAACr/g845e00T7s4mQAAAABJRU5ErkJggg==">
            <a:extLst>
              <a:ext uri="{FF2B5EF4-FFF2-40B4-BE49-F238E27FC236}">
                <a16:creationId xmlns:a16="http://schemas.microsoft.com/office/drawing/2014/main" id="{AAA39EDD-371F-443B-3908-63C31D2F4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0023817-9FA0-0E66-D30B-AF053C361D23}"/>
              </a:ext>
            </a:extLst>
          </p:cNvPr>
          <p:cNvCxnSpPr/>
          <p:nvPr/>
        </p:nvCxnSpPr>
        <p:spPr>
          <a:xfrm>
            <a:off x="6574303" y="4365104"/>
            <a:ext cx="9361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E9D014-EFE4-88D1-A634-7ECA91A3B662}"/>
              </a:ext>
            </a:extLst>
          </p:cNvPr>
          <p:cNvSpPr txBox="1"/>
          <p:nvPr/>
        </p:nvSpPr>
        <p:spPr>
          <a:xfrm>
            <a:off x="539248" y="817140"/>
            <a:ext cx="11233248" cy="137864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키가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5.65, </a:t>
            </a:r>
            <a:r>
              <a:rPr lang="ko-KR" alt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몸무게가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160.45 </a:t>
            </a:r>
            <a:r>
              <a:rPr lang="ko-KR" alt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발의 크기가 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7.88</a:t>
            </a:r>
            <a:r>
              <a:rPr lang="ko-KR" alt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인 사람은 여자인가 남자인가</a:t>
            </a:r>
            <a:r>
              <a:rPr lang="en-US" altLang="ko-KR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? </a:t>
            </a:r>
            <a:r>
              <a:rPr lang="ko-KR" altLang="en-US" sz="1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분석하고 예측하고 과제를 제출하라</a:t>
            </a:r>
            <a:endParaRPr lang="en-US" altLang="ko-KR" sz="16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Naive_Bayes_classifier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을 참고하여 남녀를 분류</a:t>
            </a: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(classification)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하라</a:t>
            </a:r>
            <a:endParaRPr lang="en-US" altLang="ko-KR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scikit-learn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의 </a:t>
            </a:r>
            <a:r>
              <a:rPr lang="en-US" altLang="ko-KR" sz="1400" dirty="0">
                <a:solidFill>
                  <a:srgbClr val="7EA939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modules/</a:t>
            </a:r>
            <a:r>
              <a:rPr lang="en-US" altLang="ko-K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naive_bayes</a:t>
            </a:r>
            <a:r>
              <a:rPr lang="ko-KR" alt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을 사용하여 남녀의 확률을 각각 구하고 성별을 분류하라</a:t>
            </a:r>
            <a:endParaRPr lang="en-US" altLang="ko-KR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1328F-1529-D8C3-9361-2BE0A1B7C68A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96305-5C5C-595B-9023-A5C449AFB212}"/>
              </a:ext>
            </a:extLst>
          </p:cNvPr>
          <p:cNvSpPr txBox="1"/>
          <p:nvPr/>
        </p:nvSpPr>
        <p:spPr>
          <a:xfrm>
            <a:off x="6178529" y="2671742"/>
            <a:ext cx="3230992" cy="46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https://github.com/ancestor9/data/blob/main/human_data.csv</a:t>
            </a:r>
            <a:r>
              <a:rPr lang="en-US" altLang="ko-KR" sz="1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AAE35-C498-6E70-3C46-DE63A96462F7}"/>
              </a:ext>
            </a:extLst>
          </p:cNvPr>
          <p:cNvSpPr txBox="1"/>
          <p:nvPr/>
        </p:nvSpPr>
        <p:spPr>
          <a:xfrm>
            <a:off x="7750596" y="3718317"/>
            <a:ext cx="3024336" cy="166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키가 </a:t>
            </a:r>
            <a:r>
              <a:rPr lang="en-US" altLang="ko-K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5.65</a:t>
            </a:r>
            <a:r>
              <a:rPr lang="en-US" altLang="ko-K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ko-KR" alt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몸무게가 </a:t>
            </a:r>
            <a:r>
              <a:rPr lang="en-US" altLang="ko-K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160.45 </a:t>
            </a:r>
            <a:r>
              <a:rPr lang="ko-KR" alt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발의 크기가 </a:t>
            </a:r>
            <a:r>
              <a:rPr lang="en-US" altLang="ko-K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7.88</a:t>
            </a:r>
            <a:r>
              <a:rPr lang="ko-KR" alt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인 사람은 여자인가 남자인가</a:t>
            </a:r>
            <a:r>
              <a:rPr lang="en-US" altLang="ko-K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?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57D76DB-DBAD-99A0-FD74-29C491348A7E}"/>
              </a:ext>
            </a:extLst>
          </p:cNvPr>
          <p:cNvGrpSpPr/>
          <p:nvPr/>
        </p:nvGrpSpPr>
        <p:grpSpPr>
          <a:xfrm>
            <a:off x="1341884" y="2717025"/>
            <a:ext cx="4703341" cy="4015112"/>
            <a:chOff x="526975" y="2706363"/>
            <a:chExt cx="5495430" cy="4078675"/>
          </a:xfrm>
        </p:grpSpPr>
        <p:pic>
          <p:nvPicPr>
            <p:cNvPr id="16388" name="Picture 4">
              <a:extLst>
                <a:ext uri="{FF2B5EF4-FFF2-40B4-BE49-F238E27FC236}">
                  <a16:creationId xmlns:a16="http://schemas.microsoft.com/office/drawing/2014/main" id="{21808676-E4CA-BF4E-0368-E75859E22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975" y="5416891"/>
              <a:ext cx="5490318" cy="1368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90" name="Picture 6">
              <a:extLst>
                <a:ext uri="{FF2B5EF4-FFF2-40B4-BE49-F238E27FC236}">
                  <a16:creationId xmlns:a16="http://schemas.microsoft.com/office/drawing/2014/main" id="{4E0DF2EE-D7A2-3D46-7D08-D7066514A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975" y="2706363"/>
              <a:ext cx="5495430" cy="1368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92" name="Picture 8">
              <a:extLst>
                <a:ext uri="{FF2B5EF4-FFF2-40B4-BE49-F238E27FC236}">
                  <a16:creationId xmlns:a16="http://schemas.microsoft.com/office/drawing/2014/main" id="{5E64B396-4690-C8F8-087E-665050DE1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975" y="4074510"/>
              <a:ext cx="5490318" cy="1368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순서도: 추출 13">
            <a:extLst>
              <a:ext uri="{FF2B5EF4-FFF2-40B4-BE49-F238E27FC236}">
                <a16:creationId xmlns:a16="http://schemas.microsoft.com/office/drawing/2014/main" id="{2FC64A56-7667-7708-3E70-34D9CA9F54B3}"/>
              </a:ext>
            </a:extLst>
          </p:cNvPr>
          <p:cNvSpPr/>
          <p:nvPr/>
        </p:nvSpPr>
        <p:spPr>
          <a:xfrm>
            <a:off x="3529285" y="3614502"/>
            <a:ext cx="162082" cy="20763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순서도: 추출 14">
            <a:extLst>
              <a:ext uri="{FF2B5EF4-FFF2-40B4-BE49-F238E27FC236}">
                <a16:creationId xmlns:a16="http://schemas.microsoft.com/office/drawing/2014/main" id="{30DB0BC3-3E8E-57CA-7C44-BD5971E060BB}"/>
              </a:ext>
            </a:extLst>
          </p:cNvPr>
          <p:cNvSpPr/>
          <p:nvPr/>
        </p:nvSpPr>
        <p:spPr>
          <a:xfrm>
            <a:off x="4294212" y="5013176"/>
            <a:ext cx="162082" cy="20763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순서도: 추출 15">
            <a:extLst>
              <a:ext uri="{FF2B5EF4-FFF2-40B4-BE49-F238E27FC236}">
                <a16:creationId xmlns:a16="http://schemas.microsoft.com/office/drawing/2014/main" id="{C3BDD512-4DD5-8038-8F2E-BE5457DE5AC8}"/>
              </a:ext>
            </a:extLst>
          </p:cNvPr>
          <p:cNvSpPr/>
          <p:nvPr/>
        </p:nvSpPr>
        <p:spPr>
          <a:xfrm>
            <a:off x="3862164" y="6252536"/>
            <a:ext cx="162082" cy="207630"/>
          </a:xfrm>
          <a:prstGeom prst="flowChartExtra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192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745</TotalTime>
  <Words>1775</Words>
  <Application>Microsoft Office PowerPoint</Application>
  <PresentationFormat>사용자 지정</PresentationFormat>
  <Paragraphs>337</Paragraphs>
  <Slides>51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3" baseType="lpstr">
      <vt:lpstr>-apple-system</vt:lpstr>
      <vt:lpstr>맑은 고딕</vt:lpstr>
      <vt:lpstr>한컴 말랑말랑 Bold</vt:lpstr>
      <vt:lpstr>휴먼모음T</vt:lpstr>
      <vt:lpstr>Arial</vt:lpstr>
      <vt:lpstr>Arial Narrow</vt:lpstr>
      <vt:lpstr>Corbel</vt:lpstr>
      <vt:lpstr>Microsoft Sans Serif</vt:lpstr>
      <vt:lpstr>PT Sans</vt:lpstr>
      <vt:lpstr>Roboto</vt:lpstr>
      <vt:lpstr>Wingdings</vt:lpstr>
      <vt:lpstr>마케팅 16x9</vt:lpstr>
      <vt:lpstr>확률론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54</cp:revision>
  <dcterms:created xsi:type="dcterms:W3CDTF">2024-06-03T06:10:16Z</dcterms:created>
  <dcterms:modified xsi:type="dcterms:W3CDTF">2026-03-14T14:17:16Z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