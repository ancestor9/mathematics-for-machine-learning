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58"/>
  </p:notesMasterIdLst>
  <p:handoutMasterIdLst>
    <p:handoutMasterId r:id="rId59"/>
  </p:handoutMasterIdLst>
  <p:sldIdLst>
    <p:sldId id="256" r:id="rId5"/>
    <p:sldId id="314" r:id="rId6"/>
    <p:sldId id="361" r:id="rId7"/>
    <p:sldId id="360" r:id="rId8"/>
    <p:sldId id="313" r:id="rId9"/>
    <p:sldId id="369" r:id="rId10"/>
    <p:sldId id="370" r:id="rId11"/>
    <p:sldId id="270" r:id="rId12"/>
    <p:sldId id="271" r:id="rId13"/>
    <p:sldId id="273" r:id="rId14"/>
    <p:sldId id="362" r:id="rId15"/>
    <p:sldId id="272" r:id="rId16"/>
    <p:sldId id="276" r:id="rId17"/>
    <p:sldId id="306" r:id="rId18"/>
    <p:sldId id="307" r:id="rId19"/>
    <p:sldId id="303" r:id="rId20"/>
    <p:sldId id="309" r:id="rId21"/>
    <p:sldId id="310" r:id="rId22"/>
    <p:sldId id="311" r:id="rId23"/>
    <p:sldId id="312" r:id="rId24"/>
    <p:sldId id="316" r:id="rId25"/>
    <p:sldId id="308" r:id="rId26"/>
    <p:sldId id="299" r:id="rId27"/>
    <p:sldId id="363" r:id="rId28"/>
    <p:sldId id="277" r:id="rId29"/>
    <p:sldId id="364" r:id="rId30"/>
    <p:sldId id="275" r:id="rId31"/>
    <p:sldId id="279" r:id="rId32"/>
    <p:sldId id="278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8" r:id="rId41"/>
    <p:sldId id="305" r:id="rId42"/>
    <p:sldId id="304" r:id="rId43"/>
    <p:sldId id="287" r:id="rId44"/>
    <p:sldId id="289" r:id="rId45"/>
    <p:sldId id="290" r:id="rId46"/>
    <p:sldId id="291" r:id="rId47"/>
    <p:sldId id="292" r:id="rId48"/>
    <p:sldId id="365" r:id="rId49"/>
    <p:sldId id="293" r:id="rId50"/>
    <p:sldId id="300" r:id="rId51"/>
    <p:sldId id="368" r:id="rId52"/>
    <p:sldId id="367" r:id="rId53"/>
    <p:sldId id="302" r:id="rId54"/>
    <p:sldId id="317" r:id="rId55"/>
    <p:sldId id="301" r:id="rId56"/>
    <p:sldId id="359" r:id="rId57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2026-03-14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A2A46-096E-01F3-4F5A-B103B0E19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76E9A7F-3EAA-AE59-A376-AA828E7C9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C318BF-8FC5-BDB6-D473-12D760F04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ACC461-529A-3A44-C6E7-DF119867C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64093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60208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355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B7FC-E2D0-DB9D-3756-8AB327117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9A1CA5-2D7A-A065-73C6-014CA1AD1A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E8B974-8872-EACB-53AD-8FBAF245AB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438BAC-3FEA-A5AB-83B2-0849471A21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761925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00CF6-5920-0CA6-3F8E-4850E12E7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A7576B-A27F-3199-150D-042D26DF7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8642E0-0FB1-797D-CF35-4685A4F278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CA476-B9CA-43B9-2413-0B0B9C902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86993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05E63-A183-1C57-974D-F76ABC5AF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FF3AA1-E3EE-970D-F440-E030D26D7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E2F409-9F5B-7A50-BA35-321510B4E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7FAF3B-8B17-5685-DF3B-DA15093D2C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03288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756F7-E313-A6F3-9D3A-ACD09FE9B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9F812C-E674-BA17-5EB0-B3A76C44E5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25E0EB-8D28-8EFD-B525-E8A6E815E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979DA1-EA29-36B5-34E9-5FEB8C390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54629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60413-F5A8-585F-2275-1E7A943E1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BADD07-D324-3C0E-E1C5-F02F19BD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3934B8-39C6-4267-3F2A-22734AB7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805EAA-3A32-3084-63A2-F512E0B536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46459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C45E9-E1F5-B9BE-691C-57348341D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018331-D45B-5866-6D13-7712ABE15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03AE31-B135-DF83-161D-65DA11877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3EBEE0-D778-0150-3509-2101749903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376944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22411-9270-E6DB-FEBE-D46F8926B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56ED2C-BF78-CEC5-FBBC-5DC4A6079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7732F5-3792-F895-162D-C2AD0B405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85A7E7-5426-4348-9A86-EB4EE25819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83981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2366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27651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419817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92161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6665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22910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EFE3-73D3-9DD8-CC0B-02DAD6F54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A6AB7A-4F1A-F373-9342-044F29B94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3DE742-A51D-C802-AC73-A63F1B1AB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FCA30D-1800-86C7-F3CD-65794497F9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684473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83883-22E2-74B0-638B-F1F6D6403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B8F7A6-7066-B0AB-DAD0-5C5710C6F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CBF5FB-FB93-E0CF-F82D-81443BA94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68B9AF-15EA-3736-58A8-36CA7A6D58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399332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224A4-BD79-ADE3-0612-3D0127EEE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3DE38A-05C2-841E-275C-6BF027ECF9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8397C85-8D51-81C4-DF17-278661B820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156AAA-5B38-B406-3CD6-05BBC3BF5B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248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2026-03-14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Sunrise_problem" TargetMode="Externa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hyperlink" Target="https://en.wikipedia.org/wiki/Naive_Bayes_classifier" TargetMode="External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hyperlink" Target="https://github.com/ancestor9/data/blob/main/human_data.csv" TargetMode="External"/><Relationship Id="rId4" Type="http://schemas.openxmlformats.org/officeDocument/2006/relationships/hyperlink" Target="https://scikit-learn.org/stable/modules/naive_baye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779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신은 주사위를 던진다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확률과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놀라움은 반비례한다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746B46-6FD0-13D0-FF25-E75F1625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EB6B37E-3E6C-5B69-5427-E7ED1A358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87794CA-12A4-DEAA-75BE-6CB405CE5401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3682961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9E74E-A16C-1718-57CD-D7D3F76F7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F6EAA2F-CBE2-932B-4F5D-1CF91899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6563F3-94EF-9491-D44B-803618076A71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4569A8-2444-3755-61EB-DBEDF50AFA7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07499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1161240" cy="275274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억의 상금이 걸린 게임이 있다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A, B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두 사람이 라운드마다 각각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50%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확률로 승패 결과가 있는 경우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누구나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6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번을 이기면 게임이 끝나게 된다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현재까지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번의 라운드에서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B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 이겼다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A,B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각각 이길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C3755-3917-B5AD-AC51-02A04E516082}"/>
              </a:ext>
            </a:extLst>
          </p:cNvPr>
          <p:cNvSpPr txBox="1"/>
          <p:nvPr/>
        </p:nvSpPr>
        <p:spPr>
          <a:xfrm>
            <a:off x="333772" y="1124744"/>
            <a:ext cx="5544616" cy="338047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Pascal(1623~1662)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 + ½*½ + ½*½*½ 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½*½*½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Ferma(1607~1665)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AAA,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AAB, ABA, ABB, BAA, BAB, BBA, BBB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459" y="1132710"/>
            <a:ext cx="5475517" cy="474456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9770" y="1196752"/>
            <a:ext cx="1552206" cy="1850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8032C4B-915A-9F44-4FA5-B998EDC18D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6100" y="4505221"/>
            <a:ext cx="1193308" cy="1512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526459" y="5958610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104891"/>
              </p:ext>
            </p:extLst>
          </p:nvPr>
        </p:nvGraphicFramePr>
        <p:xfrm>
          <a:off x="3502124" y="1916832"/>
          <a:ext cx="763284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817877067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594679281"/>
                    </a:ext>
                  </a:extLst>
                </a:gridCol>
              </a:tblGrid>
              <a:tr h="343361"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3714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표본</a:t>
                      </a:r>
                      <a:r>
                        <a:rPr lang="en-US" altLang="ko-KR" sz="2000" baseline="0" dirty="0"/>
                        <a:t> </a:t>
                      </a:r>
                      <a:r>
                        <a:rPr lang="ko-KR" altLang="en-US" sz="2000" baseline="0" dirty="0"/>
                        <a:t>공간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HH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HT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TH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TT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3714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사건의</a:t>
                      </a:r>
                      <a:r>
                        <a:rPr lang="en-US" altLang="ko-KR" sz="2000" dirty="0"/>
                        <a:t> </a:t>
                      </a:r>
                      <a:r>
                        <a:rPr lang="ko-KR" altLang="en-US" sz="2000" dirty="0" err="1"/>
                        <a:t>출현빈도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24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21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28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27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2259678"/>
            <a:ext cx="2431702" cy="1602229"/>
          </a:xfrm>
          <a:prstGeom prst="rect">
            <a:avLst/>
          </a:prstGeom>
        </p:spPr>
      </p:pic>
      <p:graphicFrame>
        <p:nvGraphicFramePr>
          <p:cNvPr id="12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4669412"/>
              </p:ext>
            </p:extLst>
          </p:nvPr>
        </p:nvGraphicFramePr>
        <p:xfrm>
          <a:off x="3502124" y="3251034"/>
          <a:ext cx="7632845" cy="147138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817877067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594679281"/>
                    </a:ext>
                  </a:extLst>
                </a:gridCol>
              </a:tblGrid>
              <a:tr h="14713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>
                          <a:solidFill>
                            <a:schemeClr val="tx1"/>
                          </a:solidFill>
                        </a:rPr>
                        <a:t>확률변수 </a:t>
                      </a:r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(Random Variable)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24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24/100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21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21/100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28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28/100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27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=P(X=27)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27/100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  <p:sp>
        <p:nvSpPr>
          <p:cNvPr id="10" name="직사각형 9"/>
          <p:cNvSpPr/>
          <p:nvPr/>
        </p:nvSpPr>
        <p:spPr>
          <a:xfrm>
            <a:off x="509973" y="1844824"/>
            <a:ext cx="27318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두 개의 동전을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100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회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Toss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1600" dirty="0"/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45720"/>
              </p:ext>
            </p:extLst>
          </p:nvPr>
        </p:nvGraphicFramePr>
        <p:xfrm>
          <a:off x="3502124" y="4867906"/>
          <a:ext cx="7632845" cy="57963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508856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</a:tblGrid>
              <a:tr h="5796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kern="1200" dirty="0"/>
                        <a:t>확률의 총합은 </a:t>
                      </a:r>
                      <a:r>
                        <a:rPr lang="en-US" altLang="ko-KR" sz="2000" kern="1200" dirty="0"/>
                        <a:t>1</a:t>
                      </a:r>
                      <a:endParaRPr lang="ko-KR" altLang="en-US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P(X=24)</a:t>
                      </a:r>
                      <a:r>
                        <a:rPr lang="en-US" altLang="ko-KR" sz="2000" baseline="0" dirty="0"/>
                        <a:t> + </a:t>
                      </a:r>
                      <a:r>
                        <a:rPr lang="en-US" altLang="ko-KR" sz="2000" dirty="0"/>
                        <a:t>P(X=24) + P(X=24) + P(X=27) =1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2990465"/>
              </p:ext>
            </p:extLst>
          </p:nvPr>
        </p:nvGraphicFramePr>
        <p:xfrm>
          <a:off x="2854049" y="2636912"/>
          <a:ext cx="9073008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확률변수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</a:t>
                      </a:r>
                      <a:r>
                        <a:rPr lang="en-US" altLang="ko-KR" baseline="0" dirty="0"/>
                        <a:t> 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 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확률</a:t>
                      </a:r>
                      <a:r>
                        <a:rPr lang="en-US" altLang="ko-KR" dirty="0"/>
                        <a:t>(Probability)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=1)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=2)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=3)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618753"/>
            <a:ext cx="1495634" cy="1581371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509973" y="1844824"/>
            <a:ext cx="202869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주사위를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무한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Toss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1600" dirty="0"/>
          </a:p>
        </p:txBody>
      </p:sp>
      <p:sp>
        <p:nvSpPr>
          <p:cNvPr id="4" name="직사각형 3"/>
          <p:cNvSpPr/>
          <p:nvPr/>
        </p:nvSpPr>
        <p:spPr>
          <a:xfrm>
            <a:off x="720807" y="4635499"/>
            <a:ext cx="1106223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확률 변수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란 표본공간에서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일정한 확률을 가지고 발생하는 사건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(Event)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에 수치를 일대일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(1:1)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대응시킨 함수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(Function)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979171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9168" y="1843950"/>
            <a:ext cx="11017224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분포를 알 수 있다면 모든 것을 알 수 있다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우리는 모집단의 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나이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소득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등등의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parameter)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분포를 전수조사를 하지 않으면 알 수가 없기 때문에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Sampling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을 통해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Sample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확률변수의 분포를 알고 모집단의 확률변수를 추정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(Inference)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할 뿐이다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따라서 확률 분포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(Probability Distribution of 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종류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?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D557313-FC0D-740B-56FB-FCDB49BCBF61}"/>
              </a:ext>
            </a:extLst>
          </p:cNvPr>
          <p:cNvSpPr/>
          <p:nvPr/>
        </p:nvSpPr>
        <p:spPr>
          <a:xfrm>
            <a:off x="765820" y="764704"/>
            <a:ext cx="398538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확률변수를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모두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알려면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</p:spTree>
    <p:extLst>
      <p:ext uri="{BB962C8B-B14F-4D97-AF65-F5344CB8AC3E}">
        <p14:creationId xmlns:p14="http://schemas.microsoft.com/office/powerpoint/2010/main" val="2486728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형 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74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동전의 앞과 뒤면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카드의 종류 등은 수자가 양의 정수로 셀 수 있으면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(Discrete,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離散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몸무게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시간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나이 등은 연속되어 관측하지 못하면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	</a:t>
            </a:r>
            <a:r>
              <a:rPr lang="ko-KR" altLang="en-US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(Continuous,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連續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2852936"/>
            <a:ext cx="6934801" cy="3566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764" y="1988840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29275" y="2128500"/>
            <a:ext cx="60486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실제로 시간과 나이</a:t>
            </a:r>
            <a:r>
              <a:rPr lang="en-US" altLang="ko-KR" sz="1600" dirty="0"/>
              <a:t>(age)</a:t>
            </a:r>
            <a:r>
              <a:rPr lang="ko-KR" altLang="en-US" sz="1600" dirty="0"/>
              <a:t>는 존재하고 관측할 수 있는가</a:t>
            </a:r>
            <a:r>
              <a:rPr lang="en-US" altLang="ko-KR" sz="1600" dirty="0"/>
              <a:t>? No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/>
              <a:t>1</a:t>
            </a:r>
            <a:r>
              <a:rPr lang="ko-KR" altLang="en-US" sz="1600" dirty="0"/>
              <a:t>시</a:t>
            </a:r>
            <a:r>
              <a:rPr lang="en-US" altLang="ko-KR" sz="1600" dirty="0"/>
              <a:t>10</a:t>
            </a:r>
            <a:r>
              <a:rPr lang="ko-KR" altLang="en-US" sz="1600" dirty="0"/>
              <a:t>분에 버스를 탈 확률은</a:t>
            </a:r>
            <a:r>
              <a:rPr lang="en-US" altLang="ko-KR" sz="1600" dirty="0"/>
              <a:t>? </a:t>
            </a:r>
            <a:r>
              <a:rPr lang="ko-KR" altLang="en-US" sz="1600" dirty="0"/>
              <a:t> </a:t>
            </a:r>
            <a:r>
              <a:rPr lang="en-US" altLang="ko-KR" sz="1600" dirty="0"/>
              <a:t>No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8D918-8BCD-4EBB-F52D-33E99BB3C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8014A3B-E05C-E16C-694A-3329F7D3E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4DB3DE-4AE5-6516-34E6-E1AE5629E858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134609-F5D1-B602-90AB-5C18E527F48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81341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4ED5F4-1C31-1FD4-F302-EAB4A5670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88" y="1035446"/>
            <a:ext cx="11133062" cy="2520280"/>
          </a:xfrm>
          <a:prstGeom prst="rect">
            <a:avLst/>
          </a:prstGeom>
        </p:spPr>
      </p:pic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8709" y="3895604"/>
            <a:ext cx="3612002" cy="2853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3658" y="3890051"/>
            <a:ext cx="3528392" cy="2831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C0CDE06-E314-A126-4F17-CAACB24A86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151" y="3895604"/>
            <a:ext cx="1310754" cy="21947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F59C48F-849A-7E71-1840-89EEB34D78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4767" y="3895404"/>
            <a:ext cx="1508891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5BBAE-FFE3-2677-8A21-7FF742C91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E3B10F-0B9A-C967-A286-C4EE00119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5AA3EE-1640-1C9A-ED1B-40A28CF70D13}"/>
              </a:ext>
            </a:extLst>
          </p:cNvPr>
          <p:cNvSpPr txBox="1"/>
          <p:nvPr/>
        </p:nvSpPr>
        <p:spPr>
          <a:xfrm>
            <a:off x="261764" y="1268760"/>
            <a:ext cx="11161240" cy="11253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확률변수를 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(Height)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 가정하고 당신의 키의 확률을 구하라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밀도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(density)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잴 수 있는가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6DD9AE-E24D-E2F0-6A63-F8A55D75E0B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E986AD7-3E7B-5919-60EE-F74CB4116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2924944"/>
            <a:ext cx="4937358" cy="28083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3746ED-F49D-BDFF-E16A-9CEA0E945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356" y="2924944"/>
            <a:ext cx="4801594" cy="2808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957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96E5B-1A28-3E3C-99D5-65BF6F82E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D783AFE-83D0-3344-C4F2-E7B40207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/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히스토그램과 확률밀도함수 관계를 설명하라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상식적으로 이해하지 마라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확률밀도는 직접 측정되는 값이 아니라 확률을 이용해 계산되는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비율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개념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미분 값으로 존재하지 않는 값이다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  <a:endParaRPr lang="ko-KR" altLang="en-US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6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fName>
                            <m:e/>
                          </m:func>
                        </m:e>
                        <m:lim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ko-KR" altLang="en-US" sz="160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ko-KR" sz="1600">
                              <a:latin typeface="Cambria Math" panose="02040503050406030204" pitchFamily="18" charset="0"/>
                            </a:rPr>
                            <m:t>0</m:t>
                          </m:r>
                        </m:lim>
                      </m:limLow>
                      <m:f>
                        <m:f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ko-KR" altLang="en-US" sz="1600" dirty="0"/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면적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,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밀도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높이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blipFill>
                <a:blip r:embed="rId3"/>
                <a:stretch>
                  <a:fillRect l="-218"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4B46042-8D95-9C25-0AB5-B8CC2ED30D73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6A6584D-678B-00D4-793F-7C3C72BCA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189" y="2996952"/>
            <a:ext cx="4811395" cy="35302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7E6A1CD-1241-5345-77CB-DDF545F413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242" y="2980767"/>
            <a:ext cx="4355615" cy="3530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9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A786C-8452-461E-DB54-7B13E230C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0BF5E10-4D5D-0E3D-AAD9-533E3BC32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EC001F-94A0-9406-88DB-65BB35B0FF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AAFA978D-4556-7909-45B1-FF0CCC1DCA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7588" y="3109192"/>
            <a:ext cx="10414892" cy="2555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C7951D-D81F-F753-1AB0-EC313649BA77}"/>
              </a:ext>
            </a:extLst>
          </p:cNvPr>
          <p:cNvSpPr txBox="1"/>
          <p:nvPr/>
        </p:nvSpPr>
        <p:spPr>
          <a:xfrm>
            <a:off x="418144" y="845423"/>
            <a:ext cx="11508916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“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total_bill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”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변수를 기준으로 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bandwidths = [1, 2, 4, 8, 12]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인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경우 히스토그램을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변수도 다양한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바탕으로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1319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8F8B4-D898-4FE3-C256-2D663CCE4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EF20291-B8E6-441E-E52B-A382EE578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AC7B0E-D0AF-23E6-20B5-63656A6721A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F896D0-9A5A-8596-29E5-AD843E2F5D09}"/>
              </a:ext>
            </a:extLst>
          </p:cNvPr>
          <p:cNvSpPr txBox="1"/>
          <p:nvPr/>
        </p:nvSpPr>
        <p:spPr>
          <a:xfrm>
            <a:off x="418144" y="845423"/>
            <a:ext cx="11508916" cy="225004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어떤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모집단을 가장 잘 보여주고 있는가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토론하고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solution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제시하라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방법을 참고하라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수식 기반 규칙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(Freedman–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Diaconis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Scott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Monte Carlo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방식 시뮬레이션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FE64D0E2-0FF0-7906-8CC6-F3EC0DCC9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2470" y="3667118"/>
            <a:ext cx="3876068" cy="2570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43FE636D-D3F6-E7E3-E6AF-0D5FC550E0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2437" y="3667118"/>
            <a:ext cx="3876068" cy="2602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D0028F-DA36-E744-8355-A4846CDE9604}"/>
              </a:ext>
            </a:extLst>
          </p:cNvPr>
          <p:cNvSpPr txBox="1"/>
          <p:nvPr/>
        </p:nvSpPr>
        <p:spPr>
          <a:xfrm>
            <a:off x="921355" y="3148823"/>
            <a:ext cx="3577362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5ADB6-5579-DB33-7D74-E88D42FCE7DB}"/>
              </a:ext>
            </a:extLst>
          </p:cNvPr>
          <p:cNvSpPr txBox="1"/>
          <p:nvPr/>
        </p:nvSpPr>
        <p:spPr>
          <a:xfrm>
            <a:off x="5878388" y="3082306"/>
            <a:ext cx="3357458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646236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EC05-258B-CBA8-ABB9-5342CFFBE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12CB4BE-311D-239F-DDBF-C0F05B43A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A6E16-2EC6-295A-B539-93B34BEAE9C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E4215A-8A70-CB54-9D21-BDC8122C59E5}"/>
              </a:ext>
            </a:extLst>
          </p:cNvPr>
          <p:cNvSpPr txBox="1"/>
          <p:nvPr/>
        </p:nvSpPr>
        <p:spPr>
          <a:xfrm>
            <a:off x="418144" y="845423"/>
            <a:ext cx="5100204" cy="563558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Histogram(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오른쪽 그림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은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에서 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 곡선의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데이터의 특성을 기반으로 자동으로 계산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기본적으로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Scott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규칙이나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Silverman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규칙과 같은 방법을 사용하여 최적의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추정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따라서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코드에서 특정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값이 명시적으로 설정된 것이 아니라 데이터에 따라 동적으로 결정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유효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2.9590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=10,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다양한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시각화해 보아라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! (50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개로 하면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B9874A61-F8FF-3079-13C6-EA0B1C784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392" y="812885"/>
            <a:ext cx="4329516" cy="3505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97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42611-A7A1-851B-91E1-7E4CA8E8C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8F7825-2356-BD5A-6BF7-BE241161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1E4E40-9920-95E4-3C23-5F78B603D3F1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196B66-0F0F-AD72-6FA0-ED4F393E91B5}"/>
              </a:ext>
            </a:extLst>
          </p:cNvPr>
          <p:cNvSpPr txBox="1"/>
          <p:nvPr/>
        </p:nvSpPr>
        <p:spPr>
          <a:xfrm>
            <a:off x="375958" y="980728"/>
            <a:ext cx="11436908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데이터의 총 매출액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600" dirty="0" err="1"/>
              <a:t>total_bill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=?,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분산과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편향을 토론하고 발표하라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높으면 노인인가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청년인가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분산과 편향은 각각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어떤가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(Hyperparameter Tuning)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3A8957B-8DE1-416B-BAB3-7711697A7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3742" y="2395911"/>
            <a:ext cx="9976464" cy="3960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4" name="Picture 4" descr="노인과 그의 10대 초반의 손녀가 모래사장에서 날기 위해 연을 준비하고 있다.">
            <a:extLst>
              <a:ext uri="{FF2B5EF4-FFF2-40B4-BE49-F238E27FC236}">
                <a16:creationId xmlns:a16="http://schemas.microsoft.com/office/drawing/2014/main" id="{AD346533-DB8E-78AA-FCE2-4393B1050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43" y="2381303"/>
            <a:ext cx="1791099" cy="119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41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6CD7EF-0328-6311-76C9-0EC2001BF1CA}"/>
              </a:ext>
            </a:extLst>
          </p:cNvPr>
          <p:cNvSpPr txBox="1"/>
          <p:nvPr/>
        </p:nvSpPr>
        <p:spPr>
          <a:xfrm>
            <a:off x="261764" y="1268760"/>
            <a:ext cx="11161240" cy="51815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확률밀도함수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=PDF(Probability Density Function)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누적확률밀도함수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=CDF(Cumulative Distribution Function)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70F50A4-825A-ABD9-B68B-EDE2FC2A6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1988840"/>
            <a:ext cx="9537318" cy="446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31791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키와 몸무게 등 무한한 실수 값을 값으로 하는 확률변수의 연속확률밀도 함수인가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당신의 키를 확률로 구할 수 있는가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Likelihood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설명하라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연속확률밀도 함수의 밀도의 의미와 이산확률질량 함수의 질량의 의미를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양자 역학의 빛의 파동설과 입자설에 대해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280407"/>
              </p:ext>
            </p:extLst>
          </p:nvPr>
        </p:nvGraphicFramePr>
        <p:xfrm>
          <a:off x="1557908" y="1916832"/>
          <a:ext cx="9073008" cy="104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확률변수 </a:t>
                      </a:r>
                      <a:r>
                        <a:rPr lang="en-US" altLang="ko-KR" sz="1600" dirty="0"/>
                        <a:t>X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</a:t>
                      </a:r>
                      <a:r>
                        <a:rPr lang="en-US" altLang="ko-KR" sz="1600" baseline="0" dirty="0"/>
                        <a:t> 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 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</a:t>
                      </a:r>
                      <a:r>
                        <a:rPr lang="en-US" altLang="ko-KR" sz="1600" dirty="0"/>
                        <a:t>(Probability)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=1)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=2)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=3)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898" y="3356992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3356992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1026" name="Picture 2" descr="Statistics in Marketing - Discrete Probability Distributions |  Bernard-ML&lt;a/b&gt;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044" y="1516959"/>
            <a:ext cx="6949367" cy="4839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765820" y="764704"/>
            <a:ext cx="598118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Distribution))</a:t>
            </a:r>
          </a:p>
        </p:txBody>
      </p:sp>
    </p:spTree>
    <p:extLst>
      <p:ext uri="{BB962C8B-B14F-4D97-AF65-F5344CB8AC3E}">
        <p14:creationId xmlns:p14="http://schemas.microsoft.com/office/powerpoint/2010/main" val="3005557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092" y="1099103"/>
            <a:ext cx="6542088" cy="5439810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052" y="2204864"/>
            <a:ext cx="4438836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137" y="2204864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202" y="4005064"/>
            <a:ext cx="5020376" cy="704948"/>
          </a:xfrm>
          <a:prstGeom prst="rect">
            <a:avLst/>
          </a:prstGeom>
        </p:spPr>
      </p:pic>
      <p:cxnSp>
        <p:nvCxnSpPr>
          <p:cNvPr id="12" name="직선 연결선 11"/>
          <p:cNvCxnSpPr/>
          <p:nvPr/>
        </p:nvCxnSpPr>
        <p:spPr>
          <a:xfrm>
            <a:off x="2710428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/>
        </p:nvCxnSpPr>
        <p:spPr>
          <a:xfrm>
            <a:off x="3790156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/>
          <p:nvPr/>
        </p:nvCxnSpPr>
        <p:spPr>
          <a:xfrm>
            <a:off x="2735595" y="5517232"/>
            <a:ext cx="100811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/>
          <p:cNvSpPr/>
          <p:nvPr/>
        </p:nvSpPr>
        <p:spPr>
          <a:xfrm>
            <a:off x="971151" y="5836622"/>
            <a:ext cx="56380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185)</a:t>
            </a:r>
            <a:r>
              <a:rPr lang="en-US" altLang="ko-KR" dirty="0">
                <a:latin typeface="Arial Narrow" panose="020B0606020202030204" pitchFamily="34" charset="0"/>
              </a:rPr>
              <a:t> -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135) = 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키가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 135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이상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185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이하인 확률</a:t>
            </a:r>
            <a:r>
              <a:rPr lang="en-US" altLang="ko-KR" dirty="0">
                <a:latin typeface="Arial Narrow" panose="020B0606020202030204" pitchFamily="34" charset="0"/>
              </a:rPr>
              <a:t> </a:t>
            </a:r>
            <a:endParaRPr lang="ko-KR" altLang="en-US" dirty="0">
              <a:solidFill>
                <a:srgbClr val="404040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보면 되겠네</a:t>
            </a:r>
            <a:r>
              <a:rPr lang="en-US" altLang="ko-KR" sz="1600" dirty="0">
                <a:latin typeface="Arial Narrow" panose="020B0606020202030204" pitchFamily="34" charset="0"/>
              </a:rPr>
              <a:t>.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1628800"/>
            <a:ext cx="7776864" cy="343507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669" y="1552313"/>
            <a:ext cx="8497486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816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60235"/>
            <a:ext cx="8660268" cy="599611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772" y="2492896"/>
            <a:ext cx="2049193" cy="2550232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262764" y="5094885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-apple-system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-apple-system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2494012" y="764704"/>
            <a:ext cx="70068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https://www.youtube.com/shorts/6qxA9JDLSpw?feature=share</a:t>
            </a:r>
            <a:r>
              <a:rPr lang="ko-KR" altLang="en-US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2164" y="1480432"/>
            <a:ext cx="3820058" cy="505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359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763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80" y="1529702"/>
            <a:ext cx="10929188" cy="46085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05980" y="645665"/>
            <a:ext cx="15878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 err="1"/>
              <a:t>원자료</a:t>
            </a:r>
            <a:endParaRPr lang="en-US" altLang="ko-KR" b="1" dirty="0"/>
          </a:p>
          <a:p>
            <a:pPr algn="ctr"/>
            <a:r>
              <a:rPr lang="en-US" altLang="ko-KR" b="1" dirty="0"/>
              <a:t>(</a:t>
            </a:r>
            <a:r>
              <a:rPr lang="en-US" altLang="ko-KR" b="1" dirty="0" err="1"/>
              <a:t>Orignal</a:t>
            </a:r>
            <a:r>
              <a:rPr lang="en-US" altLang="ko-KR" b="1" dirty="0"/>
              <a:t> Data)</a:t>
            </a:r>
            <a:endParaRPr lang="ko-KR" altLang="en-US" b="1" dirty="0"/>
          </a:p>
        </p:txBody>
      </p:sp>
      <p:sp>
        <p:nvSpPr>
          <p:cNvPr id="7" name="TextBox 6"/>
          <p:cNvSpPr txBox="1"/>
          <p:nvPr/>
        </p:nvSpPr>
        <p:spPr>
          <a:xfrm>
            <a:off x="5446340" y="645665"/>
            <a:ext cx="1902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/>
              <a:t>평균중심화</a:t>
            </a:r>
            <a:endParaRPr lang="en-US" altLang="ko-KR" b="1" dirty="0"/>
          </a:p>
          <a:p>
            <a:pPr algn="ctr"/>
            <a:r>
              <a:rPr lang="en-US" altLang="ko-KR" b="1" dirty="0"/>
              <a:t>(Mean Centering)</a:t>
            </a:r>
            <a:endParaRPr lang="ko-KR" altLang="en-US" b="1" dirty="0"/>
          </a:p>
        </p:txBody>
      </p:sp>
      <p:sp>
        <p:nvSpPr>
          <p:cNvPr id="9" name="TextBox 8"/>
          <p:cNvSpPr txBox="1"/>
          <p:nvPr/>
        </p:nvSpPr>
        <p:spPr>
          <a:xfrm>
            <a:off x="8902724" y="645665"/>
            <a:ext cx="1927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표준화</a:t>
            </a:r>
            <a:endParaRPr lang="en-US" altLang="ko-KR" b="1" dirty="0"/>
          </a:p>
          <a:p>
            <a:pPr algn="ctr"/>
            <a:r>
              <a:rPr lang="en-US" altLang="ko-KR" b="1" dirty="0"/>
              <a:t>(Standardization)</a:t>
            </a:r>
            <a:endParaRPr lang="ko-KR" altLang="en-US" b="1" dirty="0"/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978525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968830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268760"/>
            <a:ext cx="6048672" cy="47039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초나라 양춘백설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/>
              <a:t>陽春白雪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과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주변의 실제 상황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조회 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예를 들어라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 내용을 파이썬 코드로 모의실험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(simulation)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하여 설명하라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1️⃣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 조회수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시뮬레이션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2️⃣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부의 불평등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80/20)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생성 실험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distribution)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3️⃣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네트워크 성장 모델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Barabási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–Albert)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머신러닝의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불균형 데이터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(Imbalanced data)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인한 학습의 어려움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04C8A289-FF78-8BE3-9F6C-09D9D649AF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435" y="1268760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4421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5094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196752"/>
            <a:ext cx="9939333" cy="392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8" y="476672"/>
            <a:ext cx="9782709" cy="5643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1484784"/>
            <a:ext cx="9232796" cy="4793428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33772" y="692696"/>
            <a:ext cx="1108923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b="1" dirty="0"/>
              <a:t>주사위 개수가 증가함에 따라 합의 분포</a:t>
            </a:r>
            <a:r>
              <a:rPr lang="en-US" altLang="ko-KR" b="1" dirty="0"/>
              <a:t>(1000 trials/dice)</a:t>
            </a:r>
            <a:r>
              <a:rPr lang="ko-KR" altLang="en-US" b="1" dirty="0"/>
              <a:t>가 점점 정규분포에 가까워지는 것</a:t>
            </a:r>
            <a:r>
              <a:rPr lang="en-US" altLang="ko-KR" b="1" dirty="0"/>
              <a:t>(</a:t>
            </a:r>
            <a:r>
              <a:rPr lang="ko-KR" altLang="en-US" b="1" dirty="0"/>
              <a:t>중심극한정리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36285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18941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경찰이 살인 사건 현장에서 희귀한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발견했는데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지문은 전체 인구의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0.1%/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만이 가지고 있음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경찰은 유력한 용의자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체포했고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검사 결과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 또한 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가지고 있음이 밝혀졌다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사람이 범인일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9E7DC3-F439-12EB-B4E1-5C079270B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044" y="3645024"/>
            <a:ext cx="5570703" cy="96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317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6E8C-3047-0470-498D-41421A6D3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FBDF0A5-F981-006E-020D-906837F04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A43B7-5508-E688-5359-700A342EC58F}"/>
              </a:ext>
            </a:extLst>
          </p:cNvPr>
          <p:cNvSpPr txBox="1"/>
          <p:nvPr/>
        </p:nvSpPr>
        <p:spPr>
          <a:xfrm>
            <a:off x="765820" y="1196752"/>
            <a:ext cx="11233248" cy="327134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홍길동이란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학생은 </a:t>
            </a: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ADsP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시험문제에 대해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알고 있다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홍길동이란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학생이 실수할 확률은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문제당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정도는 산만해서 틀린다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ADsP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 선다형 문제로 찍어서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맞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출 확률은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¼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 학생이 문제를 맞출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 학생이 문제를 틀릴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홍길동이 문제를 맞혔다면</a:t>
            </a:r>
            <a:r>
              <a:rPr lang="en-US" altLang="ko-KR" sz="2000" dirty="0"/>
              <a:t>, </a:t>
            </a:r>
            <a:r>
              <a:rPr lang="ko-KR" altLang="en-US" sz="2000" dirty="0"/>
              <a:t>그가 실제로 알고 풀었을 확률은</a:t>
            </a:r>
            <a:r>
              <a:rPr lang="en-US" altLang="ko-KR" sz="2000" dirty="0"/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홍길동이 문제를 틀렸다면</a:t>
            </a:r>
            <a:r>
              <a:rPr lang="en-US" altLang="ko-KR" sz="2000" dirty="0"/>
              <a:t>, </a:t>
            </a:r>
            <a:r>
              <a:rPr lang="ko-KR" altLang="en-US" sz="2000" dirty="0"/>
              <a:t>그가 실제로 알고도 틀렸을 확률</a:t>
            </a:r>
            <a:r>
              <a:rPr lang="en-US" altLang="ko-KR" sz="2000" dirty="0"/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2B289C-E8B8-C97D-4CD8-61207F7E273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428882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765820" y="1196752"/>
            <a:ext cx="11233248" cy="143250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사전지식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도시의 택시 중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녹색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15%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청색입니다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밤에 뺑소니 사고가 났고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한 목격자가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청색 택시였다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라고 증언했는데 목격자의 판별 정확도는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질문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실제로 사고를 낸 택시가 청색일 확률은 얼마일까요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지구의 나이는 </a:t>
            </a:r>
            <a:r>
              <a:rPr lang="ko-KR" altLang="en-US" sz="2000" dirty="0"/>
              <a:t>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45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천만년 이다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내일 해가 뜰 확률을 구하라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170792-96F2-75E9-8112-7A784CED4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860" y="2210192"/>
            <a:ext cx="5655120" cy="36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548AE-6F75-4DDA-684C-2BC854639F3E}"/>
              </a:ext>
            </a:extLst>
          </p:cNvPr>
          <p:cNvSpPr txBox="1"/>
          <p:nvPr/>
        </p:nvSpPr>
        <p:spPr>
          <a:xfrm>
            <a:off x="7174532" y="2210193"/>
            <a:ext cx="3240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4D8A3-0388-8113-D2CF-A0414DBC5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2F37FC-577D-E28A-0EF4-69CA6EF24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334FB6-54F8-A43B-EAFC-A8A9D54A3F02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Monty Hall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A6D30-646E-36BC-7791-0F150C5DE16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641438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1233248" cy="92916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는데도 귀환할 확률은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(Missing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from survivor ship)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식당에서 식중독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19" y="2481834"/>
            <a:ext cx="4494805" cy="42396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4452" y="2477246"/>
            <a:ext cx="4735865" cy="174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E47B6-ECBC-9557-4609-3A2333274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1AA98C7-779B-AE4A-7378-DE24D481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>
            <a:extLst>
              <a:ext uri="{FF2B5EF4-FFF2-40B4-BE49-F238E27FC236}">
                <a16:creationId xmlns:a16="http://schemas.microsoft.com/office/drawing/2014/main" id="{AAA39EDD-371F-443B-3908-63C31D2F434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0023817-9FA0-0E66-D30B-AF053C361D23}"/>
              </a:ext>
            </a:extLst>
          </p:cNvPr>
          <p:cNvCxnSpPr/>
          <p:nvPr/>
        </p:nvCxnSpPr>
        <p:spPr>
          <a:xfrm>
            <a:off x="6574303" y="4365104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4E9D014-EFE4-88D1-A634-7ECA91A3B662}"/>
              </a:ext>
            </a:extLst>
          </p:cNvPr>
          <p:cNvSpPr txBox="1"/>
          <p:nvPr/>
        </p:nvSpPr>
        <p:spPr>
          <a:xfrm>
            <a:off x="539248" y="817140"/>
            <a:ext cx="11233248" cy="137864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키가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5.65,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160.45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발의 크기가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7.88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인 사람은 여자인가 남자인가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분석하고 예측하고 과제를 제출하라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을 참고하여 남녀를 분류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(classification)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하라</a:t>
            </a:r>
            <a:endParaRPr lang="en-US" altLang="ko-KR" sz="14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scikit-learn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의 </a:t>
            </a:r>
            <a:r>
              <a:rPr lang="en-US" altLang="ko-KR" sz="1400" dirty="0">
                <a:solidFill>
                  <a:srgbClr val="7EA939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modules/</a:t>
            </a:r>
            <a:r>
              <a:rPr lang="en-US" altLang="ko-KR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을 사용하여 남녀의 확률을 각각 구하고 성별을 분류하라</a:t>
            </a:r>
            <a:endParaRPr lang="en-US" altLang="ko-KR" sz="14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51328F-1529-D8C3-9361-2BE0A1B7C68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796305-5C5C-595B-9023-A5C449AFB212}"/>
              </a:ext>
            </a:extLst>
          </p:cNvPr>
          <p:cNvSpPr txBox="1"/>
          <p:nvPr/>
        </p:nvSpPr>
        <p:spPr>
          <a:xfrm>
            <a:off x="6178529" y="2671742"/>
            <a:ext cx="3230992" cy="46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FAAE35-C498-6E70-3C46-DE63A96462F7}"/>
              </a:ext>
            </a:extLst>
          </p:cNvPr>
          <p:cNvSpPr txBox="1"/>
          <p:nvPr/>
        </p:nvSpPr>
        <p:spPr>
          <a:xfrm>
            <a:off x="7750596" y="3718317"/>
            <a:ext cx="3024336" cy="1666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키가 </a:t>
            </a:r>
            <a:r>
              <a:rPr lang="en-US" altLang="ko-KR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5.65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몸무게가 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160.45 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발의 크기가 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7.88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인 사람은 여자인가 남자인가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757D76DB-DBAD-99A0-FD74-29C491348A7E}"/>
              </a:ext>
            </a:extLst>
          </p:cNvPr>
          <p:cNvGrpSpPr/>
          <p:nvPr/>
        </p:nvGrpSpPr>
        <p:grpSpPr>
          <a:xfrm>
            <a:off x="1341884" y="2717025"/>
            <a:ext cx="4703341" cy="4015112"/>
            <a:chOff x="526975" y="2706363"/>
            <a:chExt cx="5495430" cy="4078675"/>
          </a:xfrm>
        </p:grpSpPr>
        <p:pic>
          <p:nvPicPr>
            <p:cNvPr id="16388" name="Picture 4">
              <a:extLst>
                <a:ext uri="{FF2B5EF4-FFF2-40B4-BE49-F238E27FC236}">
                  <a16:creationId xmlns:a16="http://schemas.microsoft.com/office/drawing/2014/main" id="{21808676-E4CA-BF4E-0368-E75859E220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5416891"/>
              <a:ext cx="5490318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390" name="Picture 6">
              <a:extLst>
                <a:ext uri="{FF2B5EF4-FFF2-40B4-BE49-F238E27FC236}">
                  <a16:creationId xmlns:a16="http://schemas.microsoft.com/office/drawing/2014/main" id="{4E0DF2EE-D7A2-3D46-7D08-D7066514A2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2706363"/>
              <a:ext cx="5495430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392" name="Picture 8">
              <a:extLst>
                <a:ext uri="{FF2B5EF4-FFF2-40B4-BE49-F238E27FC236}">
                  <a16:creationId xmlns:a16="http://schemas.microsoft.com/office/drawing/2014/main" id="{5E64B396-4690-C8F8-087E-665050DE15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4074510"/>
              <a:ext cx="5490318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순서도: 추출 13">
            <a:extLst>
              <a:ext uri="{FF2B5EF4-FFF2-40B4-BE49-F238E27FC236}">
                <a16:creationId xmlns:a16="http://schemas.microsoft.com/office/drawing/2014/main" id="{2FC64A56-7667-7708-3E70-34D9CA9F54B3}"/>
              </a:ext>
            </a:extLst>
          </p:cNvPr>
          <p:cNvSpPr/>
          <p:nvPr/>
        </p:nvSpPr>
        <p:spPr>
          <a:xfrm>
            <a:off x="3529285" y="3614502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순서도: 추출 14">
            <a:extLst>
              <a:ext uri="{FF2B5EF4-FFF2-40B4-BE49-F238E27FC236}">
                <a16:creationId xmlns:a16="http://schemas.microsoft.com/office/drawing/2014/main" id="{30DB0BC3-3E8E-57CA-7C44-BD5971E060BB}"/>
              </a:ext>
            </a:extLst>
          </p:cNvPr>
          <p:cNvSpPr/>
          <p:nvPr/>
        </p:nvSpPr>
        <p:spPr>
          <a:xfrm>
            <a:off x="4294212" y="5013176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순서도: 추출 15">
            <a:extLst>
              <a:ext uri="{FF2B5EF4-FFF2-40B4-BE49-F238E27FC236}">
                <a16:creationId xmlns:a16="http://schemas.microsoft.com/office/drawing/2014/main" id="{C3BDD512-4DD5-8038-8F2E-BE5457DE5AC8}"/>
              </a:ext>
            </a:extLst>
          </p:cNvPr>
          <p:cNvSpPr/>
          <p:nvPr/>
        </p:nvSpPr>
        <p:spPr>
          <a:xfrm>
            <a:off x="3862164" y="6252536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1922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768</TotalTime>
  <Words>1877</Words>
  <Application>Microsoft Office PowerPoint</Application>
  <PresentationFormat>사용자 지정</PresentationFormat>
  <Paragraphs>353</Paragraphs>
  <Slides>53</Slides>
  <Notes>51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53</vt:i4>
      </vt:variant>
    </vt:vector>
  </HeadingPairs>
  <TitlesOfParts>
    <vt:vector size="66" baseType="lpstr">
      <vt:lpstr>-apple-system</vt:lpstr>
      <vt:lpstr>맑은 고딕</vt:lpstr>
      <vt:lpstr>한컴 말랑말랑 Bold</vt:lpstr>
      <vt:lpstr>휴먼모음T</vt:lpstr>
      <vt:lpstr>Arial</vt:lpstr>
      <vt:lpstr>Arial Narrow</vt:lpstr>
      <vt:lpstr>Cambria Math</vt:lpstr>
      <vt:lpstr>Corbel</vt:lpstr>
      <vt:lpstr>Microsoft Sans Serif</vt:lpstr>
      <vt:lpstr>PT Sans</vt:lpstr>
      <vt:lpstr>Roboto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56</cp:revision>
  <dcterms:created xsi:type="dcterms:W3CDTF">2024-06-03T06:10:16Z</dcterms:created>
  <dcterms:modified xsi:type="dcterms:W3CDTF">2026-03-14T15:12:50Z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