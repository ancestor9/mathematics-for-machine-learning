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256" r:id="rId5"/>
    <p:sldId id="314" r:id="rId6"/>
    <p:sldId id="361" r:id="rId7"/>
    <p:sldId id="360" r:id="rId8"/>
    <p:sldId id="313" r:id="rId9"/>
    <p:sldId id="369" r:id="rId10"/>
    <p:sldId id="370" r:id="rId11"/>
    <p:sldId id="270" r:id="rId12"/>
    <p:sldId id="271" r:id="rId13"/>
    <p:sldId id="273" r:id="rId14"/>
    <p:sldId id="362" r:id="rId15"/>
    <p:sldId id="272" r:id="rId16"/>
    <p:sldId id="276" r:id="rId17"/>
    <p:sldId id="306" r:id="rId18"/>
    <p:sldId id="307" r:id="rId19"/>
    <p:sldId id="303" r:id="rId20"/>
    <p:sldId id="309" r:id="rId21"/>
    <p:sldId id="310" r:id="rId22"/>
    <p:sldId id="311" r:id="rId23"/>
    <p:sldId id="312" r:id="rId24"/>
    <p:sldId id="316" r:id="rId25"/>
    <p:sldId id="308" r:id="rId26"/>
    <p:sldId id="299" r:id="rId27"/>
    <p:sldId id="363" r:id="rId28"/>
    <p:sldId id="277" r:id="rId29"/>
    <p:sldId id="364" r:id="rId30"/>
    <p:sldId id="275" r:id="rId31"/>
    <p:sldId id="279" r:id="rId32"/>
    <p:sldId id="278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8" r:id="rId41"/>
    <p:sldId id="305" r:id="rId42"/>
    <p:sldId id="304" r:id="rId43"/>
    <p:sldId id="287" r:id="rId44"/>
    <p:sldId id="289" r:id="rId45"/>
    <p:sldId id="290" r:id="rId46"/>
    <p:sldId id="291" r:id="rId47"/>
    <p:sldId id="292" r:id="rId48"/>
    <p:sldId id="365" r:id="rId49"/>
    <p:sldId id="372" r:id="rId50"/>
    <p:sldId id="293" r:id="rId51"/>
    <p:sldId id="300" r:id="rId52"/>
    <p:sldId id="374" r:id="rId53"/>
    <p:sldId id="375" r:id="rId54"/>
    <p:sldId id="376" r:id="rId55"/>
    <p:sldId id="377" r:id="rId56"/>
    <p:sldId id="378" r:id="rId57"/>
    <p:sldId id="373" r:id="rId58"/>
    <p:sldId id="367" r:id="rId59"/>
    <p:sldId id="302" r:id="rId60"/>
    <p:sldId id="379" r:id="rId61"/>
    <p:sldId id="301" r:id="rId62"/>
    <p:sldId id="380" r:id="rId63"/>
    <p:sldId id="381" r:id="rId64"/>
    <p:sldId id="359" r:id="rId65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9168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2026-03-16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020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61925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8699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328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462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6459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76944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398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19817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03668-7C7D-540F-1E2F-B80CD805B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1523D2-4A1A-187E-BAE3-D9A964F29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264446-ED33-7C5A-52D6-39C2DFE8C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3B105A-5F1A-C158-8E4D-FC142601FC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70300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F619D-2DC4-6CCD-EB57-327453D11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A6EFA0-6915-24DB-8B21-9DF7C155E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33550A-9183-0F25-1E9C-430D82BCA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1F1772-727E-6423-57DA-FC9B48AA07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507189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4D28-4361-5A93-0D34-3395CC24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37ADB5-F662-9560-91CD-585F80135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66D381-F439-FDA2-08AB-EFF748A95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AFF3B8-750F-6262-251B-6B3AC223F8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903526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7BA8-8016-D260-CE96-2542D2707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87A624-F076-5E15-DB45-FC9D8372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BBFC97-AA75-9B25-E06D-52C256213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3E4FB0-2DDB-6283-BF41-9D6F320AEF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3365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7A5FD-ADD7-72B5-49D5-D4CD04C86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778EAF-667E-1CD8-6ACB-FA25A235D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81AC4B-0029-178D-5558-C9F11C9F61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22ADD4-CDDA-ED79-F8A2-0A31844205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506429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32E5C-E7CB-B6D4-C3F9-8793D7BC6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43F6AA-E756-530F-877C-2C7A32CF86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5CEA31-A63D-6299-6841-6DE0FF29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68691-9616-2019-B841-17E81AEFDB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734026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C2F5D-308C-9609-CEFC-A5F052560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EA4C92-204A-7994-2D02-C28439E2C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38D370-4189-E232-9C15-BBA8A2800C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0E3F1-E156-8817-93B3-3D87FC580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928447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A5944-604E-62E6-1230-3F0D927C6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77EA5F-495F-E789-B453-42396526F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101917-3E1A-284A-56E0-561CFADC3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E375CA-E3A2-E525-7DA7-78EBA5D3A5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695433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15916-0305-9E5A-6EFE-EB9983FEE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1EF65A-A046-2CA5-7011-0AB6CC10AC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3F749D-7779-E23D-F695-9D29528942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82C267-72A0-DB34-608D-525099CE05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537426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13947-90E6-B1FB-B7BB-0AA86814A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2007B0-0057-C71A-0246-697C8C9D2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612348-2DDC-DECE-B1E2-BF0456CB3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0782DC-E2E9-11C6-9BCC-A08BC5BF40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1310888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224A4-BD79-ADE3-0612-3D0127EEE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3DE38A-05C2-841E-275C-6BF027ECF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397C85-8D51-81C4-DF17-278661B820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56AAA-5B38-B406-3CD6-05BBC3BF5B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248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2026-03-16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nrise_problem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jpe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ayes%27_theorem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onty_Hall_problem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Survivorship_bias#In_the_military" TargetMode="External"/><Relationship Id="rId4" Type="http://schemas.openxmlformats.org/officeDocument/2006/relationships/image" Target="../media/image7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svg"/><Relationship Id="rId3" Type="http://schemas.openxmlformats.org/officeDocument/2006/relationships/image" Target="../media/image78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osis.kr/statHtml/statHtml.do?orgId=622&amp;tblId=DT_62201_D000003" TargetMode="Externa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hyperlink" Target="https://en.wikipedia.org/wiki/Naive_Bayes_classifier" TargetMode="External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hyperlink" Target="https://github.com/ancestor9/data/blob/main/human_data.csv" TargetMode="External"/><Relationship Id="rId4" Type="http://schemas.openxmlformats.org/officeDocument/2006/relationships/hyperlink" Target="https://scikit-learn.org/stable/modules/naive_baye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B6B37E-3E6C-5B69-5427-E7ED1A358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275274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억의 상금이 걸린 게임이 있다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사람이 라운드마다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50%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확률로 승패 결과가 있는 경우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누구나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6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이기면 게임이 끝나게 된다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현재까지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번의 라운드에서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이겼다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A,B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각각 이길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04891"/>
              </p:ext>
            </p:extLst>
          </p:nvPr>
        </p:nvGraphicFramePr>
        <p:xfrm>
          <a:off x="3502124" y="1916832"/>
          <a:ext cx="763284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34336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표본</a:t>
                      </a:r>
                      <a:r>
                        <a:rPr lang="en-US" altLang="ko-KR" sz="2000" baseline="0" dirty="0"/>
                        <a:t> </a:t>
                      </a:r>
                      <a:r>
                        <a:rPr lang="ko-KR" altLang="en-US" sz="2000" baseline="0" dirty="0"/>
                        <a:t>공간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TT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사건의</a:t>
                      </a:r>
                      <a:r>
                        <a:rPr lang="en-US" altLang="ko-KR" sz="2000" dirty="0"/>
                        <a:t> </a:t>
                      </a:r>
                      <a:r>
                        <a:rPr lang="ko-KR" altLang="en-US" sz="2000" dirty="0" err="1"/>
                        <a:t>출현빈도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24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21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28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27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2259678"/>
            <a:ext cx="2431702" cy="1602229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69412"/>
              </p:ext>
            </p:extLst>
          </p:nvPr>
        </p:nvGraphicFramePr>
        <p:xfrm>
          <a:off x="3502124" y="3251034"/>
          <a:ext cx="7632845" cy="147138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14713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</a:rPr>
                        <a:t>확률변수 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(Random Variable)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24/100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21/100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28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28/100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=P(X=27)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27/100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sp>
        <p:nvSpPr>
          <p:cNvPr id="10" name="직사각형 9"/>
          <p:cNvSpPr/>
          <p:nvPr/>
        </p:nvSpPr>
        <p:spPr>
          <a:xfrm>
            <a:off x="509973" y="1844824"/>
            <a:ext cx="27318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두 개의 동전을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100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회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5720"/>
              </p:ext>
            </p:extLst>
          </p:nvPr>
        </p:nvGraphicFramePr>
        <p:xfrm>
          <a:off x="3502124" y="4867906"/>
          <a:ext cx="7632845" cy="5796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508856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</a:tblGrid>
              <a:tr h="579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kern="1200" dirty="0"/>
                        <a:t>확률의 총합은 </a:t>
                      </a:r>
                      <a:r>
                        <a:rPr lang="en-US" altLang="ko-KR" sz="2000" kern="1200" dirty="0"/>
                        <a:t>1</a:t>
                      </a:r>
                      <a:endParaRPr lang="ko-KR" altLang="en-US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P(X=24)</a:t>
                      </a:r>
                      <a:r>
                        <a:rPr lang="en-US" altLang="ko-KR" sz="2000" baseline="0" dirty="0"/>
                        <a:t> + </a:t>
                      </a:r>
                      <a:r>
                        <a:rPr lang="en-US" altLang="ko-KR" sz="2000" dirty="0"/>
                        <a:t>P(X=24) + P(X=24) + P(X=27) =1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990465"/>
              </p:ext>
            </p:extLst>
          </p:nvPr>
        </p:nvGraphicFramePr>
        <p:xfrm>
          <a:off x="2854049" y="2636912"/>
          <a:ext cx="907300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확률변수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</a:t>
                      </a:r>
                      <a:r>
                        <a:rPr lang="en-US" altLang="ko-KR" baseline="0" dirty="0"/>
                        <a:t> 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 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</a:t>
                      </a:r>
                      <a:r>
                        <a:rPr lang="en-US" altLang="ko-KR" dirty="0"/>
                        <a:t>(Probability)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=1)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=2)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=3)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618753"/>
            <a:ext cx="1495634" cy="15813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09973" y="1844824"/>
            <a:ext cx="20286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무한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sp>
        <p:nvSpPr>
          <p:cNvPr id="4" name="직사각형 3"/>
          <p:cNvSpPr/>
          <p:nvPr/>
        </p:nvSpPr>
        <p:spPr>
          <a:xfrm>
            <a:off x="720807" y="4635499"/>
            <a:ext cx="110622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확률 변수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란 표본공간에서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일정한 확률을 가지고 발생하는 사건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(Event)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에 수치를 일대일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(1:1)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대응시킨 함수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(Function)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79171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8134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ED5F4-1C31-1FD4-F302-EAB4A5670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" y="1035446"/>
            <a:ext cx="11133062" cy="2520280"/>
          </a:xfrm>
          <a:prstGeom prst="rect">
            <a:avLst/>
          </a:prstGeom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09" y="3895604"/>
            <a:ext cx="3612002" cy="285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658" y="3890051"/>
            <a:ext cx="3528392" cy="283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0CDE06-E314-A126-4F17-CAACB24A8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1" y="3895604"/>
            <a:ext cx="1310754" cy="21947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F59C48F-849A-7E71-1840-89EEB34D7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767" y="3895404"/>
            <a:ext cx="1508891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1319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646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97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노인인가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4" name="Picture 4" descr="노인과 그의 10대 초반의 손녀가 모래사장에서 날기 위해 연을 준비하고 있다.">
            <a:extLst>
              <a:ext uri="{FF2B5EF4-FFF2-40B4-BE49-F238E27FC236}">
                <a16:creationId xmlns:a16="http://schemas.microsoft.com/office/drawing/2014/main" id="{AD346533-DB8E-78AA-FCE2-4393B1050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3" y="2381303"/>
            <a:ext cx="1791099" cy="11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41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CD7EF-0328-6311-76C9-0EC2001BF1CA}"/>
              </a:ext>
            </a:extLst>
          </p:cNvPr>
          <p:cNvSpPr txBox="1"/>
          <p:nvPr/>
        </p:nvSpPr>
        <p:spPr>
          <a:xfrm>
            <a:off x="261764" y="1268760"/>
            <a:ext cx="11161240" cy="51815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=PDF(Probability Density Function)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누적확률밀도함수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=CDF(Cumulative Distribution Function)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F50A4-825A-ABD9-B68B-EDE2FC2A6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1988840"/>
            <a:ext cx="9537318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2494012" y="764704"/>
            <a:ext cx="70068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https://www.youtube.com/shorts/6qxA9JDLSpw?feature=share</a:t>
            </a:r>
            <a:r>
              <a:rPr lang="ko-KR" altLang="en-US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164" y="1480432"/>
            <a:ext cx="3820058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3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476672"/>
            <a:ext cx="9782709" cy="564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1484784"/>
            <a:ext cx="9232796" cy="479342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692696"/>
            <a:ext cx="110892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b="1" dirty="0"/>
              <a:t>주사위 개수가 증가함에 따라 합의 분포</a:t>
            </a:r>
            <a:r>
              <a:rPr lang="en-US" altLang="ko-KR" b="1" dirty="0"/>
              <a:t>(1000 trials/dice)</a:t>
            </a:r>
            <a:r>
              <a:rPr lang="ko-KR" altLang="en-US" b="1" dirty="0"/>
              <a:t>가 점점 정규분포에 가까워지는 것</a:t>
            </a:r>
            <a:r>
              <a:rPr lang="en-US" altLang="ko-KR" b="1" dirty="0"/>
              <a:t>(</a:t>
            </a:r>
            <a:r>
              <a:rPr lang="ko-KR" altLang="en-US" b="1" dirty="0"/>
              <a:t>중심극한정리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D9904-3520-451F-5AE8-43C5A17E7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6494B18-8D67-1B56-CE6A-BB49F7663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86D0DA-680A-3E63-6CF1-074CAE509327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지구의 나이는 </a:t>
            </a:r>
            <a:r>
              <a:rPr lang="ko-KR" altLang="en-US" sz="2000" dirty="0"/>
              <a:t>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45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천만년 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내일 해가 뜰 확률을 구하라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A26A52-4DE1-E2A8-EE81-9ABD690C0B1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ED14-E382-01D9-DF86-4246FF1581E2}"/>
              </a:ext>
            </a:extLst>
          </p:cNvPr>
          <p:cNvSpPr txBox="1"/>
          <p:nvPr/>
        </p:nvSpPr>
        <p:spPr>
          <a:xfrm>
            <a:off x="7174532" y="2210193"/>
            <a:ext cx="3240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800" b="1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080BF5C-86DC-7851-FFA2-3FE2DF163C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2196833"/>
            <a:ext cx="5031615" cy="3240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B5E57-A8D4-6856-56B4-C4A992175217}"/>
              </a:ext>
            </a:extLst>
          </p:cNvPr>
          <p:cNvSpPr txBox="1"/>
          <p:nvPr/>
        </p:nvSpPr>
        <p:spPr>
          <a:xfrm>
            <a:off x="765820" y="5805264"/>
            <a:ext cx="48965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Usually inferred from repeated observations: </a:t>
            </a:r>
            <a:r>
              <a:rPr lang="en-US" altLang="ko-KR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"The sun always rises in the east"</a:t>
            </a:r>
            <a:r>
              <a:rPr lang="en-US" altLang="ko-K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735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476672"/>
            <a:ext cx="11245612" cy="11371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4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4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4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475915"/>
            <a:ext cx="5184576" cy="39237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2644" y="2552065"/>
            <a:ext cx="2160240" cy="1248797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8098657" y="2075805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ED5B2B7-E5B3-E797-AC7F-3936614B857A}"/>
              </a:ext>
            </a:extLst>
          </p:cNvPr>
          <p:cNvSpPr/>
          <p:nvPr/>
        </p:nvSpPr>
        <p:spPr>
          <a:xfrm>
            <a:off x="837828" y="2049303"/>
            <a:ext cx="219162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독립이 아니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76016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식중독이 발생했을 때 그 사람이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가게 때문일 확률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구하고 토론하라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베이즈정리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사용하여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파스칼의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결정트리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(decision tree)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그림을 제출하라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파이썬 시뮬레이션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(Monte Carlo)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7130C4-0E46-6046-22E1-B3EB4680E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3378338"/>
            <a:ext cx="8196588" cy="208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122CC-3F8B-BBA9-F0F9-D23D28166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4FA3519-BBA2-27A6-533F-C33661323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AF58D-4AE6-6FEF-BBF3-CD329DDF16A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AutoShape 2" descr="생성된 이미지: 식당 방문과 식중독 확률 분석">
            <a:extLst>
              <a:ext uri="{FF2B5EF4-FFF2-40B4-BE49-F238E27FC236}">
                <a16:creationId xmlns:a16="http://schemas.microsoft.com/office/drawing/2014/main" id="{AF652737-895E-64DD-7EAE-839FE6B895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19C8B1-DED3-C6B8-1D76-4EB245A74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954" y="2392839"/>
            <a:ext cx="10630916" cy="39635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5F323A-2F58-B275-FFD5-6D84ABC55E94}"/>
              </a:ext>
            </a:extLst>
          </p:cNvPr>
          <p:cNvSpPr txBox="1"/>
          <p:nvPr/>
        </p:nvSpPr>
        <p:spPr>
          <a:xfrm>
            <a:off x="765820" y="1196752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 방문회수와 식중독 발생율과의 관계와 사후확률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토론하라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(Prior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probability)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무엇인가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5171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D35CA-5450-E476-3C02-D01A2B633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DA0A7C-9163-413A-C9DE-B7A91645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00B753-6841-AFE2-2009-D2205891415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AutoShape 2" descr="생성된 이미지: 식당 방문과 식중독 확률 분석">
            <a:extLst>
              <a:ext uri="{FF2B5EF4-FFF2-40B4-BE49-F238E27FC236}">
                <a16:creationId xmlns:a16="http://schemas.microsoft.com/office/drawing/2014/main" id="{30950B5A-9C8D-3CD8-E63D-279051EF3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E397B3-EF35-A17E-C5F5-00C23A5C013F}"/>
              </a:ext>
            </a:extLst>
          </p:cNvPr>
          <p:cNvSpPr txBox="1"/>
          <p:nvPr/>
        </p:nvSpPr>
        <p:spPr>
          <a:xfrm>
            <a:off x="765820" y="1196752"/>
            <a:ext cx="11233248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멀쩡한 동전 일 것이라는 믿음이 여러 번 동전 던지기 결과가 쌓일수록 나의 믿음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(belief)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어떻게 변하는지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즉 확률 분포가 어떻게 변하는지 확인하고 베이지안의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사전확률과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사건발생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사후확률을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설명하고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Data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based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Approach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sampling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중요성에 대해 토론하라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0CF7F7E-A560-C595-12FA-59B3E277C5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2448234"/>
            <a:ext cx="6457106" cy="4290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E95F88E-D90D-CF84-E56F-E38C26E42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0556" y="3276600"/>
            <a:ext cx="4478498" cy="1762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336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88FE-894B-C020-FC0A-78D9BD6B3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DB0B19-4D47-B9F8-474C-2CA4A8D0D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722B0A-B8D1-F76A-4321-5B1F5AAAB39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AutoShape 2" descr="생성된 이미지: 식당 방문과 식중독 확률 분석">
            <a:extLst>
              <a:ext uri="{FF2B5EF4-FFF2-40B4-BE49-F238E27FC236}">
                <a16:creationId xmlns:a16="http://schemas.microsoft.com/office/drawing/2014/main" id="{D4C21DD8-9F55-D5EC-4D7F-360C046F8F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3FC1F-21E1-274E-267B-3B00B1B2FD3C}"/>
              </a:ext>
            </a:extLst>
          </p:cNvPr>
          <p:cNvSpPr txBox="1"/>
          <p:nvPr/>
        </p:nvSpPr>
        <p:spPr>
          <a:xfrm>
            <a:off x="765820" y="1196752"/>
            <a:ext cx="11233248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Evidence based Approach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대하여 당신은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 어디에 속하나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D72B10-4A00-87F3-D316-08AF86CB3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746898"/>
            <a:ext cx="5973591" cy="235101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938DF11-444B-37F4-D3DF-FD5BDA943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8786" y="5017900"/>
            <a:ext cx="1619476" cy="828791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D1478B2D-4D75-7107-BF72-72AA1E8022EB}"/>
              </a:ext>
            </a:extLst>
          </p:cNvPr>
          <p:cNvGrpSpPr/>
          <p:nvPr/>
        </p:nvGrpSpPr>
        <p:grpSpPr>
          <a:xfrm>
            <a:off x="8338786" y="3086247"/>
            <a:ext cx="2819794" cy="924054"/>
            <a:chOff x="8614692" y="2411774"/>
            <a:chExt cx="2819794" cy="92405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3CF0052-81C6-5713-18A6-54FFA36FF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14692" y="2411774"/>
              <a:ext cx="2819794" cy="924054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5B89F6A-47D1-C91A-2F5C-3FDC8B35BF4C}"/>
                </a:ext>
              </a:extLst>
            </p:cNvPr>
            <p:cNvSpPr/>
            <p:nvPr/>
          </p:nvSpPr>
          <p:spPr>
            <a:xfrm>
              <a:off x="10414892" y="2564904"/>
              <a:ext cx="936104" cy="610600"/>
            </a:xfrm>
            <a:prstGeom prst="rect">
              <a:avLst/>
            </a:prstGeom>
            <a:noFill/>
            <a:ln w="28575">
              <a:solidFill>
                <a:schemeClr val="bg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14" name="생각 풍선: 구름 모양 13">
            <a:extLst>
              <a:ext uri="{FF2B5EF4-FFF2-40B4-BE49-F238E27FC236}">
                <a16:creationId xmlns:a16="http://schemas.microsoft.com/office/drawing/2014/main" id="{20D8EE1E-112A-64F2-A621-1FF3874A7711}"/>
              </a:ext>
            </a:extLst>
          </p:cNvPr>
          <p:cNvSpPr/>
          <p:nvPr/>
        </p:nvSpPr>
        <p:spPr>
          <a:xfrm>
            <a:off x="9958262" y="1830675"/>
            <a:ext cx="2040806" cy="935000"/>
          </a:xfrm>
          <a:prstGeom prst="cloudCallout">
            <a:avLst>
              <a:gd name="adj1" fmla="val -15712"/>
              <a:gd name="adj2" fmla="val 9230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Likelihood Ratio</a:t>
            </a:r>
            <a:endParaRPr lang="ko-KR" altLang="en-US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AFB5F1-A7B4-1DE9-E3C5-A01F59C10E7D}"/>
              </a:ext>
            </a:extLst>
          </p:cNvPr>
          <p:cNvSpPr txBox="1"/>
          <p:nvPr/>
        </p:nvSpPr>
        <p:spPr>
          <a:xfrm>
            <a:off x="8110636" y="2695366"/>
            <a:ext cx="1112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유형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5B839D-3BA1-8B9E-CDE7-34557DF2B44F}"/>
              </a:ext>
            </a:extLst>
          </p:cNvPr>
          <p:cNvSpPr txBox="1"/>
          <p:nvPr/>
        </p:nvSpPr>
        <p:spPr>
          <a:xfrm>
            <a:off x="8036032" y="4572241"/>
            <a:ext cx="1112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유형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dirty="0"/>
          </a:p>
        </p:txBody>
      </p:sp>
      <p:sp>
        <p:nvSpPr>
          <p:cNvPr id="20" name="왼쪽 중괄호 19">
            <a:extLst>
              <a:ext uri="{FF2B5EF4-FFF2-40B4-BE49-F238E27FC236}">
                <a16:creationId xmlns:a16="http://schemas.microsoft.com/office/drawing/2014/main" id="{A7368399-3750-46C3-F9AC-4A4C1C8A9FB1}"/>
              </a:ext>
            </a:extLst>
          </p:cNvPr>
          <p:cNvSpPr/>
          <p:nvPr/>
        </p:nvSpPr>
        <p:spPr>
          <a:xfrm rot="10800000">
            <a:off x="11375909" y="3429000"/>
            <a:ext cx="335994" cy="2351015"/>
          </a:xfrm>
          <a:prstGeom prst="leftBrace">
            <a:avLst>
              <a:gd name="adj1" fmla="val 47744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4812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C106D-8BD2-A313-C1A7-C7C14925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E56AA4B-0F39-7C6D-6182-FA58465FA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59FCE4-48A3-B01E-094E-654E0C17BAD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AutoShape 2" descr="생성된 이미지: 식당 방문과 식중독 확률 분석">
            <a:extLst>
              <a:ext uri="{FF2B5EF4-FFF2-40B4-BE49-F238E27FC236}">
                <a16:creationId xmlns:a16="http://schemas.microsoft.com/office/drawing/2014/main" id="{C2942938-408C-8D63-FB94-E88607536C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8410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2099FA6-1725-9F30-2326-2E31FC2ECAE0}"/>
              </a:ext>
            </a:extLst>
          </p:cNvPr>
          <p:cNvSpPr/>
          <p:nvPr/>
        </p:nvSpPr>
        <p:spPr bwMode="auto">
          <a:xfrm>
            <a:off x="937966" y="2755372"/>
            <a:ext cx="1412030" cy="93749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Prior</a:t>
            </a: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Knowledge</a:t>
            </a:r>
            <a:r>
              <a:rPr kumimoji="0" lang="en-US" altLang="ko-KR" sz="14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is everything</a:t>
            </a:r>
            <a:endParaRPr kumimoji="0" lang="ko-KR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53FA24C-6DF5-66FF-3BE5-30054D35336F}"/>
              </a:ext>
            </a:extLst>
          </p:cNvPr>
          <p:cNvSpPr/>
          <p:nvPr/>
        </p:nvSpPr>
        <p:spPr bwMode="auto">
          <a:xfrm>
            <a:off x="937966" y="4536275"/>
            <a:ext cx="1412030" cy="9374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The truth is somewhere in between</a:t>
            </a:r>
            <a:endParaRPr kumimoji="0" lang="ko-KR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7F2457-B582-2891-4298-D57AE270C7A9}"/>
              </a:ext>
            </a:extLst>
          </p:cNvPr>
          <p:cNvSpPr/>
          <p:nvPr/>
        </p:nvSpPr>
        <p:spPr>
          <a:xfrm>
            <a:off x="1183464" y="2331444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>
                <a:latin typeface="휴먼모음T" panose="02030504000101010101" pitchFamily="18" charset="-127"/>
                <a:ea typeface="휴먼모음T" panose="02030504000101010101" pitchFamily="18" charset="-127"/>
              </a:rPr>
              <a:t>Mr. Stub</a:t>
            </a:r>
            <a:endParaRPr lang="ko-KR" altLang="en-US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E6D45C3-8A62-CA78-D3A7-580BE9B2B2D2}"/>
              </a:ext>
            </a:extLst>
          </p:cNvPr>
          <p:cNvSpPr/>
          <p:nvPr/>
        </p:nvSpPr>
        <p:spPr>
          <a:xfrm>
            <a:off x="1136978" y="4126972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>
                <a:latin typeface="휴먼모음T" panose="02030504000101010101" pitchFamily="18" charset="-127"/>
                <a:ea typeface="휴먼모음T" panose="02030504000101010101" pitchFamily="18" charset="-127"/>
              </a:rPr>
              <a:t>Mr. Freq</a:t>
            </a:r>
            <a:endParaRPr lang="ko-KR" altLang="en-US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B7D1CF-BBFC-7C77-0095-151FF2C53B77}"/>
                  </a:ext>
                </a:extLst>
              </p:cNvPr>
              <p:cNvSpPr txBox="1"/>
              <p:nvPr/>
            </p:nvSpPr>
            <p:spPr>
              <a:xfrm>
                <a:off x="3747562" y="2679172"/>
                <a:ext cx="306562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𝑠𝑢𝑝𝑒𝑟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</m:e>
                      </m:d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=0.001</m:t>
                      </m:r>
                    </m:oMath>
                  </m:oMathPara>
                </a14:m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B7D1CF-BBFC-7C77-0095-151FF2C53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562" y="2679172"/>
                <a:ext cx="3065623" cy="338554"/>
              </a:xfrm>
              <a:prstGeom prst="rect">
                <a:avLst/>
              </a:prstGeom>
              <a:blipFill>
                <a:blip r:embed="rId3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AF5537-2570-FC6F-614B-40DD76FFFD49}"/>
                  </a:ext>
                </a:extLst>
              </p:cNvPr>
              <p:cNvSpPr txBox="1"/>
              <p:nvPr/>
            </p:nvSpPr>
            <p:spPr>
              <a:xfrm>
                <a:off x="3555425" y="3270407"/>
                <a:ext cx="37946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𝑁𝑜𝑡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𝑠𝑢𝑝𝑒𝑟𝑚𝑎𝑛</m:t>
                          </m:r>
                        </m:e>
                      </m:d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=0.999</m:t>
                      </m:r>
                    </m:oMath>
                  </m:oMathPara>
                </a14:m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AF5537-2570-FC6F-614B-40DD76FFF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5425" y="3270407"/>
                <a:ext cx="3794629" cy="338554"/>
              </a:xfrm>
              <a:prstGeom prst="rect">
                <a:avLst/>
              </a:prstGeom>
              <a:blipFill>
                <a:blip r:embed="rId4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8161CA-7DE5-5C2C-3D1B-AA723B9A7001}"/>
                  </a:ext>
                </a:extLst>
              </p:cNvPr>
              <p:cNvSpPr txBox="1"/>
              <p:nvPr/>
            </p:nvSpPr>
            <p:spPr>
              <a:xfrm>
                <a:off x="3551956" y="4461435"/>
                <a:ext cx="391919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5 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𝑟𝑖𝑔h𝑡𝑠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 /</m:t>
                          </m:r>
                          <m:r>
                            <a:rPr lang="ko-KR" altLang="en-US" sz="1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𝑠𝑢𝑝𝑒𝑟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</m:e>
                      </m:d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8161CA-7DE5-5C2C-3D1B-AA723B9A7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1956" y="4461435"/>
                <a:ext cx="3919194" cy="338554"/>
              </a:xfrm>
              <a:prstGeom prst="rect">
                <a:avLst/>
              </a:prstGeom>
              <a:blipFill>
                <a:blip r:embed="rId5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C099959-E626-D725-86B9-FE4A3C60926C}"/>
                  </a:ext>
                </a:extLst>
              </p:cNvPr>
              <p:cNvSpPr txBox="1"/>
              <p:nvPr/>
            </p:nvSpPr>
            <p:spPr>
              <a:xfrm>
                <a:off x="4068977" y="5033779"/>
                <a:ext cx="5121779" cy="43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5 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𝑟𝑖𝑔h𝑡𝑠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 /</m:t>
                        </m:r>
                        <m:r>
                          <a:rPr lang="ko-KR" altLang="en-US" sz="16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𝑁𝑜𝑡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𝑠𝑢𝑝𝑒𝑟𝑚𝑎𝑛</m:t>
                        </m:r>
                      </m:e>
                    </m:d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6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=0.03125</m:t>
                    </m:r>
                  </m:oMath>
                </a14:m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C099959-E626-D725-86B9-FE4A3C609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977" y="5033779"/>
                <a:ext cx="5121779" cy="4399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89FAB1D-3EC7-3075-4E9C-5C17F6F8B688}"/>
              </a:ext>
            </a:extLst>
          </p:cNvPr>
          <p:cNvCxnSpPr/>
          <p:nvPr/>
        </p:nvCxnSpPr>
        <p:spPr bwMode="auto">
          <a:xfrm>
            <a:off x="2575457" y="4900946"/>
            <a:ext cx="1066800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타원 24">
            <a:extLst>
              <a:ext uri="{FF2B5EF4-FFF2-40B4-BE49-F238E27FC236}">
                <a16:creationId xmlns:a16="http://schemas.microsoft.com/office/drawing/2014/main" id="{ED725471-8509-73B1-B0F5-48392E39FDD3}"/>
              </a:ext>
            </a:extLst>
          </p:cNvPr>
          <p:cNvSpPr/>
          <p:nvPr/>
        </p:nvSpPr>
        <p:spPr bwMode="auto">
          <a:xfrm>
            <a:off x="1318965" y="3745972"/>
            <a:ext cx="304800" cy="304800"/>
          </a:xfrm>
          <a:prstGeom prst="ellipse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C83E844A-B579-5CAF-F291-240E5CC1DACB}"/>
              </a:ext>
            </a:extLst>
          </p:cNvPr>
          <p:cNvSpPr/>
          <p:nvPr/>
        </p:nvSpPr>
        <p:spPr bwMode="auto">
          <a:xfrm>
            <a:off x="3797121" y="2835654"/>
            <a:ext cx="226136" cy="605518"/>
          </a:xfrm>
          <a:prstGeom prst="leftBrace">
            <a:avLst>
              <a:gd name="adj1" fmla="val 49003"/>
              <a:gd name="adj2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7" name="왼쪽 중괄호 26">
            <a:extLst>
              <a:ext uri="{FF2B5EF4-FFF2-40B4-BE49-F238E27FC236}">
                <a16:creationId xmlns:a16="http://schemas.microsoft.com/office/drawing/2014/main" id="{BF5B9695-E994-6DFB-8A6A-5118D166475A}"/>
              </a:ext>
            </a:extLst>
          </p:cNvPr>
          <p:cNvSpPr/>
          <p:nvPr/>
        </p:nvSpPr>
        <p:spPr bwMode="auto">
          <a:xfrm>
            <a:off x="3794657" y="4616557"/>
            <a:ext cx="226136" cy="605518"/>
          </a:xfrm>
          <a:prstGeom prst="leftBrace">
            <a:avLst>
              <a:gd name="adj1" fmla="val 49003"/>
              <a:gd name="adj2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DB3538D-4696-9441-7E9A-229125D07153}"/>
              </a:ext>
            </a:extLst>
          </p:cNvPr>
          <p:cNvSpPr txBox="1"/>
          <p:nvPr/>
        </p:nvSpPr>
        <p:spPr>
          <a:xfrm>
            <a:off x="1280915" y="5509681"/>
            <a:ext cx="7848549" cy="988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초능력자라면 무조건 맞추었으니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초능력자가 아닌 일반 사람이라면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3.1%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확률로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연속으로 맞춘 것임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    ▶ </a:t>
            </a:r>
            <a:r>
              <a:rPr lang="ko-KR" altLang="en-US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초능력자가</a:t>
            </a:r>
            <a:r>
              <a:rPr lang="en-US" altLang="ko-KR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아닌지는 확률로 나타내지 못함</a:t>
            </a:r>
            <a:r>
              <a:rPr lang="en-US" altLang="ko-KR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(Maximum likelihood Estimation</a:t>
            </a:r>
            <a:r>
              <a:rPr lang="ko-KR" altLang="en-US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제공하지 않음</a:t>
            </a:r>
            <a:r>
              <a:rPr lang="en-US" altLang="ko-KR" sz="12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AB59360D-1AFC-B8C9-B33C-1AFAFFA2954D}"/>
              </a:ext>
            </a:extLst>
          </p:cNvPr>
          <p:cNvCxnSpPr/>
          <p:nvPr/>
        </p:nvCxnSpPr>
        <p:spPr bwMode="auto">
          <a:xfrm>
            <a:off x="2575457" y="3136372"/>
            <a:ext cx="1066800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E39B4DA-6309-3E4D-F0A1-39EA80A15FFD}"/>
              </a:ext>
            </a:extLst>
          </p:cNvPr>
          <p:cNvSpPr txBox="1"/>
          <p:nvPr/>
        </p:nvSpPr>
        <p:spPr>
          <a:xfrm>
            <a:off x="765820" y="1042080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만약 어떤 사람이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연속으로 카드의 색깔을 맞추었다면 그 사람이 초능력자라고 얼마나 믿는가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명의 친구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(Stub, Freq, Bays)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들의 관점을 비교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5E74D3-376F-EC95-0970-BBB343F8E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2244" y="1636228"/>
            <a:ext cx="2088233" cy="1972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50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C3889-3CC4-4D69-09AE-94CA5D954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87247A-B7D6-27DF-A2BA-95E677468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F276AF-1A27-0ED1-FA0D-8AB3A38D650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B3D0780-442F-FD33-EBD5-DA5D44E245C4}"/>
              </a:ext>
            </a:extLst>
          </p:cNvPr>
          <p:cNvSpPr/>
          <p:nvPr/>
        </p:nvSpPr>
        <p:spPr bwMode="auto">
          <a:xfrm>
            <a:off x="1254597" y="2603014"/>
            <a:ext cx="1143000" cy="7633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Observed data</a:t>
            </a:r>
            <a:r>
              <a:rPr kumimoji="0" lang="en-US" altLang="ko-KR" sz="14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is everything</a:t>
            </a:r>
            <a:endParaRPr kumimoji="0" lang="ko-KR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6C0FD9-F1DD-BA15-1E77-11239D24AF9A}"/>
              </a:ext>
            </a:extLst>
          </p:cNvPr>
          <p:cNvSpPr/>
          <p:nvPr/>
        </p:nvSpPr>
        <p:spPr>
          <a:xfrm>
            <a:off x="1406996" y="2046712"/>
            <a:ext cx="11128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>
                <a:latin typeface="휴먼모음T" panose="02030504000101010101" pitchFamily="18" charset="-127"/>
                <a:ea typeface="휴먼모음T" panose="02030504000101010101" pitchFamily="18" charset="-127"/>
              </a:rPr>
              <a:t>Mr. Bays</a:t>
            </a:r>
            <a:endParaRPr lang="ko-KR" altLang="en-US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D47834-1EE8-F428-2E3A-72808063313A}"/>
                  </a:ext>
                </a:extLst>
              </p:cNvPr>
              <p:cNvSpPr txBox="1"/>
              <p:nvPr/>
            </p:nvSpPr>
            <p:spPr>
              <a:xfrm>
                <a:off x="4150196" y="2231378"/>
                <a:ext cx="5715000" cy="933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/5 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𝑟𝑖𝑔h𝑡𝑠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600" i="1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5 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𝑟𝑖𝑔h𝑡𝑠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 ∗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num>
                      <m:den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5 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𝑟𝑖𝑔h𝑡𝑠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 ∗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5 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𝑟𝑖𝑔h𝑡𝑠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/~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 ∗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(~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den>
                    </m:f>
                  </m:oMath>
                </a14:m>
                <a:endParaRPr lang="en-US" altLang="ko-KR" sz="1600" i="1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r>
                  <a:rPr lang="en-US" altLang="ko-KR" sz="1600" b="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                            </m:t>
                    </m:r>
                    <m:r>
                      <a:rPr lang="en-US" altLang="ko-KR" sz="16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 ∗ 0.001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 ∗0.001 +0.999 ∗</m:t>
                        </m:r>
                        <m:sSup>
                          <m:sSupPr>
                            <m:ctrlPr>
                              <a:rPr lang="en-US" altLang="ko-KR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en-US" altLang="ko-KR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16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ko-KR" sz="16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altLang="ko-KR" sz="1600" i="1" dirty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6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</m:den>
                    </m:f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=0.031038</m:t>
                    </m:r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= </a:t>
                </a:r>
                <a:r>
                  <a:rPr lang="en-US" altLang="ko-KR" sz="1600" b="1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3.1%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D47834-1EE8-F428-2E3A-7280806331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96" y="2231378"/>
                <a:ext cx="5715000" cy="933910"/>
              </a:xfrm>
              <a:prstGeom prst="rect">
                <a:avLst/>
              </a:prstGeom>
              <a:blipFill>
                <a:blip r:embed="rId3"/>
                <a:stretch>
                  <a:fillRect l="-6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4C429F-3E01-6077-A8CB-8F30EBFFC39E}"/>
                  </a:ext>
                </a:extLst>
              </p:cNvPr>
              <p:cNvSpPr txBox="1"/>
              <p:nvPr/>
            </p:nvSpPr>
            <p:spPr>
              <a:xfrm>
                <a:off x="4150196" y="3399593"/>
                <a:ext cx="51816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/5 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𝑟𝑖𝑔h𝑡𝑠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600" i="1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/5 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𝑟𝑖𝑔h𝑡𝑠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= </a:t>
                </a:r>
                <a:r>
                  <a:rPr lang="en-US" altLang="ko-KR" sz="1600" b="1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96.9%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4C429F-3E01-6077-A8CB-8F30EBFFC3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96" y="3399593"/>
                <a:ext cx="5181600" cy="338554"/>
              </a:xfrm>
              <a:prstGeom prst="rect">
                <a:avLst/>
              </a:prstGeom>
              <a:blipFill>
                <a:blip r:embed="rId4"/>
                <a:stretch>
                  <a:fillRect t="-5455" b="-2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왼쪽 중괄호 12">
            <a:extLst>
              <a:ext uri="{FF2B5EF4-FFF2-40B4-BE49-F238E27FC236}">
                <a16:creationId xmlns:a16="http://schemas.microsoft.com/office/drawing/2014/main" id="{F6F378BB-D4BB-5F7B-5A3A-14997342B12A}"/>
              </a:ext>
            </a:extLst>
          </p:cNvPr>
          <p:cNvSpPr/>
          <p:nvPr/>
        </p:nvSpPr>
        <p:spPr bwMode="auto">
          <a:xfrm>
            <a:off x="3847860" y="2451974"/>
            <a:ext cx="195656" cy="1066800"/>
          </a:xfrm>
          <a:prstGeom prst="leftBrace">
            <a:avLst>
              <a:gd name="adj1" fmla="val 49003"/>
              <a:gd name="adj2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E90476F-2DB0-BAE6-324E-A3FFA0947E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521" y="4101825"/>
            <a:ext cx="2608949" cy="137555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CA2FBBD-E6D6-CFA2-F805-C4B543F631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2470" y="4129471"/>
            <a:ext cx="2445914" cy="450149"/>
          </a:xfrm>
          <a:prstGeom prst="rect">
            <a:avLst/>
          </a:prstGeom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E8B16D6-7CC2-AE49-C779-98D4B2784E39}"/>
              </a:ext>
            </a:extLst>
          </p:cNvPr>
          <p:cNvCxnSpPr/>
          <p:nvPr/>
        </p:nvCxnSpPr>
        <p:spPr bwMode="auto">
          <a:xfrm>
            <a:off x="2549996" y="3007278"/>
            <a:ext cx="1066800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D404147-DA56-EAFE-33BA-76EDE8AA01FD}"/>
              </a:ext>
            </a:extLst>
          </p:cNvPr>
          <p:cNvSpPr txBox="1"/>
          <p:nvPr/>
        </p:nvSpPr>
        <p:spPr>
          <a:xfrm>
            <a:off x="996776" y="5589240"/>
            <a:ext cx="9871607" cy="707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연속으로 맞춘 걸 보니 초능력자일 가능성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믿음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3.1%,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일반인일 가능성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믿음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96.9%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Bays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관점은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Freq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Stub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믿음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(Prior)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곱한 값으로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확률이라기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보다는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Credibility or Belief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F65E-DBAC-C9E6-5BEB-0D589A603249}"/>
              </a:ext>
            </a:extLst>
          </p:cNvPr>
          <p:cNvSpPr txBox="1"/>
          <p:nvPr/>
        </p:nvSpPr>
        <p:spPr>
          <a:xfrm>
            <a:off x="800529" y="1351530"/>
            <a:ext cx="8458200" cy="425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Stub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너무 고집스럽고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Freq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너무 신봉하는 경향이 있지만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Bays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</a:t>
            </a:r>
          </a:p>
        </p:txBody>
      </p:sp>
    </p:spTree>
    <p:extLst>
      <p:ext uri="{BB962C8B-B14F-4D97-AF65-F5344CB8AC3E}">
        <p14:creationId xmlns:p14="http://schemas.microsoft.com/office/powerpoint/2010/main" val="1038070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4C455-C217-4B80-761E-779C64548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4AE4353-36B3-AB50-4FEF-780D5EB6A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36AA5-9CA8-A7FE-5498-22A85385D817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BCF762-96C7-C1B1-6979-5EF2AACA6E9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F19646B-135E-7111-FAC8-20E3E468A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7460482" cy="129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71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Monty_Hall_problem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simulation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해결하라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F96267B-56AB-D3F3-133F-18B00044C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759" y="2135520"/>
            <a:ext cx="4652804" cy="2586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7B07B9-5FB4-1A9B-3D0F-980D5413317C}"/>
              </a:ext>
            </a:extLst>
          </p:cNvPr>
          <p:cNvSpPr txBox="1"/>
          <p:nvPr/>
        </p:nvSpPr>
        <p:spPr>
          <a:xfrm>
            <a:off x="764759" y="4941168"/>
            <a:ext cx="46528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In search of a new car, the player chooses a door, say </a:t>
            </a:r>
            <a:r>
              <a:rPr lang="en-US" altLang="ko-KR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1</a:t>
            </a:r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 The game host then opens one of the other doors, say </a:t>
            </a:r>
            <a:r>
              <a:rPr lang="en-US" altLang="ko-KR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3</a:t>
            </a:r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to reveal a goat and offers to let the player switch from door </a:t>
            </a:r>
            <a:r>
              <a:rPr lang="en-US" altLang="ko-KR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1</a:t>
            </a:r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to door </a:t>
            </a:r>
            <a:r>
              <a:rPr lang="en-US" altLang="ko-KR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2</a:t>
            </a:r>
            <a:r>
              <a:rPr lang="en-US" altLang="ko-KR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lang="ko-KR" altLang="en-US" sz="1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635558E-BE29-EDE2-BEEE-8D1B65D80F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428" y="1896940"/>
            <a:ext cx="4824536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0A913-1EB3-F468-ABE9-DE779B8B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0801C07E-A3D0-FA17-2E2F-9993E7967E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803" y="1907942"/>
            <a:ext cx="5253601" cy="3999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3EB6982-754C-33A3-61CA-BBF7BF427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CEC7F0-427E-92EA-6C2D-FE9A09F76194}"/>
              </a:ext>
            </a:extLst>
          </p:cNvPr>
          <p:cNvSpPr txBox="1"/>
          <p:nvPr/>
        </p:nvSpPr>
        <p:spPr>
          <a:xfrm>
            <a:off x="765820" y="1196752"/>
            <a:ext cx="11233248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4A2F7-F938-18EE-4E08-645D6B8BBB0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CD80592-B0A8-7511-2F89-C60F08B6D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0404" y="1903236"/>
            <a:ext cx="4240472" cy="399974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720B746-1DAF-1C06-D78F-2D69F96BF420}"/>
              </a:ext>
            </a:extLst>
          </p:cNvPr>
          <p:cNvSpPr/>
          <p:nvPr/>
        </p:nvSpPr>
        <p:spPr>
          <a:xfrm>
            <a:off x="776803" y="1903236"/>
            <a:ext cx="1974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900" dirty="0">
                <a:latin typeface="Arial" panose="020B0604020202020204" pitchFamily="34" charset="0"/>
                <a:cs typeface="Arial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https://en.wikipedia.org/wiki/Survivorship_bias#In_the_military</a:t>
            </a:r>
            <a:r>
              <a:rPr lang="ko-KR" altLang="en-US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763B83C-02A9-50AD-EA44-8B351DDFB284}"/>
              </a:ext>
            </a:extLst>
          </p:cNvPr>
          <p:cNvSpPr/>
          <p:nvPr/>
        </p:nvSpPr>
        <p:spPr>
          <a:xfrm>
            <a:off x="6362262" y="5997954"/>
            <a:ext cx="3548574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동체손상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50/316 = 15.8%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59881B0-CAA4-A06A-E029-FE5CDAC42073}"/>
              </a:ext>
            </a:extLst>
          </p:cNvPr>
          <p:cNvSpPr/>
          <p:nvPr/>
        </p:nvSpPr>
        <p:spPr>
          <a:xfrm>
            <a:off x="7874431" y="1295978"/>
            <a:ext cx="3548574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동체손상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50/(50+?) =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?%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2187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3425083"/>
            <a:ext cx="5438147" cy="2001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E2CDAB-2AD1-CC41-0AF8-13B753BC022A}"/>
              </a:ext>
            </a:extLst>
          </p:cNvPr>
          <p:cNvSpPr txBox="1"/>
          <p:nvPr/>
        </p:nvSpPr>
        <p:spPr>
          <a:xfrm>
            <a:off x="405780" y="2896347"/>
            <a:ext cx="14472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Simulation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결과</a:t>
            </a:r>
            <a:endParaRPr lang="ko-KR" altLang="en-US" sz="140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0C9E06F-C42D-F379-01E3-269C949D8DB7}"/>
              </a:ext>
            </a:extLst>
          </p:cNvPr>
          <p:cNvSpPr/>
          <p:nvPr/>
        </p:nvSpPr>
        <p:spPr>
          <a:xfrm>
            <a:off x="625345" y="3645024"/>
            <a:ext cx="280950" cy="1601397"/>
          </a:xfrm>
          <a:prstGeom prst="leftBrace">
            <a:avLst>
              <a:gd name="adj1" fmla="val 3933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69947DC-E857-C045-BA83-612BAB2D17F9}"/>
              </a:ext>
            </a:extLst>
          </p:cNvPr>
          <p:cNvSpPr/>
          <p:nvPr/>
        </p:nvSpPr>
        <p:spPr>
          <a:xfrm>
            <a:off x="7567843" y="2606668"/>
            <a:ext cx="36391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동체손상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50/(50+4) = 93%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D4EDE6-58AD-3B12-713A-DD5EE12F91F4}"/>
              </a:ext>
            </a:extLst>
          </p:cNvPr>
          <p:cNvSpPr/>
          <p:nvPr/>
        </p:nvSpPr>
        <p:spPr>
          <a:xfrm>
            <a:off x="7567188" y="3001433"/>
            <a:ext cx="358463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조종석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36/(36+21) = 63%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4BE8A5D-B6C3-F633-6D6C-AC0ED6FA8ABD}"/>
              </a:ext>
            </a:extLst>
          </p:cNvPr>
          <p:cNvSpPr/>
          <p:nvPr/>
        </p:nvSpPr>
        <p:spPr>
          <a:xfrm>
            <a:off x="7567188" y="2211903"/>
            <a:ext cx="341632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P(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귀환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/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엔진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) = 29/(29+31) = 48%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 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04BDB3-C1CD-ADDD-A6C3-646A8A020FB0}"/>
              </a:ext>
            </a:extLst>
          </p:cNvPr>
          <p:cNvSpPr txBox="1"/>
          <p:nvPr/>
        </p:nvSpPr>
        <p:spPr>
          <a:xfrm>
            <a:off x="2133972" y="2465460"/>
            <a:ext cx="338270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B-17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Arial" panose="020B0604020202020204" pitchFamily="34" charset="0"/>
              </a:rPr>
              <a:t>이 적과 조우하는 전형적인 양상을 공군조종사와 엔지니어가 재현하여 가상의 데이터 생성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Arial" panose="020B0604020202020204" pitchFamily="34" charset="0"/>
            </a:endParaRP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B84005F3-C6EF-5B7B-7CA2-A94F22774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9572" y="3425083"/>
            <a:ext cx="3517409" cy="26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30B2F6F8-2091-4FE0-573F-DD4F16BB4895}"/>
              </a:ext>
            </a:extLst>
          </p:cNvPr>
          <p:cNvSpPr/>
          <p:nvPr/>
        </p:nvSpPr>
        <p:spPr>
          <a:xfrm>
            <a:off x="6670476" y="3339987"/>
            <a:ext cx="576064" cy="9531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CA6D2-ECAF-1701-1DE9-55D2512D3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CA02CA-6B63-5E46-AB14-0F5C5DEA9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ED6B6D-D09B-4D59-0EB8-D3A589069AB3}"/>
              </a:ext>
            </a:extLst>
          </p:cNvPr>
          <p:cNvSpPr txBox="1"/>
          <p:nvPr/>
        </p:nvSpPr>
        <p:spPr>
          <a:xfrm>
            <a:off x="765820" y="1196752"/>
            <a:ext cx="11233248" cy="7951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아침 출근시간에 지하철을 타는 남자가 금융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및 보험업에 종사할 확률은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그 남자가 넥타이를 착용한 것을 발견하고 금융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/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보험업의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90%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넥타이를 착용한다는 사실을 한 경우 확률은 달라지는가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DAF4CE-A0F5-C5E5-F4F5-E21D9500DF0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9ECE2B1-A408-4A2E-C5CA-97F983E7D63F}"/>
              </a:ext>
            </a:extLst>
          </p:cNvPr>
          <p:cNvGrpSpPr/>
          <p:nvPr/>
        </p:nvGrpSpPr>
        <p:grpSpPr>
          <a:xfrm>
            <a:off x="764712" y="2847434"/>
            <a:ext cx="1753544" cy="315467"/>
            <a:chOff x="0" y="3284984"/>
            <a:chExt cx="1753544" cy="315467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76686A8-EAFD-A9BE-282B-525338A8DC8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12902" r="91434" b="5834"/>
            <a:stretch/>
          </p:blipFill>
          <p:spPr>
            <a:xfrm>
              <a:off x="0" y="3284984"/>
              <a:ext cx="848544" cy="315467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EBAC0644-C40B-36D4-62D9-5117F8362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0864" t="12902" b="5834"/>
            <a:stretch/>
          </p:blipFill>
          <p:spPr>
            <a:xfrm>
              <a:off x="848544" y="3284985"/>
              <a:ext cx="905000" cy="315466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C449C1D-7774-B74C-AFF5-EEDEAE2B590D}"/>
              </a:ext>
            </a:extLst>
          </p:cNvPr>
          <p:cNvGrpSpPr/>
          <p:nvPr/>
        </p:nvGrpSpPr>
        <p:grpSpPr>
          <a:xfrm>
            <a:off x="752151" y="3279482"/>
            <a:ext cx="3902099" cy="2604870"/>
            <a:chOff x="2072680" y="3301342"/>
            <a:chExt cx="4032448" cy="2500276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66EE4030-919B-2052-C405-372705BDA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644" r="53742" b="28171"/>
            <a:stretch/>
          </p:blipFill>
          <p:spPr>
            <a:xfrm>
              <a:off x="2072681" y="3301342"/>
              <a:ext cx="3433576" cy="127254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0B2F1FB-DA45-20B2-559A-18717EFD63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1594" t="6592" r="55132"/>
            <a:stretch/>
          </p:blipFill>
          <p:spPr>
            <a:xfrm>
              <a:off x="2072680" y="4529328"/>
              <a:ext cx="3433577" cy="1272290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62C5FFD0-F9DA-5EE1-E279-C5ED07121E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7546" r="53742" b="28171"/>
            <a:stretch/>
          </p:blipFill>
          <p:spPr>
            <a:xfrm>
              <a:off x="3224808" y="3301342"/>
              <a:ext cx="1440160" cy="127254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A3737BAB-3BFA-A7ED-8BBD-7ACBB0370E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718" t="6592" r="55132"/>
            <a:stretch/>
          </p:blipFill>
          <p:spPr>
            <a:xfrm>
              <a:off x="3224808" y="4529328"/>
              <a:ext cx="1440160" cy="1272290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AFE2934C-554B-5446-33C6-C69B2B1B36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79923" r="693" b="28171"/>
            <a:stretch/>
          </p:blipFill>
          <p:spPr>
            <a:xfrm>
              <a:off x="4613288" y="3301342"/>
              <a:ext cx="1491839" cy="127254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72A52D85-D0D1-F62B-5E36-7558E6F4FFF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77523" t="6592" r="3674"/>
            <a:stretch/>
          </p:blipFill>
          <p:spPr>
            <a:xfrm>
              <a:off x="4613288" y="4529328"/>
              <a:ext cx="1491840" cy="1272290"/>
            </a:xfrm>
            <a:prstGeom prst="rect">
              <a:avLst/>
            </a:prstGeom>
            <a:ln>
              <a:noFill/>
            </a:ln>
            <a:effectLst/>
          </p:spPr>
        </p:pic>
      </p:grp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DD53620-3348-AAF1-F7F7-A4C645238EBB}"/>
              </a:ext>
            </a:extLst>
          </p:cNvPr>
          <p:cNvSpPr/>
          <p:nvPr/>
        </p:nvSpPr>
        <p:spPr>
          <a:xfrm>
            <a:off x="700196" y="2257784"/>
            <a:ext cx="3636119" cy="473069"/>
          </a:xfrm>
          <a:prstGeom prst="rect">
            <a:avLst/>
          </a:prstGeom>
          <a:solidFill>
            <a:srgbClr val="DFEDF5"/>
          </a:solidFill>
          <a:ln>
            <a:noFill/>
          </a:ln>
        </p:spPr>
        <p:txBody>
          <a:bodyPr wrap="square">
            <a:noAutofit/>
          </a:bodyPr>
          <a:lstStyle/>
          <a:p>
            <a:pPr fontAlgn="base"/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#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사전확률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(Prior probability)</a:t>
            </a:r>
          </a:p>
          <a:p>
            <a:pPr fontAlgn="base"/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= 3369 / 66759 =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0.050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(5.0%)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9F8E4DA-243B-1DBF-D2A9-5D31F1160821}"/>
              </a:ext>
            </a:extLst>
          </p:cNvPr>
          <p:cNvSpPr/>
          <p:nvPr/>
        </p:nvSpPr>
        <p:spPr>
          <a:xfrm>
            <a:off x="6935582" y="2899639"/>
            <a:ext cx="3165055" cy="82330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184150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넥타이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착용률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641350" lvl="1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금융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/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보험업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90%</a:t>
            </a:r>
          </a:p>
          <a:p>
            <a:pPr marL="641350" lvl="1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기타업종 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15%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323B794-003C-42FC-3EA5-526494F927A0}"/>
              </a:ext>
            </a:extLst>
          </p:cNvPr>
          <p:cNvSpPr/>
          <p:nvPr/>
        </p:nvSpPr>
        <p:spPr>
          <a:xfrm>
            <a:off x="5230316" y="2443672"/>
            <a:ext cx="3816424" cy="3103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4150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새로운 정보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넥타이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착용률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ABDBB9-599E-4EC0-C771-2031D1DB851F}"/>
              </a:ext>
            </a:extLst>
          </p:cNvPr>
          <p:cNvSpPr txBox="1"/>
          <p:nvPr/>
        </p:nvSpPr>
        <p:spPr>
          <a:xfrm>
            <a:off x="700196" y="6016406"/>
            <a:ext cx="30243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https://kosis.kr/statHtml/statHtml.do?orgId=622&amp;tblId=DT_62201_D000003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E449711-2118-226E-F391-30F59A188292}"/>
              </a:ext>
            </a:extLst>
          </p:cNvPr>
          <p:cNvSpPr/>
          <p:nvPr/>
        </p:nvSpPr>
        <p:spPr>
          <a:xfrm>
            <a:off x="5714751" y="4396838"/>
            <a:ext cx="3984823" cy="8233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4150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예상 넥타이 착용자수 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641350" lvl="1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금융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/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보험업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3032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(=3369 x 90%)</a:t>
            </a:r>
          </a:p>
          <a:p>
            <a:pPr marL="641350" lvl="1" indent="-184150" fontAlgn="base">
              <a:lnSpc>
                <a:spcPts val="1700"/>
              </a:lnSpc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기타업종 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10014 (=66759 x 15%)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1FDCD6A-0002-B1A7-C192-BBD0D07A5501}"/>
              </a:ext>
            </a:extLst>
          </p:cNvPr>
          <p:cNvSpPr/>
          <p:nvPr/>
        </p:nvSpPr>
        <p:spPr>
          <a:xfrm>
            <a:off x="5849331" y="5767492"/>
            <a:ext cx="4957838" cy="473069"/>
          </a:xfrm>
          <a:prstGeom prst="rect">
            <a:avLst/>
          </a:prstGeom>
          <a:solidFill>
            <a:srgbClr val="DFEDF5"/>
          </a:solidFill>
          <a:ln>
            <a:noFill/>
          </a:ln>
        </p:spPr>
        <p:txBody>
          <a:bodyPr wrap="square">
            <a:noAutofit/>
          </a:bodyPr>
          <a:lstStyle/>
          <a:p>
            <a:pPr fontAlgn="base"/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#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사후확률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(Posterior probability)</a:t>
            </a:r>
          </a:p>
          <a:p>
            <a:pPr fontAlgn="base"/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3032 / (3032 + 10014)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휴먼모음T" panose="02030504000101010101" pitchFamily="18" charset="-127"/>
                <a:ea typeface="휴먼모음T" panose="02030504000101010101" pitchFamily="18" charset="-127"/>
              </a:rPr>
              <a:t>=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0.232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(23.2%)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31" name="그래픽 3" descr="남성 사무직 근로자 단색으로 채워진">
            <a:extLst>
              <a:ext uri="{FF2B5EF4-FFF2-40B4-BE49-F238E27FC236}">
                <a16:creationId xmlns:a16="http://schemas.microsoft.com/office/drawing/2014/main" id="{0C3FC594-DA5B-619B-A74D-DEAED42629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11716" y="2556124"/>
            <a:ext cx="1745751" cy="1745751"/>
          </a:xfrm>
          <a:prstGeom prst="rect">
            <a:avLst/>
          </a:prstGeom>
        </p:spPr>
      </p:pic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22254239-5506-1EFA-7216-915CD91FF6EA}"/>
              </a:ext>
            </a:extLst>
          </p:cNvPr>
          <p:cNvCxnSpPr/>
          <p:nvPr/>
        </p:nvCxnSpPr>
        <p:spPr>
          <a:xfrm>
            <a:off x="5457056" y="3486054"/>
            <a:ext cx="0" cy="911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434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BDAC9-AA33-7BC3-F7BC-D73A518DE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AFE8A71-711B-A422-24D6-BB6089B40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9112591C-2E5C-88FD-DAA2-F9D2C28275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2463FF-B46A-0CD8-055A-2811FDEF5393}"/>
              </a:ext>
            </a:extLst>
          </p:cNvPr>
          <p:cNvSpPr txBox="1"/>
          <p:nvPr/>
        </p:nvSpPr>
        <p:spPr>
          <a:xfrm>
            <a:off x="539248" y="817140"/>
            <a:ext cx="11233248" cy="16768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USS Scorpion (1968)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에어프랑스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447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(2009) : Probability Map for Wreck Location, optimal search theory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USS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스콜피온호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실종된 잠수함을 찾기 위해 수학자 존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크레이븐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(John Craven)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베이지안 탐색법을 사용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수색 대원들의 주관적인 추측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 확률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모아 확률 지도를 만들었고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결국 지도의 확률이 가장 높았던 지점에서 단 수백 미터 떨어진 곳에서 잠수함을 발견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에어프랑스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447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년간 찾지 못했던 블랙박스를 베이지안 확률 지도를 업데이트하며 추적한 끝에 발견에 성공했습니다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3CA01C-D6BE-4B45-ECED-04CCB23E0A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25A4C3-5EFF-D73D-798D-64F66D029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29" y="2664021"/>
            <a:ext cx="3447537" cy="3852309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7601113-8852-DAFB-CC05-969E339BBEE8}"/>
              </a:ext>
            </a:extLst>
          </p:cNvPr>
          <p:cNvSpPr/>
          <p:nvPr/>
        </p:nvSpPr>
        <p:spPr>
          <a:xfrm>
            <a:off x="4033276" y="3188784"/>
            <a:ext cx="36226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Scorpion located within 260 yards of highest probability cell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AF95CA5-9A3E-DFA3-8DBD-6D208BB0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332" y="3590247"/>
            <a:ext cx="3904459" cy="268148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E422368-95C8-4B96-D4FA-25076EA8D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8791" y="3588327"/>
            <a:ext cx="1656184" cy="1300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56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7B6-ECBC-9557-4609-3A2333274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1AA98C7-779B-AE4A-7378-DE24D481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AAA39EDD-371F-443B-3908-63C31D2F43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0023817-9FA0-0E66-D30B-AF053C361D23}"/>
              </a:ext>
            </a:extLst>
          </p:cNvPr>
          <p:cNvCxnSpPr/>
          <p:nvPr/>
        </p:nvCxnSpPr>
        <p:spPr>
          <a:xfrm>
            <a:off x="6574303" y="4365104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4E9D014-EFE4-88D1-A634-7ECA91A3B662}"/>
              </a:ext>
            </a:extLst>
          </p:cNvPr>
          <p:cNvSpPr txBox="1"/>
          <p:nvPr/>
        </p:nvSpPr>
        <p:spPr>
          <a:xfrm>
            <a:off x="539248" y="817140"/>
            <a:ext cx="11233248" cy="13786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분석하고 예측하고 과제를 제출하라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참고하여 남녀를 분류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scikit-learn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solidFill>
                  <a:srgbClr val="7EA939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modules/</a:t>
            </a: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사용하여 남녀의 확률을 각각 구하고 성별을 분류하라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51328F-1529-D8C3-9361-2BE0A1B7C6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796305-5C5C-595B-9023-A5C449AFB212}"/>
              </a:ext>
            </a:extLst>
          </p:cNvPr>
          <p:cNvSpPr txBox="1"/>
          <p:nvPr/>
        </p:nvSpPr>
        <p:spPr>
          <a:xfrm>
            <a:off x="6178529" y="2671742"/>
            <a:ext cx="3230992" cy="46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FAAE35-C498-6E70-3C46-DE63A96462F7}"/>
              </a:ext>
            </a:extLst>
          </p:cNvPr>
          <p:cNvSpPr txBox="1"/>
          <p:nvPr/>
        </p:nvSpPr>
        <p:spPr>
          <a:xfrm>
            <a:off x="7750596" y="3718317"/>
            <a:ext cx="3024336" cy="1666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57D76DB-DBAD-99A0-FD74-29C491348A7E}"/>
              </a:ext>
            </a:extLst>
          </p:cNvPr>
          <p:cNvGrpSpPr/>
          <p:nvPr/>
        </p:nvGrpSpPr>
        <p:grpSpPr>
          <a:xfrm>
            <a:off x="1341884" y="2717025"/>
            <a:ext cx="4703341" cy="4015112"/>
            <a:chOff x="526975" y="2706363"/>
            <a:chExt cx="5495430" cy="4078675"/>
          </a:xfrm>
        </p:grpSpPr>
        <p:pic>
          <p:nvPicPr>
            <p:cNvPr id="16388" name="Picture 4">
              <a:extLst>
                <a:ext uri="{FF2B5EF4-FFF2-40B4-BE49-F238E27FC236}">
                  <a16:creationId xmlns:a16="http://schemas.microsoft.com/office/drawing/2014/main" id="{21808676-E4CA-BF4E-0368-E75859E220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5416891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0" name="Picture 6">
              <a:extLst>
                <a:ext uri="{FF2B5EF4-FFF2-40B4-BE49-F238E27FC236}">
                  <a16:creationId xmlns:a16="http://schemas.microsoft.com/office/drawing/2014/main" id="{4E0DF2EE-D7A2-3D46-7D08-D7066514A2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2706363"/>
              <a:ext cx="5495430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2" name="Picture 8">
              <a:extLst>
                <a:ext uri="{FF2B5EF4-FFF2-40B4-BE49-F238E27FC236}">
                  <a16:creationId xmlns:a16="http://schemas.microsoft.com/office/drawing/2014/main" id="{5E64B396-4690-C8F8-087E-665050DE15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4074510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순서도: 추출 13">
            <a:extLst>
              <a:ext uri="{FF2B5EF4-FFF2-40B4-BE49-F238E27FC236}">
                <a16:creationId xmlns:a16="http://schemas.microsoft.com/office/drawing/2014/main" id="{2FC64A56-7667-7708-3E70-34D9CA9F54B3}"/>
              </a:ext>
            </a:extLst>
          </p:cNvPr>
          <p:cNvSpPr/>
          <p:nvPr/>
        </p:nvSpPr>
        <p:spPr>
          <a:xfrm>
            <a:off x="3529285" y="3614502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순서도: 추출 14">
            <a:extLst>
              <a:ext uri="{FF2B5EF4-FFF2-40B4-BE49-F238E27FC236}">
                <a16:creationId xmlns:a16="http://schemas.microsoft.com/office/drawing/2014/main" id="{30DB0BC3-3E8E-57CA-7C44-BD5971E060BB}"/>
              </a:ext>
            </a:extLst>
          </p:cNvPr>
          <p:cNvSpPr/>
          <p:nvPr/>
        </p:nvSpPr>
        <p:spPr>
          <a:xfrm>
            <a:off x="4294212" y="501317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순서도: 추출 15">
            <a:extLst>
              <a:ext uri="{FF2B5EF4-FFF2-40B4-BE49-F238E27FC236}">
                <a16:creationId xmlns:a16="http://schemas.microsoft.com/office/drawing/2014/main" id="{C3BDD512-4DD5-8038-8F2E-BE5457DE5AC8}"/>
              </a:ext>
            </a:extLst>
          </p:cNvPr>
          <p:cNvSpPr/>
          <p:nvPr/>
        </p:nvSpPr>
        <p:spPr>
          <a:xfrm>
            <a:off x="3862164" y="625253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922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875</TotalTime>
  <Words>2537</Words>
  <Application>Microsoft Office PowerPoint</Application>
  <PresentationFormat>사용자 지정</PresentationFormat>
  <Paragraphs>432</Paragraphs>
  <Slides>61</Slides>
  <Notes>59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74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60</cp:revision>
  <dcterms:created xsi:type="dcterms:W3CDTF">2024-06-03T06:10:16Z</dcterms:created>
  <dcterms:modified xsi:type="dcterms:W3CDTF">2026-03-16T02:38:07Z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